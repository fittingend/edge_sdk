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90"/>
  </p:notesMasterIdLst>
  <p:sldIdLst>
    <p:sldId id="267" r:id="rId5"/>
    <p:sldId id="268" r:id="rId6"/>
    <p:sldId id="286" r:id="rId7"/>
    <p:sldId id="285" r:id="rId8"/>
    <p:sldId id="287" r:id="rId9"/>
    <p:sldId id="288" r:id="rId10"/>
    <p:sldId id="257" r:id="rId11"/>
    <p:sldId id="290" r:id="rId12"/>
    <p:sldId id="291" r:id="rId13"/>
    <p:sldId id="294" r:id="rId14"/>
    <p:sldId id="295" r:id="rId15"/>
    <p:sldId id="269" r:id="rId16"/>
    <p:sldId id="270" r:id="rId17"/>
    <p:sldId id="274" r:id="rId18"/>
    <p:sldId id="282" r:id="rId19"/>
    <p:sldId id="283" r:id="rId20"/>
    <p:sldId id="276" r:id="rId21"/>
    <p:sldId id="275" r:id="rId22"/>
    <p:sldId id="277" r:id="rId23"/>
    <p:sldId id="281" r:id="rId24"/>
    <p:sldId id="278" r:id="rId25"/>
    <p:sldId id="297" r:id="rId26"/>
    <p:sldId id="279" r:id="rId27"/>
    <p:sldId id="280" r:id="rId28"/>
    <p:sldId id="284" r:id="rId29"/>
    <p:sldId id="296" r:id="rId30"/>
    <p:sldId id="292" r:id="rId31"/>
    <p:sldId id="298" r:id="rId32"/>
    <p:sldId id="301" r:id="rId33"/>
    <p:sldId id="302" r:id="rId34"/>
    <p:sldId id="305" r:id="rId35"/>
    <p:sldId id="299" r:id="rId36"/>
    <p:sldId id="1387" r:id="rId37"/>
    <p:sldId id="1386" r:id="rId38"/>
    <p:sldId id="303" r:id="rId39"/>
    <p:sldId id="1389" r:id="rId40"/>
    <p:sldId id="1388" r:id="rId41"/>
    <p:sldId id="1407" r:id="rId42"/>
    <p:sldId id="1424" r:id="rId43"/>
    <p:sldId id="1420" r:id="rId44"/>
    <p:sldId id="1421" r:id="rId45"/>
    <p:sldId id="1408" r:id="rId46"/>
    <p:sldId id="1425" r:id="rId47"/>
    <p:sldId id="1422" r:id="rId48"/>
    <p:sldId id="1423" r:id="rId49"/>
    <p:sldId id="1416" r:id="rId50"/>
    <p:sldId id="1462" r:id="rId51"/>
    <p:sldId id="1427" r:id="rId52"/>
    <p:sldId id="1447" r:id="rId53"/>
    <p:sldId id="1429" r:id="rId54"/>
    <p:sldId id="1419" r:id="rId55"/>
    <p:sldId id="1430" r:id="rId56"/>
    <p:sldId id="1431" r:id="rId57"/>
    <p:sldId id="1433" r:id="rId58"/>
    <p:sldId id="1413" r:id="rId59"/>
    <p:sldId id="1463" r:id="rId60"/>
    <p:sldId id="1414" r:id="rId61"/>
    <p:sldId id="1435" r:id="rId62"/>
    <p:sldId id="1436" r:id="rId63"/>
    <p:sldId id="1437" r:id="rId64"/>
    <p:sldId id="1438" r:id="rId65"/>
    <p:sldId id="1439" r:id="rId66"/>
    <p:sldId id="1440" r:id="rId67"/>
    <p:sldId id="1441" r:id="rId68"/>
    <p:sldId id="1442" r:id="rId69"/>
    <p:sldId id="1417" r:id="rId70"/>
    <p:sldId id="1443" r:id="rId71"/>
    <p:sldId id="1464" r:id="rId72"/>
    <p:sldId id="1444" r:id="rId73"/>
    <p:sldId id="1453" r:id="rId74"/>
    <p:sldId id="1454" r:id="rId75"/>
    <p:sldId id="1455" r:id="rId76"/>
    <p:sldId id="1456" r:id="rId77"/>
    <p:sldId id="1458" r:id="rId78"/>
    <p:sldId id="1459" r:id="rId79"/>
    <p:sldId id="1457" r:id="rId80"/>
    <p:sldId id="1460" r:id="rId81"/>
    <p:sldId id="1461" r:id="rId82"/>
    <p:sldId id="1446" r:id="rId83"/>
    <p:sldId id="1448" r:id="rId84"/>
    <p:sldId id="1450" r:id="rId85"/>
    <p:sldId id="1451" r:id="rId86"/>
    <p:sldId id="1452" r:id="rId87"/>
    <p:sldId id="946" r:id="rId88"/>
    <p:sldId id="947" r:id="rId89"/>
  </p:sldIdLst>
  <p:sldSz cx="9906000" cy="6858000" type="A4"/>
  <p:notesSz cx="7104063" cy="102346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78" userDrawn="1">
          <p15:clr>
            <a:srgbClr val="A4A3A4"/>
          </p15:clr>
        </p15:guide>
        <p15:guide id="2" pos="3120">
          <p15:clr>
            <a:srgbClr val="A4A3A4"/>
          </p15:clr>
        </p15:guide>
        <p15:guide id="3" orient="horz" pos="550" userDrawn="1">
          <p15:clr>
            <a:srgbClr val="A4A3A4"/>
          </p15:clr>
        </p15:guide>
        <p15:guide id="4" pos="240" userDrawn="1">
          <p15:clr>
            <a:srgbClr val="A4A3A4"/>
          </p15:clr>
        </p15:guide>
        <p15:guide id="5" pos="600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7D7"/>
    <a:srgbClr val="0000CC"/>
    <a:srgbClr val="595959"/>
    <a:srgbClr val="007A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867" autoAdjust="0"/>
    <p:restoredTop sz="94702" autoAdjust="0"/>
  </p:normalViewPr>
  <p:slideViewPr>
    <p:cSldViewPr snapToGrid="0" showGuides="1">
      <p:cViewPr varScale="1">
        <p:scale>
          <a:sx n="97" d="100"/>
          <a:sy n="97" d="100"/>
        </p:scale>
        <p:origin x="828" y="78"/>
      </p:cViewPr>
      <p:guideLst>
        <p:guide orient="horz" pos="4178"/>
        <p:guide pos="3120"/>
        <p:guide orient="horz" pos="550"/>
        <p:guide pos="240"/>
        <p:guide pos="6000"/>
      </p:guideLst>
    </p:cSldViewPr>
  </p:slideViewPr>
  <p:outlineViewPr>
    <p:cViewPr>
      <p:scale>
        <a:sx n="33" d="100"/>
        <a:sy n="33" d="100"/>
      </p:scale>
      <p:origin x="0" y="-4195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2" d="100"/>
          <a:sy n="72" d="100"/>
        </p:scale>
        <p:origin x="2628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slide" Target="slides/slide85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5" Type="http://schemas.openxmlformats.org/officeDocument/2006/relationships/slide" Target="slides/slide1.xml"/><Relationship Id="rId90" Type="http://schemas.openxmlformats.org/officeDocument/2006/relationships/notesMaster" Target="notesMasters/notesMaster1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93" Type="http://schemas.openxmlformats.org/officeDocument/2006/relationships/theme" Target="theme/theme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91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9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viewProps" Target="viewProps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3078427" cy="513508"/>
          </a:xfrm>
          <a:prstGeom prst="rect">
            <a:avLst/>
          </a:prstGeom>
        </p:spPr>
        <p:txBody>
          <a:bodyPr vert="horz" lIns="94796" tIns="47398" rIns="94796" bIns="4739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3994" y="2"/>
            <a:ext cx="3078427" cy="513508"/>
          </a:xfrm>
          <a:prstGeom prst="rect">
            <a:avLst/>
          </a:prstGeom>
        </p:spPr>
        <p:txBody>
          <a:bodyPr vert="horz" lIns="94796" tIns="47398" rIns="94796" bIns="47398" rtlCol="0"/>
          <a:lstStyle>
            <a:lvl1pPr algn="r">
              <a:defRPr sz="1200"/>
            </a:lvl1pPr>
          </a:lstStyle>
          <a:p>
            <a:fld id="{4E5356A0-B730-44E0-BDC2-2388FAEBA866}" type="datetimeFigureOut">
              <a:rPr lang="ko-KR" altLang="en-US" smtClean="0"/>
              <a:t>2026-05-06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060450" y="1281113"/>
            <a:ext cx="4983163" cy="34512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96" tIns="47398" rIns="94796" bIns="4739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0408" y="4925409"/>
            <a:ext cx="5683250" cy="4029879"/>
          </a:xfrm>
          <a:prstGeom prst="rect">
            <a:avLst/>
          </a:prstGeom>
        </p:spPr>
        <p:txBody>
          <a:bodyPr vert="horz" lIns="94796" tIns="47398" rIns="94796" bIns="47398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721107"/>
            <a:ext cx="3078427" cy="513508"/>
          </a:xfrm>
          <a:prstGeom prst="rect">
            <a:avLst/>
          </a:prstGeom>
        </p:spPr>
        <p:txBody>
          <a:bodyPr vert="horz" lIns="94796" tIns="47398" rIns="94796" bIns="4739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3994" y="9721107"/>
            <a:ext cx="3078427" cy="513508"/>
          </a:xfrm>
          <a:prstGeom prst="rect">
            <a:avLst/>
          </a:prstGeom>
        </p:spPr>
        <p:txBody>
          <a:bodyPr vert="horz" lIns="94796" tIns="47398" rIns="94796" bIns="47398" rtlCol="0" anchor="b"/>
          <a:lstStyle>
            <a:lvl1pPr algn="r">
              <a:defRPr sz="1200"/>
            </a:lvl1pPr>
          </a:lstStyle>
          <a:p>
            <a:fld id="{1CD094F0-EFD0-4483-AF9D-868DB0F3B6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50759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D094F0-EFD0-4483-AF9D-868DB0F3B656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04213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D094F0-EFD0-4483-AF9D-868DB0F3B656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45301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D094F0-EFD0-4483-AF9D-868DB0F3B656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51252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D094F0-EFD0-4483-AF9D-868DB0F3B656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20308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D094F0-EFD0-4483-AF9D-868DB0F3B656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08923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D094F0-EFD0-4483-AF9D-868DB0F3B656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07597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D094F0-EFD0-4483-AF9D-868DB0F3B656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98802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D094F0-EFD0-4483-AF9D-868DB0F3B656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85762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D094F0-EFD0-4483-AF9D-868DB0F3B656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05176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D094F0-EFD0-4483-AF9D-868DB0F3B656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33080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D094F0-EFD0-4483-AF9D-868DB0F3B656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44189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D094F0-EFD0-4483-AF9D-868DB0F3B656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582269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D094F0-EFD0-4483-AF9D-868DB0F3B656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77657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D094F0-EFD0-4483-AF9D-868DB0F3B656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381520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D094F0-EFD0-4483-AF9D-868DB0F3B656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834585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D094F0-EFD0-4483-AF9D-868DB0F3B656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746325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D094F0-EFD0-4483-AF9D-868DB0F3B656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60019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D094F0-EFD0-4483-AF9D-868DB0F3B656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132269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D094F0-EFD0-4483-AF9D-868DB0F3B656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268556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D094F0-EFD0-4483-AF9D-868DB0F3B656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067904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D094F0-EFD0-4483-AF9D-868DB0F3B656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723523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D094F0-EFD0-4483-AF9D-868DB0F3B656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92816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D094F0-EFD0-4483-AF9D-868DB0F3B656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327692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D094F0-EFD0-4483-AF9D-868DB0F3B656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656013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D094F0-EFD0-4483-AF9D-868DB0F3B656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431000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D094F0-EFD0-4483-AF9D-868DB0F3B656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897146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D094F0-EFD0-4483-AF9D-868DB0F3B656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001321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D094F0-EFD0-4483-AF9D-868DB0F3B656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27070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D094F0-EFD0-4483-AF9D-868DB0F3B656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357282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D094F0-EFD0-4483-AF9D-868DB0F3B656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217457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D094F0-EFD0-4483-AF9D-868DB0F3B656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172883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D094F0-EFD0-4483-AF9D-868DB0F3B656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246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D094F0-EFD0-4483-AF9D-868DB0F3B656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484595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D094F0-EFD0-4483-AF9D-868DB0F3B656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57083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D094F0-EFD0-4483-AF9D-868DB0F3B656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189163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D094F0-EFD0-4483-AF9D-868DB0F3B656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886008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D094F0-EFD0-4483-AF9D-868DB0F3B656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213916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D094F0-EFD0-4483-AF9D-868DB0F3B656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545958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D094F0-EFD0-4483-AF9D-868DB0F3B656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036328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D094F0-EFD0-4483-AF9D-868DB0F3B656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036050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D094F0-EFD0-4483-AF9D-868DB0F3B656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433570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D094F0-EFD0-4483-AF9D-868DB0F3B656}" type="slidenum">
              <a:rPr lang="ko-KR" altLang="en-US" smtClean="0"/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582286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D094F0-EFD0-4483-AF9D-868DB0F3B656}" type="slidenum">
              <a:rPr lang="ko-KR" altLang="en-US" smtClean="0"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803588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D094F0-EFD0-4483-AF9D-868DB0F3B656}" type="slidenum">
              <a:rPr lang="ko-KR" altLang="en-US" smtClean="0"/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573048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D094F0-EFD0-4483-AF9D-868DB0F3B656}" type="slidenum">
              <a:rPr lang="ko-KR" altLang="en-US" smtClean="0"/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755466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3CF21D-37C1-3CF0-5683-07EB3F779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D0CB6DB-35EA-9D6E-17B7-43B2F847CD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8BE3757-559D-A61D-5D3A-56D574DEFE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235BBD4-AEC6-BCB2-48AF-714332CFEB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D094F0-EFD0-4483-AF9D-868DB0F3B656}" type="slidenum">
              <a:rPr lang="ko-KR" altLang="en-US" smtClean="0"/>
              <a:t>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2804144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D094F0-EFD0-4483-AF9D-868DB0F3B656}" type="slidenum">
              <a:rPr lang="ko-KR" altLang="en-US" smtClean="0"/>
              <a:t>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2972559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D094F0-EFD0-4483-AF9D-868DB0F3B656}" type="slidenum">
              <a:rPr lang="ko-KR" altLang="en-US" smtClean="0"/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8737236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D094F0-EFD0-4483-AF9D-868DB0F3B656}" type="slidenum">
              <a:rPr lang="ko-KR" altLang="en-US" smtClean="0"/>
              <a:t>50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0888837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D094F0-EFD0-4483-AF9D-868DB0F3B656}" type="slidenum">
              <a:rPr lang="ko-KR" altLang="en-US" smtClean="0"/>
              <a:t>51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1868068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D094F0-EFD0-4483-AF9D-868DB0F3B656}" type="slidenum">
              <a:rPr lang="ko-KR" altLang="en-US" smtClean="0"/>
              <a:t>52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7047168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D094F0-EFD0-4483-AF9D-868DB0F3B656}" type="slidenum">
              <a:rPr lang="ko-KR" altLang="en-US" smtClean="0"/>
              <a:t>53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2931153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D094F0-EFD0-4483-AF9D-868DB0F3B656}" type="slidenum">
              <a:rPr lang="ko-KR" altLang="en-US" smtClean="0"/>
              <a:t>54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5485127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D094F0-EFD0-4483-AF9D-868DB0F3B656}" type="slidenum">
              <a:rPr lang="ko-KR" altLang="en-US" smtClean="0"/>
              <a:t>55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4366760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9A5E41-1599-8E25-A59B-8E7628AB2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FFE006C-1F51-DB65-4B37-B3511B1875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297BF34-C156-692E-AC3D-A8E29220DB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DD9E8CB-E99A-06E6-956C-71E4C35AAC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D094F0-EFD0-4483-AF9D-868DB0F3B656}" type="slidenum">
              <a:rPr lang="ko-KR" altLang="en-US" smtClean="0"/>
              <a:t>56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5573589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D094F0-EFD0-4483-AF9D-868DB0F3B656}" type="slidenum">
              <a:rPr lang="ko-KR" altLang="en-US" smtClean="0"/>
              <a:t>57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7782765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D094F0-EFD0-4483-AF9D-868DB0F3B656}" type="slidenum">
              <a:rPr lang="ko-KR" altLang="en-US" smtClean="0"/>
              <a:t>58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818665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D094F0-EFD0-4483-AF9D-868DB0F3B656}" type="slidenum">
              <a:rPr lang="ko-KR" altLang="en-US" smtClean="0"/>
              <a:t>59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5182052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D094F0-EFD0-4483-AF9D-868DB0F3B656}" type="slidenum">
              <a:rPr lang="ko-KR" altLang="en-US" smtClean="0"/>
              <a:t>60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2721080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D094F0-EFD0-4483-AF9D-868DB0F3B656}" type="slidenum">
              <a:rPr lang="ko-KR" altLang="en-US" smtClean="0"/>
              <a:t>61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4875155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D094F0-EFD0-4483-AF9D-868DB0F3B656}" type="slidenum">
              <a:rPr lang="ko-KR" altLang="en-US" smtClean="0"/>
              <a:t>62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6472069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D094F0-EFD0-4483-AF9D-868DB0F3B656}" type="slidenum">
              <a:rPr lang="ko-KR" altLang="en-US" smtClean="0"/>
              <a:t>63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1865350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D094F0-EFD0-4483-AF9D-868DB0F3B656}" type="slidenum">
              <a:rPr lang="ko-KR" altLang="en-US" smtClean="0"/>
              <a:t>64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459313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D094F0-EFD0-4483-AF9D-868DB0F3B656}" type="slidenum">
              <a:rPr lang="ko-KR" altLang="en-US" smtClean="0"/>
              <a:t>65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670406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D094F0-EFD0-4483-AF9D-868DB0F3B656}" type="slidenum">
              <a:rPr lang="ko-KR" altLang="en-US" smtClean="0"/>
              <a:t>66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4940169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D094F0-EFD0-4483-AF9D-868DB0F3B656}" type="slidenum">
              <a:rPr lang="ko-KR" altLang="en-US" smtClean="0"/>
              <a:t>67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1713078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A39395-1565-DF1E-718A-406E85B05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94863AC-3A66-CB46-B6BF-EB4268420E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6F32D4D-1AC0-16B1-5CA5-7E7FC99C43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26BD08B-ABD7-6E32-8AF6-1B08B5DB83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D094F0-EFD0-4483-AF9D-868DB0F3B656}" type="slidenum">
              <a:rPr lang="ko-KR" altLang="en-US" smtClean="0"/>
              <a:t>68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859787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D094F0-EFD0-4483-AF9D-868DB0F3B656}" type="slidenum">
              <a:rPr lang="ko-KR" altLang="en-US" smtClean="0"/>
              <a:t>69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1875753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D094F0-EFD0-4483-AF9D-868DB0F3B656}" type="slidenum">
              <a:rPr lang="ko-KR" altLang="en-US" smtClean="0"/>
              <a:t>79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4847386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D094F0-EFD0-4483-AF9D-868DB0F3B656}" type="slidenum">
              <a:rPr lang="ko-KR" altLang="en-US" smtClean="0"/>
              <a:t>80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2139859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D094F0-EFD0-4483-AF9D-868DB0F3B656}" type="slidenum">
              <a:rPr lang="ko-KR" altLang="en-US" smtClean="0"/>
              <a:t>81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9809700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D094F0-EFD0-4483-AF9D-868DB0F3B656}" type="slidenum">
              <a:rPr lang="ko-KR" altLang="en-US" smtClean="0"/>
              <a:t>82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1517933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D094F0-EFD0-4483-AF9D-868DB0F3B656}" type="slidenum">
              <a:rPr lang="ko-KR" altLang="en-US" smtClean="0"/>
              <a:t>83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59571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D094F0-EFD0-4483-AF9D-868DB0F3B656}" type="slidenum">
              <a:rPr lang="ko-KR" altLang="en-US" smtClean="0"/>
              <a:t>84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0509423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D094F0-EFD0-4483-AF9D-868DB0F3B656}" type="slidenum">
              <a:rPr lang="ko-KR" altLang="en-US" smtClean="0"/>
              <a:t>85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5205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각 삼각형 17">
            <a:extLst>
              <a:ext uri="{FF2B5EF4-FFF2-40B4-BE49-F238E27FC236}">
                <a16:creationId xmlns:a16="http://schemas.microsoft.com/office/drawing/2014/main" id="{4AAFC0EC-0962-4ABD-9598-8EBD04EF0FD5}"/>
              </a:ext>
            </a:extLst>
          </p:cNvPr>
          <p:cNvSpPr/>
          <p:nvPr userDrawn="1"/>
        </p:nvSpPr>
        <p:spPr>
          <a:xfrm rot="10800000" flipH="1">
            <a:off x="1" y="0"/>
            <a:ext cx="304519" cy="295744"/>
          </a:xfrm>
          <a:prstGeom prst="rtTriangle">
            <a:avLst/>
          </a:prstGeom>
          <a:solidFill>
            <a:srgbClr val="DCD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0649" tIns="40325" rIns="80649" bIns="4032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 sz="1588"/>
          </a:p>
        </p:txBody>
      </p:sp>
      <p:sp>
        <p:nvSpPr>
          <p:cNvPr id="3" name="TextBox 2"/>
          <p:cNvSpPr txBox="1"/>
          <p:nvPr userDrawn="1"/>
        </p:nvSpPr>
        <p:spPr>
          <a:xfrm>
            <a:off x="662318" y="1556785"/>
            <a:ext cx="5647380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dirty="0">
                <a:ln>
                  <a:solidFill>
                    <a:schemeClr val="tx1">
                      <a:alpha val="1000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(2</a:t>
            </a:r>
            <a:r>
              <a:rPr lang="ko-KR" altLang="en-US" sz="1400" dirty="0">
                <a:ln>
                  <a:solidFill>
                    <a:schemeClr val="tx1">
                      <a:alpha val="1000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세부</a:t>
            </a:r>
            <a:r>
              <a:rPr lang="en-US" altLang="ko-KR" sz="1400" dirty="0">
                <a:ln>
                  <a:solidFill>
                    <a:schemeClr val="tx1">
                      <a:alpha val="1000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) </a:t>
            </a:r>
            <a:r>
              <a:rPr lang="ko-KR" altLang="en-US" sz="1400" kern="1200" dirty="0" err="1">
                <a:ln>
                  <a:solidFill>
                    <a:schemeClr val="tx1">
                      <a:alpha val="10000"/>
                    </a:schemeClr>
                  </a:solidFill>
                </a:ln>
                <a:solidFill>
                  <a:schemeClr val="tx1"/>
                </a:solidFill>
                <a:effectLst/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rPr>
              <a:t>엣지기반</a:t>
            </a:r>
            <a:r>
              <a:rPr lang="ko-KR" altLang="en-US" sz="1400" kern="1200" dirty="0">
                <a:ln>
                  <a:solidFill>
                    <a:schemeClr val="tx1">
                      <a:alpha val="10000"/>
                    </a:schemeClr>
                  </a:solidFill>
                </a:ln>
                <a:solidFill>
                  <a:schemeClr val="tx1"/>
                </a:solidFill>
                <a:effectLst/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rPr>
              <a:t> </a:t>
            </a:r>
            <a:r>
              <a:rPr lang="ko-KR" altLang="en-US" sz="1400" kern="1200" dirty="0" err="1">
                <a:ln>
                  <a:solidFill>
                    <a:schemeClr val="tx1">
                      <a:alpha val="10000"/>
                    </a:schemeClr>
                  </a:solidFill>
                </a:ln>
                <a:solidFill>
                  <a:schemeClr val="tx1"/>
                </a:solidFill>
                <a:effectLst/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rPr>
              <a:t>위험환경</a:t>
            </a:r>
            <a:r>
              <a:rPr lang="ko-KR" altLang="en-US" sz="1400" kern="1200" dirty="0">
                <a:ln>
                  <a:solidFill>
                    <a:schemeClr val="tx1">
                      <a:alpha val="10000"/>
                    </a:schemeClr>
                  </a:solidFill>
                </a:ln>
                <a:solidFill>
                  <a:schemeClr val="tx1"/>
                </a:solidFill>
                <a:effectLst/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rPr>
              <a:t> 데이터 분석 기술 개발 및 자율주행 협업 플랫폼 실증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57756" y="6650182"/>
            <a:ext cx="548244" cy="20781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55F954-5E86-475A-837F-2B8CED6C7DF1}" type="slidenum">
              <a:rPr lang="ko-KR" altLang="en-US" smtClean="0"/>
              <a:pPr/>
              <a:t>‹#›</a:t>
            </a:fld>
            <a:endParaRPr lang="ko-KR" altLang="en-US"/>
          </a:p>
        </p:txBody>
      </p:sp>
      <p:grpSp>
        <p:nvGrpSpPr>
          <p:cNvPr id="5" name="그룹 4"/>
          <p:cNvGrpSpPr/>
          <p:nvPr userDrawn="1"/>
        </p:nvGrpSpPr>
        <p:grpSpPr>
          <a:xfrm>
            <a:off x="380999" y="2800464"/>
            <a:ext cx="9000000" cy="137607"/>
            <a:chOff x="647700" y="2495664"/>
            <a:chExt cx="7618125" cy="137607"/>
          </a:xfrm>
        </p:grpSpPr>
        <p:sp>
          <p:nvSpPr>
            <p:cNvPr id="4" name="직사각형 3"/>
            <p:cNvSpPr/>
            <p:nvPr userDrawn="1"/>
          </p:nvSpPr>
          <p:spPr>
            <a:xfrm>
              <a:off x="647700" y="2495664"/>
              <a:ext cx="7380000" cy="54516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588"/>
            </a:p>
          </p:txBody>
        </p:sp>
        <p:sp>
          <p:nvSpPr>
            <p:cNvPr id="7" name="직사각형 6"/>
            <p:cNvSpPr/>
            <p:nvPr userDrawn="1"/>
          </p:nvSpPr>
          <p:spPr>
            <a:xfrm>
              <a:off x="885825" y="2578755"/>
              <a:ext cx="7380000" cy="54516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588"/>
            </a:p>
          </p:txBody>
        </p:sp>
      </p:grpSp>
      <p:sp>
        <p:nvSpPr>
          <p:cNvPr id="6" name="TextBox 5"/>
          <p:cNvSpPr txBox="1"/>
          <p:nvPr userDrawn="1"/>
        </p:nvSpPr>
        <p:spPr>
          <a:xfrm>
            <a:off x="233175" y="5329559"/>
            <a:ext cx="4423344" cy="1676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kern="1200" dirty="0">
                <a:ln>
                  <a:solidFill>
                    <a:schemeClr val="tx1">
                      <a:alpha val="10000"/>
                    </a:schemeClr>
                  </a:solidFill>
                </a:ln>
                <a:solidFill>
                  <a:schemeClr val="tx1"/>
                </a:solidFill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바탕체 Medium" panose="00000600000000000000" pitchFamily="2" charset="-127"/>
              </a:rPr>
              <a:t>작성자</a:t>
            </a:r>
            <a:r>
              <a:rPr lang="en-US" altLang="ko-KR" sz="1400" kern="1200" dirty="0">
                <a:ln>
                  <a:solidFill>
                    <a:schemeClr val="tx1">
                      <a:alpha val="10000"/>
                    </a:schemeClr>
                  </a:solidFill>
                </a:ln>
                <a:solidFill>
                  <a:schemeClr val="tx1"/>
                </a:solidFill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바탕체 Medium" panose="00000600000000000000" pitchFamily="2" charset="-127"/>
              </a:rPr>
              <a:t>: </a:t>
            </a:r>
            <a:r>
              <a:rPr lang="ko-KR" altLang="en-US" sz="1400" kern="1200" dirty="0">
                <a:ln>
                  <a:solidFill>
                    <a:schemeClr val="tx1">
                      <a:alpha val="10000"/>
                    </a:schemeClr>
                  </a:solidFill>
                </a:ln>
                <a:solidFill>
                  <a:schemeClr val="tx1"/>
                </a:solidFill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바탕체 Medium" panose="00000600000000000000" pitchFamily="2" charset="-127"/>
              </a:rPr>
              <a:t>한국자동차연구원 빅데이터</a:t>
            </a:r>
            <a:r>
              <a:rPr lang="en-US" altLang="ko-KR" sz="1400" kern="1200" dirty="0">
                <a:ln>
                  <a:solidFill>
                    <a:schemeClr val="tx1">
                      <a:alpha val="10000"/>
                    </a:schemeClr>
                  </a:solidFill>
                </a:ln>
                <a:solidFill>
                  <a:schemeClr val="tx1"/>
                </a:solidFill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바탕체 Medium" panose="00000600000000000000" pitchFamily="2" charset="-127"/>
              </a:rPr>
              <a:t>·SW</a:t>
            </a:r>
            <a:r>
              <a:rPr lang="ko-KR" altLang="en-US" sz="1400" kern="1200" dirty="0">
                <a:ln>
                  <a:solidFill>
                    <a:schemeClr val="tx1">
                      <a:alpha val="10000"/>
                    </a:schemeClr>
                  </a:solidFill>
                </a:ln>
                <a:solidFill>
                  <a:schemeClr val="tx1"/>
                </a:solidFill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바탕체 Medium" panose="00000600000000000000" pitchFamily="2" charset="-127"/>
              </a:rPr>
              <a:t>기술부문</a:t>
            </a:r>
            <a:endParaRPr lang="en-US" altLang="ko-KR" sz="1400" kern="1200" dirty="0">
              <a:ln>
                <a:solidFill>
                  <a:schemeClr val="tx1">
                    <a:alpha val="10000"/>
                  </a:schemeClr>
                </a:solidFill>
              </a:ln>
              <a:solidFill>
                <a:schemeClr val="tx1"/>
              </a:solidFill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KoPubWorld바탕체 Medium" panose="000006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400" kern="1200" dirty="0">
                <a:ln>
                  <a:solidFill>
                    <a:schemeClr val="tx1">
                      <a:alpha val="10000"/>
                    </a:schemeClr>
                  </a:solidFill>
                </a:ln>
                <a:solidFill>
                  <a:schemeClr val="tx1"/>
                </a:solidFill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바탕체 Medium" panose="00000600000000000000" pitchFamily="2" charset="-127"/>
              </a:rPr>
              <a:t>           </a:t>
            </a:r>
            <a:r>
              <a:rPr lang="ko-KR" altLang="en-US" sz="1400" kern="1200" dirty="0">
                <a:ln>
                  <a:solidFill>
                    <a:schemeClr val="tx1">
                      <a:alpha val="10000"/>
                    </a:schemeClr>
                  </a:solidFill>
                </a:ln>
                <a:solidFill>
                  <a:schemeClr val="tx1"/>
                </a:solidFill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바탕체 Medium" panose="00000600000000000000" pitchFamily="2" charset="-127"/>
              </a:rPr>
              <a:t>이원석 책임연구원</a:t>
            </a:r>
            <a:endParaRPr lang="en-US" altLang="ko-KR" sz="1400" kern="1200" dirty="0">
              <a:ln>
                <a:solidFill>
                  <a:schemeClr val="tx1">
                    <a:alpha val="10000"/>
                  </a:schemeClr>
                </a:solidFill>
              </a:ln>
              <a:solidFill>
                <a:schemeClr val="tx1"/>
              </a:solidFill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KoPubWorld바탕체 Medium" panose="000006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400" kern="1200" dirty="0">
                <a:ln>
                  <a:solidFill>
                    <a:schemeClr val="tx1">
                      <a:alpha val="10000"/>
                    </a:schemeClr>
                  </a:solidFill>
                </a:ln>
                <a:solidFill>
                  <a:schemeClr val="tx1"/>
                </a:solidFill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바탕체 Medium" panose="00000600000000000000" pitchFamily="2" charset="-127"/>
              </a:rPr>
              <a:t>           </a:t>
            </a:r>
            <a:r>
              <a:rPr lang="ko-KR" altLang="en-US" sz="1400" kern="1200" dirty="0" err="1">
                <a:ln>
                  <a:solidFill>
                    <a:schemeClr val="tx1">
                      <a:alpha val="10000"/>
                    </a:schemeClr>
                  </a:solidFill>
                </a:ln>
                <a:solidFill>
                  <a:schemeClr val="tx1"/>
                </a:solidFill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바탕체 Medium" panose="00000600000000000000" pitchFamily="2" charset="-127"/>
              </a:rPr>
              <a:t>송준</a:t>
            </a:r>
            <a:r>
              <a:rPr lang="ko-KR" altLang="en-US" sz="1400" kern="1200" dirty="0">
                <a:ln>
                  <a:solidFill>
                    <a:schemeClr val="tx1">
                      <a:alpha val="10000"/>
                    </a:schemeClr>
                  </a:solidFill>
                </a:ln>
                <a:solidFill>
                  <a:schemeClr val="tx1"/>
                </a:solidFill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바탕체 Medium" panose="00000600000000000000" pitchFamily="2" charset="-127"/>
              </a:rPr>
              <a:t>    선임연구원</a:t>
            </a:r>
            <a:endParaRPr lang="en-US" altLang="ko-KR" sz="1400" kern="1200" dirty="0">
              <a:ln>
                <a:solidFill>
                  <a:schemeClr val="tx1">
                    <a:alpha val="10000"/>
                  </a:schemeClr>
                </a:solidFill>
              </a:ln>
              <a:solidFill>
                <a:schemeClr val="tx1"/>
              </a:solidFill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KoPubWorld바탕체 Medium" panose="000006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400" kern="1200" dirty="0">
                <a:ln>
                  <a:solidFill>
                    <a:schemeClr val="tx1">
                      <a:alpha val="10000"/>
                    </a:schemeClr>
                  </a:solidFill>
                </a:ln>
                <a:solidFill>
                  <a:schemeClr val="tx1"/>
                </a:solidFill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바탕체 Medium" panose="00000600000000000000" pitchFamily="2" charset="-127"/>
              </a:rPr>
              <a:t>           </a:t>
            </a:r>
            <a:r>
              <a:rPr lang="ko-KR" altLang="en-US" sz="1400" kern="1200" dirty="0">
                <a:ln>
                  <a:solidFill>
                    <a:schemeClr val="tx1">
                      <a:alpha val="10000"/>
                    </a:schemeClr>
                  </a:solidFill>
                </a:ln>
                <a:solidFill>
                  <a:schemeClr val="tx1"/>
                </a:solidFill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바탕체 Medium" panose="00000600000000000000" pitchFamily="2" charset="-127"/>
              </a:rPr>
              <a:t>오수진 선임연구원</a:t>
            </a:r>
            <a:endParaRPr lang="en-US" altLang="ko-KR" sz="1400" kern="1200" dirty="0">
              <a:ln>
                <a:solidFill>
                  <a:schemeClr val="tx1">
                    <a:alpha val="10000"/>
                  </a:schemeClr>
                </a:solidFill>
              </a:ln>
              <a:solidFill>
                <a:schemeClr val="tx1"/>
              </a:solidFill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KoPubWorld바탕체 Medium" panose="000006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400" kern="1200" dirty="0">
                <a:ln>
                  <a:solidFill>
                    <a:schemeClr val="tx1">
                      <a:alpha val="10000"/>
                    </a:schemeClr>
                  </a:solidFill>
                </a:ln>
                <a:solidFill>
                  <a:schemeClr val="tx1"/>
                </a:solidFill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바탕체 Medium" panose="00000600000000000000" pitchFamily="2" charset="-127"/>
              </a:rPr>
              <a:t>	</a:t>
            </a:r>
            <a:endParaRPr lang="ko-KR" altLang="en-US" sz="1400" kern="1200" dirty="0">
              <a:ln>
                <a:solidFill>
                  <a:schemeClr val="tx1">
                    <a:alpha val="10000"/>
                  </a:schemeClr>
                </a:solidFill>
              </a:ln>
              <a:solidFill>
                <a:schemeClr val="tx1"/>
              </a:solidFill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KoPubWorld바탕체 Medium" panose="00000600000000000000" pitchFamily="2" charset="-127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7533411" y="79550"/>
            <a:ext cx="2296392" cy="342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ko-KR" altLang="en-US" sz="1200" kern="1200" dirty="0">
                <a:ln>
                  <a:solidFill>
                    <a:schemeClr val="tx1">
                      <a:alpha val="10000"/>
                    </a:schemeClr>
                  </a:solidFill>
                </a:ln>
                <a:solidFill>
                  <a:schemeClr val="tx1"/>
                </a:solidFill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바탕체 Medium" panose="00000600000000000000" pitchFamily="2" charset="-127"/>
              </a:rPr>
              <a:t>문서 시점</a:t>
            </a:r>
            <a:r>
              <a:rPr lang="en-US" altLang="ko-KR" sz="1200" kern="1200" dirty="0">
                <a:ln>
                  <a:solidFill>
                    <a:schemeClr val="tx1">
                      <a:alpha val="10000"/>
                    </a:schemeClr>
                  </a:solidFill>
                </a:ln>
                <a:solidFill>
                  <a:schemeClr val="tx1"/>
                </a:solidFill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바탕체 Medium" panose="00000600000000000000" pitchFamily="2" charset="-127"/>
              </a:rPr>
              <a:t>: 2026</a:t>
            </a:r>
            <a:r>
              <a:rPr lang="ko-KR" altLang="en-US" sz="1200" kern="1200" dirty="0">
                <a:ln>
                  <a:solidFill>
                    <a:schemeClr val="tx1">
                      <a:alpha val="10000"/>
                    </a:schemeClr>
                  </a:solidFill>
                </a:ln>
                <a:solidFill>
                  <a:schemeClr val="tx1"/>
                </a:solidFill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바탕체 Medium" panose="00000600000000000000" pitchFamily="2" charset="-127"/>
              </a:rPr>
              <a:t>년 </a:t>
            </a:r>
            <a:r>
              <a:rPr lang="en-US" altLang="ko-KR" sz="1200" kern="1200" dirty="0">
                <a:ln>
                  <a:solidFill>
                    <a:schemeClr val="tx1">
                      <a:alpha val="10000"/>
                    </a:schemeClr>
                  </a:solidFill>
                </a:ln>
                <a:solidFill>
                  <a:schemeClr val="tx1"/>
                </a:solidFill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바탕체 Medium" panose="00000600000000000000" pitchFamily="2" charset="-127"/>
              </a:rPr>
              <a:t>4</a:t>
            </a:r>
            <a:r>
              <a:rPr lang="ko-KR" altLang="en-US" sz="1200" kern="1200" dirty="0">
                <a:ln>
                  <a:solidFill>
                    <a:schemeClr val="tx1">
                      <a:alpha val="10000"/>
                    </a:schemeClr>
                  </a:solidFill>
                </a:ln>
                <a:solidFill>
                  <a:schemeClr val="tx1"/>
                </a:solidFill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바탕체 Medium" panose="00000600000000000000" pitchFamily="2" charset="-127"/>
              </a:rPr>
              <a:t>월 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5724525" y="3532685"/>
            <a:ext cx="3656474" cy="706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400" kern="1200" dirty="0">
                <a:ln>
                  <a:solidFill>
                    <a:schemeClr val="tx1">
                      <a:alpha val="10000"/>
                    </a:schemeClr>
                  </a:solidFill>
                </a:ln>
                <a:solidFill>
                  <a:schemeClr val="tx1"/>
                </a:solidFill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바탕체 Medium" panose="00000600000000000000" pitchFamily="2" charset="-127"/>
              </a:rPr>
              <a:t>문서 내용</a:t>
            </a:r>
            <a:r>
              <a:rPr lang="en-US" altLang="ko-KR" sz="1400" kern="1200" dirty="0">
                <a:ln>
                  <a:solidFill>
                    <a:schemeClr val="tx1">
                      <a:alpha val="10000"/>
                    </a:schemeClr>
                  </a:solidFill>
                </a:ln>
                <a:solidFill>
                  <a:schemeClr val="tx1"/>
                </a:solidFill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바탕체 Medium" panose="00000600000000000000" pitchFamily="2" charset="-127"/>
              </a:rPr>
              <a:t>: </a:t>
            </a:r>
            <a:r>
              <a:rPr lang="en-US" altLang="ko-KR" sz="1050" kern="1200" dirty="0">
                <a:ln>
                  <a:solidFill>
                    <a:schemeClr val="tx1">
                      <a:alpha val="10000"/>
                    </a:schemeClr>
                  </a:solidFill>
                </a:ln>
                <a:solidFill>
                  <a:schemeClr val="tx1"/>
                </a:solidFill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바탕체 Medium" panose="00000600000000000000" pitchFamily="2" charset="-127"/>
              </a:rPr>
              <a:t>(2026</a:t>
            </a:r>
            <a:r>
              <a:rPr lang="ko-KR" altLang="en-US" sz="1050" kern="1200" dirty="0">
                <a:ln>
                  <a:solidFill>
                    <a:schemeClr val="tx1">
                      <a:alpha val="10000"/>
                    </a:schemeClr>
                  </a:solidFill>
                </a:ln>
                <a:solidFill>
                  <a:schemeClr val="tx1"/>
                </a:solidFill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바탕체 Medium" panose="00000600000000000000" pitchFamily="2" charset="-127"/>
              </a:rPr>
              <a:t>년 </a:t>
            </a:r>
            <a:r>
              <a:rPr lang="en-US" altLang="ko-KR" sz="1050" kern="1200" dirty="0">
                <a:ln>
                  <a:solidFill>
                    <a:schemeClr val="tx1">
                      <a:alpha val="10000"/>
                    </a:schemeClr>
                  </a:solidFill>
                </a:ln>
                <a:solidFill>
                  <a:schemeClr val="tx1"/>
                </a:solidFill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바탕체 Medium" panose="00000600000000000000" pitchFamily="2" charset="-127"/>
              </a:rPr>
              <a:t>4</a:t>
            </a:r>
            <a:r>
              <a:rPr lang="ko-KR" altLang="en-US" sz="1050" kern="1200" dirty="0">
                <a:ln>
                  <a:solidFill>
                    <a:schemeClr val="tx1">
                      <a:alpha val="10000"/>
                    </a:schemeClr>
                  </a:solidFill>
                </a:ln>
                <a:solidFill>
                  <a:schemeClr val="tx1"/>
                </a:solidFill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바탕체 Medium" panose="00000600000000000000" pitchFamily="2" charset="-127"/>
              </a:rPr>
              <a:t>월 기준</a:t>
            </a:r>
            <a:r>
              <a:rPr lang="en-US" altLang="ko-KR" sz="1050" kern="1200" dirty="0">
                <a:ln>
                  <a:solidFill>
                    <a:schemeClr val="tx1">
                      <a:alpha val="10000"/>
                    </a:schemeClr>
                  </a:solidFill>
                </a:ln>
                <a:solidFill>
                  <a:schemeClr val="tx1"/>
                </a:solidFill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바탕체 Medium" panose="00000600000000000000" pitchFamily="2" charset="-127"/>
              </a:rPr>
              <a:t>)</a:t>
            </a:r>
            <a:endParaRPr lang="en-US" altLang="ko-KR" sz="1400" kern="1200" dirty="0">
              <a:ln>
                <a:solidFill>
                  <a:schemeClr val="tx1">
                    <a:alpha val="10000"/>
                  </a:schemeClr>
                </a:solidFill>
              </a:ln>
              <a:solidFill>
                <a:schemeClr val="tx1"/>
              </a:solidFill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KoPubWorld바탕체 Medium" panose="00000600000000000000" pitchFamily="2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400" kern="1200" dirty="0">
                <a:ln>
                  <a:solidFill>
                    <a:schemeClr val="tx1">
                      <a:alpha val="10000"/>
                    </a:schemeClr>
                  </a:solidFill>
                </a:ln>
                <a:solidFill>
                  <a:schemeClr val="tx1"/>
                </a:solidFill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바탕체 Medium" panose="00000600000000000000" pitchFamily="2" charset="-127"/>
              </a:rPr>
              <a:t>  - </a:t>
            </a:r>
            <a:r>
              <a:rPr lang="ko-KR" altLang="en-US" sz="1400" kern="1200" dirty="0">
                <a:ln>
                  <a:solidFill>
                    <a:schemeClr val="tx1">
                      <a:alpha val="10000"/>
                    </a:schemeClr>
                  </a:solidFill>
                </a:ln>
                <a:solidFill>
                  <a:schemeClr val="tx1"/>
                </a:solidFill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바탕체 Medium" panose="00000600000000000000" pitchFamily="2" charset="-127"/>
              </a:rPr>
              <a:t>인지 데이터 융합 알고리즘 </a:t>
            </a:r>
            <a:r>
              <a:rPr lang="en-US" altLang="ko-KR" sz="1400" kern="1200" dirty="0">
                <a:ln>
                  <a:solidFill>
                    <a:schemeClr val="tx1">
                      <a:alpha val="10000"/>
                    </a:schemeClr>
                  </a:solidFill>
                </a:ln>
                <a:solidFill>
                  <a:schemeClr val="tx1"/>
                </a:solidFill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바탕체 Medium" panose="00000600000000000000" pitchFamily="2" charset="-127"/>
              </a:rPr>
              <a:t>ver5.0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828674" y="1994069"/>
            <a:ext cx="658064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400" kern="1200" noProof="0" dirty="0">
                <a:ln>
                  <a:solidFill>
                    <a:schemeClr val="tx1">
                      <a:alpha val="10000"/>
                    </a:schemeClr>
                  </a:solidFill>
                </a:ln>
                <a:solidFill>
                  <a:schemeClr val="tx1"/>
                </a:solidFill>
                <a:effectLst/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rPr>
              <a:t>엣지 컴퓨팅 알고리즘 명세서</a:t>
            </a:r>
            <a:endParaRPr lang="ko-KR" altLang="en-US" sz="4400" kern="1200" dirty="0">
              <a:ln>
                <a:solidFill>
                  <a:schemeClr val="tx1">
                    <a:alpha val="10000"/>
                  </a:schemeClr>
                </a:solidFill>
              </a:ln>
              <a:solidFill>
                <a:schemeClr val="tx1"/>
              </a:solidFill>
              <a:effectLst/>
              <a:latin typeface="KoPub돋움체 Bold" panose="02020603020101020101" pitchFamily="18" charset="-127"/>
              <a:ea typeface="KoPub돋움체 Bold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1601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(2세부)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AC3FAC-13B3-40D7-9479-7028EA4CE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846" y="213862"/>
            <a:ext cx="6720682" cy="384721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lnSpc>
                <a:spcPct val="100000"/>
              </a:lnSpc>
              <a:defRPr sz="2500" b="1" spc="-100" baseline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8" name="직각 삼각형 17">
            <a:extLst>
              <a:ext uri="{FF2B5EF4-FFF2-40B4-BE49-F238E27FC236}">
                <a16:creationId xmlns:a16="http://schemas.microsoft.com/office/drawing/2014/main" id="{4AAFC0EC-0962-4ABD-9598-8EBD04EF0FD5}"/>
              </a:ext>
            </a:extLst>
          </p:cNvPr>
          <p:cNvSpPr/>
          <p:nvPr userDrawn="1"/>
        </p:nvSpPr>
        <p:spPr>
          <a:xfrm rot="10800000" flipH="1">
            <a:off x="1" y="0"/>
            <a:ext cx="304519" cy="295744"/>
          </a:xfrm>
          <a:prstGeom prst="rtTriangle">
            <a:avLst/>
          </a:prstGeom>
          <a:solidFill>
            <a:srgbClr val="DCD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0649" tIns="40325" rIns="80649" bIns="4032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 sz="1588"/>
          </a:p>
        </p:txBody>
      </p:sp>
      <p:sp>
        <p:nvSpPr>
          <p:cNvPr id="4" name="직사각형 3"/>
          <p:cNvSpPr/>
          <p:nvPr userDrawn="1"/>
        </p:nvSpPr>
        <p:spPr>
          <a:xfrm>
            <a:off x="0" y="628764"/>
            <a:ext cx="9905999" cy="54516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88"/>
          </a:p>
        </p:txBody>
      </p:sp>
      <p:sp>
        <p:nvSpPr>
          <p:cNvPr id="3" name="TextBox 2"/>
          <p:cNvSpPr txBox="1"/>
          <p:nvPr userDrawn="1"/>
        </p:nvSpPr>
        <p:spPr>
          <a:xfrm>
            <a:off x="374846" y="23683"/>
            <a:ext cx="403636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dirty="0">
                <a:ln>
                  <a:solidFill>
                    <a:schemeClr val="tx1">
                      <a:alpha val="1000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(2</a:t>
            </a:r>
            <a:r>
              <a:rPr lang="ko-KR" altLang="en-US" sz="1000">
                <a:ln>
                  <a:solidFill>
                    <a:schemeClr val="tx1">
                      <a:alpha val="1000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세부</a:t>
            </a:r>
            <a:r>
              <a:rPr lang="en-US" altLang="ko-KR" sz="1000" dirty="0">
                <a:ln>
                  <a:solidFill>
                    <a:schemeClr val="tx1">
                      <a:alpha val="1000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) </a:t>
            </a:r>
            <a:r>
              <a:rPr lang="ko-KR" altLang="en-US" sz="1000" kern="1200">
                <a:ln>
                  <a:solidFill>
                    <a:schemeClr val="tx1">
                      <a:alpha val="10000"/>
                    </a:schemeClr>
                  </a:solidFill>
                </a:ln>
                <a:solidFill>
                  <a:schemeClr val="tx1"/>
                </a:solidFill>
                <a:effectLst/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rPr>
              <a:t>엣지기반 위험환경 데이터 분석 기술 개발 및 자율주행 협업 플랫폼 실증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57756" y="6650182"/>
            <a:ext cx="548244" cy="20781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55F954-5E86-475A-837F-2B8CED6C7DF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00718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(2.1)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AC3FAC-13B3-40D7-9479-7028EA4CE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846" y="213862"/>
            <a:ext cx="6720682" cy="384721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lnSpc>
                <a:spcPct val="100000"/>
              </a:lnSpc>
              <a:defRPr sz="2500" b="1" spc="-100" baseline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8" name="직각 삼각형 17">
            <a:extLst>
              <a:ext uri="{FF2B5EF4-FFF2-40B4-BE49-F238E27FC236}">
                <a16:creationId xmlns:a16="http://schemas.microsoft.com/office/drawing/2014/main" id="{4AAFC0EC-0962-4ABD-9598-8EBD04EF0FD5}"/>
              </a:ext>
            </a:extLst>
          </p:cNvPr>
          <p:cNvSpPr/>
          <p:nvPr userDrawn="1"/>
        </p:nvSpPr>
        <p:spPr>
          <a:xfrm rot="10800000" flipH="1">
            <a:off x="1" y="0"/>
            <a:ext cx="304519" cy="295744"/>
          </a:xfrm>
          <a:prstGeom prst="rtTriangle">
            <a:avLst/>
          </a:prstGeom>
          <a:solidFill>
            <a:srgbClr val="DCD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0649" tIns="40325" rIns="80649" bIns="4032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 sz="1588"/>
          </a:p>
        </p:txBody>
      </p:sp>
      <p:sp>
        <p:nvSpPr>
          <p:cNvPr id="4" name="직사각형 3"/>
          <p:cNvSpPr/>
          <p:nvPr userDrawn="1"/>
        </p:nvSpPr>
        <p:spPr>
          <a:xfrm>
            <a:off x="0" y="628764"/>
            <a:ext cx="9905999" cy="54516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88"/>
          </a:p>
        </p:txBody>
      </p:sp>
      <p:sp>
        <p:nvSpPr>
          <p:cNvPr id="3" name="TextBox 2"/>
          <p:cNvSpPr txBox="1"/>
          <p:nvPr userDrawn="1"/>
        </p:nvSpPr>
        <p:spPr>
          <a:xfrm>
            <a:off x="374846" y="23683"/>
            <a:ext cx="2199320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dirty="0">
                <a:ln>
                  <a:solidFill>
                    <a:schemeClr val="tx1">
                      <a:alpha val="1000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2.1 </a:t>
            </a:r>
            <a:r>
              <a:rPr lang="ko-KR" altLang="en-US" sz="1000" dirty="0">
                <a:ln>
                  <a:solidFill>
                    <a:schemeClr val="tx1">
                      <a:alpha val="1000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이동 장애물 인지 데이터 융합 알고리즘</a:t>
            </a:r>
            <a:endParaRPr lang="ko-KR" altLang="en-US" sz="1000" kern="1200" dirty="0">
              <a:ln>
                <a:solidFill>
                  <a:schemeClr val="tx1">
                    <a:alpha val="10000"/>
                  </a:schemeClr>
                </a:solidFill>
              </a:ln>
              <a:solidFill>
                <a:schemeClr val="tx1"/>
              </a:solidFill>
              <a:effectLst/>
              <a:latin typeface="KoPub돋움체 Bold" panose="02020603020101020101" pitchFamily="18" charset="-127"/>
              <a:ea typeface="KoPub돋움체 Bold" panose="02020603020101020101" pitchFamily="18" charset="-127"/>
              <a:cs typeface="+mn-cs"/>
            </a:endParaRP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57756" y="6650182"/>
            <a:ext cx="548244" cy="20781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55F954-5E86-475A-837F-2B8CED6C7DF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19743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(2.1) 아래줄 있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AC3FAC-13B3-40D7-9479-7028EA4CE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846" y="213862"/>
            <a:ext cx="6720682" cy="384721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lnSpc>
                <a:spcPct val="100000"/>
              </a:lnSpc>
              <a:defRPr sz="2500" b="1" spc="-100" baseline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100CC658-D187-422E-9888-0EA6A7BD4E42}"/>
              </a:ext>
            </a:extLst>
          </p:cNvPr>
          <p:cNvGrpSpPr/>
          <p:nvPr userDrawn="1"/>
        </p:nvGrpSpPr>
        <p:grpSpPr>
          <a:xfrm>
            <a:off x="-1" y="683280"/>
            <a:ext cx="9906001" cy="296325"/>
            <a:chOff x="-1" y="1040372"/>
            <a:chExt cx="10907714" cy="335972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6098941F-CD70-4098-BF18-F47A65C5D480}"/>
                </a:ext>
              </a:extLst>
            </p:cNvPr>
            <p:cNvSpPr/>
            <p:nvPr/>
          </p:nvSpPr>
          <p:spPr bwMode="auto">
            <a:xfrm>
              <a:off x="-1" y="1040372"/>
              <a:ext cx="10907713" cy="33447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lIns="432000" tIns="108000" rIns="180000" bIns="72000">
              <a:noAutofit/>
            </a:bodyPr>
            <a:lstStyle/>
            <a:p>
              <a:pPr eaLnBrk="1" hangingPunct="1">
                <a:lnSpc>
                  <a:spcPct val="120000"/>
                </a:lnSpc>
                <a:spcBef>
                  <a:spcPts val="265"/>
                </a:spcBef>
                <a:spcAft>
                  <a:spcPct val="15000"/>
                </a:spcAft>
                <a:buClr>
                  <a:schemeClr val="tx1"/>
                </a:buClr>
                <a:tabLst>
                  <a:tab pos="806501" algn="l"/>
                  <a:tab pos="6452006" algn="r"/>
                </a:tabLst>
                <a:defRPr/>
              </a:pPr>
              <a:endParaRPr lang="en-US" altLang="ko-KR" sz="1147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11" name="평행 사변형 10">
              <a:extLst>
                <a:ext uri="{FF2B5EF4-FFF2-40B4-BE49-F238E27FC236}">
                  <a16:creationId xmlns:a16="http://schemas.microsoft.com/office/drawing/2014/main" id="{18435ECC-9B12-4C83-851C-4381EB7CDBE0}"/>
                </a:ext>
              </a:extLst>
            </p:cNvPr>
            <p:cNvSpPr/>
            <p:nvPr userDrawn="1"/>
          </p:nvSpPr>
          <p:spPr>
            <a:xfrm flipV="1">
              <a:off x="10163175" y="1041875"/>
              <a:ext cx="744537" cy="334469"/>
            </a:xfrm>
            <a:prstGeom prst="parallelogram">
              <a:avLst>
                <a:gd name="adj" fmla="val 100000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noAutofit/>
            </a:bodyPr>
            <a:lstStyle/>
            <a:p>
              <a:pPr algn="ctr"/>
              <a:endParaRPr lang="ko-KR" altLang="en-US" sz="1588"/>
            </a:p>
          </p:txBody>
        </p:sp>
        <p:sp>
          <p:nvSpPr>
            <p:cNvPr id="16" name="평행 사변형 15">
              <a:extLst>
                <a:ext uri="{FF2B5EF4-FFF2-40B4-BE49-F238E27FC236}">
                  <a16:creationId xmlns:a16="http://schemas.microsoft.com/office/drawing/2014/main" id="{2BAA6223-FD09-4BB1-B8CE-29FC63EBB8DF}"/>
                </a:ext>
              </a:extLst>
            </p:cNvPr>
            <p:cNvSpPr/>
            <p:nvPr userDrawn="1"/>
          </p:nvSpPr>
          <p:spPr>
            <a:xfrm flipV="1">
              <a:off x="0" y="1041874"/>
              <a:ext cx="412751" cy="334469"/>
            </a:xfrm>
            <a:prstGeom prst="parallelogram">
              <a:avLst>
                <a:gd name="adj" fmla="val 100000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noAutofit/>
            </a:bodyPr>
            <a:lstStyle/>
            <a:p>
              <a:pPr algn="ctr"/>
              <a:endParaRPr lang="ko-KR" altLang="en-US" sz="1588"/>
            </a:p>
          </p:txBody>
        </p:sp>
        <p:sp>
          <p:nvSpPr>
            <p:cNvPr id="14" name="직각 삼각형 13">
              <a:extLst>
                <a:ext uri="{FF2B5EF4-FFF2-40B4-BE49-F238E27FC236}">
                  <a16:creationId xmlns:a16="http://schemas.microsoft.com/office/drawing/2014/main" id="{92B12AB9-7F8E-498A-9E9E-6D500561920B}"/>
                </a:ext>
              </a:extLst>
            </p:cNvPr>
            <p:cNvSpPr/>
            <p:nvPr userDrawn="1"/>
          </p:nvSpPr>
          <p:spPr>
            <a:xfrm flipH="1" flipV="1">
              <a:off x="10573243" y="1040372"/>
              <a:ext cx="334470" cy="334470"/>
            </a:xfrm>
            <a:prstGeom prst="rtTriangl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ko-KR" altLang="en-US" sz="1588"/>
            </a:p>
          </p:txBody>
        </p:sp>
        <p:sp>
          <p:nvSpPr>
            <p:cNvPr id="15" name="직각 삼각형 14">
              <a:extLst>
                <a:ext uri="{FF2B5EF4-FFF2-40B4-BE49-F238E27FC236}">
                  <a16:creationId xmlns:a16="http://schemas.microsoft.com/office/drawing/2014/main" id="{8947C93A-CE4A-4DD6-8D7F-BBC247BCD857}"/>
                </a:ext>
              </a:extLst>
            </p:cNvPr>
            <p:cNvSpPr/>
            <p:nvPr userDrawn="1"/>
          </p:nvSpPr>
          <p:spPr>
            <a:xfrm rot="10800000" flipH="1" flipV="1">
              <a:off x="0" y="1040372"/>
              <a:ext cx="334470" cy="334470"/>
            </a:xfrm>
            <a:prstGeom prst="rtTriangl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ko-KR" altLang="en-US" sz="1588"/>
            </a:p>
          </p:txBody>
        </p:sp>
      </p:grpSp>
      <p:sp>
        <p:nvSpPr>
          <p:cNvPr id="18" name="직각 삼각형 17">
            <a:extLst>
              <a:ext uri="{FF2B5EF4-FFF2-40B4-BE49-F238E27FC236}">
                <a16:creationId xmlns:a16="http://schemas.microsoft.com/office/drawing/2014/main" id="{4AAFC0EC-0962-4ABD-9598-8EBD04EF0FD5}"/>
              </a:ext>
            </a:extLst>
          </p:cNvPr>
          <p:cNvSpPr/>
          <p:nvPr userDrawn="1"/>
        </p:nvSpPr>
        <p:spPr>
          <a:xfrm rot="10800000" flipH="1">
            <a:off x="1" y="0"/>
            <a:ext cx="304519" cy="295744"/>
          </a:xfrm>
          <a:prstGeom prst="rtTriangle">
            <a:avLst/>
          </a:prstGeom>
          <a:solidFill>
            <a:srgbClr val="DCD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0649" tIns="40325" rIns="80649" bIns="4032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 sz="1588"/>
          </a:p>
        </p:txBody>
      </p:sp>
      <p:sp>
        <p:nvSpPr>
          <p:cNvPr id="4" name="직사각형 3"/>
          <p:cNvSpPr/>
          <p:nvPr userDrawn="1"/>
        </p:nvSpPr>
        <p:spPr>
          <a:xfrm>
            <a:off x="0" y="628764"/>
            <a:ext cx="9905999" cy="54516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88"/>
          </a:p>
        </p:txBody>
      </p:sp>
      <p:sp>
        <p:nvSpPr>
          <p:cNvPr id="3" name="TextBox 2"/>
          <p:cNvSpPr txBox="1"/>
          <p:nvPr userDrawn="1"/>
        </p:nvSpPr>
        <p:spPr>
          <a:xfrm>
            <a:off x="374846" y="23683"/>
            <a:ext cx="2199320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dirty="0">
                <a:ln>
                  <a:solidFill>
                    <a:schemeClr val="tx1">
                      <a:alpha val="1000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2.1 </a:t>
            </a:r>
            <a:r>
              <a:rPr lang="ko-KR" altLang="en-US" sz="1000" dirty="0">
                <a:ln>
                  <a:solidFill>
                    <a:schemeClr val="tx1">
                      <a:alpha val="1000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이동 장애물 인지 데이터 융합 알고리즘</a:t>
            </a:r>
            <a:endParaRPr lang="ko-KR" altLang="en-US" sz="1000" kern="1200" dirty="0">
              <a:ln>
                <a:solidFill>
                  <a:schemeClr val="tx1">
                    <a:alpha val="10000"/>
                  </a:schemeClr>
                </a:solidFill>
              </a:ln>
              <a:solidFill>
                <a:schemeClr val="tx1"/>
              </a:solidFill>
              <a:effectLst/>
              <a:latin typeface="KoPub돋움체 Bold" panose="02020603020101020101" pitchFamily="18" charset="-127"/>
              <a:ea typeface="KoPub돋움체 Bold" panose="02020603020101020101" pitchFamily="18" charset="-127"/>
              <a:cs typeface="+mn-cs"/>
            </a:endParaRP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57756" y="6650182"/>
            <a:ext cx="548244" cy="20781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55F954-5E86-475A-837F-2B8CED6C7DF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55213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4 위험환경 판단 알고리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AC3FAC-13B3-40D7-9479-7028EA4CE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846" y="213862"/>
            <a:ext cx="6720682" cy="384721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lnSpc>
                <a:spcPct val="100000"/>
              </a:lnSpc>
              <a:defRPr sz="2500" b="1" spc="-100" baseline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8" name="직각 삼각형 17">
            <a:extLst>
              <a:ext uri="{FF2B5EF4-FFF2-40B4-BE49-F238E27FC236}">
                <a16:creationId xmlns:a16="http://schemas.microsoft.com/office/drawing/2014/main" id="{4AAFC0EC-0962-4ABD-9598-8EBD04EF0FD5}"/>
              </a:ext>
            </a:extLst>
          </p:cNvPr>
          <p:cNvSpPr/>
          <p:nvPr userDrawn="1"/>
        </p:nvSpPr>
        <p:spPr>
          <a:xfrm rot="10800000" flipH="1">
            <a:off x="1" y="0"/>
            <a:ext cx="304519" cy="295744"/>
          </a:xfrm>
          <a:prstGeom prst="rtTriangle">
            <a:avLst/>
          </a:prstGeom>
          <a:solidFill>
            <a:srgbClr val="DCD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0649" tIns="40325" rIns="80649" bIns="4032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 sz="1588"/>
          </a:p>
        </p:txBody>
      </p:sp>
      <p:sp>
        <p:nvSpPr>
          <p:cNvPr id="4" name="직사각형 3"/>
          <p:cNvSpPr/>
          <p:nvPr userDrawn="1"/>
        </p:nvSpPr>
        <p:spPr>
          <a:xfrm>
            <a:off x="0" y="628764"/>
            <a:ext cx="9905999" cy="54516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88"/>
          </a:p>
        </p:txBody>
      </p:sp>
      <p:sp>
        <p:nvSpPr>
          <p:cNvPr id="3" name="TextBox 2"/>
          <p:cNvSpPr txBox="1"/>
          <p:nvPr userDrawn="1"/>
        </p:nvSpPr>
        <p:spPr>
          <a:xfrm>
            <a:off x="374846" y="23683"/>
            <a:ext cx="1343316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dirty="0">
                <a:ln>
                  <a:solidFill>
                    <a:schemeClr val="tx1">
                      <a:alpha val="1000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3. </a:t>
            </a:r>
            <a:r>
              <a:rPr lang="ko-KR" altLang="en-US" sz="1000" dirty="0">
                <a:ln>
                  <a:solidFill>
                    <a:schemeClr val="tx1">
                      <a:alpha val="1000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위험환경 판단 알고리즘</a:t>
            </a:r>
            <a:endParaRPr lang="ko-KR" altLang="en-US" sz="1000" kern="1200" dirty="0">
              <a:ln>
                <a:solidFill>
                  <a:schemeClr val="tx1">
                    <a:alpha val="10000"/>
                  </a:schemeClr>
                </a:solidFill>
              </a:ln>
              <a:solidFill>
                <a:schemeClr val="tx1"/>
              </a:solidFill>
              <a:effectLst/>
              <a:latin typeface="KoPub돋움체 Bold" panose="02020603020101020101" pitchFamily="18" charset="-127"/>
              <a:ea typeface="KoPub돋움체 Bold" panose="02020603020101020101" pitchFamily="18" charset="-127"/>
              <a:cs typeface="+mn-cs"/>
            </a:endParaRP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57756" y="6650182"/>
            <a:ext cx="548244" cy="20781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55F954-5E86-475A-837F-2B8CED6C7DF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5900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.1 위험판단 알고리즘 구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AC3FAC-13B3-40D7-9479-7028EA4CE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846" y="213862"/>
            <a:ext cx="6720682" cy="384721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lnSpc>
                <a:spcPct val="100000"/>
              </a:lnSpc>
              <a:defRPr sz="2500" b="1" spc="-100" baseline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8" name="직각 삼각형 17">
            <a:extLst>
              <a:ext uri="{FF2B5EF4-FFF2-40B4-BE49-F238E27FC236}">
                <a16:creationId xmlns:a16="http://schemas.microsoft.com/office/drawing/2014/main" id="{4AAFC0EC-0962-4ABD-9598-8EBD04EF0FD5}"/>
              </a:ext>
            </a:extLst>
          </p:cNvPr>
          <p:cNvSpPr/>
          <p:nvPr userDrawn="1"/>
        </p:nvSpPr>
        <p:spPr>
          <a:xfrm rot="10800000" flipH="1">
            <a:off x="1" y="0"/>
            <a:ext cx="304519" cy="295744"/>
          </a:xfrm>
          <a:prstGeom prst="rtTriangle">
            <a:avLst/>
          </a:prstGeom>
          <a:solidFill>
            <a:srgbClr val="DCD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0649" tIns="40325" rIns="80649" bIns="4032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 sz="1588"/>
          </a:p>
        </p:txBody>
      </p:sp>
      <p:sp>
        <p:nvSpPr>
          <p:cNvPr id="4" name="직사각형 3"/>
          <p:cNvSpPr/>
          <p:nvPr userDrawn="1"/>
        </p:nvSpPr>
        <p:spPr>
          <a:xfrm>
            <a:off x="0" y="628764"/>
            <a:ext cx="9905999" cy="54516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88"/>
          </a:p>
        </p:txBody>
      </p:sp>
      <p:sp>
        <p:nvSpPr>
          <p:cNvPr id="3" name="TextBox 2"/>
          <p:cNvSpPr txBox="1"/>
          <p:nvPr userDrawn="1"/>
        </p:nvSpPr>
        <p:spPr>
          <a:xfrm>
            <a:off x="374846" y="23683"/>
            <a:ext cx="1415452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dirty="0">
                <a:ln>
                  <a:solidFill>
                    <a:schemeClr val="tx1">
                      <a:alpha val="1000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3.1 </a:t>
            </a:r>
            <a:r>
              <a:rPr lang="ko-KR" altLang="en-US" sz="1000" dirty="0">
                <a:ln>
                  <a:solidFill>
                    <a:schemeClr val="tx1">
                      <a:alpha val="1000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위험판단 알고리즘 구성</a:t>
            </a:r>
            <a:endParaRPr lang="ko-KR" altLang="en-US" sz="1000" kern="1200" dirty="0">
              <a:ln>
                <a:solidFill>
                  <a:schemeClr val="tx1">
                    <a:alpha val="10000"/>
                  </a:schemeClr>
                </a:solidFill>
              </a:ln>
              <a:solidFill>
                <a:schemeClr val="tx1"/>
              </a:solidFill>
              <a:effectLst/>
              <a:latin typeface="KoPub돋움체 Bold" panose="02020603020101020101" pitchFamily="18" charset="-127"/>
              <a:ea typeface="KoPub돋움체 Bold" panose="02020603020101020101" pitchFamily="18" charset="-127"/>
              <a:cs typeface="+mn-cs"/>
            </a:endParaRP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57756" y="6650182"/>
            <a:ext cx="548244" cy="20781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55F954-5E86-475A-837F-2B8CED6C7DF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64177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.1 위험판단 알고리즘 구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AC3FAC-13B3-40D7-9479-7028EA4CE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846" y="213862"/>
            <a:ext cx="6720682" cy="384721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lnSpc>
                <a:spcPct val="100000"/>
              </a:lnSpc>
              <a:defRPr sz="2500" b="1" spc="-100" baseline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8" name="직각 삼각형 17">
            <a:extLst>
              <a:ext uri="{FF2B5EF4-FFF2-40B4-BE49-F238E27FC236}">
                <a16:creationId xmlns:a16="http://schemas.microsoft.com/office/drawing/2014/main" id="{4AAFC0EC-0962-4ABD-9598-8EBD04EF0FD5}"/>
              </a:ext>
            </a:extLst>
          </p:cNvPr>
          <p:cNvSpPr/>
          <p:nvPr userDrawn="1"/>
        </p:nvSpPr>
        <p:spPr>
          <a:xfrm rot="10800000" flipH="1">
            <a:off x="1" y="0"/>
            <a:ext cx="304519" cy="295744"/>
          </a:xfrm>
          <a:prstGeom prst="rtTriangle">
            <a:avLst/>
          </a:prstGeom>
          <a:solidFill>
            <a:srgbClr val="DCD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0649" tIns="40325" rIns="80649" bIns="4032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 sz="1588"/>
          </a:p>
        </p:txBody>
      </p:sp>
      <p:sp>
        <p:nvSpPr>
          <p:cNvPr id="4" name="직사각형 3"/>
          <p:cNvSpPr/>
          <p:nvPr userDrawn="1"/>
        </p:nvSpPr>
        <p:spPr>
          <a:xfrm>
            <a:off x="0" y="628764"/>
            <a:ext cx="9905999" cy="54516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88"/>
          </a:p>
        </p:txBody>
      </p:sp>
      <p:sp>
        <p:nvSpPr>
          <p:cNvPr id="3" name="TextBox 2"/>
          <p:cNvSpPr txBox="1"/>
          <p:nvPr userDrawn="1"/>
        </p:nvSpPr>
        <p:spPr>
          <a:xfrm>
            <a:off x="374846" y="23683"/>
            <a:ext cx="929742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dirty="0">
                <a:ln>
                  <a:solidFill>
                    <a:schemeClr val="tx1">
                      <a:alpha val="1000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3.2 </a:t>
            </a:r>
            <a:r>
              <a:rPr lang="ko-KR" altLang="en-US" sz="1000" dirty="0">
                <a:ln>
                  <a:solidFill>
                    <a:schemeClr val="tx1">
                      <a:alpha val="1000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위험판단 모델</a:t>
            </a:r>
            <a:endParaRPr lang="ko-KR" altLang="en-US" sz="1000" kern="1200" dirty="0">
              <a:ln>
                <a:solidFill>
                  <a:schemeClr val="tx1">
                    <a:alpha val="10000"/>
                  </a:schemeClr>
                </a:solidFill>
              </a:ln>
              <a:solidFill>
                <a:schemeClr val="tx1"/>
              </a:solidFill>
              <a:effectLst/>
              <a:latin typeface="KoPub돋움체 Bold" panose="02020603020101020101" pitchFamily="18" charset="-127"/>
              <a:ea typeface="KoPub돋움체 Bold" panose="02020603020101020101" pitchFamily="18" charset="-127"/>
              <a:cs typeface="+mn-cs"/>
            </a:endParaRP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57756" y="6650182"/>
            <a:ext cx="548244" cy="20781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55F954-5E86-475A-837F-2B8CED6C7DF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5735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.3 위험판단 인공지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AC3FAC-13B3-40D7-9479-7028EA4CE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846" y="213862"/>
            <a:ext cx="6720682" cy="384721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lnSpc>
                <a:spcPct val="100000"/>
              </a:lnSpc>
              <a:defRPr sz="2500" b="1" spc="-100" baseline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8" name="직각 삼각형 17">
            <a:extLst>
              <a:ext uri="{FF2B5EF4-FFF2-40B4-BE49-F238E27FC236}">
                <a16:creationId xmlns:a16="http://schemas.microsoft.com/office/drawing/2014/main" id="{4AAFC0EC-0962-4ABD-9598-8EBD04EF0FD5}"/>
              </a:ext>
            </a:extLst>
          </p:cNvPr>
          <p:cNvSpPr/>
          <p:nvPr userDrawn="1"/>
        </p:nvSpPr>
        <p:spPr>
          <a:xfrm rot="10800000" flipH="1">
            <a:off x="1" y="0"/>
            <a:ext cx="304519" cy="295744"/>
          </a:xfrm>
          <a:prstGeom prst="rtTriangle">
            <a:avLst/>
          </a:prstGeom>
          <a:solidFill>
            <a:srgbClr val="DCD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0649" tIns="40325" rIns="80649" bIns="4032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 sz="1588"/>
          </a:p>
        </p:txBody>
      </p:sp>
      <p:sp>
        <p:nvSpPr>
          <p:cNvPr id="4" name="직사각형 3"/>
          <p:cNvSpPr/>
          <p:nvPr userDrawn="1"/>
        </p:nvSpPr>
        <p:spPr>
          <a:xfrm>
            <a:off x="0" y="628764"/>
            <a:ext cx="9905999" cy="54516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88"/>
          </a:p>
        </p:txBody>
      </p:sp>
      <p:sp>
        <p:nvSpPr>
          <p:cNvPr id="3" name="TextBox 2"/>
          <p:cNvSpPr txBox="1"/>
          <p:nvPr userDrawn="1"/>
        </p:nvSpPr>
        <p:spPr>
          <a:xfrm>
            <a:off x="374846" y="23683"/>
            <a:ext cx="1154162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dirty="0">
                <a:ln>
                  <a:solidFill>
                    <a:schemeClr val="tx1">
                      <a:alpha val="1000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3.3 </a:t>
            </a:r>
            <a:r>
              <a:rPr lang="ko-KR" altLang="en-US" sz="1000" dirty="0">
                <a:ln>
                  <a:solidFill>
                    <a:schemeClr val="tx1">
                      <a:alpha val="1000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위험판단 인공지능</a:t>
            </a:r>
            <a:endParaRPr lang="ko-KR" altLang="en-US" sz="1000" kern="1200" dirty="0">
              <a:ln>
                <a:solidFill>
                  <a:schemeClr val="tx1">
                    <a:alpha val="10000"/>
                  </a:schemeClr>
                </a:solidFill>
              </a:ln>
              <a:solidFill>
                <a:schemeClr val="tx1"/>
              </a:solidFill>
              <a:effectLst/>
              <a:latin typeface="KoPub돋움체 Bold" panose="02020603020101020101" pitchFamily="18" charset="-127"/>
              <a:ea typeface="KoPub돋움체 Bold" panose="02020603020101020101" pitchFamily="18" charset="-127"/>
              <a:cs typeface="+mn-cs"/>
            </a:endParaRP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57756" y="6650182"/>
            <a:ext cx="548244" cy="20781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55F954-5E86-475A-837F-2B8CED6C7DF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72641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(2세부) 아래줄 있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AC3FAC-13B3-40D7-9479-7028EA4CE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846" y="213862"/>
            <a:ext cx="6720682" cy="384721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lnSpc>
                <a:spcPct val="100000"/>
              </a:lnSpc>
              <a:defRPr sz="2500" b="1" spc="-100" baseline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100CC658-D187-422E-9888-0EA6A7BD4E42}"/>
              </a:ext>
            </a:extLst>
          </p:cNvPr>
          <p:cNvGrpSpPr/>
          <p:nvPr userDrawn="1"/>
        </p:nvGrpSpPr>
        <p:grpSpPr>
          <a:xfrm>
            <a:off x="-1" y="683280"/>
            <a:ext cx="9906001" cy="296325"/>
            <a:chOff x="-1" y="1040372"/>
            <a:chExt cx="10907714" cy="335972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6098941F-CD70-4098-BF18-F47A65C5D480}"/>
                </a:ext>
              </a:extLst>
            </p:cNvPr>
            <p:cNvSpPr/>
            <p:nvPr/>
          </p:nvSpPr>
          <p:spPr bwMode="auto">
            <a:xfrm>
              <a:off x="-1" y="1040372"/>
              <a:ext cx="10907713" cy="33447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lIns="432000" tIns="108000" rIns="180000" bIns="72000">
              <a:noAutofit/>
            </a:bodyPr>
            <a:lstStyle/>
            <a:p>
              <a:pPr eaLnBrk="1" hangingPunct="1">
                <a:lnSpc>
                  <a:spcPct val="120000"/>
                </a:lnSpc>
                <a:spcBef>
                  <a:spcPts val="265"/>
                </a:spcBef>
                <a:spcAft>
                  <a:spcPct val="15000"/>
                </a:spcAft>
                <a:buClr>
                  <a:schemeClr val="tx1"/>
                </a:buClr>
                <a:tabLst>
                  <a:tab pos="806501" algn="l"/>
                  <a:tab pos="6452006" algn="r"/>
                </a:tabLst>
                <a:defRPr/>
              </a:pPr>
              <a:endParaRPr lang="en-US" altLang="ko-KR" sz="1147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11" name="평행 사변형 10">
              <a:extLst>
                <a:ext uri="{FF2B5EF4-FFF2-40B4-BE49-F238E27FC236}">
                  <a16:creationId xmlns:a16="http://schemas.microsoft.com/office/drawing/2014/main" id="{18435ECC-9B12-4C83-851C-4381EB7CDBE0}"/>
                </a:ext>
              </a:extLst>
            </p:cNvPr>
            <p:cNvSpPr/>
            <p:nvPr userDrawn="1"/>
          </p:nvSpPr>
          <p:spPr>
            <a:xfrm flipV="1">
              <a:off x="10163175" y="1041875"/>
              <a:ext cx="744537" cy="334469"/>
            </a:xfrm>
            <a:prstGeom prst="parallelogram">
              <a:avLst>
                <a:gd name="adj" fmla="val 100000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noAutofit/>
            </a:bodyPr>
            <a:lstStyle/>
            <a:p>
              <a:pPr algn="ctr"/>
              <a:endParaRPr lang="ko-KR" altLang="en-US" sz="1588"/>
            </a:p>
          </p:txBody>
        </p:sp>
        <p:sp>
          <p:nvSpPr>
            <p:cNvPr id="16" name="평행 사변형 15">
              <a:extLst>
                <a:ext uri="{FF2B5EF4-FFF2-40B4-BE49-F238E27FC236}">
                  <a16:creationId xmlns:a16="http://schemas.microsoft.com/office/drawing/2014/main" id="{2BAA6223-FD09-4BB1-B8CE-29FC63EBB8DF}"/>
                </a:ext>
              </a:extLst>
            </p:cNvPr>
            <p:cNvSpPr/>
            <p:nvPr userDrawn="1"/>
          </p:nvSpPr>
          <p:spPr>
            <a:xfrm flipV="1">
              <a:off x="0" y="1041874"/>
              <a:ext cx="412751" cy="334469"/>
            </a:xfrm>
            <a:prstGeom prst="parallelogram">
              <a:avLst>
                <a:gd name="adj" fmla="val 100000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noAutofit/>
            </a:bodyPr>
            <a:lstStyle/>
            <a:p>
              <a:pPr algn="ctr"/>
              <a:endParaRPr lang="ko-KR" altLang="en-US" sz="1588"/>
            </a:p>
          </p:txBody>
        </p:sp>
        <p:sp>
          <p:nvSpPr>
            <p:cNvPr id="14" name="직각 삼각형 13">
              <a:extLst>
                <a:ext uri="{FF2B5EF4-FFF2-40B4-BE49-F238E27FC236}">
                  <a16:creationId xmlns:a16="http://schemas.microsoft.com/office/drawing/2014/main" id="{92B12AB9-7F8E-498A-9E9E-6D500561920B}"/>
                </a:ext>
              </a:extLst>
            </p:cNvPr>
            <p:cNvSpPr/>
            <p:nvPr userDrawn="1"/>
          </p:nvSpPr>
          <p:spPr>
            <a:xfrm flipH="1" flipV="1">
              <a:off x="10573243" y="1040372"/>
              <a:ext cx="334470" cy="334470"/>
            </a:xfrm>
            <a:prstGeom prst="rtTriangl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ko-KR" altLang="en-US" sz="1588"/>
            </a:p>
          </p:txBody>
        </p:sp>
        <p:sp>
          <p:nvSpPr>
            <p:cNvPr id="15" name="직각 삼각형 14">
              <a:extLst>
                <a:ext uri="{FF2B5EF4-FFF2-40B4-BE49-F238E27FC236}">
                  <a16:creationId xmlns:a16="http://schemas.microsoft.com/office/drawing/2014/main" id="{8947C93A-CE4A-4DD6-8D7F-BBC247BCD857}"/>
                </a:ext>
              </a:extLst>
            </p:cNvPr>
            <p:cNvSpPr/>
            <p:nvPr userDrawn="1"/>
          </p:nvSpPr>
          <p:spPr>
            <a:xfrm rot="10800000" flipH="1" flipV="1">
              <a:off x="0" y="1040372"/>
              <a:ext cx="334470" cy="334470"/>
            </a:xfrm>
            <a:prstGeom prst="rtTriangl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ko-KR" altLang="en-US" sz="1588"/>
            </a:p>
          </p:txBody>
        </p:sp>
      </p:grpSp>
      <p:sp>
        <p:nvSpPr>
          <p:cNvPr id="18" name="직각 삼각형 17">
            <a:extLst>
              <a:ext uri="{FF2B5EF4-FFF2-40B4-BE49-F238E27FC236}">
                <a16:creationId xmlns:a16="http://schemas.microsoft.com/office/drawing/2014/main" id="{4AAFC0EC-0962-4ABD-9598-8EBD04EF0FD5}"/>
              </a:ext>
            </a:extLst>
          </p:cNvPr>
          <p:cNvSpPr/>
          <p:nvPr userDrawn="1"/>
        </p:nvSpPr>
        <p:spPr>
          <a:xfrm rot="10800000" flipH="1">
            <a:off x="1" y="0"/>
            <a:ext cx="304519" cy="295744"/>
          </a:xfrm>
          <a:prstGeom prst="rtTriangle">
            <a:avLst/>
          </a:prstGeom>
          <a:solidFill>
            <a:srgbClr val="DCD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0649" tIns="40325" rIns="80649" bIns="4032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 sz="1588"/>
          </a:p>
        </p:txBody>
      </p:sp>
      <p:sp>
        <p:nvSpPr>
          <p:cNvPr id="4" name="직사각형 3"/>
          <p:cNvSpPr/>
          <p:nvPr userDrawn="1"/>
        </p:nvSpPr>
        <p:spPr>
          <a:xfrm>
            <a:off x="0" y="628764"/>
            <a:ext cx="9905999" cy="54516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88"/>
          </a:p>
        </p:txBody>
      </p:sp>
      <p:sp>
        <p:nvSpPr>
          <p:cNvPr id="3" name="TextBox 2"/>
          <p:cNvSpPr txBox="1"/>
          <p:nvPr userDrawn="1"/>
        </p:nvSpPr>
        <p:spPr>
          <a:xfrm>
            <a:off x="374846" y="23683"/>
            <a:ext cx="403636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dirty="0">
                <a:ln>
                  <a:solidFill>
                    <a:schemeClr val="tx1">
                      <a:alpha val="1000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(2</a:t>
            </a:r>
            <a:r>
              <a:rPr lang="ko-KR" altLang="en-US" sz="1000">
                <a:ln>
                  <a:solidFill>
                    <a:schemeClr val="tx1">
                      <a:alpha val="1000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세부</a:t>
            </a:r>
            <a:r>
              <a:rPr lang="en-US" altLang="ko-KR" sz="1000" dirty="0">
                <a:ln>
                  <a:solidFill>
                    <a:schemeClr val="tx1">
                      <a:alpha val="1000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) </a:t>
            </a:r>
            <a:r>
              <a:rPr lang="ko-KR" altLang="en-US" sz="1000" kern="1200">
                <a:ln>
                  <a:solidFill>
                    <a:schemeClr val="tx1">
                      <a:alpha val="10000"/>
                    </a:schemeClr>
                  </a:solidFill>
                </a:ln>
                <a:solidFill>
                  <a:schemeClr val="tx1"/>
                </a:solidFill>
                <a:effectLst/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rPr>
              <a:t>엣지기반 위험환경 데이터 분석 기술 개발 및 자율주행 협업 플랫폼 실증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57756" y="6650182"/>
            <a:ext cx="548244" cy="20781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55F954-5E86-475A-837F-2B8CED6C7DF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43670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81038" y="2769279"/>
            <a:ext cx="8543925" cy="1325563"/>
          </a:xfrm>
        </p:spPr>
        <p:txBody>
          <a:bodyPr>
            <a:normAutofit/>
          </a:bodyPr>
          <a:lstStyle>
            <a:lvl1pPr>
              <a:defRPr sz="4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6081576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2세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AC3FAC-13B3-40D7-9479-7028EA4CE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846" y="252299"/>
            <a:ext cx="6720682" cy="380039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lnSpc>
                <a:spcPct val="100000"/>
              </a:lnSpc>
              <a:defRPr sz="2400" b="1" spc="-88" baseline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8" name="직각 삼각형 17">
            <a:extLst>
              <a:ext uri="{FF2B5EF4-FFF2-40B4-BE49-F238E27FC236}">
                <a16:creationId xmlns:a16="http://schemas.microsoft.com/office/drawing/2014/main" id="{4AAFC0EC-0962-4ABD-9598-8EBD04EF0FD5}"/>
              </a:ext>
            </a:extLst>
          </p:cNvPr>
          <p:cNvSpPr/>
          <p:nvPr userDrawn="1"/>
        </p:nvSpPr>
        <p:spPr>
          <a:xfrm rot="10800000" flipH="1">
            <a:off x="1" y="0"/>
            <a:ext cx="304519" cy="295744"/>
          </a:xfrm>
          <a:prstGeom prst="rtTriangle">
            <a:avLst/>
          </a:prstGeom>
          <a:solidFill>
            <a:srgbClr val="DCD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0649" tIns="40325" rIns="80649" bIns="4032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 sz="1424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4" name="직사각형 3"/>
          <p:cNvSpPr/>
          <p:nvPr userDrawn="1"/>
        </p:nvSpPr>
        <p:spPr>
          <a:xfrm>
            <a:off x="0" y="662368"/>
            <a:ext cx="9905999" cy="54516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24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74846" y="9974"/>
            <a:ext cx="3831363" cy="236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741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55F954-5E86-475A-837F-2B8CED6C7D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17664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3" r:id="rId2"/>
    <p:sldLayoutId id="2147483677" r:id="rId3"/>
    <p:sldLayoutId id="2147483672" r:id="rId4"/>
    <p:sldLayoutId id="2147483678" r:id="rId5"/>
    <p:sldLayoutId id="2147483681" r:id="rId6"/>
    <p:sldLayoutId id="2147483682" r:id="rId7"/>
    <p:sldLayoutId id="2147483683" r:id="rId8"/>
    <p:sldLayoutId id="2147483676" r:id="rId9"/>
    <p:sldLayoutId id="2147483675" r:id="rId10"/>
    <p:sldLayoutId id="2147483684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gif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6.png"/><Relationship Id="rId7" Type="http://schemas.openxmlformats.org/officeDocument/2006/relationships/image" Target="../media/image9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0.png"/><Relationship Id="rId5" Type="http://schemas.openxmlformats.org/officeDocument/2006/relationships/image" Target="../media/image70.png"/><Relationship Id="rId4" Type="http://schemas.openxmlformats.org/officeDocument/2006/relationships/image" Target="../media/image6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0.png"/><Relationship Id="rId4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2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0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0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45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12" Type="http://schemas.openxmlformats.org/officeDocument/2006/relationships/image" Target="../media/image44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11" Type="http://schemas.openxmlformats.org/officeDocument/2006/relationships/image" Target="../media/image43.png"/><Relationship Id="rId5" Type="http://schemas.openxmlformats.org/officeDocument/2006/relationships/image" Target="../media/image37.png"/><Relationship Id="rId10" Type="http://schemas.openxmlformats.org/officeDocument/2006/relationships/image" Target="../media/image42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0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6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0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0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0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0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31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0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0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70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0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6.pn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7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1.png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340.pn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0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4.png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0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7.png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0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8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8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2.png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8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F55F954-5E86-475A-837F-2B8CED6C7DF1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88469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문서</a:t>
            </a:r>
            <a:r>
              <a:rPr lang="en-US" altLang="ko-KR" dirty="0"/>
              <a:t> </a:t>
            </a:r>
            <a:r>
              <a:rPr lang="ko-KR" altLang="en-US" dirty="0"/>
              <a:t>이력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F55F954-5E86-475A-837F-2B8CED6C7DF1}" type="slidenum">
              <a:rPr lang="ko-KR" altLang="en-US" smtClean="0"/>
              <a:pPr/>
              <a:t>2</a:t>
            </a:fld>
            <a:endParaRPr lang="ko-KR" altLang="en-US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0252700"/>
              </p:ext>
            </p:extLst>
          </p:nvPr>
        </p:nvGraphicFramePr>
        <p:xfrm>
          <a:off x="381000" y="890955"/>
          <a:ext cx="9144000" cy="5943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53678">
                  <a:extLst>
                    <a:ext uri="{9D8B030D-6E8A-4147-A177-3AD203B41FA5}">
                      <a16:colId xmlns:a16="http://schemas.microsoft.com/office/drawing/2014/main" val="1454666218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618628223"/>
                    </a:ext>
                  </a:extLst>
                </a:gridCol>
                <a:gridCol w="3927107">
                  <a:extLst>
                    <a:ext uri="{9D8B030D-6E8A-4147-A177-3AD203B41FA5}">
                      <a16:colId xmlns:a16="http://schemas.microsoft.com/office/drawing/2014/main" val="2285868594"/>
                    </a:ext>
                  </a:extLst>
                </a:gridCol>
                <a:gridCol w="1285775">
                  <a:extLst>
                    <a:ext uri="{9D8B030D-6E8A-4147-A177-3AD203B41FA5}">
                      <a16:colId xmlns:a16="http://schemas.microsoft.com/office/drawing/2014/main" val="4231102733"/>
                    </a:ext>
                  </a:extLst>
                </a:gridCol>
              </a:tblGrid>
              <a:tr h="1204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bg1"/>
                          </a:solidFill>
                        </a:rPr>
                        <a:t>변경 일자</a:t>
                      </a:r>
                    </a:p>
                  </a:txBody>
                  <a:tcPr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bg1"/>
                          </a:solidFill>
                        </a:rPr>
                        <a:t>변경 알고리즘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bg1"/>
                          </a:solidFill>
                        </a:rPr>
                        <a:t>변경 내용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bg1"/>
                          </a:solidFill>
                        </a:rPr>
                        <a:t>작업자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1386559"/>
                  </a:ext>
                </a:extLst>
              </a:tr>
              <a:tr h="1204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22.10.13.</a:t>
                      </a:r>
                      <a:endParaRPr lang="ko-KR" altLang="en-US" sz="1200" dirty="0"/>
                    </a:p>
                  </a:txBody>
                  <a:tcPr>
                    <a:lnR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/>
                        <a:t>인지데이터</a:t>
                      </a:r>
                      <a:r>
                        <a:rPr lang="ko-KR" altLang="en-US" sz="1200" dirty="0"/>
                        <a:t> 융합</a:t>
                      </a:r>
                    </a:p>
                  </a:txBody>
                  <a:tcPr>
                    <a:lnL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latinLnBrk="1">
                        <a:buAutoNum type="arabicPeriod"/>
                      </a:pPr>
                      <a:r>
                        <a:rPr lang="ko-KR" altLang="en-US" sz="1200" dirty="0"/>
                        <a:t>알고리즘 개요 및 전체 구성</a:t>
                      </a:r>
                      <a:endParaRPr lang="en-US" altLang="ko-KR" sz="1200" dirty="0"/>
                    </a:p>
                    <a:p>
                      <a:pPr marL="228600" indent="-228600" latinLnBrk="1">
                        <a:buAutoNum type="arabicPeriod"/>
                      </a:pPr>
                      <a:r>
                        <a:rPr lang="ko-KR" altLang="en-US" sz="1200" dirty="0"/>
                        <a:t>장애물</a:t>
                      </a:r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객체</a:t>
                      </a:r>
                      <a:r>
                        <a:rPr lang="en-US" altLang="ko-KR" sz="1200" dirty="0"/>
                        <a:t>) </a:t>
                      </a:r>
                      <a:r>
                        <a:rPr lang="ko-KR" altLang="en-US" sz="1200" dirty="0"/>
                        <a:t>융합</a:t>
                      </a:r>
                      <a:r>
                        <a:rPr lang="ko-KR" altLang="en-US" sz="1200" baseline="0" dirty="0"/>
                        <a:t> 알고리즘 상세 설명</a:t>
                      </a:r>
                      <a:endParaRPr lang="ko-KR" altLang="en-US" sz="1200" dirty="0"/>
                    </a:p>
                  </a:txBody>
                  <a:tcPr>
                    <a:lnL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이원석</a:t>
                      </a:r>
                    </a:p>
                  </a:txBody>
                  <a:tcPr>
                    <a:lnL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4964153"/>
                  </a:ext>
                </a:extLst>
              </a:tr>
              <a:tr h="1204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22.10.27.</a:t>
                      </a:r>
                      <a:endParaRPr lang="ko-KR" altLang="en-US" sz="1200" dirty="0"/>
                    </a:p>
                  </a:txBody>
                  <a:tcPr>
                    <a:lnR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 err="1"/>
                        <a:t>인지데이터</a:t>
                      </a:r>
                      <a:r>
                        <a:rPr lang="ko-KR" altLang="en-US" sz="1200" dirty="0"/>
                        <a:t> 융합</a:t>
                      </a:r>
                    </a:p>
                  </a:txBody>
                  <a:tcPr>
                    <a:lnL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latinLnBrk="1">
                        <a:buAutoNum type="arabicPeriod"/>
                      </a:pPr>
                      <a:r>
                        <a:rPr lang="ko-KR" altLang="en-US" sz="1200" dirty="0"/>
                        <a:t>출력 데이터 형식 정의</a:t>
                      </a:r>
                      <a:endParaRPr lang="en-US" altLang="ko-KR" sz="1200" dirty="0"/>
                    </a:p>
                    <a:p>
                      <a:pPr marL="228600" indent="-228600" latinLnBrk="1">
                        <a:buAutoNum type="arabicPeriod"/>
                      </a:pPr>
                      <a:r>
                        <a:rPr lang="en-US" altLang="ko-KR" sz="1200" dirty="0"/>
                        <a:t>L3 </a:t>
                      </a:r>
                      <a:r>
                        <a:rPr lang="ko-KR" altLang="en-US" sz="1200" dirty="0"/>
                        <a:t>데이터 관리 알고리즘 수정</a:t>
                      </a:r>
                    </a:p>
                  </a:txBody>
                  <a:tcPr>
                    <a:lnL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이원석</a:t>
                      </a:r>
                    </a:p>
                  </a:txBody>
                  <a:tcPr>
                    <a:lnL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8463829"/>
                  </a:ext>
                </a:extLst>
              </a:tr>
              <a:tr h="1204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22.11.16.</a:t>
                      </a:r>
                      <a:endParaRPr lang="ko-KR" altLang="en-US" sz="1200" dirty="0"/>
                    </a:p>
                  </a:txBody>
                  <a:tcPr>
                    <a:lnR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 err="1"/>
                        <a:t>인지데이터</a:t>
                      </a:r>
                      <a:r>
                        <a:rPr lang="ko-KR" altLang="en-US" sz="1200" dirty="0"/>
                        <a:t> 융합</a:t>
                      </a:r>
                    </a:p>
                  </a:txBody>
                  <a:tcPr>
                    <a:lnL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1. Data association</a:t>
                      </a:r>
                      <a:r>
                        <a:rPr lang="en-US" altLang="ko-KR" sz="1200" baseline="0" dirty="0"/>
                        <a:t> </a:t>
                      </a:r>
                      <a:r>
                        <a:rPr lang="ko-KR" altLang="en-US" sz="1200" baseline="0" dirty="0"/>
                        <a:t>알고리즘 작성</a:t>
                      </a:r>
                      <a:endParaRPr lang="ko-KR" altLang="en-US" sz="1200" dirty="0"/>
                    </a:p>
                  </a:txBody>
                  <a:tcPr>
                    <a:lnL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/>
                        <a:t>송준</a:t>
                      </a:r>
                      <a:endParaRPr lang="ko-KR" altLang="en-US" sz="1200" dirty="0"/>
                    </a:p>
                  </a:txBody>
                  <a:tcPr>
                    <a:lnL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23658"/>
                  </a:ext>
                </a:extLst>
              </a:tr>
              <a:tr h="1204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23.10.08</a:t>
                      </a:r>
                      <a:endParaRPr lang="ko-KR" altLang="en-US" sz="1200" dirty="0"/>
                    </a:p>
                  </a:txBody>
                  <a:tcPr>
                    <a:lnR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위험 판단 알고리즘</a:t>
                      </a:r>
                    </a:p>
                  </a:txBody>
                  <a:tcPr>
                    <a:lnL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1. </a:t>
                      </a:r>
                      <a:r>
                        <a:rPr lang="ko-KR" altLang="en-US" sz="1200" dirty="0"/>
                        <a:t>위험 판단 알고리즘 전체 구성 작성</a:t>
                      </a:r>
                      <a:r>
                        <a:rPr lang="en-US" altLang="ko-KR" sz="1200" dirty="0"/>
                        <a:t>(rule based)</a:t>
                      </a:r>
                      <a:endParaRPr lang="ko-KR" altLang="en-US" sz="1200" dirty="0"/>
                    </a:p>
                  </a:txBody>
                  <a:tcPr>
                    <a:lnL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송준</a:t>
                      </a:r>
                    </a:p>
                  </a:txBody>
                  <a:tcPr>
                    <a:lnL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3913299"/>
                  </a:ext>
                </a:extLst>
              </a:tr>
              <a:tr h="1204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23.11.17</a:t>
                      </a:r>
                      <a:endParaRPr lang="ko-KR" altLang="en-US" sz="1200" dirty="0"/>
                    </a:p>
                  </a:txBody>
                  <a:tcPr>
                    <a:lnR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위험 판단 알고리즘</a:t>
                      </a:r>
                    </a:p>
                  </a:txBody>
                  <a:tcPr>
                    <a:lnL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P.51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TTC</a:t>
                      </a:r>
                      <a:r>
                        <a:rPr lang="ko-KR" altLang="en-US" sz="1200" dirty="0"/>
                        <a:t> 추정방법 변경</a:t>
                      </a:r>
                    </a:p>
                  </a:txBody>
                  <a:tcPr>
                    <a:lnL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송준</a:t>
                      </a:r>
                    </a:p>
                  </a:txBody>
                  <a:tcPr>
                    <a:lnL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3539509"/>
                  </a:ext>
                </a:extLst>
              </a:tr>
              <a:tr h="1204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24.11.17</a:t>
                      </a:r>
                      <a:endParaRPr lang="ko-KR" altLang="en-US" sz="1200" dirty="0"/>
                    </a:p>
                  </a:txBody>
                  <a:tcPr>
                    <a:lnR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위험 판단 알고리즘</a:t>
                      </a:r>
                    </a:p>
                  </a:txBody>
                  <a:tcPr>
                    <a:lnL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P70. </a:t>
                      </a:r>
                      <a:r>
                        <a:rPr lang="ko-KR" altLang="en-US" sz="1200" dirty="0"/>
                        <a:t>위험판단 시나리오 </a:t>
                      </a:r>
                      <a:r>
                        <a:rPr lang="en-US" altLang="ko-KR" sz="1200" dirty="0"/>
                        <a:t>#8. ‘</a:t>
                      </a:r>
                      <a:r>
                        <a:rPr lang="ko-KR" altLang="en-US" sz="1200" dirty="0"/>
                        <a:t>단차가 있는 주행 환경 </a:t>
                      </a:r>
                      <a:r>
                        <a:rPr lang="en-US" altLang="ko-KR" sz="1200" dirty="0"/>
                        <a:t>: </a:t>
                      </a:r>
                      <a:r>
                        <a:rPr lang="ko-KR" altLang="en-US" sz="1200" dirty="0"/>
                        <a:t>전역경로 및 작업지점 근방의 노면상태가 </a:t>
                      </a:r>
                      <a:r>
                        <a:rPr lang="ko-KR" altLang="en-US" sz="1200" dirty="0" err="1"/>
                        <a:t>불균일</a:t>
                      </a:r>
                      <a:r>
                        <a:rPr lang="ko-KR" altLang="en-US" sz="1200" dirty="0"/>
                        <a:t> 할 경우</a:t>
                      </a:r>
                      <a:r>
                        <a:rPr lang="en-US" altLang="ko-KR" sz="1200" dirty="0"/>
                        <a:t>’ </a:t>
                      </a:r>
                      <a:r>
                        <a:rPr lang="ko-KR" altLang="en-US" sz="1200" dirty="0"/>
                        <a:t>작성</a:t>
                      </a:r>
                    </a:p>
                  </a:txBody>
                  <a:tcPr>
                    <a:lnL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오수진</a:t>
                      </a:r>
                    </a:p>
                  </a:txBody>
                  <a:tcPr>
                    <a:lnL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9691433"/>
                  </a:ext>
                </a:extLst>
              </a:tr>
              <a:tr h="1204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25.09.25</a:t>
                      </a:r>
                      <a:endParaRPr lang="ko-KR" altLang="en-US" sz="1200" dirty="0"/>
                    </a:p>
                  </a:txBody>
                  <a:tcPr>
                    <a:lnR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위험 판단 알고리즘</a:t>
                      </a:r>
                    </a:p>
                  </a:txBody>
                  <a:tcPr>
                    <a:lnL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P37. </a:t>
                      </a:r>
                      <a:r>
                        <a:rPr lang="ko-KR" altLang="en-US" sz="1200"/>
                        <a:t>알고리즘 구성 장표 업데이트</a:t>
                      </a:r>
                      <a:endParaRPr lang="en-US" altLang="ko-KR" sz="120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P73. </a:t>
                      </a:r>
                      <a:r>
                        <a:rPr lang="ko-KR" altLang="en-US" sz="1200" dirty="0"/>
                        <a:t>위험판단 시나리오 </a:t>
                      </a:r>
                      <a:r>
                        <a:rPr lang="en-US" altLang="ko-KR" sz="1200" dirty="0"/>
                        <a:t>#9. ‘</a:t>
                      </a:r>
                      <a:r>
                        <a:rPr lang="ko-KR" altLang="en-US" sz="120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작업 반경 내 장애물에 의한 사각지대</a:t>
                      </a:r>
                      <a:r>
                        <a:rPr lang="en-US" altLang="ko-KR" sz="120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’</a:t>
                      </a:r>
                      <a:r>
                        <a:rPr lang="en-US" altLang="ko-KR" sz="1200" dirty="0"/>
                        <a:t> </a:t>
                      </a:r>
                      <a:r>
                        <a:rPr lang="ko-KR" altLang="en-US" sz="1200" dirty="0"/>
                        <a:t>작성</a:t>
                      </a:r>
                      <a:endParaRPr lang="en-US" altLang="ko-KR" sz="120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P76. </a:t>
                      </a:r>
                      <a:r>
                        <a:rPr lang="ko-KR" altLang="en-US" sz="1200" dirty="0"/>
                        <a:t>위험판단 시나리오 </a:t>
                      </a:r>
                      <a:r>
                        <a:rPr lang="en-US" altLang="ko-KR" sz="1200" dirty="0"/>
                        <a:t>#10. ‘</a:t>
                      </a:r>
                      <a:r>
                        <a:rPr lang="ko-KR" altLang="en-US" sz="120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작업 반경 근방 정차 장애물이 있는 환경</a:t>
                      </a:r>
                      <a:r>
                        <a:rPr lang="en-US" altLang="ko-KR" sz="120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’ </a:t>
                      </a:r>
                      <a:r>
                        <a:rPr lang="ko-KR" altLang="en-US" sz="120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작성</a:t>
                      </a:r>
                      <a:endParaRPr lang="ko-KR" altLang="en-US" sz="1200" dirty="0"/>
                    </a:p>
                  </a:txBody>
                  <a:tcPr>
                    <a:lnL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오수진</a:t>
                      </a:r>
                    </a:p>
                  </a:txBody>
                  <a:tcPr>
                    <a:lnL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7750637"/>
                  </a:ext>
                </a:extLst>
              </a:tr>
              <a:tr h="1204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26.04.24</a:t>
                      </a:r>
                      <a:endParaRPr lang="ko-KR" altLang="en-US" sz="1200" dirty="0"/>
                    </a:p>
                  </a:txBody>
                  <a:tcPr>
                    <a:lnR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위험 판단 알고리즘</a:t>
                      </a:r>
                    </a:p>
                  </a:txBody>
                  <a:tcPr>
                    <a:lnL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P39~P78 </a:t>
                      </a:r>
                      <a:r>
                        <a:rPr lang="ko-KR" altLang="en-US" sz="1200" dirty="0"/>
                        <a:t>실증용 코드에 맞게 시나리오 </a:t>
                      </a:r>
                      <a:r>
                        <a:rPr lang="ko-KR" altLang="en-US" sz="1200" dirty="0" err="1"/>
                        <a:t>변수값</a:t>
                      </a:r>
                      <a:r>
                        <a:rPr lang="ko-KR" altLang="en-US" sz="1200" dirty="0"/>
                        <a:t> 수정</a:t>
                      </a:r>
                    </a:p>
                  </a:txBody>
                  <a:tcPr>
                    <a:lnL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황준호</a:t>
                      </a:r>
                    </a:p>
                  </a:txBody>
                  <a:tcPr>
                    <a:lnL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1771596"/>
                  </a:ext>
                </a:extLst>
              </a:tr>
              <a:tr h="120403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lnR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lnL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lnL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1767510"/>
                  </a:ext>
                </a:extLst>
              </a:tr>
              <a:tr h="120403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lnR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lnL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lnL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4605145"/>
                  </a:ext>
                </a:extLst>
              </a:tr>
              <a:tr h="120403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lnR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lnL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lnL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011763"/>
                  </a:ext>
                </a:extLst>
              </a:tr>
              <a:tr h="120403"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>
                    <a:lnR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lnL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lnL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0338041"/>
                  </a:ext>
                </a:extLst>
              </a:tr>
              <a:tr h="120403"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>
                    <a:lnR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>
                    <a:lnL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lnL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2173668"/>
                  </a:ext>
                </a:extLst>
              </a:tr>
              <a:tr h="120403"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>
                    <a:lnR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>
                    <a:lnL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lnL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986358"/>
                  </a:ext>
                </a:extLst>
              </a:tr>
              <a:tr h="120403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lnR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>
                    <a:lnL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lnL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9898579"/>
                  </a:ext>
                </a:extLst>
              </a:tr>
              <a:tr h="120403"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>
                    <a:lnR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lnL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lnL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28587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36018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알고리즘 개발 배경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294967295"/>
          </p:nvPr>
        </p:nvSpPr>
        <p:spPr>
          <a:xfrm>
            <a:off x="9358313" y="6650038"/>
            <a:ext cx="547687" cy="207962"/>
          </a:xfrm>
        </p:spPr>
        <p:txBody>
          <a:bodyPr/>
          <a:lstStyle/>
          <a:p>
            <a:fld id="{BF55F954-5E86-475A-837F-2B8CED6C7DF1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84261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통합 관제 </a:t>
            </a:r>
            <a:r>
              <a:rPr lang="ko-KR" altLang="en-US" dirty="0" err="1"/>
              <a:t>엣지와</a:t>
            </a:r>
            <a:r>
              <a:rPr lang="ko-KR" altLang="en-US" dirty="0"/>
              <a:t> 자율주행 차량간 역할 구분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F55F954-5E86-475A-837F-2B8CED6C7DF1}" type="slidenum">
              <a:rPr lang="ko-KR" altLang="en-US" smtClean="0"/>
              <a:pPr/>
              <a:t>4</a:t>
            </a:fld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381000" y="882900"/>
            <a:ext cx="8892437" cy="663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5256" indent="-95256"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buFont typeface="Wingdings" panose="05000000000000000000" pitchFamily="2" charset="2"/>
              <a:buChar char="§"/>
              <a:defRPr/>
            </a:pPr>
            <a:r>
              <a:rPr lang="ko-KR" altLang="en-US" sz="1300" b="1" kern="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+mj-ea"/>
                <a:ea typeface="+mj-ea"/>
                <a:cs typeface="Arial" panose="020B0604020202020204" pitchFamily="34" charset="0"/>
              </a:rPr>
              <a:t> </a:t>
            </a:r>
            <a:r>
              <a:rPr lang="en-US" altLang="ko-KR" sz="1300" b="1" kern="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+mj-ea"/>
                <a:ea typeface="+mj-ea"/>
                <a:cs typeface="Arial" panose="020B0604020202020204" pitchFamily="34" charset="0"/>
              </a:rPr>
              <a:t>(</a:t>
            </a:r>
            <a:r>
              <a:rPr lang="ko-KR" altLang="en-US" sz="1300" b="1" kern="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+mj-ea"/>
                <a:ea typeface="+mj-ea"/>
                <a:cs typeface="Arial" panose="020B0604020202020204" pitchFamily="34" charset="0"/>
              </a:rPr>
              <a:t>자율주행 차량</a:t>
            </a:r>
            <a:r>
              <a:rPr lang="en-US" altLang="ko-KR" sz="1300" b="1" kern="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+mj-ea"/>
                <a:ea typeface="+mj-ea"/>
                <a:cs typeface="Arial" panose="020B0604020202020204" pitchFamily="34" charset="0"/>
              </a:rPr>
              <a:t>) </a:t>
            </a:r>
            <a:r>
              <a:rPr lang="ko-KR" altLang="en-US" sz="1300" b="1" kern="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+mj-ea"/>
                <a:ea typeface="+mj-ea"/>
                <a:cs typeface="Arial" panose="020B0604020202020204" pitchFamily="34" charset="0"/>
              </a:rPr>
              <a:t>운전 자동화 기능</a:t>
            </a:r>
            <a:endParaRPr lang="en-US" altLang="ko-KR" sz="1300" b="1" kern="0" dirty="0">
              <a:ln>
                <a:solidFill>
                  <a:schemeClr val="tx1">
                    <a:alpha val="0"/>
                  </a:schemeClr>
                </a:solidFill>
              </a:ln>
              <a:latin typeface="+mj-ea"/>
              <a:ea typeface="+mj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사전 정의된 </a:t>
            </a:r>
            <a:r>
              <a:rPr lang="en-US" altLang="ko-KR" sz="1300" kern="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ODD </a:t>
            </a:r>
            <a:r>
              <a:rPr lang="ko-KR" altLang="en-US" sz="1300" kern="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내에서 </a:t>
            </a:r>
            <a:r>
              <a:rPr lang="en-US" altLang="ko-KR" sz="1300" kern="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DDT</a:t>
            </a:r>
            <a:r>
              <a:rPr lang="ko-KR" altLang="en-US" sz="1300" kern="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를 수행</a:t>
            </a:r>
            <a:r>
              <a:rPr lang="en-US" altLang="ko-KR" sz="1300" kern="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, DDT </a:t>
            </a:r>
            <a:r>
              <a:rPr lang="ko-KR" altLang="en-US" sz="1300" kern="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및 </a:t>
            </a:r>
            <a:r>
              <a:rPr lang="en-US" altLang="ko-KR" sz="1300" kern="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fallback </a:t>
            </a:r>
            <a:r>
              <a:rPr lang="ko-KR" altLang="en-US" sz="1300" kern="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정도에 따른 단계별 분류 </a:t>
            </a:r>
            <a:r>
              <a:rPr lang="en-US" altLang="ko-KR" sz="1300" kern="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(SAE LV 0~5)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390997" y="4902007"/>
            <a:ext cx="8892437" cy="1597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5256" indent="-95256"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buFont typeface="Wingdings" panose="05000000000000000000" pitchFamily="2" charset="2"/>
              <a:buChar char="§"/>
              <a:defRPr/>
            </a:pPr>
            <a:r>
              <a:rPr lang="ko-KR" altLang="en-US" sz="1300" b="1" kern="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+mj-ea"/>
                <a:ea typeface="+mj-ea"/>
                <a:cs typeface="Arial" panose="020B0604020202020204" pitchFamily="34" charset="0"/>
              </a:rPr>
              <a:t> </a:t>
            </a:r>
            <a:r>
              <a:rPr lang="en-US" altLang="ko-KR" sz="1300" b="1" kern="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+mj-ea"/>
                <a:ea typeface="+mj-ea"/>
                <a:cs typeface="Arial" panose="020B0604020202020204" pitchFamily="34" charset="0"/>
              </a:rPr>
              <a:t>(</a:t>
            </a:r>
            <a:r>
              <a:rPr lang="ko-KR" altLang="en-US" sz="1300" b="1" kern="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+mj-ea"/>
                <a:ea typeface="+mj-ea"/>
                <a:cs typeface="Arial" panose="020B0604020202020204" pitchFamily="34" charset="0"/>
              </a:rPr>
              <a:t>통합 관제 엣지</a:t>
            </a:r>
            <a:r>
              <a:rPr lang="en-US" altLang="ko-KR" sz="1300" b="1" kern="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+mj-ea"/>
                <a:ea typeface="+mj-ea"/>
                <a:cs typeface="Arial" panose="020B0604020202020204" pitchFamily="34" charset="0"/>
              </a:rPr>
              <a:t>) </a:t>
            </a:r>
            <a:r>
              <a:rPr lang="ko-KR" altLang="en-US" sz="1300" b="1" kern="0" dirty="0" err="1">
                <a:ln>
                  <a:solidFill>
                    <a:schemeClr val="tx1">
                      <a:alpha val="0"/>
                    </a:schemeClr>
                  </a:solidFill>
                </a:ln>
                <a:latin typeface="+mj-ea"/>
                <a:ea typeface="+mj-ea"/>
                <a:cs typeface="Arial" panose="020B0604020202020204" pitchFamily="34" charset="0"/>
              </a:rPr>
              <a:t>경로계획</a:t>
            </a:r>
            <a:r>
              <a:rPr lang="ko-KR" altLang="en-US" sz="1300" b="1" kern="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+mj-ea"/>
                <a:ea typeface="+mj-ea"/>
                <a:cs typeface="Arial" panose="020B0604020202020204" pitchFamily="34" charset="0"/>
              </a:rPr>
              <a:t> 및 차량 보조의 전략적 기능 </a:t>
            </a:r>
            <a:endParaRPr lang="en-US" altLang="ko-KR" sz="1300" b="1" kern="0" dirty="0">
              <a:ln>
                <a:solidFill>
                  <a:schemeClr val="tx1">
                    <a:alpha val="0"/>
                  </a:schemeClr>
                </a:solidFill>
              </a:ln>
              <a:latin typeface="+mj-ea"/>
              <a:ea typeface="+mj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상용 특수차량 및 작업 보조 차량 </a:t>
            </a:r>
            <a:r>
              <a:rPr lang="en-US" altLang="ko-KR" sz="1300" kern="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Strategic functions (</a:t>
            </a:r>
            <a:r>
              <a:rPr lang="ko-KR" altLang="en-US" sz="1300" kern="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최적 경로 판단 및 생성</a:t>
            </a:r>
            <a:r>
              <a:rPr lang="en-US" altLang="ko-KR" sz="1300" kern="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)</a:t>
            </a: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경로 판단 방안</a:t>
            </a:r>
            <a:endParaRPr lang="en-US" altLang="ko-KR" sz="1300" kern="0" dirty="0">
              <a:ln>
                <a:solidFill>
                  <a:schemeClr val="tx1">
                    <a:alpha val="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  ① </a:t>
            </a:r>
            <a:r>
              <a:rPr lang="ko-KR" altLang="en-US" sz="1300" kern="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인지 </a:t>
            </a:r>
            <a:r>
              <a:rPr lang="en-US" altLang="ko-KR" sz="1300" kern="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: </a:t>
            </a:r>
            <a:r>
              <a:rPr lang="ko-KR" altLang="en-US" sz="1300" kern="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개별 차량의 장애물 데이터</a:t>
            </a:r>
            <a:r>
              <a:rPr lang="en-US" altLang="ko-KR" sz="1300" kern="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, </a:t>
            </a:r>
            <a:r>
              <a:rPr lang="ko-KR" altLang="en-US" sz="1300" kern="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노면 형상 데이터 융합한 정밀 지도 </a:t>
            </a:r>
            <a:endParaRPr lang="en-US" altLang="ko-KR" sz="1300" kern="0" dirty="0">
              <a:ln>
                <a:solidFill>
                  <a:schemeClr val="tx1">
                    <a:alpha val="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  ② </a:t>
            </a:r>
            <a:r>
              <a:rPr lang="ko-KR" altLang="en-US" sz="1300" kern="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판단 </a:t>
            </a:r>
            <a:r>
              <a:rPr lang="en-US" altLang="ko-KR" sz="1300" kern="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: </a:t>
            </a:r>
            <a:r>
              <a:rPr lang="ko-KR" altLang="en-US" sz="1300" kern="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장애물</a:t>
            </a:r>
            <a:r>
              <a:rPr lang="en-US" altLang="ko-KR" sz="1300" kern="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, </a:t>
            </a:r>
            <a:r>
              <a:rPr lang="ko-KR" altLang="en-US" sz="1300" kern="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주행 환경에 의한</a:t>
            </a:r>
            <a:r>
              <a:rPr lang="ko-KR" altLang="en-US" sz="1300" kern="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C00000"/>
                </a:solidFill>
                <a:latin typeface="+mn-ea"/>
                <a:cs typeface="Arial" panose="020B0604020202020204" pitchFamily="34" charset="0"/>
              </a:rPr>
              <a:t> </a:t>
            </a:r>
            <a:r>
              <a:rPr lang="ko-KR" altLang="en-US" sz="1300" kern="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C00000"/>
                </a:solidFill>
                <a:latin typeface="+mj-ea"/>
                <a:ea typeface="+mj-ea"/>
                <a:cs typeface="Arial" panose="020B0604020202020204" pitchFamily="34" charset="0"/>
              </a:rPr>
              <a:t>위험 발생 가능성 최소화</a:t>
            </a:r>
            <a:r>
              <a:rPr lang="ko-KR" altLang="en-US" sz="1300" kern="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C00000"/>
                </a:solidFill>
                <a:latin typeface="+mn-ea"/>
                <a:cs typeface="Arial" panose="020B0604020202020204" pitchFamily="34" charset="0"/>
              </a:rPr>
              <a:t> </a:t>
            </a:r>
            <a:r>
              <a:rPr lang="ko-KR" altLang="en-US" sz="1300" kern="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+mn-ea"/>
                <a:cs typeface="Arial" panose="020B0604020202020204" pitchFamily="34" charset="0"/>
                <a:sym typeface="Wingdings 3" panose="05040102010807070707" pitchFamily="18" charset="2"/>
              </a:rPr>
              <a:t> </a:t>
            </a:r>
            <a:r>
              <a:rPr lang="en-US" altLang="ko-KR" sz="1300" kern="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+mn-ea"/>
                <a:cs typeface="Arial" panose="020B0604020202020204" pitchFamily="34" charset="0"/>
                <a:sym typeface="Wingdings 3" panose="05040102010807070707" pitchFamily="18" charset="2"/>
              </a:rPr>
              <a:t>ODD </a:t>
            </a:r>
            <a:r>
              <a:rPr lang="ko-KR" altLang="en-US" sz="1300" kern="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+mn-ea"/>
                <a:cs typeface="Arial" panose="020B0604020202020204" pitchFamily="34" charset="0"/>
                <a:sym typeface="Wingdings 3" panose="05040102010807070707" pitchFamily="18" charset="2"/>
              </a:rPr>
              <a:t>및</a:t>
            </a:r>
            <a:r>
              <a:rPr lang="en-US" altLang="ko-KR" sz="1300" kern="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+mn-ea"/>
                <a:cs typeface="Arial" panose="020B0604020202020204" pitchFamily="34" charset="0"/>
                <a:sym typeface="Wingdings 3" panose="05040102010807070707" pitchFamily="18" charset="2"/>
              </a:rPr>
              <a:t> </a:t>
            </a:r>
            <a:r>
              <a:rPr lang="ko-KR" altLang="en-US" sz="1300" kern="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+mn-ea"/>
                <a:cs typeface="Arial" panose="020B0604020202020204" pitchFamily="34" charset="0"/>
                <a:sym typeface="Wingdings 3" panose="05040102010807070707" pitchFamily="18" charset="2"/>
              </a:rPr>
              <a:t>안정적인 주행 상태 유지를 통한 주행 품질 향상</a:t>
            </a:r>
            <a:endParaRPr lang="en-US" altLang="ko-KR" sz="1300" kern="0" dirty="0">
              <a:ln>
                <a:solidFill>
                  <a:schemeClr val="tx1">
                    <a:alpha val="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</p:txBody>
      </p:sp>
      <p:sp>
        <p:nvSpPr>
          <p:cNvPr id="6" name="모서리가 둥근 직사각형 5"/>
          <p:cNvSpPr/>
          <p:nvPr/>
        </p:nvSpPr>
        <p:spPr>
          <a:xfrm>
            <a:off x="3218039" y="1802651"/>
            <a:ext cx="6139717" cy="2141718"/>
          </a:xfrm>
          <a:prstGeom prst="roundRect">
            <a:avLst>
              <a:gd name="adj" fmla="val 4878"/>
            </a:avLst>
          </a:prstGeom>
          <a:solidFill>
            <a:schemeClr val="bg1">
              <a:lumMod val="85000"/>
            </a:schemeClr>
          </a:solidFill>
          <a:ln>
            <a:noFill/>
            <a:prstDash val="lgDash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b="1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950211" y="2180228"/>
            <a:ext cx="1436568" cy="394846"/>
          </a:xfrm>
          <a:prstGeom prst="rect">
            <a:avLst/>
          </a:prstGeom>
          <a:solidFill>
            <a:schemeClr val="bg1"/>
          </a:solidFill>
          <a:ln>
            <a:solidFill>
              <a:schemeClr val="accent2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t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+mn-ea"/>
              </a:rPr>
              <a:t>객체</a:t>
            </a:r>
            <a:r>
              <a:rPr lang="en-US" altLang="ko-KR" sz="1100" b="1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100" b="1" dirty="0">
                <a:solidFill>
                  <a:schemeClr val="tx1"/>
                </a:solidFill>
                <a:latin typeface="+mn-ea"/>
              </a:rPr>
              <a:t>및 상황에 대한</a:t>
            </a:r>
            <a:endParaRPr lang="en-US" altLang="ko-KR" sz="1100" b="1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+mn-ea"/>
              </a:rPr>
              <a:t>인지 및 대응 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5967287" y="2180228"/>
            <a:ext cx="1436568" cy="394846"/>
          </a:xfrm>
          <a:prstGeom prst="rect">
            <a:avLst/>
          </a:prstGeom>
          <a:solidFill>
            <a:schemeClr val="bg1"/>
          </a:solidFill>
          <a:ln>
            <a:solidFill>
              <a:schemeClr val="accent2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+mn-ea"/>
              </a:rPr>
              <a:t>차량 </a:t>
            </a:r>
            <a:r>
              <a:rPr lang="ko-KR" altLang="en-US" sz="1100" b="1" dirty="0" err="1">
                <a:solidFill>
                  <a:schemeClr val="tx1"/>
                </a:solidFill>
                <a:latin typeface="+mn-ea"/>
              </a:rPr>
              <a:t>횡방향</a:t>
            </a:r>
            <a:r>
              <a:rPr lang="ko-KR" altLang="en-US" sz="1100" b="1" dirty="0">
                <a:solidFill>
                  <a:schemeClr val="tx1"/>
                </a:solidFill>
                <a:latin typeface="+mn-ea"/>
              </a:rPr>
              <a:t> 제어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5967287" y="2728685"/>
            <a:ext cx="1436568" cy="394846"/>
          </a:xfrm>
          <a:prstGeom prst="rect">
            <a:avLst/>
          </a:prstGeom>
          <a:solidFill>
            <a:schemeClr val="bg1"/>
          </a:solidFill>
          <a:ln>
            <a:solidFill>
              <a:schemeClr val="accent2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+mn-ea"/>
              </a:rPr>
              <a:t>차량 </a:t>
            </a:r>
            <a:r>
              <a:rPr lang="ko-KR" altLang="en-US" sz="1100" b="1" dirty="0" err="1">
                <a:solidFill>
                  <a:schemeClr val="tx1"/>
                </a:solidFill>
                <a:latin typeface="+mn-ea"/>
              </a:rPr>
              <a:t>종방향</a:t>
            </a:r>
            <a:r>
              <a:rPr lang="ko-KR" altLang="en-US" sz="1100" b="1" dirty="0">
                <a:solidFill>
                  <a:schemeClr val="tx1"/>
                </a:solidFill>
                <a:latin typeface="+mn-ea"/>
              </a:rPr>
              <a:t> 제어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8540932" y="2180228"/>
            <a:ext cx="742502" cy="3948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+mn-ea"/>
              </a:rPr>
              <a:t>차량 거동</a:t>
            </a:r>
          </a:p>
        </p:txBody>
      </p:sp>
      <p:sp>
        <p:nvSpPr>
          <p:cNvPr id="11" name="타원 10"/>
          <p:cNvSpPr/>
          <p:nvPr/>
        </p:nvSpPr>
        <p:spPr>
          <a:xfrm>
            <a:off x="5581778" y="2282395"/>
            <a:ext cx="190510" cy="190510"/>
          </a:xfrm>
          <a:prstGeom prst="ellipse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b="1">
              <a:latin typeface="+mn-ea"/>
            </a:endParaRPr>
          </a:p>
        </p:txBody>
      </p:sp>
      <p:sp>
        <p:nvSpPr>
          <p:cNvPr id="12" name="타원 11"/>
          <p:cNvSpPr/>
          <p:nvPr/>
        </p:nvSpPr>
        <p:spPr>
          <a:xfrm>
            <a:off x="3564702" y="2282395"/>
            <a:ext cx="190510" cy="190510"/>
          </a:xfrm>
          <a:prstGeom prst="ellipse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b="1">
              <a:latin typeface="+mn-ea"/>
            </a:endParaRPr>
          </a:p>
        </p:txBody>
      </p:sp>
      <p:cxnSp>
        <p:nvCxnSpPr>
          <p:cNvPr id="13" name="직선 화살표 연결선 12"/>
          <p:cNvCxnSpPr>
            <a:stCxn id="8" idx="3"/>
            <a:endCxn id="10" idx="1"/>
          </p:cNvCxnSpPr>
          <p:nvPr/>
        </p:nvCxnSpPr>
        <p:spPr>
          <a:xfrm>
            <a:off x="7403855" y="2377651"/>
            <a:ext cx="1137077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/>
          <p:cNvSpPr/>
          <p:nvPr/>
        </p:nvSpPr>
        <p:spPr>
          <a:xfrm>
            <a:off x="7598853" y="2241359"/>
            <a:ext cx="184822" cy="1393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b="1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8161111" y="2241359"/>
            <a:ext cx="184822" cy="1393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b="1">
              <a:latin typeface="+mn-ea"/>
            </a:endParaRPr>
          </a:p>
        </p:txBody>
      </p:sp>
      <p:cxnSp>
        <p:nvCxnSpPr>
          <p:cNvPr id="16" name="꺾인 연결선 15"/>
          <p:cNvCxnSpPr>
            <a:stCxn id="9" idx="3"/>
            <a:endCxn id="14" idx="2"/>
          </p:cNvCxnSpPr>
          <p:nvPr/>
        </p:nvCxnSpPr>
        <p:spPr>
          <a:xfrm flipV="1">
            <a:off x="7403854" y="2380719"/>
            <a:ext cx="287410" cy="545389"/>
          </a:xfrm>
          <a:prstGeom prst="bentConnector2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/>
          <p:cNvCxnSpPr>
            <a:stCxn id="7" idx="3"/>
            <a:endCxn id="11" idx="2"/>
          </p:cNvCxnSpPr>
          <p:nvPr/>
        </p:nvCxnSpPr>
        <p:spPr>
          <a:xfrm flipV="1">
            <a:off x="5386779" y="2377650"/>
            <a:ext cx="194999" cy="1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/>
          <p:cNvCxnSpPr>
            <a:stCxn id="11" idx="6"/>
            <a:endCxn id="8" idx="1"/>
          </p:cNvCxnSpPr>
          <p:nvPr/>
        </p:nvCxnSpPr>
        <p:spPr>
          <a:xfrm>
            <a:off x="5772288" y="2377650"/>
            <a:ext cx="194999" cy="1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꺾인 연결선 18"/>
          <p:cNvCxnSpPr>
            <a:stCxn id="11" idx="5"/>
            <a:endCxn id="9" idx="1"/>
          </p:cNvCxnSpPr>
          <p:nvPr/>
        </p:nvCxnSpPr>
        <p:spPr>
          <a:xfrm rot="16200000" flipH="1">
            <a:off x="5615286" y="2574108"/>
            <a:ext cx="481102" cy="222898"/>
          </a:xfrm>
          <a:prstGeom prst="bentConnector2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꺾인 연결선 19"/>
          <p:cNvCxnSpPr>
            <a:stCxn id="15" idx="2"/>
            <a:endCxn id="11" idx="3"/>
          </p:cNvCxnSpPr>
          <p:nvPr/>
        </p:nvCxnSpPr>
        <p:spPr>
          <a:xfrm rot="5400000">
            <a:off x="6899456" y="1090940"/>
            <a:ext cx="64287" cy="2643845"/>
          </a:xfrm>
          <a:prstGeom prst="bentConnector3">
            <a:avLst>
              <a:gd name="adj1" fmla="val 1816101"/>
            </a:avLst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/>
          <p:cNvSpPr/>
          <p:nvPr/>
        </p:nvSpPr>
        <p:spPr>
          <a:xfrm>
            <a:off x="5623412" y="3334687"/>
            <a:ext cx="1364173" cy="2108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US" altLang="ko-KR" sz="1050" b="1" dirty="0">
                <a:solidFill>
                  <a:schemeClr val="tx1"/>
                </a:solidFill>
                <a:latin typeface="+mn-ea"/>
              </a:rPr>
              <a:t>Operational functions</a:t>
            </a:r>
            <a:endParaRPr lang="ko-KR" altLang="en-US" sz="1050" b="1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22" name="직선 화살표 연결선 21"/>
          <p:cNvCxnSpPr>
            <a:stCxn id="12" idx="6"/>
            <a:endCxn id="7" idx="1"/>
          </p:cNvCxnSpPr>
          <p:nvPr/>
        </p:nvCxnSpPr>
        <p:spPr>
          <a:xfrm>
            <a:off x="3755213" y="2377650"/>
            <a:ext cx="194999" cy="1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꺾인 연결선 22"/>
          <p:cNvCxnSpPr>
            <a:stCxn id="15" idx="2"/>
            <a:endCxn id="12" idx="4"/>
          </p:cNvCxnSpPr>
          <p:nvPr/>
        </p:nvCxnSpPr>
        <p:spPr>
          <a:xfrm rot="5400000">
            <a:off x="5910647" y="130030"/>
            <a:ext cx="92186" cy="4593565"/>
          </a:xfrm>
          <a:prstGeom prst="bentConnector3">
            <a:avLst>
              <a:gd name="adj1" fmla="val 1430509"/>
            </a:avLst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직사각형 23"/>
          <p:cNvSpPr/>
          <p:nvPr/>
        </p:nvSpPr>
        <p:spPr>
          <a:xfrm>
            <a:off x="3659957" y="3494825"/>
            <a:ext cx="1364173" cy="2108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US" altLang="ko-KR" sz="1050" b="1" dirty="0">
                <a:solidFill>
                  <a:schemeClr val="tx1"/>
                </a:solidFill>
                <a:latin typeface="+mn-ea"/>
              </a:rPr>
              <a:t>Tactical functions</a:t>
            </a:r>
            <a:endParaRPr lang="ko-KR" altLang="en-US" sz="105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3659957" y="3705626"/>
            <a:ext cx="4593565" cy="2108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900" b="1" dirty="0">
                <a:solidFill>
                  <a:schemeClr val="tx1"/>
                </a:solidFill>
                <a:latin typeface="+mn-ea"/>
              </a:rPr>
              <a:t>장애물</a:t>
            </a:r>
            <a:r>
              <a:rPr lang="en-US" altLang="ko-KR" sz="900" b="1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900" b="1" dirty="0">
                <a:solidFill>
                  <a:schemeClr val="tx1"/>
                </a:solidFill>
                <a:latin typeface="+mn-ea"/>
              </a:rPr>
              <a:t>및</a:t>
            </a:r>
            <a:r>
              <a:rPr lang="en-US" altLang="ko-KR" sz="900" b="1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900" b="1" dirty="0">
                <a:solidFill>
                  <a:schemeClr val="tx1"/>
                </a:solidFill>
                <a:latin typeface="+mn-ea"/>
              </a:rPr>
              <a:t>상황에 대한 회피</a:t>
            </a:r>
            <a:r>
              <a:rPr lang="en-US" altLang="ko-KR" sz="900" b="1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900" b="1" dirty="0">
                <a:solidFill>
                  <a:schemeClr val="tx1"/>
                </a:solidFill>
                <a:latin typeface="+mn-ea"/>
              </a:rPr>
              <a:t>계획된 주행 경로의 추종을 위한 계획 및 실행</a:t>
            </a:r>
          </a:p>
        </p:txBody>
      </p:sp>
      <p:sp>
        <p:nvSpPr>
          <p:cNvPr id="26" name="직사각형 25"/>
          <p:cNvSpPr/>
          <p:nvPr/>
        </p:nvSpPr>
        <p:spPr>
          <a:xfrm>
            <a:off x="3276846" y="1855067"/>
            <a:ext cx="3864450" cy="2108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Dynamic Driving Task :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운전 자동화 영역</a:t>
            </a:r>
          </a:p>
        </p:txBody>
      </p:sp>
      <p:sp>
        <p:nvSpPr>
          <p:cNvPr id="27" name="직사각형 26"/>
          <p:cNvSpPr/>
          <p:nvPr/>
        </p:nvSpPr>
        <p:spPr>
          <a:xfrm>
            <a:off x="1311472" y="2180228"/>
            <a:ext cx="1046153" cy="394846"/>
          </a:xfrm>
          <a:prstGeom prst="rect">
            <a:avLst/>
          </a:prstGeom>
          <a:solidFill>
            <a:schemeClr val="bg1"/>
          </a:solidFill>
          <a:ln>
            <a:solidFill>
              <a:schemeClr val="accent2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t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+mn-ea"/>
              </a:rPr>
              <a:t>목적지 및 </a:t>
            </a:r>
            <a:endParaRPr lang="en-US" altLang="ko-KR" sz="1100" b="1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+mn-ea"/>
              </a:rPr>
              <a:t>경로 계획</a:t>
            </a:r>
          </a:p>
        </p:txBody>
      </p:sp>
      <p:cxnSp>
        <p:nvCxnSpPr>
          <p:cNvPr id="28" name="직선 화살표 연결선 27"/>
          <p:cNvCxnSpPr>
            <a:stCxn id="27" idx="3"/>
            <a:endCxn id="12" idx="2"/>
          </p:cNvCxnSpPr>
          <p:nvPr/>
        </p:nvCxnSpPr>
        <p:spPr>
          <a:xfrm flipV="1">
            <a:off x="2357625" y="2377650"/>
            <a:ext cx="1207077" cy="1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꺾인 연결선 28"/>
          <p:cNvCxnSpPr>
            <a:stCxn id="15" idx="2"/>
            <a:endCxn id="27" idx="1"/>
          </p:cNvCxnSpPr>
          <p:nvPr/>
        </p:nvCxnSpPr>
        <p:spPr>
          <a:xfrm rot="5400000" flipH="1">
            <a:off x="4780963" y="-1091839"/>
            <a:ext cx="3068" cy="6942049"/>
          </a:xfrm>
          <a:prstGeom prst="bentConnector4">
            <a:avLst>
              <a:gd name="adj1" fmla="val -60269761"/>
              <a:gd name="adj2" fmla="val 102904"/>
            </a:avLst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직사각형 29"/>
          <p:cNvSpPr/>
          <p:nvPr/>
        </p:nvSpPr>
        <p:spPr>
          <a:xfrm>
            <a:off x="1118858" y="4003781"/>
            <a:ext cx="1364173" cy="2108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US" altLang="ko-KR" sz="1050" b="1" dirty="0">
                <a:solidFill>
                  <a:schemeClr val="tx1"/>
                </a:solidFill>
                <a:latin typeface="+mn-ea"/>
              </a:rPr>
              <a:t>Strategic functions</a:t>
            </a:r>
            <a:endParaRPr lang="ko-KR" altLang="en-US" sz="105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118859" y="4254407"/>
            <a:ext cx="253146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b="1" dirty="0">
                <a:solidFill>
                  <a:srgbClr val="C00000"/>
                </a:solidFill>
                <a:latin typeface="+mn-ea"/>
              </a:rPr>
              <a:t>【</a:t>
            </a:r>
            <a:r>
              <a:rPr lang="ko-KR" altLang="en-US" sz="1050" b="1" dirty="0">
                <a:solidFill>
                  <a:srgbClr val="C00000"/>
                </a:solidFill>
                <a:latin typeface="+mn-ea"/>
              </a:rPr>
              <a:t>목적지</a:t>
            </a:r>
            <a:r>
              <a:rPr lang="en-US" altLang="ko-KR" sz="1050" b="1" dirty="0">
                <a:solidFill>
                  <a:srgbClr val="C00000"/>
                </a:solidFill>
                <a:latin typeface="+mn-ea"/>
              </a:rPr>
              <a:t>, </a:t>
            </a:r>
            <a:r>
              <a:rPr lang="ko-KR" altLang="en-US" sz="1050" b="1" dirty="0">
                <a:solidFill>
                  <a:srgbClr val="C00000"/>
                </a:solidFill>
                <a:latin typeface="+mn-ea"/>
              </a:rPr>
              <a:t>경로에 대한 시간적</a:t>
            </a:r>
            <a:r>
              <a:rPr lang="en-US" altLang="ko-KR" sz="1050" b="1" dirty="0">
                <a:solidFill>
                  <a:srgbClr val="C00000"/>
                </a:solidFill>
                <a:latin typeface="+mn-ea"/>
              </a:rPr>
              <a:t>〮</a:t>
            </a:r>
            <a:r>
              <a:rPr lang="ko-KR" altLang="en-US" sz="1050" b="1" dirty="0">
                <a:solidFill>
                  <a:srgbClr val="C00000"/>
                </a:solidFill>
                <a:latin typeface="+mn-ea"/>
              </a:rPr>
              <a:t>공간적 판단</a:t>
            </a:r>
            <a:r>
              <a:rPr lang="en-US" altLang="ko-KR" sz="1050" b="1" dirty="0">
                <a:solidFill>
                  <a:srgbClr val="C00000"/>
                </a:solidFill>
                <a:latin typeface="+mn-ea"/>
              </a:rPr>
              <a:t>】</a:t>
            </a:r>
            <a:endParaRPr lang="ko-KR" altLang="en-US" sz="1050" b="1" dirty="0">
              <a:solidFill>
                <a:srgbClr val="C0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166161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통합 관제 </a:t>
            </a:r>
            <a:r>
              <a:rPr lang="ko-KR" altLang="en-US" dirty="0" err="1"/>
              <a:t>엣지의</a:t>
            </a:r>
            <a:r>
              <a:rPr lang="ko-KR" altLang="en-US" dirty="0"/>
              <a:t> 필요성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F55F954-5E86-475A-837F-2B8CED6C7DF1}" type="slidenum">
              <a:rPr lang="ko-KR" altLang="en-US" smtClean="0"/>
              <a:pPr/>
              <a:t>5</a:t>
            </a:fld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381000" y="872478"/>
            <a:ext cx="8892437" cy="683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5256" indent="-95256"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buFont typeface="Wingdings" panose="05000000000000000000" pitchFamily="2" charset="2"/>
              <a:buChar char="§"/>
              <a:defRPr/>
            </a:pPr>
            <a:r>
              <a:rPr lang="ko-KR" altLang="en-US" sz="1300" b="1" kern="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차량 단독 위험 환경 대응 대비</a:t>
            </a:r>
            <a:r>
              <a:rPr lang="en-US" altLang="ko-KR" sz="1300" b="1" kern="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, </a:t>
            </a:r>
            <a:r>
              <a:rPr lang="ko-KR" altLang="en-US" sz="1300" b="1" kern="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주행 안정성과 효율성 보장</a:t>
            </a:r>
            <a:endParaRPr lang="en-US" altLang="ko-KR" sz="1300" b="1" kern="0" dirty="0">
              <a:ln>
                <a:solidFill>
                  <a:schemeClr val="tx1">
                    <a:alpha val="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lvl="0"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위험 상황의 사전 방지 및 주행 상태의 연속성을 유지하여 </a:t>
            </a:r>
            <a:r>
              <a:rPr lang="ko-KR" altLang="en-US" sz="1300" b="1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rgbClr val="0000FF"/>
                </a:solidFill>
                <a:latin typeface="+mn-ea"/>
                <a:cs typeface="Arial" panose="020B0604020202020204" pitchFamily="34" charset="0"/>
              </a:rPr>
              <a:t>주행 중단 및 작업 방해 최소화</a:t>
            </a:r>
            <a:r>
              <a:rPr lang="ko-KR" altLang="en-US" sz="1300" b="1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  <a:cs typeface="Arial" panose="020B0604020202020204" pitchFamily="34" charset="0"/>
              </a:rPr>
              <a:t> </a:t>
            </a:r>
            <a:endParaRPr lang="en-US" altLang="ko-KR" sz="1300" b="1" kern="0" dirty="0">
              <a:ln>
                <a:solidFill>
                  <a:prstClr val="black">
                    <a:alpha val="0"/>
                  </a:prstClr>
                </a:solidFill>
              </a:ln>
              <a:solidFill>
                <a:prstClr val="black"/>
              </a:solidFill>
              <a:latin typeface="+mn-ea"/>
              <a:cs typeface="Arial" panose="020B0604020202020204" pitchFamily="34" charset="0"/>
            </a:endParaRPr>
          </a:p>
        </p:txBody>
      </p:sp>
      <p:grpSp>
        <p:nvGrpSpPr>
          <p:cNvPr id="56" name="그룹 55"/>
          <p:cNvGrpSpPr/>
          <p:nvPr/>
        </p:nvGrpSpPr>
        <p:grpSpPr>
          <a:xfrm>
            <a:off x="506782" y="1767354"/>
            <a:ext cx="8892437" cy="4736264"/>
            <a:chOff x="506782" y="1582343"/>
            <a:chExt cx="8892437" cy="4226126"/>
          </a:xfrm>
        </p:grpSpPr>
        <p:sp>
          <p:nvSpPr>
            <p:cNvPr id="5" name="모서리가 둥근 직사각형 4"/>
            <p:cNvSpPr/>
            <p:nvPr/>
          </p:nvSpPr>
          <p:spPr>
            <a:xfrm>
              <a:off x="506782" y="1876612"/>
              <a:ext cx="8892437" cy="1897593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85000"/>
              </a:schemeClr>
            </a:solidFill>
            <a:ln>
              <a:noFill/>
              <a:prstDash val="lgDash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endParaRPr lang="ko-KR" altLang="en-US" sz="1400" b="1" dirty="0"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  <p:sp>
          <p:nvSpPr>
            <p:cNvPr id="6" name="직사각형 5"/>
            <p:cNvSpPr/>
            <p:nvPr/>
          </p:nvSpPr>
          <p:spPr>
            <a:xfrm>
              <a:off x="506782" y="1582343"/>
              <a:ext cx="8892437" cy="235227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400" b="1">
                  <a:solidFill>
                    <a:schemeClr val="bg1"/>
                  </a:solidFill>
                  <a:latin typeface="+mj-ea"/>
                  <a:ea typeface="+mj-ea"/>
                </a:rPr>
                <a:t>자율차 단독 위험 대응</a:t>
              </a:r>
              <a:endParaRPr lang="ko-KR" altLang="en-US" sz="14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639098" y="1916154"/>
              <a:ext cx="3921487" cy="235227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400" b="1" dirty="0">
                  <a:solidFill>
                    <a:schemeClr val="bg1"/>
                  </a:solidFill>
                </a:rPr>
                <a:t>장애물</a:t>
              </a:r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4798855" y="1916154"/>
              <a:ext cx="2637387" cy="235227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400" b="1" dirty="0">
                  <a:solidFill>
                    <a:schemeClr val="bg1"/>
                  </a:solidFill>
                </a:rPr>
                <a:t>교통</a:t>
              </a:r>
            </a:p>
          </p:txBody>
        </p:sp>
        <p:sp>
          <p:nvSpPr>
            <p:cNvPr id="9" name="직사각형 8"/>
            <p:cNvSpPr/>
            <p:nvPr/>
          </p:nvSpPr>
          <p:spPr>
            <a:xfrm>
              <a:off x="639098" y="2208243"/>
              <a:ext cx="3921487" cy="150646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10" name="직사각형 9"/>
            <p:cNvSpPr/>
            <p:nvPr/>
          </p:nvSpPr>
          <p:spPr>
            <a:xfrm>
              <a:off x="4798855" y="2208243"/>
              <a:ext cx="2637387" cy="150646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7674512" y="1916154"/>
              <a:ext cx="1600093" cy="235227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400" b="1" dirty="0">
                  <a:solidFill>
                    <a:schemeClr val="bg1"/>
                  </a:solidFill>
                </a:rPr>
                <a:t>지형</a:t>
              </a:r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7674512" y="2208243"/>
              <a:ext cx="1600093" cy="150646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400" b="1" dirty="0">
                <a:solidFill>
                  <a:schemeClr val="tx1"/>
                </a:solidFill>
              </a:endParaRPr>
            </a:p>
          </p:txBody>
        </p:sp>
        <p:pic>
          <p:nvPicPr>
            <p:cNvPr id="13" name="Picture 12" descr="미세먼지에 무의대교 공사장 먼지까지…숨막히는 영종도 - 영종뉴스"/>
            <p:cNvPicPr>
              <a:picLocks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3057"/>
            <a:stretch/>
          </p:blipFill>
          <p:spPr bwMode="auto">
            <a:xfrm>
              <a:off x="7770938" y="2499729"/>
              <a:ext cx="1407241" cy="85729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" name="직사각형 13"/>
            <p:cNvSpPr/>
            <p:nvPr/>
          </p:nvSpPr>
          <p:spPr>
            <a:xfrm>
              <a:off x="7770938" y="2264502"/>
              <a:ext cx="1407241" cy="23522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b="1" dirty="0">
                  <a:solidFill>
                    <a:schemeClr val="tx1"/>
                  </a:solidFill>
                </a:rPr>
                <a:t>과도한 경사</a:t>
              </a:r>
              <a:r>
                <a:rPr lang="en-US" altLang="ko-KR" sz="1100" b="1" dirty="0">
                  <a:solidFill>
                    <a:schemeClr val="tx1"/>
                  </a:solidFill>
                </a:rPr>
                <a:t>, </a:t>
              </a:r>
              <a:r>
                <a:rPr lang="ko-KR" altLang="en-US" sz="1100" b="1" dirty="0">
                  <a:solidFill>
                    <a:schemeClr val="tx1"/>
                  </a:solidFill>
                </a:rPr>
                <a:t>요철</a:t>
              </a:r>
            </a:p>
          </p:txBody>
        </p:sp>
        <p:sp>
          <p:nvSpPr>
            <p:cNvPr id="15" name="직사각형 14"/>
            <p:cNvSpPr/>
            <p:nvPr/>
          </p:nvSpPr>
          <p:spPr>
            <a:xfrm>
              <a:off x="7770938" y="3430515"/>
              <a:ext cx="1407241" cy="22226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b="1" dirty="0">
                  <a:solidFill>
                    <a:schemeClr val="tx1"/>
                  </a:solidFill>
                  <a:latin typeface="+mj-ea"/>
                  <a:ea typeface="+mj-ea"/>
                </a:rPr>
                <a:t>감속 </a:t>
              </a:r>
              <a:r>
                <a:rPr lang="en-US" altLang="ko-KR" sz="1100" b="1" dirty="0">
                  <a:solidFill>
                    <a:schemeClr val="tx1"/>
                  </a:solidFill>
                  <a:latin typeface="+mj-ea"/>
                  <a:ea typeface="+mj-ea"/>
                </a:rPr>
                <a:t>/ ODD</a:t>
              </a:r>
              <a:r>
                <a:rPr lang="ko-KR" altLang="en-US" sz="1100" b="1" dirty="0">
                  <a:solidFill>
                    <a:schemeClr val="tx1"/>
                  </a:solidFill>
                  <a:latin typeface="+mj-ea"/>
                  <a:ea typeface="+mj-ea"/>
                </a:rPr>
                <a:t>이탈</a:t>
              </a:r>
            </a:p>
          </p:txBody>
        </p:sp>
        <p:grpSp>
          <p:nvGrpSpPr>
            <p:cNvPr id="16" name="그룹 15"/>
            <p:cNvGrpSpPr/>
            <p:nvPr/>
          </p:nvGrpSpPr>
          <p:grpSpPr>
            <a:xfrm>
              <a:off x="4895281" y="2499729"/>
              <a:ext cx="2451353" cy="857297"/>
              <a:chOff x="5312032" y="3025559"/>
              <a:chExt cx="2779335" cy="972000"/>
            </a:xfrm>
          </p:grpSpPr>
          <p:pic>
            <p:nvPicPr>
              <p:cNvPr id="17" name="Picture 2" descr="대전시, 민간건축공사 하도급 등 지역업체 참여율 향상 '가속화' | 뉴스로"/>
              <p:cNvPicPr>
                <a:picLocks noChangeArrowheads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452" r="5669"/>
              <a:stretch/>
            </p:blipFill>
            <p:spPr bwMode="auto">
              <a:xfrm>
                <a:off x="5312032" y="3025559"/>
                <a:ext cx="1368000" cy="972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8" name="그림 17"/>
              <p:cNvPicPr>
                <a:picLocks/>
              </p:cNvPicPr>
              <p:nvPr/>
            </p:nvPicPr>
            <p:blipFill rotWithShape="1">
              <a:blip r:embed="rId5"/>
              <a:srcRect t="29385" r="14710" b="8974"/>
              <a:stretch/>
            </p:blipFill>
            <p:spPr>
              <a:xfrm>
                <a:off x="6723367" y="3025559"/>
                <a:ext cx="1368000" cy="972000"/>
              </a:xfrm>
              <a:prstGeom prst="rect">
                <a:avLst/>
              </a:prstGeom>
            </p:spPr>
          </p:pic>
        </p:grpSp>
        <p:grpSp>
          <p:nvGrpSpPr>
            <p:cNvPr id="19" name="그룹 18"/>
            <p:cNvGrpSpPr/>
            <p:nvPr/>
          </p:nvGrpSpPr>
          <p:grpSpPr>
            <a:xfrm>
              <a:off x="744099" y="2499729"/>
              <a:ext cx="3726878" cy="857297"/>
              <a:chOff x="681819" y="3025559"/>
              <a:chExt cx="4225521" cy="972000"/>
            </a:xfrm>
          </p:grpSpPr>
          <p:pic>
            <p:nvPicPr>
              <p:cNvPr id="20" name="Picture 8" descr="충북과 나의 연결고리 &amp;#39;충북일보&amp;#39;"/>
              <p:cNvPicPr>
                <a:picLocks noChangeArrowheads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3421" t="20041" r="30642"/>
              <a:stretch/>
            </p:blipFill>
            <p:spPr bwMode="auto">
              <a:xfrm>
                <a:off x="681819" y="3025559"/>
                <a:ext cx="1368000" cy="972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1" name="Picture 6" descr="HD wallpaper: Construction Worker Talking After Work, group of construction  workers standing on road | Wallpaper Flare"/>
              <p:cNvPicPr>
                <a:picLocks noChangeArrowheads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1698" b="44516"/>
              <a:stretch/>
            </p:blipFill>
            <p:spPr bwMode="auto">
              <a:xfrm>
                <a:off x="2108270" y="3025559"/>
                <a:ext cx="1368000" cy="972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2" name="그림 21"/>
              <p:cNvPicPr>
                <a:picLocks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539340" y="3025559"/>
                <a:ext cx="1368000" cy="972000"/>
              </a:xfrm>
              <a:prstGeom prst="rect">
                <a:avLst/>
              </a:prstGeom>
            </p:spPr>
          </p:pic>
        </p:grpSp>
        <p:sp>
          <p:nvSpPr>
            <p:cNvPr id="23" name="직사각형 22"/>
            <p:cNvSpPr/>
            <p:nvPr/>
          </p:nvSpPr>
          <p:spPr>
            <a:xfrm>
              <a:off x="6140069" y="2264502"/>
              <a:ext cx="1206566" cy="23522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b="1">
                  <a:solidFill>
                    <a:schemeClr val="tx1"/>
                  </a:solidFill>
                </a:rPr>
                <a:t>주행 규칙 없음</a:t>
              </a:r>
              <a:endParaRPr lang="ko-KR" altLang="en-US" sz="1100" b="1" dirty="0">
                <a:solidFill>
                  <a:schemeClr val="tx1"/>
                </a:solidFill>
              </a:endParaRPr>
            </a:p>
          </p:txBody>
        </p:sp>
        <p:sp>
          <p:nvSpPr>
            <p:cNvPr id="24" name="직사각형 23"/>
            <p:cNvSpPr/>
            <p:nvPr/>
          </p:nvSpPr>
          <p:spPr>
            <a:xfrm>
              <a:off x="4895281" y="2264502"/>
              <a:ext cx="1206566" cy="23522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b="1" dirty="0">
                  <a:solidFill>
                    <a:schemeClr val="tx1"/>
                  </a:solidFill>
                </a:rPr>
                <a:t>사람</a:t>
              </a:r>
              <a:r>
                <a:rPr lang="en-US" altLang="ko-KR" sz="1100" b="1" dirty="0">
                  <a:solidFill>
                    <a:schemeClr val="tx1"/>
                  </a:solidFill>
                </a:rPr>
                <a:t>, </a:t>
              </a:r>
              <a:r>
                <a:rPr lang="ko-KR" altLang="en-US" sz="1100" b="1" dirty="0">
                  <a:solidFill>
                    <a:schemeClr val="tx1"/>
                  </a:solidFill>
                </a:rPr>
                <a:t>차량 혼재</a:t>
              </a:r>
            </a:p>
          </p:txBody>
        </p:sp>
        <p:sp>
          <p:nvSpPr>
            <p:cNvPr id="25" name="직사각형 24"/>
            <p:cNvSpPr/>
            <p:nvPr/>
          </p:nvSpPr>
          <p:spPr>
            <a:xfrm>
              <a:off x="3264411" y="2264502"/>
              <a:ext cx="1206566" cy="23522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b="1">
                  <a:solidFill>
                    <a:schemeClr val="tx1"/>
                  </a:solidFill>
                </a:rPr>
                <a:t>접근 장애물</a:t>
              </a:r>
              <a:endParaRPr lang="ko-KR" altLang="en-US" sz="1100" b="1" dirty="0">
                <a:solidFill>
                  <a:schemeClr val="tx1"/>
                </a:solidFill>
              </a:endParaRPr>
            </a:p>
          </p:txBody>
        </p:sp>
        <p:sp>
          <p:nvSpPr>
            <p:cNvPr id="26" name="직사각형 25"/>
            <p:cNvSpPr/>
            <p:nvPr/>
          </p:nvSpPr>
          <p:spPr>
            <a:xfrm>
              <a:off x="2002218" y="2264502"/>
              <a:ext cx="1206566" cy="23522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b="1" dirty="0">
                  <a:solidFill>
                    <a:schemeClr val="tx1"/>
                  </a:solidFill>
                </a:rPr>
                <a:t>정지</a:t>
              </a:r>
              <a:r>
                <a:rPr lang="en-US" altLang="ko-KR" sz="1100" b="1" dirty="0">
                  <a:solidFill>
                    <a:schemeClr val="tx1"/>
                  </a:solidFill>
                </a:rPr>
                <a:t>/</a:t>
              </a:r>
              <a:r>
                <a:rPr lang="ko-KR" altLang="en-US" sz="1100" b="1" dirty="0">
                  <a:solidFill>
                    <a:schemeClr val="tx1"/>
                  </a:solidFill>
                </a:rPr>
                <a:t>작업 장애물</a:t>
              </a:r>
            </a:p>
          </p:txBody>
        </p:sp>
        <p:sp>
          <p:nvSpPr>
            <p:cNvPr id="27" name="직사각형 26"/>
            <p:cNvSpPr/>
            <p:nvPr/>
          </p:nvSpPr>
          <p:spPr>
            <a:xfrm>
              <a:off x="739853" y="2264502"/>
              <a:ext cx="1206566" cy="23522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b="1" dirty="0">
                  <a:solidFill>
                    <a:schemeClr val="tx1"/>
                  </a:solidFill>
                </a:rPr>
                <a:t>고정 장애물</a:t>
              </a:r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4895281" y="3430515"/>
              <a:ext cx="1206566" cy="22226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b="1" dirty="0">
                  <a:solidFill>
                    <a:schemeClr val="tx1"/>
                  </a:solidFill>
                  <a:latin typeface="+mj-ea"/>
                  <a:ea typeface="+mj-ea"/>
                </a:rPr>
                <a:t>감속</a:t>
              </a:r>
              <a:r>
                <a:rPr lang="en-US" altLang="ko-KR" sz="1100" b="1" dirty="0">
                  <a:solidFill>
                    <a:schemeClr val="tx1"/>
                  </a:solidFill>
                  <a:latin typeface="+mj-ea"/>
                  <a:ea typeface="+mj-ea"/>
                </a:rPr>
                <a:t>, </a:t>
              </a:r>
              <a:r>
                <a:rPr lang="ko-KR" altLang="en-US" sz="1100" b="1" dirty="0">
                  <a:solidFill>
                    <a:schemeClr val="tx1"/>
                  </a:solidFill>
                  <a:latin typeface="+mj-ea"/>
                  <a:ea typeface="+mj-ea"/>
                </a:rPr>
                <a:t>빈번한 제동</a:t>
              </a:r>
            </a:p>
          </p:txBody>
        </p:sp>
        <p:sp>
          <p:nvSpPr>
            <p:cNvPr id="29" name="직사각형 28"/>
            <p:cNvSpPr/>
            <p:nvPr/>
          </p:nvSpPr>
          <p:spPr>
            <a:xfrm>
              <a:off x="6140068" y="3430515"/>
              <a:ext cx="1206566" cy="22226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b="1" dirty="0">
                  <a:solidFill>
                    <a:schemeClr val="tx1"/>
                  </a:solidFill>
                  <a:latin typeface="+mj-ea"/>
                  <a:ea typeface="+mj-ea"/>
                </a:rPr>
                <a:t>비효율적 경로</a:t>
              </a:r>
            </a:p>
          </p:txBody>
        </p:sp>
        <p:sp>
          <p:nvSpPr>
            <p:cNvPr id="30" name="직사각형 29"/>
            <p:cNvSpPr/>
            <p:nvPr/>
          </p:nvSpPr>
          <p:spPr>
            <a:xfrm>
              <a:off x="739853" y="3430515"/>
              <a:ext cx="1206566" cy="22226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b="1" dirty="0">
                  <a:solidFill>
                    <a:schemeClr val="tx1"/>
                  </a:solidFill>
                  <a:latin typeface="+mj-ea"/>
                  <a:ea typeface="+mj-ea"/>
                </a:rPr>
                <a:t>정차</a:t>
              </a:r>
              <a:r>
                <a:rPr lang="en-US" altLang="ko-KR" sz="1100" b="1" dirty="0">
                  <a:solidFill>
                    <a:schemeClr val="tx1"/>
                  </a:solidFill>
                  <a:latin typeface="+mj-ea"/>
                  <a:ea typeface="+mj-ea"/>
                </a:rPr>
                <a:t> / ODD </a:t>
              </a:r>
              <a:r>
                <a:rPr lang="ko-KR" altLang="en-US" sz="1100" b="1" dirty="0">
                  <a:solidFill>
                    <a:schemeClr val="tx1"/>
                  </a:solidFill>
                  <a:latin typeface="+mj-ea"/>
                  <a:ea typeface="+mj-ea"/>
                </a:rPr>
                <a:t>이탈</a:t>
              </a:r>
            </a:p>
          </p:txBody>
        </p:sp>
        <p:sp>
          <p:nvSpPr>
            <p:cNvPr id="31" name="직사각형 30"/>
            <p:cNvSpPr/>
            <p:nvPr/>
          </p:nvSpPr>
          <p:spPr>
            <a:xfrm>
              <a:off x="1984639" y="3430515"/>
              <a:ext cx="1206566" cy="22226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b="1" dirty="0">
                  <a:solidFill>
                    <a:schemeClr val="tx1"/>
                  </a:solidFill>
                  <a:latin typeface="+mj-ea"/>
                  <a:ea typeface="+mj-ea"/>
                </a:rPr>
                <a:t>대기 </a:t>
              </a:r>
              <a:r>
                <a:rPr lang="en-US" altLang="ko-KR" sz="1100" b="1" dirty="0">
                  <a:solidFill>
                    <a:schemeClr val="tx1"/>
                  </a:solidFill>
                  <a:latin typeface="+mj-ea"/>
                  <a:ea typeface="+mj-ea"/>
                </a:rPr>
                <a:t>/ </a:t>
              </a:r>
              <a:r>
                <a:rPr lang="ko-KR" altLang="en-US" sz="1100" b="1" dirty="0">
                  <a:solidFill>
                    <a:schemeClr val="tx1"/>
                  </a:solidFill>
                  <a:latin typeface="+mj-ea"/>
                  <a:ea typeface="+mj-ea"/>
                </a:rPr>
                <a:t>작업 방해</a:t>
              </a:r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3264411" y="3430515"/>
              <a:ext cx="1206566" cy="22226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b="1" dirty="0">
                  <a:solidFill>
                    <a:schemeClr val="tx1"/>
                  </a:solidFill>
                  <a:latin typeface="+mj-ea"/>
                  <a:ea typeface="+mj-ea"/>
                </a:rPr>
                <a:t>제동</a:t>
              </a:r>
              <a:r>
                <a:rPr lang="en-US" altLang="ko-KR" sz="1100" b="1" dirty="0">
                  <a:solidFill>
                    <a:schemeClr val="tx1"/>
                  </a:solidFill>
                  <a:latin typeface="+mj-ea"/>
                  <a:ea typeface="+mj-ea"/>
                </a:rPr>
                <a:t>, </a:t>
              </a:r>
              <a:r>
                <a:rPr lang="ko-KR" altLang="en-US" sz="1100" b="1" dirty="0">
                  <a:solidFill>
                    <a:schemeClr val="tx1"/>
                  </a:solidFill>
                  <a:latin typeface="+mj-ea"/>
                  <a:ea typeface="+mj-ea"/>
                </a:rPr>
                <a:t>회피</a:t>
              </a:r>
            </a:p>
          </p:txBody>
        </p:sp>
        <p:sp>
          <p:nvSpPr>
            <p:cNvPr id="33" name="직사각형 32"/>
            <p:cNvSpPr/>
            <p:nvPr/>
          </p:nvSpPr>
          <p:spPr>
            <a:xfrm>
              <a:off x="506782" y="5573242"/>
              <a:ext cx="8892437" cy="235227"/>
            </a:xfrm>
            <a:prstGeom prst="rect">
              <a:avLst/>
            </a:prstGeom>
            <a:solidFill>
              <a:srgbClr val="0067B4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39882" tIns="19941" rIns="39882" bIns="1994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14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j-ea"/>
                  <a:ea typeface="+mj-ea"/>
                </a:rPr>
                <a:t>통합 관제 엣지 협력</a:t>
              </a:r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04F4C3C9-E175-4A7D-AC9B-848432EAB74B}"/>
                </a:ext>
              </a:extLst>
            </p:cNvPr>
            <p:cNvSpPr/>
            <p:nvPr/>
          </p:nvSpPr>
          <p:spPr>
            <a:xfrm>
              <a:off x="506782" y="4515877"/>
              <a:ext cx="8892437" cy="997864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39882" tIns="19941" rIns="39882" bIns="1994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000" b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endParaRPr>
            </a:p>
          </p:txBody>
        </p:sp>
        <p:grpSp>
          <p:nvGrpSpPr>
            <p:cNvPr id="35" name="그룹 34"/>
            <p:cNvGrpSpPr/>
            <p:nvPr/>
          </p:nvGrpSpPr>
          <p:grpSpPr>
            <a:xfrm>
              <a:off x="639097" y="4600041"/>
              <a:ext cx="8635507" cy="829535"/>
              <a:chOff x="562769" y="5211315"/>
              <a:chExt cx="9790906" cy="940524"/>
            </a:xfrm>
          </p:grpSpPr>
          <p:grpSp>
            <p:nvGrpSpPr>
              <p:cNvPr id="36" name="그룹 35"/>
              <p:cNvGrpSpPr/>
              <p:nvPr/>
            </p:nvGrpSpPr>
            <p:grpSpPr>
              <a:xfrm>
                <a:off x="562769" y="5211315"/>
                <a:ext cx="9790906" cy="266700"/>
                <a:chOff x="562769" y="5211315"/>
                <a:chExt cx="9790906" cy="266700"/>
              </a:xfrm>
              <a:solidFill>
                <a:schemeClr val="bg1"/>
              </a:solidFill>
            </p:grpSpPr>
            <p:sp>
              <p:nvSpPr>
                <p:cNvPr id="39" name="직사각형 38"/>
                <p:cNvSpPr/>
                <p:nvPr/>
              </p:nvSpPr>
              <p:spPr>
                <a:xfrm>
                  <a:off x="562769" y="5211315"/>
                  <a:ext cx="4716317" cy="266700"/>
                </a:xfrm>
                <a:prstGeom prst="rect">
                  <a:avLst/>
                </a:prstGeom>
                <a:grpFill/>
                <a:ln>
                  <a:solidFill>
                    <a:srgbClr val="0067B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r>
                    <a:rPr lang="ko-KR" altLang="en-US" sz="1400" b="1" dirty="0">
                      <a:solidFill>
                        <a:schemeClr val="tx1"/>
                      </a:solidFill>
                    </a:rPr>
                    <a:t>차량간 협력 계획</a:t>
                  </a:r>
                </a:p>
              </p:txBody>
            </p:sp>
            <p:sp>
              <p:nvSpPr>
                <p:cNvPr id="40" name="직사각형 39"/>
                <p:cNvSpPr/>
                <p:nvPr/>
              </p:nvSpPr>
              <p:spPr>
                <a:xfrm>
                  <a:off x="5637358" y="5211315"/>
                  <a:ext cx="4716317" cy="266700"/>
                </a:xfrm>
                <a:prstGeom prst="rect">
                  <a:avLst/>
                </a:prstGeom>
                <a:grpFill/>
                <a:ln>
                  <a:solidFill>
                    <a:srgbClr val="0067B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r>
                    <a:rPr lang="ko-KR" altLang="en-US" sz="1400" b="1" dirty="0">
                      <a:solidFill>
                        <a:schemeClr val="tx1"/>
                      </a:solidFill>
                    </a:rPr>
                    <a:t>통합 전역 경로</a:t>
                  </a:r>
                </a:p>
              </p:txBody>
            </p:sp>
          </p:grpSp>
          <p:sp>
            <p:nvSpPr>
              <p:cNvPr id="37" name="직사각형 36"/>
              <p:cNvSpPr/>
              <p:nvPr/>
            </p:nvSpPr>
            <p:spPr>
              <a:xfrm>
                <a:off x="562769" y="5885139"/>
                <a:ext cx="9790906" cy="2667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67B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1400" b="1" dirty="0">
                    <a:solidFill>
                      <a:schemeClr val="tx1"/>
                    </a:solidFill>
                  </a:rPr>
                  <a:t>인지 융합 정밀 지도</a:t>
                </a:r>
              </a:p>
            </p:txBody>
          </p:sp>
          <p:sp>
            <p:nvSpPr>
              <p:cNvPr id="38" name="직사각형 37"/>
              <p:cNvSpPr/>
              <p:nvPr/>
            </p:nvSpPr>
            <p:spPr>
              <a:xfrm>
                <a:off x="562769" y="5548227"/>
                <a:ext cx="9790906" cy="2667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67B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1400" b="1" dirty="0">
                    <a:solidFill>
                      <a:schemeClr val="tx1"/>
                    </a:solidFill>
                  </a:rPr>
                  <a:t>위험 환경 식별 </a:t>
                </a:r>
                <a:r>
                  <a:rPr lang="en-US" altLang="ko-KR" sz="1400" b="1" dirty="0">
                    <a:solidFill>
                      <a:schemeClr val="tx1"/>
                    </a:solidFill>
                  </a:rPr>
                  <a:t>/</a:t>
                </a:r>
                <a:r>
                  <a:rPr lang="ko-KR" altLang="en-US" sz="1400" b="1" dirty="0">
                    <a:solidFill>
                      <a:schemeClr val="tx1"/>
                    </a:solidFill>
                  </a:rPr>
                  <a:t> 위험 시나리오 예측</a:t>
                </a:r>
              </a:p>
            </p:txBody>
          </p:sp>
        </p:grpSp>
        <p:cxnSp>
          <p:nvCxnSpPr>
            <p:cNvPr id="41" name="직선 화살표 연결선 40"/>
            <p:cNvCxnSpPr>
              <a:stCxn id="44" idx="0"/>
              <a:endCxn id="32" idx="2"/>
            </p:cNvCxnSpPr>
            <p:nvPr/>
          </p:nvCxnSpPr>
          <p:spPr>
            <a:xfrm flipV="1">
              <a:off x="3867694" y="3652778"/>
              <a:ext cx="0" cy="86500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직사각형 41"/>
            <p:cNvSpPr/>
            <p:nvPr/>
          </p:nvSpPr>
          <p:spPr>
            <a:xfrm>
              <a:off x="1143591" y="4517782"/>
              <a:ext cx="399090" cy="18816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/>
            </a:p>
          </p:txBody>
        </p:sp>
        <p:sp>
          <p:nvSpPr>
            <p:cNvPr id="43" name="직사각형 42"/>
            <p:cNvSpPr/>
            <p:nvPr/>
          </p:nvSpPr>
          <p:spPr>
            <a:xfrm>
              <a:off x="2388378" y="4517782"/>
              <a:ext cx="399090" cy="18816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/>
            </a:p>
          </p:txBody>
        </p:sp>
        <p:sp>
          <p:nvSpPr>
            <p:cNvPr id="44" name="직사각형 43"/>
            <p:cNvSpPr/>
            <p:nvPr/>
          </p:nvSpPr>
          <p:spPr>
            <a:xfrm>
              <a:off x="3668149" y="4517782"/>
              <a:ext cx="399090" cy="18816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/>
            </a:p>
          </p:txBody>
        </p:sp>
        <p:sp>
          <p:nvSpPr>
            <p:cNvPr id="45" name="직사각형 44"/>
            <p:cNvSpPr/>
            <p:nvPr/>
          </p:nvSpPr>
          <p:spPr>
            <a:xfrm>
              <a:off x="5303347" y="4517782"/>
              <a:ext cx="399090" cy="18816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/>
            </a:p>
          </p:txBody>
        </p:sp>
        <p:sp>
          <p:nvSpPr>
            <p:cNvPr id="46" name="직사각형 45"/>
            <p:cNvSpPr/>
            <p:nvPr/>
          </p:nvSpPr>
          <p:spPr>
            <a:xfrm>
              <a:off x="6543806" y="4517782"/>
              <a:ext cx="399090" cy="18816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/>
            </a:p>
          </p:txBody>
        </p:sp>
        <p:sp>
          <p:nvSpPr>
            <p:cNvPr id="47" name="직사각형 46"/>
            <p:cNvSpPr/>
            <p:nvPr/>
          </p:nvSpPr>
          <p:spPr>
            <a:xfrm>
              <a:off x="8275013" y="4517782"/>
              <a:ext cx="399090" cy="18816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1433973" y="4119858"/>
              <a:ext cx="1063112" cy="384477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ko-KR" altLang="en-US" sz="1100" b="1" dirty="0">
                  <a:latin typeface="+mj-ea"/>
                  <a:ea typeface="+mj-ea"/>
                </a:rPr>
                <a:t>작업 보조 차량</a:t>
              </a:r>
              <a:endParaRPr lang="en-US" altLang="ko-KR" sz="1100" b="1" dirty="0">
                <a:latin typeface="+mj-ea"/>
                <a:ea typeface="+mj-ea"/>
              </a:endParaRPr>
            </a:p>
            <a:p>
              <a:pPr algn="ctr"/>
              <a:r>
                <a:rPr lang="ko-KR" altLang="en-US" sz="1100" b="1" dirty="0">
                  <a:latin typeface="+mj-ea"/>
                  <a:ea typeface="+mj-ea"/>
                </a:rPr>
                <a:t>사전 탐색</a:t>
              </a:r>
            </a:p>
          </p:txBody>
        </p:sp>
        <p:cxnSp>
          <p:nvCxnSpPr>
            <p:cNvPr id="49" name="꺾인 연결선 48"/>
            <p:cNvCxnSpPr>
              <a:stCxn id="44" idx="0"/>
              <a:endCxn id="28" idx="2"/>
            </p:cNvCxnSpPr>
            <p:nvPr/>
          </p:nvCxnSpPr>
          <p:spPr>
            <a:xfrm rot="5400000" flipH="1" flipV="1">
              <a:off x="4250627" y="3269846"/>
              <a:ext cx="865005" cy="1630871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직선 화살표 연결선 49"/>
            <p:cNvCxnSpPr>
              <a:stCxn id="47" idx="0"/>
              <a:endCxn id="15" idx="2"/>
            </p:cNvCxnSpPr>
            <p:nvPr/>
          </p:nvCxnSpPr>
          <p:spPr>
            <a:xfrm flipV="1">
              <a:off x="8474558" y="3652778"/>
              <a:ext cx="1" cy="86500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직선 화살표 연결선 50"/>
            <p:cNvCxnSpPr>
              <a:stCxn id="46" idx="0"/>
              <a:endCxn id="29" idx="2"/>
            </p:cNvCxnSpPr>
            <p:nvPr/>
          </p:nvCxnSpPr>
          <p:spPr>
            <a:xfrm flipV="1">
              <a:off x="6743351" y="3652778"/>
              <a:ext cx="0" cy="86500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직선 화살표 연결선 51"/>
            <p:cNvCxnSpPr>
              <a:stCxn id="43" idx="0"/>
              <a:endCxn id="31" idx="2"/>
            </p:cNvCxnSpPr>
            <p:nvPr/>
          </p:nvCxnSpPr>
          <p:spPr>
            <a:xfrm flipH="1" flipV="1">
              <a:off x="2587922" y="3652778"/>
              <a:ext cx="1" cy="86500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직선 화살표 연결선 52"/>
            <p:cNvCxnSpPr>
              <a:stCxn id="42" idx="0"/>
              <a:endCxn id="30" idx="2"/>
            </p:cNvCxnSpPr>
            <p:nvPr/>
          </p:nvCxnSpPr>
          <p:spPr>
            <a:xfrm flipV="1">
              <a:off x="1343136" y="3652778"/>
              <a:ext cx="0" cy="86500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TextBox 53"/>
            <p:cNvSpPr txBox="1"/>
            <p:nvPr/>
          </p:nvSpPr>
          <p:spPr>
            <a:xfrm>
              <a:off x="3819129" y="4119858"/>
              <a:ext cx="1063112" cy="384477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ko-KR" altLang="en-US" sz="1100" b="1" dirty="0">
                  <a:latin typeface="+mj-ea"/>
                  <a:ea typeface="+mj-ea"/>
                </a:rPr>
                <a:t>작업 보조 차량</a:t>
              </a:r>
              <a:endParaRPr lang="en-US" altLang="ko-KR" sz="1100" b="1" dirty="0">
                <a:latin typeface="+mj-ea"/>
                <a:ea typeface="+mj-ea"/>
              </a:endParaRPr>
            </a:p>
            <a:p>
              <a:pPr algn="ctr"/>
              <a:r>
                <a:rPr lang="ko-KR" altLang="en-US" sz="1100" b="1" dirty="0">
                  <a:latin typeface="+mj-ea"/>
                  <a:ea typeface="+mj-ea"/>
                </a:rPr>
                <a:t>수행 </a:t>
              </a:r>
              <a:r>
                <a:rPr lang="en-US" altLang="ko-KR" sz="1100" b="1" dirty="0">
                  <a:latin typeface="+mj-ea"/>
                  <a:ea typeface="+mj-ea"/>
                </a:rPr>
                <a:t>/ </a:t>
              </a:r>
              <a:r>
                <a:rPr lang="ko-KR" altLang="en-US" sz="1100" b="1" dirty="0">
                  <a:latin typeface="+mj-ea"/>
                  <a:ea typeface="+mj-ea"/>
                </a:rPr>
                <a:t>차단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6866606" y="4119858"/>
              <a:ext cx="1484702" cy="384477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ko-KR" altLang="en-US" sz="1100" b="1" dirty="0">
                  <a:latin typeface="+mj-ea"/>
                  <a:ea typeface="+mj-ea"/>
                </a:rPr>
                <a:t>전역 지도에 기반한</a:t>
              </a:r>
              <a:endParaRPr lang="en-US" altLang="ko-KR" sz="1100" b="1" dirty="0">
                <a:latin typeface="+mj-ea"/>
                <a:ea typeface="+mj-ea"/>
              </a:endParaRPr>
            </a:p>
            <a:p>
              <a:pPr algn="ctr"/>
              <a:r>
                <a:rPr lang="ko-KR" altLang="en-US" sz="1100" b="1" dirty="0">
                  <a:latin typeface="+mj-ea"/>
                  <a:ea typeface="+mj-ea"/>
                </a:rPr>
                <a:t>최적 경로 </a:t>
              </a:r>
              <a:r>
                <a:rPr lang="en-US" altLang="ko-KR" sz="1100" b="1" dirty="0">
                  <a:latin typeface="+mj-ea"/>
                  <a:ea typeface="+mj-ea"/>
                </a:rPr>
                <a:t>(</a:t>
              </a:r>
              <a:r>
                <a:rPr lang="ko-KR" altLang="en-US" sz="1100" b="1" dirty="0">
                  <a:latin typeface="+mj-ea"/>
                  <a:ea typeface="+mj-ea"/>
                </a:rPr>
                <a:t>안전</a:t>
              </a:r>
              <a:r>
                <a:rPr lang="en-US" altLang="ko-KR" sz="1100" b="1" dirty="0">
                  <a:latin typeface="+mj-ea"/>
                  <a:ea typeface="+mj-ea"/>
                </a:rPr>
                <a:t>/</a:t>
              </a:r>
              <a:r>
                <a:rPr lang="ko-KR" altLang="en-US" sz="1100" b="1" dirty="0">
                  <a:latin typeface="+mj-ea"/>
                  <a:ea typeface="+mj-ea"/>
                </a:rPr>
                <a:t>효율</a:t>
              </a:r>
              <a:r>
                <a:rPr lang="en-US" altLang="ko-KR" sz="1100" b="1" dirty="0">
                  <a:latin typeface="+mj-ea"/>
                  <a:ea typeface="+mj-ea"/>
                </a:rPr>
                <a:t>)</a:t>
              </a:r>
              <a:endParaRPr lang="ko-KR" altLang="en-US" sz="1100" b="1" dirty="0">
                <a:latin typeface="+mj-ea"/>
                <a:ea typeface="+mj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83487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인지 데이터 융합 알고리즘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294967295"/>
          </p:nvPr>
        </p:nvSpPr>
        <p:spPr>
          <a:xfrm>
            <a:off x="9358313" y="6650038"/>
            <a:ext cx="547687" cy="207962"/>
          </a:xfrm>
        </p:spPr>
        <p:txBody>
          <a:bodyPr/>
          <a:lstStyle/>
          <a:p>
            <a:fld id="{BF55F954-5E86-475A-837F-2B8CED6C7DF1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84788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알고리즘 개요 </a:t>
            </a:r>
            <a:r>
              <a:rPr lang="en-US" altLang="ko-KR" dirty="0"/>
              <a:t>(1/2)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F55F954-5E86-475A-837F-2B8CED6C7DF1}" type="slidenum">
              <a:rPr lang="ko-KR" altLang="en-US" smtClean="0"/>
              <a:pPr/>
              <a:t>7</a:t>
            </a:fld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380999" y="894146"/>
            <a:ext cx="8033536" cy="9751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5256" indent="-95256"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buFont typeface="Wingdings" panose="05000000000000000000" pitchFamily="2" charset="2"/>
              <a:buChar char="§"/>
              <a:defRPr/>
            </a:pPr>
            <a:r>
              <a:rPr lang="ko-KR" altLang="en-US" sz="1300" b="1" kern="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목표</a:t>
            </a:r>
            <a:endParaRPr lang="en-US" altLang="ko-KR" sz="1300" b="1" kern="0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 err="1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차량별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인지 데이터 융합을 통한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,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작업공간 전역 지도 생성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+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장애물 정보 통합 관리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(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활용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)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전역 지도 기반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,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잠재적 위험 시나리오 식별 및 차량 통합 주행 경로 생성에 연계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3"/>
          <a:srcRect l="28088" t="24677" r="19971"/>
          <a:stretch/>
        </p:blipFill>
        <p:spPr>
          <a:xfrm>
            <a:off x="506783" y="2602195"/>
            <a:ext cx="2076612" cy="1560672"/>
          </a:xfrm>
          <a:prstGeom prst="rect">
            <a:avLst/>
          </a:prstGeom>
        </p:spPr>
      </p:pic>
      <p:sp>
        <p:nvSpPr>
          <p:cNvPr id="11" name="순서도: 다중 문서 10"/>
          <p:cNvSpPr/>
          <p:nvPr/>
        </p:nvSpPr>
        <p:spPr>
          <a:xfrm>
            <a:off x="2721344" y="2602195"/>
            <a:ext cx="1599220" cy="1527920"/>
          </a:xfrm>
          <a:prstGeom prst="flowChartMultidocumen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latin typeface="+mn-ea"/>
              </a:rPr>
              <a:t>Object List</a:t>
            </a:r>
          </a:p>
          <a:p>
            <a:pPr algn="ctr"/>
            <a:endParaRPr lang="en-US" altLang="ko-KR" sz="500" b="1" dirty="0">
              <a:latin typeface="+mn-ea"/>
            </a:endParaRPr>
          </a:p>
          <a:p>
            <a:r>
              <a:rPr lang="en-US" altLang="ko-KR" sz="900" b="1" dirty="0">
                <a:latin typeface="+mn-ea"/>
              </a:rPr>
              <a:t> ※ </a:t>
            </a:r>
            <a:r>
              <a:rPr lang="ko-KR" altLang="en-US" sz="900" b="1" dirty="0">
                <a:latin typeface="+mn-ea"/>
              </a:rPr>
              <a:t>차량</a:t>
            </a:r>
            <a:r>
              <a:rPr lang="en-US" altLang="ko-KR" sz="900" b="1" dirty="0">
                <a:latin typeface="+mn-ea"/>
              </a:rPr>
              <a:t>1</a:t>
            </a:r>
          </a:p>
          <a:p>
            <a:r>
              <a:rPr lang="en-US" altLang="ko-KR" sz="900" b="1" dirty="0">
                <a:latin typeface="+mn-ea"/>
              </a:rPr>
              <a:t> - </a:t>
            </a:r>
            <a:r>
              <a:rPr lang="ko-KR" altLang="en-US" sz="900" b="1" dirty="0">
                <a:latin typeface="+mn-ea"/>
              </a:rPr>
              <a:t>위치</a:t>
            </a:r>
            <a:r>
              <a:rPr lang="en-US" altLang="ko-KR" sz="900" b="1" dirty="0">
                <a:latin typeface="+mn-ea"/>
              </a:rPr>
              <a:t>, </a:t>
            </a:r>
            <a:r>
              <a:rPr lang="ko-KR" altLang="en-US" sz="900" b="1" dirty="0">
                <a:latin typeface="+mn-ea"/>
              </a:rPr>
              <a:t>속도</a:t>
            </a:r>
            <a:r>
              <a:rPr lang="en-US" altLang="ko-KR" sz="900" b="1" dirty="0">
                <a:latin typeface="+mn-ea"/>
              </a:rPr>
              <a:t>, </a:t>
            </a:r>
            <a:r>
              <a:rPr lang="ko-KR" altLang="en-US" sz="900" b="1" dirty="0">
                <a:latin typeface="+mn-ea"/>
              </a:rPr>
              <a:t>각속도</a:t>
            </a:r>
            <a:endParaRPr lang="en-US" altLang="ko-KR" sz="900" b="1" dirty="0">
              <a:latin typeface="+mn-ea"/>
            </a:endParaRPr>
          </a:p>
          <a:p>
            <a:endParaRPr lang="en-US" altLang="ko-KR" sz="500" b="1" dirty="0">
              <a:latin typeface="+mn-ea"/>
            </a:endParaRPr>
          </a:p>
          <a:p>
            <a:r>
              <a:rPr lang="en-US" altLang="ko-KR" sz="900" b="1" dirty="0">
                <a:latin typeface="+mn-ea"/>
              </a:rPr>
              <a:t> ※ </a:t>
            </a:r>
            <a:r>
              <a:rPr lang="ko-KR" altLang="en-US" sz="900" b="1" dirty="0">
                <a:latin typeface="+mn-ea"/>
              </a:rPr>
              <a:t>차량</a:t>
            </a:r>
            <a:r>
              <a:rPr lang="en-US" altLang="ko-KR" sz="900" b="1" dirty="0">
                <a:latin typeface="+mn-ea"/>
              </a:rPr>
              <a:t>1, </a:t>
            </a:r>
            <a:r>
              <a:rPr lang="ko-KR" altLang="en-US" sz="900" b="1" dirty="0">
                <a:latin typeface="+mn-ea"/>
              </a:rPr>
              <a:t>객체</a:t>
            </a:r>
            <a:r>
              <a:rPr lang="en-US" altLang="ko-KR" sz="900" b="1" dirty="0">
                <a:latin typeface="+mn-ea"/>
              </a:rPr>
              <a:t>1</a:t>
            </a:r>
          </a:p>
          <a:p>
            <a:r>
              <a:rPr lang="en-US" altLang="ko-KR" sz="900" b="1" dirty="0">
                <a:latin typeface="+mn-ea"/>
              </a:rPr>
              <a:t> - </a:t>
            </a:r>
            <a:r>
              <a:rPr lang="ko-KR" altLang="en-US" sz="900" b="1" dirty="0">
                <a:latin typeface="+mn-ea"/>
              </a:rPr>
              <a:t>위치</a:t>
            </a:r>
            <a:r>
              <a:rPr lang="en-US" altLang="ko-KR" sz="900" b="1" dirty="0">
                <a:latin typeface="+mn-ea"/>
              </a:rPr>
              <a:t>, </a:t>
            </a:r>
            <a:r>
              <a:rPr lang="ko-KR" altLang="en-US" sz="900" b="1" dirty="0">
                <a:latin typeface="+mn-ea"/>
              </a:rPr>
              <a:t>속도</a:t>
            </a:r>
            <a:endParaRPr lang="en-US" altLang="ko-KR" sz="900" b="1" dirty="0">
              <a:latin typeface="+mn-ea"/>
            </a:endParaRPr>
          </a:p>
          <a:p>
            <a:r>
              <a:rPr lang="en-US" altLang="ko-KR" sz="900" b="1" dirty="0">
                <a:latin typeface="+mn-ea"/>
              </a:rPr>
              <a:t> - </a:t>
            </a:r>
            <a:r>
              <a:rPr lang="ko-KR" altLang="en-US" sz="900" b="1" dirty="0">
                <a:latin typeface="+mn-ea"/>
              </a:rPr>
              <a:t>크기</a:t>
            </a:r>
            <a:r>
              <a:rPr lang="en-US" altLang="ko-KR" sz="900" b="1" dirty="0">
                <a:latin typeface="+mn-ea"/>
              </a:rPr>
              <a:t>, </a:t>
            </a:r>
            <a:r>
              <a:rPr lang="ko-KR" altLang="en-US" sz="900" b="1" dirty="0">
                <a:latin typeface="+mn-ea"/>
              </a:rPr>
              <a:t>종류</a:t>
            </a:r>
            <a:endParaRPr lang="en-US" altLang="ko-KR" sz="900" b="1" dirty="0">
              <a:latin typeface="+mn-ea"/>
            </a:endParaRPr>
          </a:p>
          <a:p>
            <a:r>
              <a:rPr lang="en-US" altLang="ko-KR" sz="900" b="1" dirty="0">
                <a:latin typeface="+mn-ea"/>
              </a:rPr>
              <a:t>……</a:t>
            </a:r>
            <a:endParaRPr lang="ko-KR" altLang="en-US" sz="900" b="1" dirty="0">
              <a:latin typeface="+mn-ea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506782" y="4233653"/>
            <a:ext cx="3813782" cy="23244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100" b="1" dirty="0" err="1">
                <a:solidFill>
                  <a:schemeClr val="bg1"/>
                </a:solidFill>
                <a:latin typeface="+mn-ea"/>
              </a:rPr>
              <a:t>차량별</a:t>
            </a:r>
            <a:r>
              <a:rPr lang="ko-KR" altLang="en-US" sz="1100" b="1" dirty="0">
                <a:solidFill>
                  <a:schemeClr val="bg1"/>
                </a:solidFill>
                <a:latin typeface="+mn-ea"/>
              </a:rPr>
              <a:t> 인지 데이터 </a:t>
            </a:r>
            <a:r>
              <a:rPr lang="en-US" altLang="ko-KR" sz="1100" b="1" dirty="0">
                <a:solidFill>
                  <a:schemeClr val="bg1"/>
                </a:solidFill>
                <a:latin typeface="+mn-ea"/>
              </a:rPr>
              <a:t>(</a:t>
            </a:r>
            <a:r>
              <a:rPr lang="ko-KR" altLang="en-US" sz="1100" b="1" dirty="0">
                <a:solidFill>
                  <a:schemeClr val="bg1"/>
                </a:solidFill>
                <a:latin typeface="+mn-ea"/>
              </a:rPr>
              <a:t>객체 정보</a:t>
            </a:r>
            <a:r>
              <a:rPr lang="en-US" altLang="ko-KR" sz="1100" b="1" dirty="0">
                <a:solidFill>
                  <a:schemeClr val="bg1"/>
                </a:solidFill>
                <a:latin typeface="+mn-ea"/>
              </a:rPr>
              <a:t>)</a:t>
            </a:r>
            <a:endParaRPr lang="ko-KR" altLang="en-US" sz="1100" b="1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4"/>
          <a:srcRect l="11444" t="6649" r="12884" b="8635"/>
          <a:stretch/>
        </p:blipFill>
        <p:spPr>
          <a:xfrm>
            <a:off x="5754807" y="2602195"/>
            <a:ext cx="2461275" cy="1560672"/>
          </a:xfrm>
          <a:prstGeom prst="rect">
            <a:avLst/>
          </a:prstGeom>
        </p:spPr>
      </p:pic>
      <p:sp>
        <p:nvSpPr>
          <p:cNvPr id="14" name="직사각형 13"/>
          <p:cNvSpPr/>
          <p:nvPr/>
        </p:nvSpPr>
        <p:spPr>
          <a:xfrm>
            <a:off x="5754808" y="4233653"/>
            <a:ext cx="3644412" cy="232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100" b="1" dirty="0">
                <a:solidFill>
                  <a:schemeClr val="bg1"/>
                </a:solidFill>
                <a:latin typeface="+mn-ea"/>
              </a:rPr>
              <a:t>객체 데이터 융합</a:t>
            </a:r>
          </a:p>
        </p:txBody>
      </p:sp>
      <p:sp>
        <p:nvSpPr>
          <p:cNvPr id="15" name="오른쪽 화살표 14"/>
          <p:cNvSpPr/>
          <p:nvPr/>
        </p:nvSpPr>
        <p:spPr>
          <a:xfrm>
            <a:off x="4656015" y="3150905"/>
            <a:ext cx="764489" cy="430499"/>
          </a:xfrm>
          <a:prstGeom prst="rightArrow">
            <a:avLst/>
          </a:prstGeom>
          <a:gradFill flip="none" rotWithShape="1">
            <a:gsLst>
              <a:gs pos="0">
                <a:schemeClr val="bg1"/>
              </a:gs>
              <a:gs pos="44000">
                <a:schemeClr val="accent1">
                  <a:lumMod val="20000"/>
                  <a:lumOff val="80000"/>
                </a:schemeClr>
              </a:gs>
              <a:gs pos="100000">
                <a:srgbClr val="00B0F0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>
              <a:latin typeface="+mn-ea"/>
            </a:endParaRPr>
          </a:p>
        </p:txBody>
      </p:sp>
      <p:sp>
        <p:nvSpPr>
          <p:cNvPr id="16" name="순서도: 처리 15"/>
          <p:cNvSpPr/>
          <p:nvPr/>
        </p:nvSpPr>
        <p:spPr>
          <a:xfrm>
            <a:off x="8216082" y="2602196"/>
            <a:ext cx="1183138" cy="1560672"/>
          </a:xfrm>
          <a:prstGeom prst="flowChartProcess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ko-KR" sz="1100" b="1" dirty="0">
                <a:solidFill>
                  <a:prstClr val="white"/>
                </a:solidFill>
                <a:latin typeface="+mn-ea"/>
              </a:rPr>
              <a:t>Object List</a:t>
            </a:r>
          </a:p>
          <a:p>
            <a:pPr lvl="0" algn="ctr"/>
            <a:endParaRPr lang="en-US" altLang="ko-KR" sz="500" b="1" dirty="0">
              <a:solidFill>
                <a:prstClr val="white"/>
              </a:solidFill>
              <a:latin typeface="+mn-ea"/>
            </a:endParaRPr>
          </a:p>
          <a:p>
            <a:pPr lvl="0"/>
            <a:r>
              <a:rPr lang="en-US" altLang="ko-KR" sz="900" b="1" dirty="0">
                <a:solidFill>
                  <a:prstClr val="white"/>
                </a:solidFill>
                <a:latin typeface="+mn-ea"/>
              </a:rPr>
              <a:t> ※ </a:t>
            </a:r>
            <a:r>
              <a:rPr lang="ko-KR" altLang="en-US" sz="900" b="1" dirty="0">
                <a:solidFill>
                  <a:prstClr val="white"/>
                </a:solidFill>
                <a:latin typeface="+mn-ea"/>
              </a:rPr>
              <a:t>객체</a:t>
            </a:r>
            <a:r>
              <a:rPr lang="en-US" altLang="ko-KR" sz="900" b="1" dirty="0">
                <a:solidFill>
                  <a:prstClr val="white"/>
                </a:solidFill>
                <a:latin typeface="+mn-ea"/>
              </a:rPr>
              <a:t>1</a:t>
            </a:r>
          </a:p>
          <a:p>
            <a:pPr lvl="0"/>
            <a:r>
              <a:rPr lang="en-US" altLang="ko-KR" sz="900" b="1" dirty="0">
                <a:solidFill>
                  <a:prstClr val="white"/>
                </a:solidFill>
                <a:latin typeface="+mn-ea"/>
              </a:rPr>
              <a:t> - </a:t>
            </a:r>
            <a:r>
              <a:rPr lang="ko-KR" altLang="en-US" sz="900" b="1" dirty="0">
                <a:solidFill>
                  <a:prstClr val="white"/>
                </a:solidFill>
                <a:latin typeface="+mn-ea"/>
              </a:rPr>
              <a:t>고유</a:t>
            </a:r>
            <a:r>
              <a:rPr lang="en-US" altLang="ko-KR" sz="900" b="1" dirty="0">
                <a:solidFill>
                  <a:prstClr val="white"/>
                </a:solidFill>
                <a:latin typeface="+mn-ea"/>
              </a:rPr>
              <a:t> ID</a:t>
            </a:r>
          </a:p>
          <a:p>
            <a:pPr lvl="0"/>
            <a:r>
              <a:rPr lang="en-US" altLang="ko-KR" sz="900" b="1" dirty="0">
                <a:solidFill>
                  <a:prstClr val="white"/>
                </a:solidFill>
                <a:latin typeface="+mn-ea"/>
              </a:rPr>
              <a:t> - </a:t>
            </a:r>
            <a:r>
              <a:rPr lang="ko-KR" altLang="en-US" sz="900" b="1" dirty="0">
                <a:solidFill>
                  <a:prstClr val="white"/>
                </a:solidFill>
                <a:latin typeface="+mn-ea"/>
              </a:rPr>
              <a:t>위치</a:t>
            </a:r>
            <a:r>
              <a:rPr lang="en-US" altLang="ko-KR" sz="900" b="1" dirty="0">
                <a:solidFill>
                  <a:prstClr val="white"/>
                </a:solidFill>
                <a:latin typeface="+mn-ea"/>
              </a:rPr>
              <a:t>, </a:t>
            </a:r>
            <a:r>
              <a:rPr lang="ko-KR" altLang="en-US" sz="900" b="1" dirty="0">
                <a:solidFill>
                  <a:prstClr val="white"/>
                </a:solidFill>
                <a:latin typeface="+mn-ea"/>
              </a:rPr>
              <a:t>속도</a:t>
            </a:r>
            <a:endParaRPr lang="en-US" altLang="ko-KR" sz="900" b="1" dirty="0">
              <a:solidFill>
                <a:prstClr val="white"/>
              </a:solidFill>
              <a:latin typeface="+mn-ea"/>
            </a:endParaRPr>
          </a:p>
          <a:p>
            <a:pPr lvl="0"/>
            <a:r>
              <a:rPr lang="en-US" altLang="ko-KR" sz="900" b="1" dirty="0">
                <a:solidFill>
                  <a:prstClr val="white"/>
                </a:solidFill>
                <a:latin typeface="+mn-ea"/>
              </a:rPr>
              <a:t> - </a:t>
            </a:r>
            <a:r>
              <a:rPr lang="ko-KR" altLang="en-US" sz="900" b="1" dirty="0">
                <a:solidFill>
                  <a:prstClr val="white"/>
                </a:solidFill>
                <a:latin typeface="+mn-ea"/>
              </a:rPr>
              <a:t>크기</a:t>
            </a:r>
            <a:r>
              <a:rPr lang="en-US" altLang="ko-KR" sz="900" b="1" dirty="0">
                <a:solidFill>
                  <a:prstClr val="white"/>
                </a:solidFill>
                <a:latin typeface="+mn-ea"/>
              </a:rPr>
              <a:t>, </a:t>
            </a:r>
            <a:r>
              <a:rPr lang="ko-KR" altLang="en-US" sz="900" b="1" dirty="0">
                <a:solidFill>
                  <a:prstClr val="white"/>
                </a:solidFill>
                <a:latin typeface="+mn-ea"/>
              </a:rPr>
              <a:t>종류</a:t>
            </a:r>
            <a:endParaRPr lang="en-US" altLang="ko-KR" sz="900" b="1" dirty="0">
              <a:solidFill>
                <a:prstClr val="white"/>
              </a:solidFill>
              <a:latin typeface="+mn-ea"/>
            </a:endParaRPr>
          </a:p>
          <a:p>
            <a:pPr lvl="0"/>
            <a:r>
              <a:rPr lang="en-US" altLang="ko-KR" sz="900" b="1" dirty="0">
                <a:solidFill>
                  <a:prstClr val="white"/>
                </a:solidFill>
                <a:latin typeface="+mn-ea"/>
              </a:rPr>
              <a:t> - </a:t>
            </a:r>
            <a:r>
              <a:rPr lang="ko-KR" altLang="en-US" sz="900" b="1" dirty="0">
                <a:solidFill>
                  <a:prstClr val="white"/>
                </a:solidFill>
                <a:latin typeface="+mn-ea"/>
              </a:rPr>
              <a:t>검출</a:t>
            </a:r>
            <a:r>
              <a:rPr lang="en-US" altLang="ko-KR" sz="900" b="1" dirty="0">
                <a:solidFill>
                  <a:prstClr val="white"/>
                </a:solidFill>
                <a:latin typeface="+mn-ea"/>
              </a:rPr>
              <a:t> </a:t>
            </a:r>
            <a:r>
              <a:rPr lang="ko-KR" altLang="en-US" sz="900" b="1" dirty="0">
                <a:solidFill>
                  <a:prstClr val="white"/>
                </a:solidFill>
                <a:latin typeface="+mn-ea"/>
              </a:rPr>
              <a:t>이력</a:t>
            </a:r>
            <a:endParaRPr lang="en-US" altLang="ko-KR" sz="900" b="1" dirty="0">
              <a:solidFill>
                <a:prstClr val="white"/>
              </a:solidFill>
              <a:latin typeface="+mn-ea"/>
            </a:endParaRPr>
          </a:p>
          <a:p>
            <a:pPr lvl="0" algn="ctr"/>
            <a:endParaRPr lang="en-US" altLang="ko-KR" sz="500" b="1" dirty="0">
              <a:solidFill>
                <a:prstClr val="white"/>
              </a:solidFill>
              <a:latin typeface="+mn-ea"/>
            </a:endParaRPr>
          </a:p>
          <a:p>
            <a:pPr lvl="0"/>
            <a:r>
              <a:rPr lang="en-US" altLang="ko-KR" sz="900" b="1" dirty="0">
                <a:solidFill>
                  <a:prstClr val="white"/>
                </a:solidFill>
                <a:latin typeface="+mn-ea"/>
              </a:rPr>
              <a:t> ※ </a:t>
            </a:r>
            <a:r>
              <a:rPr lang="ko-KR" altLang="en-US" sz="900" b="1" dirty="0">
                <a:solidFill>
                  <a:prstClr val="white"/>
                </a:solidFill>
                <a:latin typeface="+mn-ea"/>
              </a:rPr>
              <a:t>객체</a:t>
            </a:r>
            <a:r>
              <a:rPr lang="en-US" altLang="ko-KR" sz="900" b="1" dirty="0">
                <a:solidFill>
                  <a:prstClr val="white"/>
                </a:solidFill>
                <a:latin typeface="+mn-ea"/>
              </a:rPr>
              <a:t>2</a:t>
            </a:r>
          </a:p>
          <a:p>
            <a:pPr lvl="0"/>
            <a:r>
              <a:rPr lang="en-US" altLang="ko-KR" sz="900" b="1" dirty="0">
                <a:solidFill>
                  <a:prstClr val="white"/>
                </a:solidFill>
                <a:latin typeface="+mn-ea"/>
              </a:rPr>
              <a:t> - </a:t>
            </a:r>
            <a:r>
              <a:rPr lang="ko-KR" altLang="en-US" sz="900" b="1" dirty="0">
                <a:solidFill>
                  <a:prstClr val="white"/>
                </a:solidFill>
                <a:latin typeface="+mn-ea"/>
              </a:rPr>
              <a:t>고유</a:t>
            </a:r>
            <a:r>
              <a:rPr lang="en-US" altLang="ko-KR" sz="900" b="1" dirty="0">
                <a:solidFill>
                  <a:prstClr val="white"/>
                </a:solidFill>
                <a:latin typeface="+mn-ea"/>
              </a:rPr>
              <a:t> ID</a:t>
            </a:r>
          </a:p>
          <a:p>
            <a:pPr lvl="0"/>
            <a:endParaRPr lang="en-US" altLang="ko-KR" sz="600" b="1" dirty="0">
              <a:solidFill>
                <a:prstClr val="white"/>
              </a:solidFill>
              <a:latin typeface="+mn-ea"/>
            </a:endParaRPr>
          </a:p>
          <a:p>
            <a:pPr lvl="0" algn="ctr"/>
            <a:r>
              <a:rPr lang="en-US" altLang="ko-KR" sz="900" b="1" dirty="0">
                <a:solidFill>
                  <a:prstClr val="white"/>
                </a:solidFill>
                <a:latin typeface="+mn-ea"/>
              </a:rPr>
              <a:t>……</a:t>
            </a:r>
          </a:p>
        </p:txBody>
      </p:sp>
      <p:grpSp>
        <p:nvGrpSpPr>
          <p:cNvPr id="17" name="그룹 16"/>
          <p:cNvGrpSpPr/>
          <p:nvPr/>
        </p:nvGrpSpPr>
        <p:grpSpPr>
          <a:xfrm>
            <a:off x="506782" y="4731312"/>
            <a:ext cx="8892438" cy="1901263"/>
            <a:chOff x="412750" y="4478650"/>
            <a:chExt cx="10082213" cy="2061252"/>
          </a:xfrm>
        </p:grpSpPr>
        <p:grpSp>
          <p:nvGrpSpPr>
            <p:cNvPr id="18" name="그룹 17"/>
            <p:cNvGrpSpPr>
              <a:grpSpLocks noChangeAspect="1"/>
            </p:cNvGrpSpPr>
            <p:nvPr/>
          </p:nvGrpSpPr>
          <p:grpSpPr>
            <a:xfrm>
              <a:off x="7374295" y="4478650"/>
              <a:ext cx="3120668" cy="1755376"/>
              <a:chOff x="3387777" y="1839091"/>
              <a:chExt cx="6934817" cy="3900835"/>
            </a:xfrm>
          </p:grpSpPr>
          <p:pic>
            <p:nvPicPr>
              <p:cNvPr id="41" name="Picture 2" descr="Tutorial 2: Bitmap Height Maps"/>
              <p:cNvPicPr>
                <a:picLocks noChangeAspect="1" noChangeArrowheads="1"/>
              </p:cNvPicPr>
              <p:nvPr/>
            </p:nvPicPr>
            <p:blipFill>
              <a:blip r:embed="rId5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87777" y="1839091"/>
                <a:ext cx="6934817" cy="390083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2" name="그림 41" descr="Tutorial 2: Bitmap Height Maps"/>
              <p:cNvPicPr>
                <a:picLocks noChangeAspect="1" noChangeArrowheads="1"/>
              </p:cNvPicPr>
              <p:nvPr/>
            </p:nvPicPr>
            <p:blipFill>
              <a:blip r:embed="rId5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1413" t="48415" r="2586" b="23827"/>
              <a:stretch>
                <a:fillRect/>
              </a:stretch>
            </p:blipFill>
            <p:spPr bwMode="auto">
              <a:xfrm>
                <a:off x="8340124" y="3727668"/>
                <a:ext cx="1803117" cy="1082802"/>
              </a:xfrm>
              <a:custGeom>
                <a:avLst/>
                <a:gdLst>
                  <a:gd name="connsiteX0" fmla="*/ 0 w 1803117"/>
                  <a:gd name="connsiteY0" fmla="*/ 0 h 1082802"/>
                  <a:gd name="connsiteX1" fmla="*/ 828962 w 1803117"/>
                  <a:gd name="connsiteY1" fmla="*/ 7620 h 1082802"/>
                  <a:gd name="connsiteX2" fmla="*/ 1803117 w 1803117"/>
                  <a:gd name="connsiteY2" fmla="*/ 1082802 h 1082802"/>
                  <a:gd name="connsiteX3" fmla="*/ 280133 w 1803117"/>
                  <a:gd name="connsiteY3" fmla="*/ 1082802 h 10828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03117" h="1082802">
                    <a:moveTo>
                      <a:pt x="0" y="0"/>
                    </a:moveTo>
                    <a:lnTo>
                      <a:pt x="828962" y="7620"/>
                    </a:lnTo>
                    <a:lnTo>
                      <a:pt x="1803117" y="1082802"/>
                    </a:lnTo>
                    <a:lnTo>
                      <a:pt x="280133" y="1082802"/>
                    </a:lnTo>
                    <a:close/>
                  </a:path>
                </a:pathLst>
              </a:custGeom>
              <a:noFill/>
              <a:ln>
                <a:solidFill>
                  <a:srgbClr val="C00000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3" name="그림 42" descr="Tutorial 2: Bitmap Height Maps"/>
              <p:cNvPicPr>
                <a:picLocks noChangeAspect="1" noChangeArrowheads="1"/>
              </p:cNvPicPr>
              <p:nvPr/>
            </p:nvPicPr>
            <p:blipFill>
              <a:blip r:embed="rId5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256" t="62294" r="32491" b="6529"/>
              <a:stretch>
                <a:fillRect/>
              </a:stretch>
            </p:blipFill>
            <p:spPr bwMode="auto">
              <a:xfrm>
                <a:off x="4931162" y="4269069"/>
                <a:ext cx="3138227" cy="1216152"/>
              </a:xfrm>
              <a:custGeom>
                <a:avLst/>
                <a:gdLst>
                  <a:gd name="connsiteX0" fmla="*/ 393972 w 3138227"/>
                  <a:gd name="connsiteY0" fmla="*/ 0 h 1216152"/>
                  <a:gd name="connsiteX1" fmla="*/ 2744255 w 3138227"/>
                  <a:gd name="connsiteY1" fmla="*/ 0 h 1216152"/>
                  <a:gd name="connsiteX2" fmla="*/ 3138227 w 3138227"/>
                  <a:gd name="connsiteY2" fmla="*/ 1216152 h 1216152"/>
                  <a:gd name="connsiteX3" fmla="*/ 0 w 3138227"/>
                  <a:gd name="connsiteY3" fmla="*/ 1216152 h 12161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138227" h="1216152">
                    <a:moveTo>
                      <a:pt x="393972" y="0"/>
                    </a:moveTo>
                    <a:lnTo>
                      <a:pt x="2744255" y="0"/>
                    </a:lnTo>
                    <a:lnTo>
                      <a:pt x="3138227" y="1216152"/>
                    </a:lnTo>
                    <a:lnTo>
                      <a:pt x="0" y="1216152"/>
                    </a:lnTo>
                    <a:close/>
                  </a:path>
                </a:pathLst>
              </a:custGeom>
              <a:noFill/>
              <a:ln>
                <a:solidFill>
                  <a:srgbClr val="C00000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4" name="그림 43" descr="Tutorial 2: Bitmap Height Maps"/>
              <p:cNvPicPr>
                <a:picLocks noChangeAspect="1" noChangeArrowheads="1"/>
              </p:cNvPicPr>
              <p:nvPr/>
            </p:nvPicPr>
            <p:blipFill>
              <a:blip r:embed="rId5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3812" t="11818" r="13013" b="72309"/>
              <a:stretch>
                <a:fillRect/>
              </a:stretch>
            </p:blipFill>
            <p:spPr bwMode="auto">
              <a:xfrm>
                <a:off x="7813041" y="2300094"/>
                <a:ext cx="1607106" cy="619158"/>
              </a:xfrm>
              <a:custGeom>
                <a:avLst/>
                <a:gdLst>
                  <a:gd name="connsiteX0" fmla="*/ 0 w 1607106"/>
                  <a:gd name="connsiteY0" fmla="*/ 0 h 619158"/>
                  <a:gd name="connsiteX1" fmla="*/ 595973 w 1607106"/>
                  <a:gd name="connsiteY1" fmla="*/ 4357 h 619158"/>
                  <a:gd name="connsiteX2" fmla="*/ 1607106 w 1607106"/>
                  <a:gd name="connsiteY2" fmla="*/ 619158 h 619158"/>
                  <a:gd name="connsiteX3" fmla="*/ 602106 w 1607106"/>
                  <a:gd name="connsiteY3" fmla="*/ 619158 h 6191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07106" h="619158">
                    <a:moveTo>
                      <a:pt x="0" y="0"/>
                    </a:moveTo>
                    <a:lnTo>
                      <a:pt x="595973" y="4357"/>
                    </a:lnTo>
                    <a:lnTo>
                      <a:pt x="1607106" y="619158"/>
                    </a:lnTo>
                    <a:lnTo>
                      <a:pt x="602106" y="619158"/>
                    </a:lnTo>
                    <a:close/>
                  </a:path>
                </a:pathLst>
              </a:custGeom>
              <a:noFill/>
              <a:ln>
                <a:solidFill>
                  <a:srgbClr val="C00000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5" name="그림 44" descr="Tutorial 2: Bitmap Height Maps"/>
              <p:cNvPicPr>
                <a:picLocks noChangeAspect="1" noChangeArrowheads="1"/>
              </p:cNvPicPr>
              <p:nvPr/>
            </p:nvPicPr>
            <p:blipFill>
              <a:blip r:embed="rId5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3536" t="25377" r="42496" b="56512"/>
              <a:stretch>
                <a:fillRect/>
              </a:stretch>
            </p:blipFill>
            <p:spPr bwMode="auto">
              <a:xfrm>
                <a:off x="5713433" y="2828992"/>
                <a:ext cx="1662112" cy="706505"/>
              </a:xfrm>
              <a:custGeom>
                <a:avLst/>
                <a:gdLst>
                  <a:gd name="connsiteX0" fmla="*/ 342358 w 1662112"/>
                  <a:gd name="connsiteY0" fmla="*/ 0 h 706505"/>
                  <a:gd name="connsiteX1" fmla="*/ 1319754 w 1662112"/>
                  <a:gd name="connsiteY1" fmla="*/ 0 h 706505"/>
                  <a:gd name="connsiteX2" fmla="*/ 1662112 w 1662112"/>
                  <a:gd name="connsiteY2" fmla="*/ 706505 h 706505"/>
                  <a:gd name="connsiteX3" fmla="*/ 0 w 1662112"/>
                  <a:gd name="connsiteY3" fmla="*/ 706505 h 7065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62112" h="706505">
                    <a:moveTo>
                      <a:pt x="342358" y="0"/>
                    </a:moveTo>
                    <a:lnTo>
                      <a:pt x="1319754" y="0"/>
                    </a:lnTo>
                    <a:lnTo>
                      <a:pt x="1662112" y="706505"/>
                    </a:lnTo>
                    <a:lnTo>
                      <a:pt x="0" y="706505"/>
                    </a:lnTo>
                    <a:close/>
                  </a:path>
                </a:pathLst>
              </a:custGeom>
              <a:noFill/>
              <a:ln>
                <a:solidFill>
                  <a:srgbClr val="C00000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6" name="그림 45" descr="Tutorial 2: Bitmap Height Maps"/>
              <p:cNvPicPr>
                <a:picLocks noChangeAspect="1" noChangeArrowheads="1"/>
              </p:cNvPicPr>
              <p:nvPr/>
            </p:nvPicPr>
            <p:blipFill>
              <a:blip r:embed="rId5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817" t="22121" r="72403" b="61033"/>
              <a:stretch>
                <a:fillRect/>
              </a:stretch>
            </p:blipFill>
            <p:spPr bwMode="auto">
              <a:xfrm>
                <a:off x="3929883" y="2701986"/>
                <a:ext cx="1371670" cy="657160"/>
              </a:xfrm>
              <a:custGeom>
                <a:avLst/>
                <a:gdLst>
                  <a:gd name="connsiteX0" fmla="*/ 738348 w 1371670"/>
                  <a:gd name="connsiteY0" fmla="*/ 0 h 657160"/>
                  <a:gd name="connsiteX1" fmla="*/ 1371670 w 1371670"/>
                  <a:gd name="connsiteY1" fmla="*/ 4893 h 657160"/>
                  <a:gd name="connsiteX2" fmla="*/ 1216049 w 1371670"/>
                  <a:gd name="connsiteY2" fmla="*/ 657160 h 657160"/>
                  <a:gd name="connsiteX3" fmla="*/ 0 w 1371670"/>
                  <a:gd name="connsiteY3" fmla="*/ 657160 h 6571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71670" h="657160">
                    <a:moveTo>
                      <a:pt x="738348" y="0"/>
                    </a:moveTo>
                    <a:lnTo>
                      <a:pt x="1371670" y="4893"/>
                    </a:lnTo>
                    <a:lnTo>
                      <a:pt x="1216049" y="657160"/>
                    </a:lnTo>
                    <a:lnTo>
                      <a:pt x="0" y="657160"/>
                    </a:lnTo>
                    <a:close/>
                  </a:path>
                </a:pathLst>
              </a:custGeom>
              <a:noFill/>
              <a:ln>
                <a:solidFill>
                  <a:srgbClr val="C00000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7" name="그림 46" descr="Tutorial 2: Bitmap Height Maps"/>
              <p:cNvPicPr>
                <a:picLocks noChangeAspect="1" noChangeArrowheads="1"/>
              </p:cNvPicPr>
              <p:nvPr/>
            </p:nvPicPr>
            <p:blipFill>
              <a:blip r:embed="rId5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484" t="58856" r="59222" b="6529"/>
              <a:stretch>
                <a:fillRect/>
              </a:stretch>
            </p:blipFill>
            <p:spPr bwMode="auto">
              <a:xfrm>
                <a:off x="3837408" y="4134955"/>
                <a:ext cx="2378225" cy="1350266"/>
              </a:xfrm>
              <a:custGeom>
                <a:avLst/>
                <a:gdLst>
                  <a:gd name="connsiteX0" fmla="*/ 910881 w 2378225"/>
                  <a:gd name="connsiteY0" fmla="*/ 0 h 1350266"/>
                  <a:gd name="connsiteX1" fmla="*/ 2378225 w 2378225"/>
                  <a:gd name="connsiteY1" fmla="*/ 14514 h 1350266"/>
                  <a:gd name="connsiteX2" fmla="*/ 2026363 w 2378225"/>
                  <a:gd name="connsiteY2" fmla="*/ 1350266 h 1350266"/>
                  <a:gd name="connsiteX3" fmla="*/ 0 w 2378225"/>
                  <a:gd name="connsiteY3" fmla="*/ 1350266 h 13502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378225" h="1350266">
                    <a:moveTo>
                      <a:pt x="910881" y="0"/>
                    </a:moveTo>
                    <a:lnTo>
                      <a:pt x="2378225" y="14514"/>
                    </a:lnTo>
                    <a:lnTo>
                      <a:pt x="2026363" y="1350266"/>
                    </a:lnTo>
                    <a:lnTo>
                      <a:pt x="0" y="1350266"/>
                    </a:lnTo>
                    <a:close/>
                  </a:path>
                </a:pathLst>
              </a:custGeom>
              <a:noFill/>
              <a:ln>
                <a:solidFill>
                  <a:srgbClr val="006000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8" name="그림 47" descr="Tutorial 2: Bitmap Height Maps"/>
              <p:cNvPicPr>
                <a:picLocks noChangeAspect="1" noChangeArrowheads="1"/>
              </p:cNvPicPr>
              <p:nvPr/>
            </p:nvPicPr>
            <p:blipFill>
              <a:blip r:embed="rId5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351" t="27973" r="53075" b="35656"/>
              <a:stretch>
                <a:fillRect/>
              </a:stretch>
            </p:blipFill>
            <p:spPr bwMode="auto">
              <a:xfrm>
                <a:off x="4937763" y="2930265"/>
                <a:ext cx="1704180" cy="1418781"/>
              </a:xfrm>
              <a:custGeom>
                <a:avLst/>
                <a:gdLst>
                  <a:gd name="connsiteX0" fmla="*/ 626838 w 1704180"/>
                  <a:gd name="connsiteY0" fmla="*/ 0 h 1418781"/>
                  <a:gd name="connsiteX1" fmla="*/ 1700567 w 1704180"/>
                  <a:gd name="connsiteY1" fmla="*/ 0 h 1418781"/>
                  <a:gd name="connsiteX2" fmla="*/ 1703290 w 1704180"/>
                  <a:gd name="connsiteY2" fmla="*/ 1418781 h 1418781"/>
                  <a:gd name="connsiteX3" fmla="*/ 0 w 1704180"/>
                  <a:gd name="connsiteY3" fmla="*/ 1418781 h 14187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04180" h="1418781">
                    <a:moveTo>
                      <a:pt x="626838" y="0"/>
                    </a:moveTo>
                    <a:lnTo>
                      <a:pt x="1700567" y="0"/>
                    </a:lnTo>
                    <a:cubicBezTo>
                      <a:pt x="1696637" y="463251"/>
                      <a:pt x="1707220" y="955530"/>
                      <a:pt x="1703290" y="1418781"/>
                    </a:cubicBezTo>
                    <a:lnTo>
                      <a:pt x="0" y="1418781"/>
                    </a:lnTo>
                    <a:close/>
                  </a:path>
                </a:pathLst>
              </a:custGeom>
              <a:noFill/>
              <a:ln>
                <a:solidFill>
                  <a:srgbClr val="006000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9" name="그림 48" descr="Tutorial 2: Bitmap Height Maps"/>
              <p:cNvPicPr>
                <a:picLocks noChangeAspect="1" noChangeArrowheads="1"/>
              </p:cNvPicPr>
              <p:nvPr/>
            </p:nvPicPr>
            <p:blipFill>
              <a:blip r:embed="rId5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0784" t="52695" r="15587" b="17618"/>
              <a:stretch>
                <a:fillRect/>
              </a:stretch>
            </p:blipFill>
            <p:spPr bwMode="auto">
              <a:xfrm>
                <a:off x="6909580" y="3894638"/>
                <a:ext cx="2332102" cy="1158049"/>
              </a:xfrm>
              <a:custGeom>
                <a:avLst/>
                <a:gdLst>
                  <a:gd name="connsiteX0" fmla="*/ 0 w 2332102"/>
                  <a:gd name="connsiteY0" fmla="*/ 0 h 1158049"/>
                  <a:gd name="connsiteX1" fmla="*/ 1843019 w 2332102"/>
                  <a:gd name="connsiteY1" fmla="*/ 0 h 1158049"/>
                  <a:gd name="connsiteX2" fmla="*/ 2332102 w 2332102"/>
                  <a:gd name="connsiteY2" fmla="*/ 1158049 h 1158049"/>
                  <a:gd name="connsiteX3" fmla="*/ 47945 w 2332102"/>
                  <a:gd name="connsiteY3" fmla="*/ 1158049 h 11580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332102" h="1158049">
                    <a:moveTo>
                      <a:pt x="0" y="0"/>
                    </a:moveTo>
                    <a:lnTo>
                      <a:pt x="1843019" y="0"/>
                    </a:lnTo>
                    <a:lnTo>
                      <a:pt x="2332102" y="1158049"/>
                    </a:lnTo>
                    <a:lnTo>
                      <a:pt x="47945" y="1158049"/>
                    </a:lnTo>
                    <a:close/>
                  </a:path>
                </a:pathLst>
              </a:custGeom>
              <a:noFill/>
              <a:ln>
                <a:solidFill>
                  <a:srgbClr val="006000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50" name="그림 49" descr="Tutorial 2: Bitmap Height Maps"/>
              <p:cNvPicPr>
                <a:picLocks noChangeAspect="1" noChangeArrowheads="1"/>
              </p:cNvPicPr>
              <p:nvPr/>
            </p:nvPicPr>
            <p:blipFill>
              <a:blip r:embed="rId5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3884" t="17628" r="18733" b="56539"/>
              <a:stretch>
                <a:fillRect/>
              </a:stretch>
            </p:blipFill>
            <p:spPr bwMode="auto">
              <a:xfrm>
                <a:off x="7124528" y="2526711"/>
                <a:ext cx="1898962" cy="1007709"/>
              </a:xfrm>
              <a:custGeom>
                <a:avLst/>
                <a:gdLst>
                  <a:gd name="connsiteX0" fmla="*/ 1037435 w 1898962"/>
                  <a:gd name="connsiteY0" fmla="*/ 0 h 1007709"/>
                  <a:gd name="connsiteX1" fmla="*/ 1898962 w 1898962"/>
                  <a:gd name="connsiteY1" fmla="*/ 1007709 h 1007709"/>
                  <a:gd name="connsiteX2" fmla="*/ 560873 w 1898962"/>
                  <a:gd name="connsiteY2" fmla="*/ 1007709 h 1007709"/>
                  <a:gd name="connsiteX3" fmla="*/ 0 w 1898962"/>
                  <a:gd name="connsiteY3" fmla="*/ 14515 h 10077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98962" h="1007709">
                    <a:moveTo>
                      <a:pt x="1037435" y="0"/>
                    </a:moveTo>
                    <a:lnTo>
                      <a:pt x="1898962" y="1007709"/>
                    </a:lnTo>
                    <a:lnTo>
                      <a:pt x="560873" y="1007709"/>
                    </a:lnTo>
                    <a:lnTo>
                      <a:pt x="0" y="14515"/>
                    </a:lnTo>
                    <a:close/>
                  </a:path>
                </a:pathLst>
              </a:custGeom>
              <a:noFill/>
              <a:ln>
                <a:solidFill>
                  <a:srgbClr val="006000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51" name="그림 50" descr="Tutorial 2: Bitmap Height Maps"/>
              <p:cNvPicPr>
                <a:picLocks noChangeAspect="1" noChangeArrowheads="1"/>
              </p:cNvPicPr>
              <p:nvPr/>
            </p:nvPicPr>
            <p:blipFill>
              <a:blip r:embed="rId5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0134" t="11798" r="54381" b="68667"/>
              <a:stretch>
                <a:fillRect/>
              </a:stretch>
            </p:blipFill>
            <p:spPr bwMode="auto">
              <a:xfrm>
                <a:off x="4784018" y="2299301"/>
                <a:ext cx="1767358" cy="762043"/>
              </a:xfrm>
              <a:custGeom>
                <a:avLst/>
                <a:gdLst>
                  <a:gd name="connsiteX0" fmla="*/ 1767358 w 1767358"/>
                  <a:gd name="connsiteY0" fmla="*/ 0 h 762043"/>
                  <a:gd name="connsiteX1" fmla="*/ 1703868 w 1767358"/>
                  <a:gd name="connsiteY1" fmla="*/ 762043 h 762043"/>
                  <a:gd name="connsiteX2" fmla="*/ 0 w 1767358"/>
                  <a:gd name="connsiteY2" fmla="*/ 762043 h 762043"/>
                  <a:gd name="connsiteX3" fmla="*/ 400969 w 1767358"/>
                  <a:gd name="connsiteY3" fmla="*/ 1 h 7620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67358" h="762043">
                    <a:moveTo>
                      <a:pt x="1767358" y="0"/>
                    </a:moveTo>
                    <a:lnTo>
                      <a:pt x="1703868" y="762043"/>
                    </a:lnTo>
                    <a:lnTo>
                      <a:pt x="0" y="762043"/>
                    </a:lnTo>
                    <a:lnTo>
                      <a:pt x="400969" y="1"/>
                    </a:lnTo>
                    <a:close/>
                  </a:path>
                </a:pathLst>
              </a:custGeom>
              <a:noFill/>
              <a:ln>
                <a:solidFill>
                  <a:srgbClr val="006000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9" name="그룹 18"/>
            <p:cNvGrpSpPr>
              <a:grpSpLocks noChangeAspect="1"/>
            </p:cNvGrpSpPr>
            <p:nvPr/>
          </p:nvGrpSpPr>
          <p:grpSpPr>
            <a:xfrm>
              <a:off x="3894052" y="4685744"/>
              <a:ext cx="2837625" cy="1433664"/>
              <a:chOff x="3837408" y="2299301"/>
              <a:chExt cx="6305833" cy="3185920"/>
            </a:xfrm>
          </p:grpSpPr>
          <p:pic>
            <p:nvPicPr>
              <p:cNvPr id="31" name="그림 30" descr="Tutorial 2: Bitmap Height Maps"/>
              <p:cNvPicPr>
                <a:picLocks noChangeAspect="1" noChangeArrowheads="1"/>
              </p:cNvPicPr>
              <p:nvPr/>
            </p:nvPicPr>
            <p:blipFill>
              <a:blip r:embed="rId5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1413" t="48415" r="2586" b="23827"/>
              <a:stretch>
                <a:fillRect/>
              </a:stretch>
            </p:blipFill>
            <p:spPr bwMode="auto">
              <a:xfrm>
                <a:off x="8340124" y="3727668"/>
                <a:ext cx="1803117" cy="1082802"/>
              </a:xfrm>
              <a:custGeom>
                <a:avLst/>
                <a:gdLst>
                  <a:gd name="connsiteX0" fmla="*/ 0 w 1803117"/>
                  <a:gd name="connsiteY0" fmla="*/ 0 h 1082802"/>
                  <a:gd name="connsiteX1" fmla="*/ 828962 w 1803117"/>
                  <a:gd name="connsiteY1" fmla="*/ 7620 h 1082802"/>
                  <a:gd name="connsiteX2" fmla="*/ 1803117 w 1803117"/>
                  <a:gd name="connsiteY2" fmla="*/ 1082802 h 1082802"/>
                  <a:gd name="connsiteX3" fmla="*/ 280133 w 1803117"/>
                  <a:gd name="connsiteY3" fmla="*/ 1082802 h 10828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03117" h="1082802">
                    <a:moveTo>
                      <a:pt x="0" y="0"/>
                    </a:moveTo>
                    <a:lnTo>
                      <a:pt x="828962" y="7620"/>
                    </a:lnTo>
                    <a:lnTo>
                      <a:pt x="1803117" y="1082802"/>
                    </a:lnTo>
                    <a:lnTo>
                      <a:pt x="280133" y="1082802"/>
                    </a:lnTo>
                    <a:close/>
                  </a:path>
                </a:pathLst>
              </a:custGeom>
              <a:noFill/>
              <a:ln>
                <a:solidFill>
                  <a:srgbClr val="C00000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2" name="그림 31" descr="Tutorial 2: Bitmap Height Maps"/>
              <p:cNvPicPr>
                <a:picLocks noChangeAspect="1" noChangeArrowheads="1"/>
              </p:cNvPicPr>
              <p:nvPr/>
            </p:nvPicPr>
            <p:blipFill>
              <a:blip r:embed="rId5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256" t="62294" r="32491" b="6529"/>
              <a:stretch>
                <a:fillRect/>
              </a:stretch>
            </p:blipFill>
            <p:spPr bwMode="auto">
              <a:xfrm>
                <a:off x="4931162" y="4269069"/>
                <a:ext cx="3138227" cy="1216152"/>
              </a:xfrm>
              <a:custGeom>
                <a:avLst/>
                <a:gdLst>
                  <a:gd name="connsiteX0" fmla="*/ 393972 w 3138227"/>
                  <a:gd name="connsiteY0" fmla="*/ 0 h 1216152"/>
                  <a:gd name="connsiteX1" fmla="*/ 2744255 w 3138227"/>
                  <a:gd name="connsiteY1" fmla="*/ 0 h 1216152"/>
                  <a:gd name="connsiteX2" fmla="*/ 3138227 w 3138227"/>
                  <a:gd name="connsiteY2" fmla="*/ 1216152 h 1216152"/>
                  <a:gd name="connsiteX3" fmla="*/ 0 w 3138227"/>
                  <a:gd name="connsiteY3" fmla="*/ 1216152 h 12161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138227" h="1216152">
                    <a:moveTo>
                      <a:pt x="393972" y="0"/>
                    </a:moveTo>
                    <a:lnTo>
                      <a:pt x="2744255" y="0"/>
                    </a:lnTo>
                    <a:lnTo>
                      <a:pt x="3138227" y="1216152"/>
                    </a:lnTo>
                    <a:lnTo>
                      <a:pt x="0" y="1216152"/>
                    </a:lnTo>
                    <a:close/>
                  </a:path>
                </a:pathLst>
              </a:custGeom>
              <a:noFill/>
              <a:ln>
                <a:solidFill>
                  <a:srgbClr val="C00000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3" name="그림 32" descr="Tutorial 2: Bitmap Height Maps"/>
              <p:cNvPicPr>
                <a:picLocks noChangeAspect="1" noChangeArrowheads="1"/>
              </p:cNvPicPr>
              <p:nvPr/>
            </p:nvPicPr>
            <p:blipFill>
              <a:blip r:embed="rId5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3812" t="11818" r="13013" b="72309"/>
              <a:stretch>
                <a:fillRect/>
              </a:stretch>
            </p:blipFill>
            <p:spPr bwMode="auto">
              <a:xfrm>
                <a:off x="7813041" y="2300094"/>
                <a:ext cx="1607106" cy="619158"/>
              </a:xfrm>
              <a:custGeom>
                <a:avLst/>
                <a:gdLst>
                  <a:gd name="connsiteX0" fmla="*/ 0 w 1607106"/>
                  <a:gd name="connsiteY0" fmla="*/ 0 h 619158"/>
                  <a:gd name="connsiteX1" fmla="*/ 595973 w 1607106"/>
                  <a:gd name="connsiteY1" fmla="*/ 4357 h 619158"/>
                  <a:gd name="connsiteX2" fmla="*/ 1607106 w 1607106"/>
                  <a:gd name="connsiteY2" fmla="*/ 619158 h 619158"/>
                  <a:gd name="connsiteX3" fmla="*/ 602106 w 1607106"/>
                  <a:gd name="connsiteY3" fmla="*/ 619158 h 6191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07106" h="619158">
                    <a:moveTo>
                      <a:pt x="0" y="0"/>
                    </a:moveTo>
                    <a:lnTo>
                      <a:pt x="595973" y="4357"/>
                    </a:lnTo>
                    <a:lnTo>
                      <a:pt x="1607106" y="619158"/>
                    </a:lnTo>
                    <a:lnTo>
                      <a:pt x="602106" y="619158"/>
                    </a:lnTo>
                    <a:close/>
                  </a:path>
                </a:pathLst>
              </a:custGeom>
              <a:noFill/>
              <a:ln>
                <a:solidFill>
                  <a:srgbClr val="C00000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4" name="그림 33" descr="Tutorial 2: Bitmap Height Maps"/>
              <p:cNvPicPr>
                <a:picLocks noChangeAspect="1" noChangeArrowheads="1"/>
              </p:cNvPicPr>
              <p:nvPr/>
            </p:nvPicPr>
            <p:blipFill>
              <a:blip r:embed="rId5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3536" t="25377" r="42496" b="56512"/>
              <a:stretch>
                <a:fillRect/>
              </a:stretch>
            </p:blipFill>
            <p:spPr bwMode="auto">
              <a:xfrm>
                <a:off x="5713433" y="2828992"/>
                <a:ext cx="1662112" cy="706505"/>
              </a:xfrm>
              <a:custGeom>
                <a:avLst/>
                <a:gdLst>
                  <a:gd name="connsiteX0" fmla="*/ 342358 w 1662112"/>
                  <a:gd name="connsiteY0" fmla="*/ 0 h 706505"/>
                  <a:gd name="connsiteX1" fmla="*/ 1319754 w 1662112"/>
                  <a:gd name="connsiteY1" fmla="*/ 0 h 706505"/>
                  <a:gd name="connsiteX2" fmla="*/ 1662112 w 1662112"/>
                  <a:gd name="connsiteY2" fmla="*/ 706505 h 706505"/>
                  <a:gd name="connsiteX3" fmla="*/ 0 w 1662112"/>
                  <a:gd name="connsiteY3" fmla="*/ 706505 h 7065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62112" h="706505">
                    <a:moveTo>
                      <a:pt x="342358" y="0"/>
                    </a:moveTo>
                    <a:lnTo>
                      <a:pt x="1319754" y="0"/>
                    </a:lnTo>
                    <a:lnTo>
                      <a:pt x="1662112" y="706505"/>
                    </a:lnTo>
                    <a:lnTo>
                      <a:pt x="0" y="706505"/>
                    </a:lnTo>
                    <a:close/>
                  </a:path>
                </a:pathLst>
              </a:custGeom>
              <a:noFill/>
              <a:ln>
                <a:solidFill>
                  <a:srgbClr val="C00000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5" name="그림 34" descr="Tutorial 2: Bitmap Height Maps"/>
              <p:cNvPicPr>
                <a:picLocks noChangeAspect="1" noChangeArrowheads="1"/>
              </p:cNvPicPr>
              <p:nvPr/>
            </p:nvPicPr>
            <p:blipFill>
              <a:blip r:embed="rId5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817" t="22121" r="72403" b="61033"/>
              <a:stretch>
                <a:fillRect/>
              </a:stretch>
            </p:blipFill>
            <p:spPr bwMode="auto">
              <a:xfrm>
                <a:off x="3929883" y="2701986"/>
                <a:ext cx="1371670" cy="657160"/>
              </a:xfrm>
              <a:custGeom>
                <a:avLst/>
                <a:gdLst>
                  <a:gd name="connsiteX0" fmla="*/ 738348 w 1371670"/>
                  <a:gd name="connsiteY0" fmla="*/ 0 h 657160"/>
                  <a:gd name="connsiteX1" fmla="*/ 1371670 w 1371670"/>
                  <a:gd name="connsiteY1" fmla="*/ 4893 h 657160"/>
                  <a:gd name="connsiteX2" fmla="*/ 1216049 w 1371670"/>
                  <a:gd name="connsiteY2" fmla="*/ 657160 h 657160"/>
                  <a:gd name="connsiteX3" fmla="*/ 0 w 1371670"/>
                  <a:gd name="connsiteY3" fmla="*/ 657160 h 6571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71670" h="657160">
                    <a:moveTo>
                      <a:pt x="738348" y="0"/>
                    </a:moveTo>
                    <a:lnTo>
                      <a:pt x="1371670" y="4893"/>
                    </a:lnTo>
                    <a:lnTo>
                      <a:pt x="1216049" y="657160"/>
                    </a:lnTo>
                    <a:lnTo>
                      <a:pt x="0" y="657160"/>
                    </a:lnTo>
                    <a:close/>
                  </a:path>
                </a:pathLst>
              </a:custGeom>
              <a:noFill/>
              <a:ln>
                <a:solidFill>
                  <a:srgbClr val="C00000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6" name="그림 35" descr="Tutorial 2: Bitmap Height Maps"/>
              <p:cNvPicPr>
                <a:picLocks noChangeAspect="1" noChangeArrowheads="1"/>
              </p:cNvPicPr>
              <p:nvPr/>
            </p:nvPicPr>
            <p:blipFill>
              <a:blip r:embed="rId5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484" t="58856" r="59222" b="6529"/>
              <a:stretch>
                <a:fillRect/>
              </a:stretch>
            </p:blipFill>
            <p:spPr bwMode="auto">
              <a:xfrm>
                <a:off x="3837408" y="4134955"/>
                <a:ext cx="2378225" cy="1350266"/>
              </a:xfrm>
              <a:custGeom>
                <a:avLst/>
                <a:gdLst>
                  <a:gd name="connsiteX0" fmla="*/ 910881 w 2378225"/>
                  <a:gd name="connsiteY0" fmla="*/ 0 h 1350266"/>
                  <a:gd name="connsiteX1" fmla="*/ 2378225 w 2378225"/>
                  <a:gd name="connsiteY1" fmla="*/ 14514 h 1350266"/>
                  <a:gd name="connsiteX2" fmla="*/ 2026363 w 2378225"/>
                  <a:gd name="connsiteY2" fmla="*/ 1350266 h 1350266"/>
                  <a:gd name="connsiteX3" fmla="*/ 0 w 2378225"/>
                  <a:gd name="connsiteY3" fmla="*/ 1350266 h 13502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378225" h="1350266">
                    <a:moveTo>
                      <a:pt x="910881" y="0"/>
                    </a:moveTo>
                    <a:lnTo>
                      <a:pt x="2378225" y="14514"/>
                    </a:lnTo>
                    <a:lnTo>
                      <a:pt x="2026363" y="1350266"/>
                    </a:lnTo>
                    <a:lnTo>
                      <a:pt x="0" y="1350266"/>
                    </a:lnTo>
                    <a:close/>
                  </a:path>
                </a:pathLst>
              </a:custGeom>
              <a:noFill/>
              <a:ln>
                <a:solidFill>
                  <a:srgbClr val="006000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7" name="그림 36" descr="Tutorial 2: Bitmap Height Maps"/>
              <p:cNvPicPr>
                <a:picLocks noChangeAspect="1" noChangeArrowheads="1"/>
              </p:cNvPicPr>
              <p:nvPr/>
            </p:nvPicPr>
            <p:blipFill>
              <a:blip r:embed="rId5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351" t="27973" r="53075" b="35656"/>
              <a:stretch>
                <a:fillRect/>
              </a:stretch>
            </p:blipFill>
            <p:spPr bwMode="auto">
              <a:xfrm>
                <a:off x="4937763" y="2930265"/>
                <a:ext cx="1704180" cy="1418781"/>
              </a:xfrm>
              <a:custGeom>
                <a:avLst/>
                <a:gdLst>
                  <a:gd name="connsiteX0" fmla="*/ 626838 w 1704180"/>
                  <a:gd name="connsiteY0" fmla="*/ 0 h 1418781"/>
                  <a:gd name="connsiteX1" fmla="*/ 1700567 w 1704180"/>
                  <a:gd name="connsiteY1" fmla="*/ 0 h 1418781"/>
                  <a:gd name="connsiteX2" fmla="*/ 1703290 w 1704180"/>
                  <a:gd name="connsiteY2" fmla="*/ 1418781 h 1418781"/>
                  <a:gd name="connsiteX3" fmla="*/ 0 w 1704180"/>
                  <a:gd name="connsiteY3" fmla="*/ 1418781 h 14187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04180" h="1418781">
                    <a:moveTo>
                      <a:pt x="626838" y="0"/>
                    </a:moveTo>
                    <a:lnTo>
                      <a:pt x="1700567" y="0"/>
                    </a:lnTo>
                    <a:cubicBezTo>
                      <a:pt x="1696637" y="463251"/>
                      <a:pt x="1707220" y="955530"/>
                      <a:pt x="1703290" y="1418781"/>
                    </a:cubicBezTo>
                    <a:lnTo>
                      <a:pt x="0" y="1418781"/>
                    </a:lnTo>
                    <a:close/>
                  </a:path>
                </a:pathLst>
              </a:custGeom>
              <a:noFill/>
              <a:ln>
                <a:solidFill>
                  <a:srgbClr val="006000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8" name="그림 37" descr="Tutorial 2: Bitmap Height Maps"/>
              <p:cNvPicPr>
                <a:picLocks noChangeAspect="1" noChangeArrowheads="1"/>
              </p:cNvPicPr>
              <p:nvPr/>
            </p:nvPicPr>
            <p:blipFill>
              <a:blip r:embed="rId5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0784" t="52695" r="15587" b="17618"/>
              <a:stretch>
                <a:fillRect/>
              </a:stretch>
            </p:blipFill>
            <p:spPr bwMode="auto">
              <a:xfrm>
                <a:off x="6909580" y="3894638"/>
                <a:ext cx="2332102" cy="1158049"/>
              </a:xfrm>
              <a:custGeom>
                <a:avLst/>
                <a:gdLst>
                  <a:gd name="connsiteX0" fmla="*/ 0 w 2332102"/>
                  <a:gd name="connsiteY0" fmla="*/ 0 h 1158049"/>
                  <a:gd name="connsiteX1" fmla="*/ 1843019 w 2332102"/>
                  <a:gd name="connsiteY1" fmla="*/ 0 h 1158049"/>
                  <a:gd name="connsiteX2" fmla="*/ 2332102 w 2332102"/>
                  <a:gd name="connsiteY2" fmla="*/ 1158049 h 1158049"/>
                  <a:gd name="connsiteX3" fmla="*/ 47945 w 2332102"/>
                  <a:gd name="connsiteY3" fmla="*/ 1158049 h 11580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332102" h="1158049">
                    <a:moveTo>
                      <a:pt x="0" y="0"/>
                    </a:moveTo>
                    <a:lnTo>
                      <a:pt x="1843019" y="0"/>
                    </a:lnTo>
                    <a:lnTo>
                      <a:pt x="2332102" y="1158049"/>
                    </a:lnTo>
                    <a:lnTo>
                      <a:pt x="47945" y="1158049"/>
                    </a:lnTo>
                    <a:close/>
                  </a:path>
                </a:pathLst>
              </a:custGeom>
              <a:noFill/>
              <a:ln>
                <a:solidFill>
                  <a:srgbClr val="006000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9" name="그림 38" descr="Tutorial 2: Bitmap Height Maps"/>
              <p:cNvPicPr>
                <a:picLocks noChangeAspect="1" noChangeArrowheads="1"/>
              </p:cNvPicPr>
              <p:nvPr/>
            </p:nvPicPr>
            <p:blipFill>
              <a:blip r:embed="rId5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3884" t="17628" r="18733" b="56539"/>
              <a:stretch>
                <a:fillRect/>
              </a:stretch>
            </p:blipFill>
            <p:spPr bwMode="auto">
              <a:xfrm>
                <a:off x="7124528" y="2526711"/>
                <a:ext cx="1898962" cy="1007709"/>
              </a:xfrm>
              <a:custGeom>
                <a:avLst/>
                <a:gdLst>
                  <a:gd name="connsiteX0" fmla="*/ 1037435 w 1898962"/>
                  <a:gd name="connsiteY0" fmla="*/ 0 h 1007709"/>
                  <a:gd name="connsiteX1" fmla="*/ 1898962 w 1898962"/>
                  <a:gd name="connsiteY1" fmla="*/ 1007709 h 1007709"/>
                  <a:gd name="connsiteX2" fmla="*/ 560873 w 1898962"/>
                  <a:gd name="connsiteY2" fmla="*/ 1007709 h 1007709"/>
                  <a:gd name="connsiteX3" fmla="*/ 0 w 1898962"/>
                  <a:gd name="connsiteY3" fmla="*/ 14515 h 10077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98962" h="1007709">
                    <a:moveTo>
                      <a:pt x="1037435" y="0"/>
                    </a:moveTo>
                    <a:lnTo>
                      <a:pt x="1898962" y="1007709"/>
                    </a:lnTo>
                    <a:lnTo>
                      <a:pt x="560873" y="1007709"/>
                    </a:lnTo>
                    <a:lnTo>
                      <a:pt x="0" y="14515"/>
                    </a:lnTo>
                    <a:close/>
                  </a:path>
                </a:pathLst>
              </a:custGeom>
              <a:noFill/>
              <a:ln>
                <a:solidFill>
                  <a:srgbClr val="006000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0" name="그림 39" descr="Tutorial 2: Bitmap Height Maps"/>
              <p:cNvPicPr>
                <a:picLocks noChangeAspect="1" noChangeArrowheads="1"/>
              </p:cNvPicPr>
              <p:nvPr/>
            </p:nvPicPr>
            <p:blipFill>
              <a:blip r:embed="rId5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0134" t="11798" r="54381" b="68667"/>
              <a:stretch>
                <a:fillRect/>
              </a:stretch>
            </p:blipFill>
            <p:spPr bwMode="auto">
              <a:xfrm>
                <a:off x="4784018" y="2299301"/>
                <a:ext cx="1767358" cy="762043"/>
              </a:xfrm>
              <a:custGeom>
                <a:avLst/>
                <a:gdLst>
                  <a:gd name="connsiteX0" fmla="*/ 1767358 w 1767358"/>
                  <a:gd name="connsiteY0" fmla="*/ 0 h 762043"/>
                  <a:gd name="connsiteX1" fmla="*/ 1703868 w 1767358"/>
                  <a:gd name="connsiteY1" fmla="*/ 762043 h 762043"/>
                  <a:gd name="connsiteX2" fmla="*/ 0 w 1767358"/>
                  <a:gd name="connsiteY2" fmla="*/ 762043 h 762043"/>
                  <a:gd name="connsiteX3" fmla="*/ 400969 w 1767358"/>
                  <a:gd name="connsiteY3" fmla="*/ 1 h 7620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67358" h="762043">
                    <a:moveTo>
                      <a:pt x="1767358" y="0"/>
                    </a:moveTo>
                    <a:lnTo>
                      <a:pt x="1703868" y="762043"/>
                    </a:lnTo>
                    <a:lnTo>
                      <a:pt x="0" y="762043"/>
                    </a:lnTo>
                    <a:lnTo>
                      <a:pt x="400969" y="1"/>
                    </a:lnTo>
                    <a:close/>
                  </a:path>
                </a:pathLst>
              </a:custGeom>
              <a:noFill/>
              <a:ln>
                <a:solidFill>
                  <a:srgbClr val="006000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20" name="그룹 19"/>
            <p:cNvGrpSpPr>
              <a:grpSpLocks noChangeAspect="1"/>
            </p:cNvGrpSpPr>
            <p:nvPr/>
          </p:nvGrpSpPr>
          <p:grpSpPr>
            <a:xfrm>
              <a:off x="455422" y="4686101"/>
              <a:ext cx="2796011" cy="1433307"/>
              <a:chOff x="3929883" y="2300094"/>
              <a:chExt cx="6213358" cy="3185127"/>
            </a:xfrm>
          </p:grpSpPr>
          <p:pic>
            <p:nvPicPr>
              <p:cNvPr id="26" name="그림 25" descr="Tutorial 2: Bitmap Height Maps"/>
              <p:cNvPicPr>
                <a:picLocks noChangeAspect="1" noChangeArrowheads="1"/>
              </p:cNvPicPr>
              <p:nvPr/>
            </p:nvPicPr>
            <p:blipFill>
              <a:blip r:embed="rId5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1413" t="48415" r="2586" b="23827"/>
              <a:stretch>
                <a:fillRect/>
              </a:stretch>
            </p:blipFill>
            <p:spPr bwMode="auto">
              <a:xfrm>
                <a:off x="8340124" y="3727668"/>
                <a:ext cx="1803117" cy="1082802"/>
              </a:xfrm>
              <a:custGeom>
                <a:avLst/>
                <a:gdLst>
                  <a:gd name="connsiteX0" fmla="*/ 0 w 1803117"/>
                  <a:gd name="connsiteY0" fmla="*/ 0 h 1082802"/>
                  <a:gd name="connsiteX1" fmla="*/ 828962 w 1803117"/>
                  <a:gd name="connsiteY1" fmla="*/ 7620 h 1082802"/>
                  <a:gd name="connsiteX2" fmla="*/ 1803117 w 1803117"/>
                  <a:gd name="connsiteY2" fmla="*/ 1082802 h 1082802"/>
                  <a:gd name="connsiteX3" fmla="*/ 280133 w 1803117"/>
                  <a:gd name="connsiteY3" fmla="*/ 1082802 h 10828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03117" h="1082802">
                    <a:moveTo>
                      <a:pt x="0" y="0"/>
                    </a:moveTo>
                    <a:lnTo>
                      <a:pt x="828962" y="7620"/>
                    </a:lnTo>
                    <a:lnTo>
                      <a:pt x="1803117" y="1082802"/>
                    </a:lnTo>
                    <a:lnTo>
                      <a:pt x="280133" y="1082802"/>
                    </a:lnTo>
                    <a:close/>
                  </a:path>
                </a:pathLst>
              </a:custGeom>
              <a:noFill/>
              <a:ln>
                <a:solidFill>
                  <a:srgbClr val="C00000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7" name="그림 26" descr="Tutorial 2: Bitmap Height Maps"/>
              <p:cNvPicPr>
                <a:picLocks noChangeAspect="1" noChangeArrowheads="1"/>
              </p:cNvPicPr>
              <p:nvPr/>
            </p:nvPicPr>
            <p:blipFill>
              <a:blip r:embed="rId5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256" t="62294" r="32491" b="6529"/>
              <a:stretch>
                <a:fillRect/>
              </a:stretch>
            </p:blipFill>
            <p:spPr bwMode="auto">
              <a:xfrm>
                <a:off x="4931162" y="4269069"/>
                <a:ext cx="3138227" cy="1216152"/>
              </a:xfrm>
              <a:custGeom>
                <a:avLst/>
                <a:gdLst>
                  <a:gd name="connsiteX0" fmla="*/ 393972 w 3138227"/>
                  <a:gd name="connsiteY0" fmla="*/ 0 h 1216152"/>
                  <a:gd name="connsiteX1" fmla="*/ 2744255 w 3138227"/>
                  <a:gd name="connsiteY1" fmla="*/ 0 h 1216152"/>
                  <a:gd name="connsiteX2" fmla="*/ 3138227 w 3138227"/>
                  <a:gd name="connsiteY2" fmla="*/ 1216152 h 1216152"/>
                  <a:gd name="connsiteX3" fmla="*/ 0 w 3138227"/>
                  <a:gd name="connsiteY3" fmla="*/ 1216152 h 12161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138227" h="1216152">
                    <a:moveTo>
                      <a:pt x="393972" y="0"/>
                    </a:moveTo>
                    <a:lnTo>
                      <a:pt x="2744255" y="0"/>
                    </a:lnTo>
                    <a:lnTo>
                      <a:pt x="3138227" y="1216152"/>
                    </a:lnTo>
                    <a:lnTo>
                      <a:pt x="0" y="1216152"/>
                    </a:lnTo>
                    <a:close/>
                  </a:path>
                </a:pathLst>
              </a:custGeom>
              <a:noFill/>
              <a:ln>
                <a:solidFill>
                  <a:srgbClr val="C00000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8" name="그림 27" descr="Tutorial 2: Bitmap Height Maps"/>
              <p:cNvPicPr>
                <a:picLocks noChangeAspect="1" noChangeArrowheads="1"/>
              </p:cNvPicPr>
              <p:nvPr/>
            </p:nvPicPr>
            <p:blipFill>
              <a:blip r:embed="rId5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3812" t="11818" r="13013" b="72309"/>
              <a:stretch>
                <a:fillRect/>
              </a:stretch>
            </p:blipFill>
            <p:spPr bwMode="auto">
              <a:xfrm>
                <a:off x="7813041" y="2300094"/>
                <a:ext cx="1607106" cy="619158"/>
              </a:xfrm>
              <a:custGeom>
                <a:avLst/>
                <a:gdLst>
                  <a:gd name="connsiteX0" fmla="*/ 0 w 1607106"/>
                  <a:gd name="connsiteY0" fmla="*/ 0 h 619158"/>
                  <a:gd name="connsiteX1" fmla="*/ 595973 w 1607106"/>
                  <a:gd name="connsiteY1" fmla="*/ 4357 h 619158"/>
                  <a:gd name="connsiteX2" fmla="*/ 1607106 w 1607106"/>
                  <a:gd name="connsiteY2" fmla="*/ 619158 h 619158"/>
                  <a:gd name="connsiteX3" fmla="*/ 602106 w 1607106"/>
                  <a:gd name="connsiteY3" fmla="*/ 619158 h 6191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07106" h="619158">
                    <a:moveTo>
                      <a:pt x="0" y="0"/>
                    </a:moveTo>
                    <a:lnTo>
                      <a:pt x="595973" y="4357"/>
                    </a:lnTo>
                    <a:lnTo>
                      <a:pt x="1607106" y="619158"/>
                    </a:lnTo>
                    <a:lnTo>
                      <a:pt x="602106" y="619158"/>
                    </a:lnTo>
                    <a:close/>
                  </a:path>
                </a:pathLst>
              </a:custGeom>
              <a:noFill/>
              <a:ln>
                <a:solidFill>
                  <a:srgbClr val="C00000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9" name="그림 28" descr="Tutorial 2: Bitmap Height Maps"/>
              <p:cNvPicPr>
                <a:picLocks noChangeAspect="1" noChangeArrowheads="1"/>
              </p:cNvPicPr>
              <p:nvPr/>
            </p:nvPicPr>
            <p:blipFill>
              <a:blip r:embed="rId5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3536" t="25377" r="42496" b="56512"/>
              <a:stretch>
                <a:fillRect/>
              </a:stretch>
            </p:blipFill>
            <p:spPr bwMode="auto">
              <a:xfrm>
                <a:off x="5713433" y="2828992"/>
                <a:ext cx="1662112" cy="706505"/>
              </a:xfrm>
              <a:custGeom>
                <a:avLst/>
                <a:gdLst>
                  <a:gd name="connsiteX0" fmla="*/ 342358 w 1662112"/>
                  <a:gd name="connsiteY0" fmla="*/ 0 h 706505"/>
                  <a:gd name="connsiteX1" fmla="*/ 1319754 w 1662112"/>
                  <a:gd name="connsiteY1" fmla="*/ 0 h 706505"/>
                  <a:gd name="connsiteX2" fmla="*/ 1662112 w 1662112"/>
                  <a:gd name="connsiteY2" fmla="*/ 706505 h 706505"/>
                  <a:gd name="connsiteX3" fmla="*/ 0 w 1662112"/>
                  <a:gd name="connsiteY3" fmla="*/ 706505 h 7065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62112" h="706505">
                    <a:moveTo>
                      <a:pt x="342358" y="0"/>
                    </a:moveTo>
                    <a:lnTo>
                      <a:pt x="1319754" y="0"/>
                    </a:lnTo>
                    <a:lnTo>
                      <a:pt x="1662112" y="706505"/>
                    </a:lnTo>
                    <a:lnTo>
                      <a:pt x="0" y="706505"/>
                    </a:lnTo>
                    <a:close/>
                  </a:path>
                </a:pathLst>
              </a:custGeom>
              <a:noFill/>
              <a:ln>
                <a:solidFill>
                  <a:srgbClr val="C00000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0" name="그림 29" descr="Tutorial 2: Bitmap Height Maps"/>
              <p:cNvPicPr>
                <a:picLocks noChangeAspect="1" noChangeArrowheads="1"/>
              </p:cNvPicPr>
              <p:nvPr/>
            </p:nvPicPr>
            <p:blipFill>
              <a:blip r:embed="rId5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817" t="22121" r="72403" b="61033"/>
              <a:stretch>
                <a:fillRect/>
              </a:stretch>
            </p:blipFill>
            <p:spPr bwMode="auto">
              <a:xfrm>
                <a:off x="3929883" y="2701986"/>
                <a:ext cx="1371670" cy="657160"/>
              </a:xfrm>
              <a:custGeom>
                <a:avLst/>
                <a:gdLst>
                  <a:gd name="connsiteX0" fmla="*/ 738348 w 1371670"/>
                  <a:gd name="connsiteY0" fmla="*/ 0 h 657160"/>
                  <a:gd name="connsiteX1" fmla="*/ 1371670 w 1371670"/>
                  <a:gd name="connsiteY1" fmla="*/ 4893 h 657160"/>
                  <a:gd name="connsiteX2" fmla="*/ 1216049 w 1371670"/>
                  <a:gd name="connsiteY2" fmla="*/ 657160 h 657160"/>
                  <a:gd name="connsiteX3" fmla="*/ 0 w 1371670"/>
                  <a:gd name="connsiteY3" fmla="*/ 657160 h 6571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71670" h="657160">
                    <a:moveTo>
                      <a:pt x="738348" y="0"/>
                    </a:moveTo>
                    <a:lnTo>
                      <a:pt x="1371670" y="4893"/>
                    </a:lnTo>
                    <a:lnTo>
                      <a:pt x="1216049" y="657160"/>
                    </a:lnTo>
                    <a:lnTo>
                      <a:pt x="0" y="657160"/>
                    </a:lnTo>
                    <a:close/>
                  </a:path>
                </a:pathLst>
              </a:custGeom>
              <a:noFill/>
              <a:ln>
                <a:solidFill>
                  <a:srgbClr val="C00000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21" name="오른쪽 화살표 20"/>
            <p:cNvSpPr/>
            <p:nvPr/>
          </p:nvSpPr>
          <p:spPr>
            <a:xfrm>
              <a:off x="3307421" y="5208454"/>
              <a:ext cx="530643" cy="363685"/>
            </a:xfrm>
            <a:prstGeom prst="rightArrow">
              <a:avLst/>
            </a:prstGeom>
            <a:gradFill flip="none" rotWithShape="1">
              <a:gsLst>
                <a:gs pos="0">
                  <a:schemeClr val="bg1"/>
                </a:gs>
                <a:gs pos="66000">
                  <a:schemeClr val="accent4"/>
                </a:gs>
                <a:gs pos="100000">
                  <a:schemeClr val="accent2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>
                <a:latin typeface="+mn-ea"/>
              </a:endParaRPr>
            </a:p>
          </p:txBody>
        </p:sp>
        <p:sp>
          <p:nvSpPr>
            <p:cNvPr id="22" name="오른쪽 화살표 21"/>
            <p:cNvSpPr/>
            <p:nvPr/>
          </p:nvSpPr>
          <p:spPr>
            <a:xfrm>
              <a:off x="6787665" y="5208454"/>
              <a:ext cx="530643" cy="363685"/>
            </a:xfrm>
            <a:prstGeom prst="rightArrow">
              <a:avLst/>
            </a:prstGeom>
            <a:gradFill flip="none" rotWithShape="1">
              <a:gsLst>
                <a:gs pos="0">
                  <a:schemeClr val="bg1"/>
                </a:gs>
                <a:gs pos="66000">
                  <a:schemeClr val="accent4"/>
                </a:gs>
                <a:gs pos="100000">
                  <a:schemeClr val="accent2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>
                <a:latin typeface="+mn-ea"/>
              </a:endParaRPr>
            </a:p>
          </p:txBody>
        </p:sp>
        <p:sp>
          <p:nvSpPr>
            <p:cNvPr id="23" name="직사각형 22"/>
            <p:cNvSpPr/>
            <p:nvPr/>
          </p:nvSpPr>
          <p:spPr>
            <a:xfrm>
              <a:off x="412750" y="6287902"/>
              <a:ext cx="2838683" cy="2520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b="1" dirty="0" err="1">
                  <a:solidFill>
                    <a:schemeClr val="bg1"/>
                  </a:solidFill>
                  <a:latin typeface="+mn-ea"/>
                </a:rPr>
                <a:t>차량별</a:t>
              </a:r>
              <a:r>
                <a:rPr lang="ko-KR" altLang="en-US" sz="1100" b="1" dirty="0">
                  <a:solidFill>
                    <a:schemeClr val="bg1"/>
                  </a:solidFill>
                  <a:latin typeface="+mn-ea"/>
                </a:rPr>
                <a:t> 노면 인지 데이터</a:t>
              </a:r>
            </a:p>
          </p:txBody>
        </p:sp>
        <p:sp>
          <p:nvSpPr>
            <p:cNvPr id="24" name="직사각형 23"/>
            <p:cNvSpPr/>
            <p:nvPr/>
          </p:nvSpPr>
          <p:spPr>
            <a:xfrm>
              <a:off x="3892994" y="6287902"/>
              <a:ext cx="2838683" cy="2520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b="1" dirty="0">
                  <a:solidFill>
                    <a:schemeClr val="bg1"/>
                  </a:solidFill>
                  <a:latin typeface="+mn-ea"/>
                </a:rPr>
                <a:t>인지 데이터 누적</a:t>
              </a:r>
            </a:p>
          </p:txBody>
        </p:sp>
        <p:sp>
          <p:nvSpPr>
            <p:cNvPr id="25" name="직사각형 24"/>
            <p:cNvSpPr/>
            <p:nvPr/>
          </p:nvSpPr>
          <p:spPr>
            <a:xfrm>
              <a:off x="7373238" y="6287902"/>
              <a:ext cx="3121725" cy="2520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b="1" dirty="0">
                  <a:solidFill>
                    <a:schemeClr val="bg1"/>
                  </a:solidFill>
                  <a:latin typeface="+mn-ea"/>
                </a:rPr>
                <a:t>정밀 지도 생성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173221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알고리즘 개요 </a:t>
            </a:r>
            <a:r>
              <a:rPr lang="en-US" altLang="ko-KR" dirty="0"/>
              <a:t>(2/2)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F55F954-5E86-475A-837F-2B8CED6C7DF1}" type="slidenum">
              <a:rPr lang="ko-KR" altLang="en-US" smtClean="0"/>
              <a:pPr/>
              <a:t>8</a:t>
            </a:fld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381000" y="4474338"/>
            <a:ext cx="4572000" cy="9751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5256" indent="-95256"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buFont typeface="Wingdings" panose="05000000000000000000" pitchFamily="2" charset="2"/>
              <a:buChar char="§"/>
              <a:defRPr/>
            </a:pPr>
            <a:r>
              <a:rPr lang="ko-KR" altLang="en-US" sz="1300" b="1" kern="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</a:t>
            </a:r>
            <a:r>
              <a:rPr lang="en-US" altLang="ko-KR" sz="1300" b="1" kern="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I/O </a:t>
            </a:r>
            <a:r>
              <a:rPr lang="ko-KR" altLang="en-US" sz="1300" b="1" kern="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데이터</a:t>
            </a:r>
            <a:endParaRPr lang="en-US" altLang="ko-KR" sz="1300" b="1" kern="0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(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입력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) </a:t>
            </a:r>
            <a:r>
              <a:rPr lang="ko-KR" altLang="en-US" sz="1300" kern="0" dirty="0" err="1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차량별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인지 데이터 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(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출력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) 3 Layer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로 구성된 전역 지도 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</p:txBody>
      </p:sp>
      <p:graphicFrame>
        <p:nvGraphicFramePr>
          <p:cNvPr id="4" name="표 3"/>
          <p:cNvGraphicFramePr>
            <a:graphicFrameLocks noGrp="1"/>
          </p:cNvGraphicFramePr>
          <p:nvPr/>
        </p:nvGraphicFramePr>
        <p:xfrm>
          <a:off x="4952999" y="4474338"/>
          <a:ext cx="4572001" cy="217584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2277">
                  <a:extLst>
                    <a:ext uri="{9D8B030D-6E8A-4147-A177-3AD203B41FA5}">
                      <a16:colId xmlns:a16="http://schemas.microsoft.com/office/drawing/2014/main" val="434892236"/>
                    </a:ext>
                  </a:extLst>
                </a:gridCol>
                <a:gridCol w="1568918">
                  <a:extLst>
                    <a:ext uri="{9D8B030D-6E8A-4147-A177-3AD203B41FA5}">
                      <a16:colId xmlns:a16="http://schemas.microsoft.com/office/drawing/2014/main" val="3499238781"/>
                    </a:ext>
                  </a:extLst>
                </a:gridCol>
                <a:gridCol w="2440806">
                  <a:extLst>
                    <a:ext uri="{9D8B030D-6E8A-4147-A177-3AD203B41FA5}">
                      <a16:colId xmlns:a16="http://schemas.microsoft.com/office/drawing/2014/main" val="3485199855"/>
                    </a:ext>
                  </a:extLst>
                </a:gridCol>
              </a:tblGrid>
              <a:tr h="271981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입력</a:t>
                      </a:r>
                    </a:p>
                  </a:txBody>
                  <a:tcPr marL="54000" marR="54000" marT="25200" marB="25200" anchor="ctr">
                    <a:lnR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데이터 생성 시각</a:t>
                      </a: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차량에서</a:t>
                      </a:r>
                      <a:r>
                        <a:rPr lang="en-US" altLang="ko-KR" sz="1000" baseline="0" dirty="0"/>
                        <a:t> </a:t>
                      </a:r>
                      <a:r>
                        <a:rPr lang="ko-KR" altLang="en-US" sz="1000" baseline="0" dirty="0"/>
                        <a:t>데이터가 생성된 시점</a:t>
                      </a:r>
                      <a:endParaRPr lang="ko-KR" altLang="en-US" sz="1000" dirty="0"/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7104681"/>
                  </a:ext>
                </a:extLst>
              </a:tr>
              <a:tr h="27198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54000" marR="54000" marT="25200" marB="25200">
                    <a:lnR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장애물 인지</a:t>
                      </a: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장애물 위치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속도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크기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종류</a:t>
                      </a: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412177"/>
                  </a:ext>
                </a:extLst>
              </a:tr>
              <a:tr h="27198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54000" marR="54000" marT="25200" marB="25200">
                    <a:lnR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/>
                        <a:t>자차</a:t>
                      </a:r>
                      <a:r>
                        <a:rPr lang="ko-KR" altLang="en-US" sz="1000" dirty="0"/>
                        <a:t> 위치</a:t>
                      </a: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좌표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b="1" dirty="0">
                          <a:solidFill>
                            <a:srgbClr val="C00000"/>
                          </a:solidFill>
                        </a:rPr>
                        <a:t>속력</a:t>
                      </a:r>
                      <a:r>
                        <a:rPr lang="en-US" altLang="ko-KR" sz="1000" b="1" dirty="0">
                          <a:solidFill>
                            <a:srgbClr val="C00000"/>
                          </a:solidFill>
                        </a:rPr>
                        <a:t>(?)</a:t>
                      </a:r>
                      <a:r>
                        <a:rPr lang="en-US" altLang="ko-KR" sz="1000" dirty="0"/>
                        <a:t>, Heading</a:t>
                      </a:r>
                      <a:r>
                        <a:rPr lang="ko-KR" altLang="en-US" sz="1000" dirty="0"/>
                        <a:t>각</a:t>
                      </a:r>
                      <a:r>
                        <a:rPr lang="en-US" altLang="ko-KR" sz="1000" dirty="0"/>
                        <a:t>, </a:t>
                      </a:r>
                      <a:r>
                        <a:rPr lang="en-US" altLang="ko-KR" sz="1000" b="1" dirty="0" err="1">
                          <a:solidFill>
                            <a:srgbClr val="C00000"/>
                          </a:solidFill>
                        </a:rPr>
                        <a:t>Yawrate</a:t>
                      </a:r>
                      <a:endParaRPr lang="ko-KR" altLang="en-US" sz="1000" b="1" dirty="0">
                        <a:solidFill>
                          <a:srgbClr val="C00000"/>
                        </a:solidFill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7491319"/>
                  </a:ext>
                </a:extLst>
              </a:tr>
              <a:tr h="27198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54000" marR="54000" marT="25200" marB="25200">
                    <a:lnR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노면 형상</a:t>
                      </a: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TBD</a:t>
                      </a:r>
                      <a:endParaRPr lang="ko-KR" altLang="en-US" sz="1000" dirty="0"/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7272179"/>
                  </a:ext>
                </a:extLst>
              </a:tr>
              <a:tr h="271981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출력</a:t>
                      </a:r>
                    </a:p>
                  </a:txBody>
                  <a:tcPr marL="54000" marR="54000" marT="25200" marB="25200" anchor="ctr">
                    <a:lnR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지도 생성 시각</a:t>
                      </a: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/>
                        <a:t>엣지에서</a:t>
                      </a:r>
                      <a:r>
                        <a:rPr lang="ko-KR" altLang="en-US" sz="1000" dirty="0"/>
                        <a:t> 데이터를 융합한 시점</a:t>
                      </a: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4662734"/>
                  </a:ext>
                </a:extLst>
              </a:tr>
              <a:tr h="27198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54000" marR="54000" marT="25200" marB="25200">
                    <a:lnR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L1</a:t>
                      </a:r>
                      <a:r>
                        <a:rPr lang="en-US" altLang="ko-KR" sz="1000" baseline="0" dirty="0"/>
                        <a:t> (</a:t>
                      </a:r>
                      <a:r>
                        <a:rPr lang="ko-KR" altLang="en-US" sz="1000" baseline="0" dirty="0"/>
                        <a:t>노면</a:t>
                      </a:r>
                      <a:r>
                        <a:rPr lang="en-US" altLang="ko-KR" sz="1000" baseline="0" dirty="0"/>
                        <a:t>)</a:t>
                      </a:r>
                      <a:endParaRPr lang="ko-KR" altLang="en-US" sz="1000" dirty="0"/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노면 높이 </a:t>
                      </a:r>
                      <a:r>
                        <a:rPr lang="en-US" altLang="ko-KR" sz="1000" dirty="0"/>
                        <a:t>Grid-map</a:t>
                      </a:r>
                      <a:endParaRPr lang="ko-KR" altLang="en-US" sz="1000" dirty="0"/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4879849"/>
                  </a:ext>
                </a:extLst>
              </a:tr>
              <a:tr h="27198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54000" marR="54000" marT="25200" marB="25200">
                    <a:lnR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L2</a:t>
                      </a:r>
                      <a:r>
                        <a:rPr lang="en-US" altLang="ko-KR" sz="1000" baseline="0" dirty="0"/>
                        <a:t> (</a:t>
                      </a:r>
                      <a:r>
                        <a:rPr lang="ko-KR" altLang="en-US" sz="1000" baseline="0" dirty="0"/>
                        <a:t>정지 물체</a:t>
                      </a:r>
                      <a:r>
                        <a:rPr lang="en-US" altLang="ko-KR" sz="1000" baseline="0" dirty="0"/>
                        <a:t>)</a:t>
                      </a:r>
                      <a:endParaRPr lang="ko-KR" altLang="en-US" sz="1000" dirty="0"/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정지</a:t>
                      </a:r>
                      <a:r>
                        <a:rPr lang="en-US" altLang="ko-KR" sz="1000" dirty="0"/>
                        <a:t> </a:t>
                      </a:r>
                      <a:r>
                        <a:rPr lang="ko-KR" altLang="en-US" sz="1000" dirty="0"/>
                        <a:t>물체 위치</a:t>
                      </a:r>
                      <a:r>
                        <a:rPr lang="ko-KR" altLang="en-US" sz="1000" baseline="0" dirty="0"/>
                        <a:t> 정보</a:t>
                      </a:r>
                      <a:endParaRPr lang="ko-KR" altLang="en-US" sz="1000" dirty="0"/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5365313"/>
                  </a:ext>
                </a:extLst>
              </a:tr>
              <a:tr h="27198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54000" marR="54000" marT="25200" marB="25200">
                    <a:lnR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L3 (</a:t>
                      </a:r>
                      <a:r>
                        <a:rPr lang="ko-KR" altLang="en-US" sz="1000" dirty="0"/>
                        <a:t>이동</a:t>
                      </a:r>
                      <a:r>
                        <a:rPr lang="en-US" altLang="ko-KR" sz="1000" dirty="0"/>
                        <a:t> </a:t>
                      </a:r>
                      <a:r>
                        <a:rPr lang="ko-KR" altLang="en-US" sz="1000" dirty="0"/>
                        <a:t>물체</a:t>
                      </a:r>
                      <a:r>
                        <a:rPr lang="en-US" altLang="ko-KR" sz="1000" dirty="0"/>
                        <a:t>)</a:t>
                      </a:r>
                      <a:endParaRPr lang="ko-KR" altLang="en-US" sz="1000" dirty="0"/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이동 물체 위치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속도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종류 정보</a:t>
                      </a: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0052370"/>
                  </a:ext>
                </a:extLst>
              </a:tr>
            </a:tbl>
          </a:graphicData>
        </a:graphic>
      </p:graphicFrame>
      <p:sp>
        <p:nvSpPr>
          <p:cNvPr id="10" name="직사각형 9"/>
          <p:cNvSpPr/>
          <p:nvPr/>
        </p:nvSpPr>
        <p:spPr>
          <a:xfrm>
            <a:off x="381000" y="873125"/>
            <a:ext cx="9144000" cy="1286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5256" indent="-95256"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buFont typeface="Wingdings" panose="05000000000000000000" pitchFamily="2" charset="2"/>
              <a:buChar char="§"/>
              <a:defRPr/>
            </a:pPr>
            <a:r>
              <a:rPr lang="ko-KR" altLang="en-US" sz="1300" b="1" kern="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</a:t>
            </a:r>
            <a:r>
              <a:rPr lang="en-US" altLang="ko-KR" sz="1300" b="1" kern="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3</a:t>
            </a:r>
            <a:r>
              <a:rPr lang="ko-KR" altLang="en-US" sz="1300" b="1" kern="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단계 객체</a:t>
            </a:r>
            <a:r>
              <a:rPr lang="en-US" altLang="ko-KR" sz="1300" b="1" kern="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-</a:t>
            </a:r>
            <a:r>
              <a:rPr lang="ko-KR" altLang="en-US" sz="1300" b="1" kern="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레이어 구성된 동적 </a:t>
            </a:r>
            <a:r>
              <a:rPr lang="ko-KR" altLang="en-US" sz="1300" b="1" kern="0" dirty="0" err="1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정밀지도</a:t>
            </a:r>
            <a:r>
              <a:rPr lang="ko-KR" altLang="en-US" sz="1300" b="1" kern="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생성</a:t>
            </a:r>
            <a:endParaRPr lang="en-US" altLang="ko-KR" sz="1300" b="1" kern="0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- 1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계층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: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지형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,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노면 향상 데이터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stitching 	→ 2.3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노면 형상 인지 데이터 융합 알고리즘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(2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차년도 예정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)</a:t>
            </a: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- 2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계층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: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정지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,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고정 장애물 데이터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mapping	→ 2.2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정지 장애물 인지 데이터 융합 알고리즘 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- 3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계층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: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이동 장애물 융합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-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추적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		→ </a:t>
            </a:r>
            <a:r>
              <a:rPr lang="en-US" altLang="ko-KR" sz="1300" b="1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2.1 </a:t>
            </a:r>
            <a:r>
              <a:rPr lang="ko-KR" altLang="en-US" sz="1300" b="1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이동 장애물 인지 데이터 융합 알고리즘 </a:t>
            </a:r>
            <a:r>
              <a:rPr lang="en-US" altLang="ko-KR" sz="1300" b="1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(1</a:t>
            </a:r>
            <a:r>
              <a:rPr lang="ko-KR" altLang="en-US" sz="1300" b="1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차년도 개발</a:t>
            </a:r>
            <a:r>
              <a:rPr lang="en-US" altLang="ko-KR" sz="1300" b="1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)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381000" y="2589894"/>
            <a:ext cx="9144000" cy="9751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b="1" kern="0" dirty="0">
                <a:ln>
                  <a:solidFill>
                    <a:prstClr val="black">
                      <a:alpha val="5000"/>
                    </a:prstClr>
                  </a:solidFill>
                </a:ln>
                <a:solidFill>
                  <a:prstClr val="black"/>
                </a:solidFill>
                <a:cs typeface="Arial" panose="020B0604020202020204" pitchFamily="34" charset="0"/>
              </a:rPr>
              <a:t>※ (</a:t>
            </a:r>
            <a:r>
              <a:rPr lang="ko-KR" altLang="en-US" sz="1300" b="1" kern="0" dirty="0">
                <a:ln>
                  <a:solidFill>
                    <a:prstClr val="black">
                      <a:alpha val="5000"/>
                    </a:prstClr>
                  </a:solidFill>
                </a:ln>
                <a:solidFill>
                  <a:prstClr val="black"/>
                </a:solidFill>
                <a:cs typeface="Arial" panose="020B0604020202020204" pitchFamily="34" charset="0"/>
              </a:rPr>
              <a:t>주의</a:t>
            </a:r>
            <a:r>
              <a:rPr lang="en-US" altLang="ko-KR" sz="1300" b="1" kern="0" dirty="0">
                <a:ln>
                  <a:solidFill>
                    <a:prstClr val="black">
                      <a:alpha val="5000"/>
                    </a:prstClr>
                  </a:solidFill>
                </a:ln>
                <a:solidFill>
                  <a:prstClr val="black"/>
                </a:solidFill>
                <a:cs typeface="Arial" panose="020B0604020202020204" pitchFamily="34" charset="0"/>
              </a:rPr>
              <a:t>) 2.2 </a:t>
            </a:r>
            <a:r>
              <a:rPr lang="ko-KR" altLang="en-US" sz="1300" b="1" kern="0" dirty="0">
                <a:ln>
                  <a:solidFill>
                    <a:prstClr val="black">
                      <a:alpha val="5000"/>
                    </a:prstClr>
                  </a:solidFill>
                </a:ln>
                <a:solidFill>
                  <a:prstClr val="black"/>
                </a:solidFill>
                <a:cs typeface="Arial" panose="020B0604020202020204" pitchFamily="34" charset="0"/>
              </a:rPr>
              <a:t>정지 장애물 데이터 융합은 </a:t>
            </a:r>
            <a:r>
              <a:rPr lang="en-US" altLang="ko-KR" sz="1300" b="1" kern="0" dirty="0">
                <a:ln>
                  <a:solidFill>
                    <a:prstClr val="black">
                      <a:alpha val="5000"/>
                    </a:prstClr>
                  </a:solidFill>
                </a:ln>
                <a:solidFill>
                  <a:prstClr val="black"/>
                </a:solidFill>
                <a:cs typeface="Arial" panose="020B0604020202020204" pitchFamily="34" charset="0"/>
              </a:rPr>
              <a:t>(1</a:t>
            </a:r>
            <a:r>
              <a:rPr lang="ko-KR" altLang="en-US" sz="1300" b="1" kern="0" dirty="0">
                <a:ln>
                  <a:solidFill>
                    <a:prstClr val="black">
                      <a:alpha val="5000"/>
                    </a:prstClr>
                  </a:solidFill>
                </a:ln>
                <a:solidFill>
                  <a:prstClr val="black"/>
                </a:solidFill>
                <a:cs typeface="Arial" panose="020B0604020202020204" pitchFamily="34" charset="0"/>
              </a:rPr>
              <a:t>차년도</a:t>
            </a:r>
            <a:r>
              <a:rPr lang="en-US" altLang="ko-KR" sz="1300" b="1" kern="0" dirty="0">
                <a:ln>
                  <a:solidFill>
                    <a:prstClr val="black">
                      <a:alpha val="5000"/>
                    </a:prstClr>
                  </a:solidFill>
                </a:ln>
                <a:solidFill>
                  <a:prstClr val="black"/>
                </a:solidFill>
                <a:cs typeface="Arial" panose="020B0604020202020204" pitchFamily="34" charset="0"/>
              </a:rPr>
              <a:t>)</a:t>
            </a:r>
            <a:r>
              <a:rPr lang="ko-KR" altLang="en-US" sz="1300" b="1" kern="0" dirty="0">
                <a:ln>
                  <a:solidFill>
                    <a:prstClr val="black">
                      <a:alpha val="5000"/>
                    </a:prstClr>
                  </a:solidFill>
                </a:ln>
                <a:solidFill>
                  <a:prstClr val="black"/>
                </a:solidFill>
                <a:cs typeface="Arial" panose="020B0604020202020204" pitchFamily="34" charset="0"/>
              </a:rPr>
              <a:t>는 </a:t>
            </a:r>
            <a:r>
              <a:rPr lang="en-US" altLang="ko-KR" sz="1300" b="1" kern="0" dirty="0">
                <a:ln>
                  <a:solidFill>
                    <a:prstClr val="black">
                      <a:alpha val="5000"/>
                    </a:prstClr>
                  </a:solidFill>
                </a:ln>
                <a:solidFill>
                  <a:prstClr val="black"/>
                </a:solidFill>
                <a:cs typeface="Arial" panose="020B0604020202020204" pitchFamily="34" charset="0"/>
              </a:rPr>
              <a:t>2.1</a:t>
            </a:r>
            <a:r>
              <a:rPr lang="ko-KR" altLang="en-US" sz="1300" b="1" kern="0" dirty="0">
                <a:ln>
                  <a:solidFill>
                    <a:prstClr val="black">
                      <a:alpha val="5000"/>
                    </a:prstClr>
                  </a:solidFill>
                </a:ln>
                <a:solidFill>
                  <a:prstClr val="black"/>
                </a:solidFill>
                <a:cs typeface="Arial" panose="020B0604020202020204" pitchFamily="34" charset="0"/>
              </a:rPr>
              <a:t>의 알고리즘 활용 </a:t>
            </a:r>
            <a:endParaRPr lang="en-US" altLang="ko-KR" sz="1300" b="1" kern="0" dirty="0">
              <a:ln>
                <a:solidFill>
                  <a:prstClr val="black">
                    <a:alpha val="5000"/>
                  </a:prstClr>
                </a:solidFill>
              </a:ln>
              <a:solidFill>
                <a:prstClr val="black"/>
              </a:solidFill>
              <a:cs typeface="Arial" panose="020B0604020202020204" pitchFamily="34" charset="0"/>
            </a:endParaRPr>
          </a:p>
          <a:p>
            <a:pPr lvl="0"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prstClr val="black">
                      <a:alpha val="5000"/>
                    </a:prstClr>
                  </a:solidFill>
                </a:ln>
                <a:solidFill>
                  <a:prstClr val="black"/>
                </a:solidFill>
                <a:cs typeface="Arial" panose="020B0604020202020204" pitchFamily="34" charset="0"/>
              </a:rPr>
              <a:t>     </a:t>
            </a:r>
            <a:r>
              <a:rPr lang="ko-KR" altLang="en-US" sz="1300" kern="0" dirty="0">
                <a:ln>
                  <a:solidFill>
                    <a:prstClr val="black">
                      <a:alpha val="5000"/>
                    </a:prstClr>
                  </a:solidFill>
                </a:ln>
                <a:solidFill>
                  <a:prstClr val="black"/>
                </a:solidFill>
                <a:cs typeface="Arial" panose="020B0604020202020204" pitchFamily="34" charset="0"/>
              </a:rPr>
              <a:t>속도에 의한 위치 보정을 제외하고 동일 알고리즘으로 대응 가능</a:t>
            </a:r>
            <a:endParaRPr lang="en-US" altLang="ko-KR" sz="1300" kern="0" dirty="0">
              <a:ln>
                <a:solidFill>
                  <a:prstClr val="black">
                    <a:alpha val="5000"/>
                  </a:prstClr>
                </a:solidFill>
              </a:ln>
              <a:solidFill>
                <a:prstClr val="black"/>
              </a:solidFill>
              <a:cs typeface="Arial" panose="020B0604020202020204" pitchFamily="34" charset="0"/>
            </a:endParaRPr>
          </a:p>
          <a:p>
            <a:pPr lvl="0"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prstClr val="black">
                      <a:alpha val="5000"/>
                    </a:prstClr>
                  </a:solidFill>
                </a:ln>
                <a:solidFill>
                  <a:prstClr val="black"/>
                </a:solidFill>
                <a:cs typeface="Arial" panose="020B0604020202020204" pitchFamily="34" charset="0"/>
              </a:rPr>
              <a:t>     </a:t>
            </a:r>
            <a:r>
              <a:rPr lang="ko-KR" altLang="en-US" sz="1300" kern="0" dirty="0">
                <a:ln>
                  <a:solidFill>
                    <a:prstClr val="black">
                      <a:alpha val="5000"/>
                    </a:prstClr>
                  </a:solidFill>
                </a:ln>
                <a:solidFill>
                  <a:prstClr val="black"/>
                </a:solidFill>
                <a:cs typeface="Arial" panose="020B0604020202020204" pitchFamily="34" charset="0"/>
              </a:rPr>
              <a:t>단</a:t>
            </a:r>
            <a:r>
              <a:rPr lang="en-US" altLang="ko-KR" sz="1300" kern="0" dirty="0">
                <a:ln>
                  <a:solidFill>
                    <a:prstClr val="black">
                      <a:alpha val="5000"/>
                    </a:prstClr>
                  </a:solidFill>
                </a:ln>
                <a:solidFill>
                  <a:prstClr val="black"/>
                </a:solidFill>
                <a:cs typeface="Arial" panose="020B0604020202020204" pitchFamily="34" charset="0"/>
              </a:rPr>
              <a:t>, </a:t>
            </a:r>
            <a:r>
              <a:rPr lang="ko-KR" altLang="en-US" sz="1300" kern="0" dirty="0">
                <a:ln>
                  <a:solidFill>
                    <a:prstClr val="black">
                      <a:alpha val="5000"/>
                    </a:prstClr>
                  </a:solidFill>
                </a:ln>
                <a:solidFill>
                  <a:prstClr val="black"/>
                </a:solidFill>
                <a:cs typeface="Arial" panose="020B0604020202020204" pitchFamily="34" charset="0"/>
              </a:rPr>
              <a:t>대형 장애물을 부분적으로 검출하는 상황에 대해 별도 처리가 필요한지 </a:t>
            </a:r>
            <a:r>
              <a:rPr lang="en-US" altLang="ko-KR" sz="1300" kern="0" dirty="0">
                <a:ln>
                  <a:solidFill>
                    <a:prstClr val="black">
                      <a:alpha val="5000"/>
                    </a:prstClr>
                  </a:solidFill>
                </a:ln>
                <a:solidFill>
                  <a:prstClr val="black"/>
                </a:solidFill>
                <a:cs typeface="Arial" panose="020B0604020202020204" pitchFamily="34" charset="0"/>
              </a:rPr>
              <a:t>3</a:t>
            </a:r>
            <a:r>
              <a:rPr lang="ko-KR" altLang="en-US" sz="1300" kern="0" dirty="0">
                <a:ln>
                  <a:solidFill>
                    <a:prstClr val="black">
                      <a:alpha val="5000"/>
                    </a:prstClr>
                  </a:solidFill>
                </a:ln>
                <a:solidFill>
                  <a:prstClr val="black"/>
                </a:solidFill>
                <a:cs typeface="Arial" panose="020B0604020202020204" pitchFamily="34" charset="0"/>
              </a:rPr>
              <a:t>차년도 시점에서 재검토 및 보완 예정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842358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알고리즘 이슈 사항 </a:t>
            </a:r>
            <a:r>
              <a:rPr lang="en-US" altLang="ko-KR" dirty="0"/>
              <a:t>- </a:t>
            </a:r>
            <a:r>
              <a:rPr lang="ko-KR" altLang="en-US" dirty="0"/>
              <a:t>공통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F55F954-5E86-475A-837F-2B8CED6C7DF1}" type="slidenum">
              <a:rPr lang="ko-KR" altLang="en-US" smtClean="0"/>
              <a:pPr/>
              <a:t>9</a:t>
            </a:fld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381000" y="887043"/>
            <a:ext cx="9144000" cy="1286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5256" indent="-95256"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buFont typeface="Wingdings" panose="05000000000000000000" pitchFamily="2" charset="2"/>
              <a:buChar char="§"/>
              <a:defRPr/>
            </a:pPr>
            <a:r>
              <a:rPr lang="ko-KR" altLang="en-US" sz="1300" b="1" kern="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+mj-ea"/>
                <a:ea typeface="+mj-ea"/>
                <a:cs typeface="Arial" panose="020B0604020202020204" pitchFamily="34" charset="0"/>
              </a:rPr>
              <a:t> </a:t>
            </a:r>
            <a:r>
              <a:rPr lang="ko-KR" altLang="en-US" sz="1300" b="1" kern="0" dirty="0" err="1">
                <a:ln>
                  <a:solidFill>
                    <a:schemeClr val="tx1">
                      <a:alpha val="0"/>
                    </a:schemeClr>
                  </a:solidFill>
                </a:ln>
                <a:latin typeface="+mj-ea"/>
                <a:ea typeface="+mj-ea"/>
                <a:cs typeface="Arial" panose="020B0604020202020204" pitchFamily="34" charset="0"/>
              </a:rPr>
              <a:t>차량별</a:t>
            </a:r>
            <a:r>
              <a:rPr lang="ko-KR" altLang="en-US" sz="1300" b="1" kern="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+mj-ea"/>
                <a:ea typeface="+mj-ea"/>
                <a:cs typeface="Arial" panose="020B0604020202020204" pitchFamily="34" charset="0"/>
              </a:rPr>
              <a:t> 인지 데이터의 시간 동기화</a:t>
            </a:r>
            <a:endParaRPr lang="en-US" altLang="ko-KR" sz="1300" b="1" kern="0" dirty="0">
              <a:ln>
                <a:solidFill>
                  <a:schemeClr val="tx1">
                    <a:alpha val="0"/>
                  </a:schemeClr>
                </a:solidFill>
              </a:ln>
              <a:latin typeface="+mj-ea"/>
              <a:ea typeface="+mj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엣지</a:t>
            </a:r>
            <a:r>
              <a:rPr lang="en-US" altLang="ko-KR" sz="1300" kern="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, </a:t>
            </a:r>
            <a:r>
              <a:rPr lang="ko-KR" altLang="en-US" sz="1300" kern="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차량간 시간 동기화 불가</a:t>
            </a:r>
            <a:r>
              <a:rPr lang="en-US" altLang="ko-KR" sz="1300" kern="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, </a:t>
            </a:r>
            <a:r>
              <a:rPr lang="ko-KR" altLang="en-US" sz="1300" kern="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개별적인 센서 및 인지 알고리즘 동작</a:t>
            </a:r>
            <a:endParaRPr lang="en-US" altLang="ko-KR" sz="1300" kern="0" dirty="0">
              <a:ln>
                <a:solidFill>
                  <a:schemeClr val="tx1">
                    <a:alpha val="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무선 통신에 의한 불규칙한 시간 지연 발생 </a:t>
            </a:r>
            <a:endParaRPr lang="en-US" altLang="ko-KR" sz="1300" kern="0" dirty="0">
              <a:ln>
                <a:solidFill>
                  <a:schemeClr val="tx1">
                    <a:alpha val="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→ </a:t>
            </a:r>
            <a:r>
              <a:rPr lang="ko-KR" altLang="en-US" sz="1300" kern="0" dirty="0" err="1">
                <a:ln>
                  <a:solidFill>
                    <a:schemeClr val="tx1">
                      <a:alpha val="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데이터별</a:t>
            </a:r>
            <a:r>
              <a:rPr lang="ko-KR" altLang="en-US" sz="1300" kern="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</a:t>
            </a:r>
            <a:r>
              <a:rPr lang="en-US" altLang="ko-KR" sz="1300" kern="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Time-stamp</a:t>
            </a:r>
            <a:r>
              <a:rPr lang="ko-KR" altLang="en-US" sz="1300" kern="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를 이용한 시간 동기화 처리</a:t>
            </a:r>
            <a:endParaRPr lang="en-US" altLang="ko-KR" sz="1300" kern="0" dirty="0">
              <a:ln>
                <a:solidFill>
                  <a:schemeClr val="tx1">
                    <a:alpha val="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381122" y="4199643"/>
            <a:ext cx="9143877" cy="1597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5256" indent="-95256"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buFont typeface="Wingdings" panose="05000000000000000000" pitchFamily="2" charset="2"/>
              <a:buChar char="§"/>
              <a:defRPr/>
            </a:pPr>
            <a:r>
              <a:rPr lang="ko-KR" altLang="en-US" sz="1300" b="1" kern="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+mj-ea"/>
                <a:ea typeface="+mj-ea"/>
                <a:cs typeface="Arial" panose="020B0604020202020204" pitchFamily="34" charset="0"/>
              </a:rPr>
              <a:t> </a:t>
            </a:r>
            <a:r>
              <a:rPr lang="ko-KR" altLang="en-US" sz="1300" b="1" kern="0" dirty="0" err="1">
                <a:ln>
                  <a:solidFill>
                    <a:schemeClr val="tx1">
                      <a:alpha val="0"/>
                    </a:schemeClr>
                  </a:solidFill>
                </a:ln>
                <a:latin typeface="+mj-ea"/>
                <a:ea typeface="+mj-ea"/>
                <a:cs typeface="Arial" panose="020B0604020202020204" pitchFamily="34" charset="0"/>
              </a:rPr>
              <a:t>차량별</a:t>
            </a:r>
            <a:r>
              <a:rPr lang="ko-KR" altLang="en-US" sz="1300" b="1" kern="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+mj-ea"/>
                <a:ea typeface="+mj-ea"/>
                <a:cs typeface="Arial" panose="020B0604020202020204" pitchFamily="34" charset="0"/>
              </a:rPr>
              <a:t> 인지 데이터의 공간 정렬 </a:t>
            </a:r>
            <a:r>
              <a:rPr lang="en-US" altLang="ko-KR" sz="1300" b="1" kern="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+mj-ea"/>
                <a:ea typeface="+mj-ea"/>
                <a:cs typeface="Arial" panose="020B0604020202020204" pitchFamily="34" charset="0"/>
              </a:rPr>
              <a:t>(</a:t>
            </a:r>
            <a:r>
              <a:rPr lang="ko-KR" altLang="en-US" sz="1300" b="1" kern="0" dirty="0" err="1">
                <a:ln>
                  <a:solidFill>
                    <a:schemeClr val="tx1">
                      <a:alpha val="0"/>
                    </a:schemeClr>
                  </a:solidFill>
                </a:ln>
                <a:latin typeface="+mj-ea"/>
                <a:ea typeface="+mj-ea"/>
                <a:cs typeface="Arial" panose="020B0604020202020204" pitchFamily="34" charset="0"/>
              </a:rPr>
              <a:t>좌표계</a:t>
            </a:r>
            <a:r>
              <a:rPr lang="ko-KR" altLang="en-US" sz="1300" b="1" kern="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+mj-ea"/>
                <a:ea typeface="+mj-ea"/>
                <a:cs typeface="Arial" panose="020B0604020202020204" pitchFamily="34" charset="0"/>
              </a:rPr>
              <a:t> 통일</a:t>
            </a:r>
            <a:r>
              <a:rPr lang="en-US" altLang="ko-KR" sz="1300" b="1" kern="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+mj-ea"/>
                <a:ea typeface="+mj-ea"/>
                <a:cs typeface="Arial" panose="020B0604020202020204" pitchFamily="34" charset="0"/>
              </a:rPr>
              <a:t>)</a:t>
            </a: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이동 장애물의 속도에 의해</a:t>
            </a:r>
            <a:r>
              <a:rPr lang="en-US" altLang="ko-KR" sz="1300" kern="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, </a:t>
            </a:r>
            <a:r>
              <a:rPr lang="ko-KR" altLang="en-US" sz="1300" kern="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시간 차이 만큼의 위치 변화 발생</a:t>
            </a:r>
            <a:endParaRPr lang="en-US" altLang="ko-KR" sz="1300" kern="0" dirty="0">
              <a:ln>
                <a:solidFill>
                  <a:schemeClr val="tx1">
                    <a:alpha val="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→ </a:t>
            </a:r>
            <a:r>
              <a:rPr lang="ko-KR" altLang="en-US" sz="1300" kern="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장애물 속도</a:t>
            </a:r>
            <a:r>
              <a:rPr lang="en-US" altLang="ko-KR" sz="1300" kern="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, time-stamp </a:t>
            </a:r>
            <a:r>
              <a:rPr lang="ko-KR" altLang="en-US" sz="1300" kern="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연계 위치 추정</a:t>
            </a:r>
            <a:endParaRPr lang="en-US" altLang="ko-KR" sz="1300" kern="0" dirty="0">
              <a:ln>
                <a:solidFill>
                  <a:schemeClr val="tx1">
                    <a:alpha val="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 err="1">
                <a:ln>
                  <a:solidFill>
                    <a:schemeClr val="tx1">
                      <a:alpha val="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데이터별</a:t>
            </a:r>
            <a:r>
              <a:rPr lang="ko-KR" altLang="en-US" sz="1300" kern="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상이한 </a:t>
            </a:r>
            <a:r>
              <a:rPr lang="ko-KR" altLang="en-US" sz="1300" kern="0" dirty="0" err="1">
                <a:ln>
                  <a:solidFill>
                    <a:schemeClr val="tx1">
                      <a:alpha val="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좌표계</a:t>
            </a:r>
            <a:r>
              <a:rPr lang="ko-KR" altLang="en-US" sz="1300" kern="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사용</a:t>
            </a:r>
            <a:endParaRPr lang="en-US" altLang="ko-KR" sz="1300" kern="0" dirty="0">
              <a:ln>
                <a:solidFill>
                  <a:schemeClr val="tx1">
                    <a:alpha val="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→ </a:t>
            </a:r>
            <a:r>
              <a:rPr lang="ko-KR" altLang="en-US" sz="1300" kern="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데이터 융합을 위한 </a:t>
            </a:r>
            <a:r>
              <a:rPr lang="ko-KR" altLang="en-US" sz="1300" kern="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+mn-ea"/>
                <a:cs typeface="Arial" panose="020B0604020202020204" pitchFamily="34" charset="0"/>
                <a:sym typeface="Wingdings 3" panose="05040102010807070707" pitchFamily="18" charset="2"/>
              </a:rPr>
              <a:t>직교 기준 </a:t>
            </a:r>
            <a:r>
              <a:rPr lang="ko-KR" altLang="en-US" sz="1300" kern="0" dirty="0" err="1">
                <a:ln>
                  <a:solidFill>
                    <a:schemeClr val="tx1">
                      <a:alpha val="0"/>
                    </a:schemeClr>
                  </a:solidFill>
                </a:ln>
                <a:latin typeface="+mn-ea"/>
                <a:cs typeface="Arial" panose="020B0604020202020204" pitchFamily="34" charset="0"/>
                <a:sym typeface="Wingdings 3" panose="05040102010807070707" pitchFamily="18" charset="2"/>
              </a:rPr>
              <a:t>좌표계</a:t>
            </a:r>
            <a:r>
              <a:rPr lang="ko-KR" altLang="en-US" sz="1300" kern="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+mn-ea"/>
                <a:cs typeface="Arial" panose="020B0604020202020204" pitchFamily="34" charset="0"/>
                <a:sym typeface="Wingdings 3" panose="05040102010807070707" pitchFamily="18" charset="2"/>
              </a:rPr>
              <a:t> 정의</a:t>
            </a:r>
            <a:endParaRPr lang="en-US" altLang="ko-KR" sz="1300" kern="0" dirty="0">
              <a:ln>
                <a:solidFill>
                  <a:schemeClr val="tx1">
                    <a:alpha val="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</p:txBody>
      </p:sp>
      <p:grpSp>
        <p:nvGrpSpPr>
          <p:cNvPr id="56" name="그룹 55"/>
          <p:cNvGrpSpPr/>
          <p:nvPr/>
        </p:nvGrpSpPr>
        <p:grpSpPr>
          <a:xfrm>
            <a:off x="394529" y="2312249"/>
            <a:ext cx="4217973" cy="1392895"/>
            <a:chOff x="465410" y="2312249"/>
            <a:chExt cx="4217973" cy="1392895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344817A8-F5DD-4048-A1C8-0F249C3230C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5410" y="2654718"/>
              <a:ext cx="4217973" cy="0"/>
            </a:xfrm>
            <a:prstGeom prst="line">
              <a:avLst/>
            </a:prstGeom>
            <a:ln w="38100">
              <a:solidFill>
                <a:schemeClr val="accent5">
                  <a:lumMod val="75000"/>
                </a:schemeClr>
              </a:solidFill>
              <a:headEnd type="triangle" w="sm" len="sm"/>
              <a:tailEnd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F46A84D1-242C-4930-BD3A-79291A9A4B3B}"/>
                </a:ext>
              </a:extLst>
            </p:cNvPr>
            <p:cNvSpPr/>
            <p:nvPr/>
          </p:nvSpPr>
          <p:spPr>
            <a:xfrm>
              <a:off x="1331077" y="2618997"/>
              <a:ext cx="71441" cy="71441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>
              <a:noAutofit/>
            </a:bodyPr>
            <a:lstStyle/>
            <a:p>
              <a:pPr algn="ctr" defTabSz="604891">
                <a:defRPr/>
              </a:pPr>
              <a:endParaRPr lang="ko-KR" altLang="en-US" sz="900">
                <a:solidFill>
                  <a:prstClr val="black"/>
                </a:solidFill>
                <a:latin typeface="+mn-ea"/>
              </a:endParaRPr>
            </a:p>
          </p:txBody>
        </p:sp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F46A84D1-242C-4930-BD3A-79291A9A4B3B}"/>
                </a:ext>
              </a:extLst>
            </p:cNvPr>
            <p:cNvSpPr/>
            <p:nvPr/>
          </p:nvSpPr>
          <p:spPr>
            <a:xfrm>
              <a:off x="3971571" y="2618997"/>
              <a:ext cx="71441" cy="71441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>
              <a:noAutofit/>
            </a:bodyPr>
            <a:lstStyle/>
            <a:p>
              <a:pPr algn="ctr" defTabSz="604891">
                <a:defRPr/>
              </a:pPr>
              <a:endParaRPr lang="ko-KR" altLang="en-US" sz="900">
                <a:solidFill>
                  <a:prstClr val="black"/>
                </a:solidFill>
                <a:latin typeface="+mn-ea"/>
              </a:endParaRPr>
            </a:p>
          </p:txBody>
        </p:sp>
        <p:sp>
          <p:nvSpPr>
            <p:cNvPr id="9" name="직사각형 8"/>
            <p:cNvSpPr/>
            <p:nvPr/>
          </p:nvSpPr>
          <p:spPr>
            <a:xfrm>
              <a:off x="3410327" y="2748714"/>
              <a:ext cx="1193930" cy="169277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lvl="0" algn="r">
                <a:lnSpc>
                  <a:spcPct val="120000"/>
                </a:lnSpc>
                <a:buClr>
                  <a:srgbClr val="0070C0"/>
                </a:buClr>
                <a:defRPr/>
              </a:pPr>
              <a:r>
                <a:rPr lang="ko-KR" altLang="en-US" sz="1000" dirty="0">
                  <a:ln w="9525">
                    <a:solidFill>
                      <a:prstClr val="white">
                        <a:lumMod val="50000"/>
                        <a:alpha val="0"/>
                      </a:prstClr>
                    </a:solidFill>
                  </a:ln>
                  <a:solidFill>
                    <a:prstClr val="black"/>
                  </a:solidFill>
                  <a:latin typeface="+mj-ea"/>
                  <a:ea typeface="+mj-ea"/>
                </a:rPr>
                <a:t>엣지</a:t>
              </a:r>
              <a:r>
                <a:rPr lang="en-US" altLang="ko-KR" sz="1000" dirty="0">
                  <a:ln w="9525">
                    <a:solidFill>
                      <a:prstClr val="white">
                        <a:lumMod val="50000"/>
                        <a:alpha val="0"/>
                      </a:prstClr>
                    </a:solidFill>
                  </a:ln>
                  <a:solidFill>
                    <a:prstClr val="black"/>
                  </a:solidFill>
                  <a:latin typeface="+mj-ea"/>
                  <a:ea typeface="+mj-ea"/>
                </a:rPr>
                <a:t> </a:t>
              </a:r>
              <a:r>
                <a:rPr lang="ko-KR" altLang="en-US" sz="1000" dirty="0">
                  <a:ln w="9525">
                    <a:solidFill>
                      <a:prstClr val="white">
                        <a:lumMod val="50000"/>
                        <a:alpha val="0"/>
                      </a:prstClr>
                    </a:solidFill>
                  </a:ln>
                  <a:solidFill>
                    <a:prstClr val="black"/>
                  </a:solidFill>
                  <a:latin typeface="+mj-ea"/>
                  <a:ea typeface="+mj-ea"/>
                </a:rPr>
                <a:t>동작 주기</a:t>
              </a:r>
            </a:p>
          </p:txBody>
        </p:sp>
        <p:sp>
          <p:nvSpPr>
            <p:cNvPr id="10" name="직사각형 9"/>
            <p:cNvSpPr/>
            <p:nvPr/>
          </p:nvSpPr>
          <p:spPr>
            <a:xfrm>
              <a:off x="506260" y="3103848"/>
              <a:ext cx="721518" cy="146687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800">
                  <a:solidFill>
                    <a:schemeClr val="tx1"/>
                  </a:solidFill>
                </a:rPr>
                <a:t>SW</a:t>
              </a:r>
              <a:r>
                <a:rPr lang="ko-KR" altLang="en-US" sz="800">
                  <a:solidFill>
                    <a:schemeClr val="tx1"/>
                  </a:solidFill>
                </a:rPr>
                <a:t> 처리 시간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914388" y="2862094"/>
              <a:ext cx="721518" cy="146687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800" dirty="0">
                  <a:solidFill>
                    <a:schemeClr val="tx1"/>
                  </a:solidFill>
                </a:rPr>
                <a:t>SW</a:t>
              </a:r>
              <a:r>
                <a:rPr lang="ko-KR" altLang="en-US" sz="800" dirty="0">
                  <a:solidFill>
                    <a:schemeClr val="tx1"/>
                  </a:solidFill>
                </a:rPr>
                <a:t> 처리 시간</a:t>
              </a:r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1528539" y="3331332"/>
              <a:ext cx="721518" cy="146687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800">
                  <a:solidFill>
                    <a:schemeClr val="tx1"/>
                  </a:solidFill>
                </a:rPr>
                <a:t>SW</a:t>
              </a:r>
              <a:r>
                <a:rPr lang="ko-KR" altLang="en-US" sz="800">
                  <a:solidFill>
                    <a:schemeClr val="tx1"/>
                  </a:solidFill>
                </a:rPr>
                <a:t> 처리 시간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1833983" y="3558457"/>
              <a:ext cx="721518" cy="146687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800">
                  <a:solidFill>
                    <a:schemeClr val="tx1"/>
                  </a:solidFill>
                </a:rPr>
                <a:t>SW</a:t>
              </a:r>
              <a:r>
                <a:rPr lang="ko-KR" altLang="en-US" sz="800">
                  <a:solidFill>
                    <a:schemeClr val="tx1"/>
                  </a:solidFill>
                </a:rPr>
                <a:t> 처리 시간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14" name="직사각형 13"/>
            <p:cNvSpPr/>
            <p:nvPr/>
          </p:nvSpPr>
          <p:spPr>
            <a:xfrm>
              <a:off x="1227778" y="3103848"/>
              <a:ext cx="1289182" cy="14668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>
                  <a:solidFill>
                    <a:schemeClr val="tx1"/>
                  </a:solidFill>
                </a:rPr>
                <a:t>전송 시간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15" name="직사각형 14"/>
            <p:cNvSpPr/>
            <p:nvPr/>
          </p:nvSpPr>
          <p:spPr>
            <a:xfrm>
              <a:off x="1635905" y="2862094"/>
              <a:ext cx="635026" cy="14668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</a:rPr>
                <a:t>전송 시간</a:t>
              </a: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2250058" y="3331332"/>
              <a:ext cx="1150761" cy="14668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>
                  <a:solidFill>
                    <a:schemeClr val="tx1"/>
                  </a:solidFill>
                </a:rPr>
                <a:t>전송 시간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17" name="직사각형 16"/>
            <p:cNvSpPr/>
            <p:nvPr/>
          </p:nvSpPr>
          <p:spPr>
            <a:xfrm>
              <a:off x="2555501" y="3558457"/>
              <a:ext cx="978346" cy="14668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>
                  <a:solidFill>
                    <a:schemeClr val="tx1"/>
                  </a:solidFill>
                </a:rPr>
                <a:t>전송 시간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cxnSp>
          <p:nvCxnSpPr>
            <p:cNvPr id="18" name="직선 화살표 연결선 17"/>
            <p:cNvCxnSpPr>
              <a:stCxn id="15" idx="3"/>
            </p:cNvCxnSpPr>
            <p:nvPr/>
          </p:nvCxnSpPr>
          <p:spPr>
            <a:xfrm flipV="1">
              <a:off x="2270931" y="2690439"/>
              <a:ext cx="0" cy="244998"/>
            </a:xfrm>
            <a:prstGeom prst="straightConnector1">
              <a:avLst/>
            </a:prstGeom>
            <a:ln w="12700">
              <a:solidFill>
                <a:schemeClr val="bg2">
                  <a:lumMod val="50000"/>
                </a:schemeClr>
              </a:solidFill>
              <a:prstDash val="lg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화살표 연결선 18"/>
            <p:cNvCxnSpPr>
              <a:stCxn id="14" idx="3"/>
            </p:cNvCxnSpPr>
            <p:nvPr/>
          </p:nvCxnSpPr>
          <p:spPr>
            <a:xfrm flipH="1" flipV="1">
              <a:off x="2514192" y="2690439"/>
              <a:ext cx="0" cy="486752"/>
            </a:xfrm>
            <a:prstGeom prst="straightConnector1">
              <a:avLst/>
            </a:prstGeom>
            <a:ln w="12700">
              <a:solidFill>
                <a:schemeClr val="bg2">
                  <a:lumMod val="50000"/>
                </a:schemeClr>
              </a:solidFill>
              <a:prstDash val="lg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화살표 연결선 19"/>
            <p:cNvCxnSpPr>
              <a:stCxn id="16" idx="3"/>
            </p:cNvCxnSpPr>
            <p:nvPr/>
          </p:nvCxnSpPr>
          <p:spPr>
            <a:xfrm flipH="1" flipV="1">
              <a:off x="3392098" y="2690439"/>
              <a:ext cx="0" cy="714236"/>
            </a:xfrm>
            <a:prstGeom prst="straightConnector1">
              <a:avLst/>
            </a:prstGeom>
            <a:ln w="12700">
              <a:solidFill>
                <a:schemeClr val="bg2">
                  <a:lumMod val="50000"/>
                </a:schemeClr>
              </a:solidFill>
              <a:prstDash val="lg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화살표 연결선 20"/>
            <p:cNvCxnSpPr>
              <a:stCxn id="17" idx="3"/>
            </p:cNvCxnSpPr>
            <p:nvPr/>
          </p:nvCxnSpPr>
          <p:spPr>
            <a:xfrm flipH="1" flipV="1">
              <a:off x="3530041" y="2690439"/>
              <a:ext cx="0" cy="941362"/>
            </a:xfrm>
            <a:prstGeom prst="straightConnector1">
              <a:avLst/>
            </a:prstGeom>
            <a:ln w="12700">
              <a:solidFill>
                <a:schemeClr val="bg2">
                  <a:lumMod val="50000"/>
                </a:schemeClr>
              </a:solidFill>
              <a:prstDash val="lg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F46A84D1-242C-4930-BD3A-79291A9A4B3B}"/>
                </a:ext>
              </a:extLst>
            </p:cNvPr>
            <p:cNvSpPr/>
            <p:nvPr/>
          </p:nvSpPr>
          <p:spPr>
            <a:xfrm>
              <a:off x="2225489" y="2618997"/>
              <a:ext cx="71441" cy="714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>
              <a:noAutofit/>
            </a:bodyPr>
            <a:lstStyle/>
            <a:p>
              <a:pPr algn="ctr" defTabSz="604891">
                <a:defRPr/>
              </a:pPr>
              <a:endParaRPr lang="ko-KR" altLang="en-US" sz="900">
                <a:solidFill>
                  <a:prstClr val="black"/>
                </a:solidFill>
                <a:latin typeface="+mn-ea"/>
              </a:endParaRPr>
            </a:p>
          </p:txBody>
        </p:sp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F46A84D1-242C-4930-BD3A-79291A9A4B3B}"/>
                </a:ext>
              </a:extLst>
            </p:cNvPr>
            <p:cNvSpPr/>
            <p:nvPr/>
          </p:nvSpPr>
          <p:spPr>
            <a:xfrm>
              <a:off x="2473118" y="2618997"/>
              <a:ext cx="71441" cy="71441"/>
            </a:xfrm>
            <a:prstGeom prst="ellipse">
              <a:avLst/>
            </a:prstGeom>
            <a:solidFill>
              <a:srgbClr val="00B050"/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>
              <a:noAutofit/>
            </a:bodyPr>
            <a:lstStyle/>
            <a:p>
              <a:pPr algn="ctr" defTabSz="604891">
                <a:defRPr/>
              </a:pPr>
              <a:endParaRPr lang="ko-KR" altLang="en-US" sz="900">
                <a:solidFill>
                  <a:prstClr val="black"/>
                </a:solidFill>
                <a:latin typeface="+mn-ea"/>
              </a:endParaRPr>
            </a:p>
          </p:txBody>
        </p:sp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F46A84D1-242C-4930-BD3A-79291A9A4B3B}"/>
                </a:ext>
              </a:extLst>
            </p:cNvPr>
            <p:cNvSpPr/>
            <p:nvPr/>
          </p:nvSpPr>
          <p:spPr>
            <a:xfrm>
              <a:off x="3356378" y="2618997"/>
              <a:ext cx="71441" cy="71441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>
              <a:noAutofit/>
            </a:bodyPr>
            <a:lstStyle/>
            <a:p>
              <a:pPr algn="ctr" defTabSz="604891">
                <a:defRPr/>
              </a:pPr>
              <a:endParaRPr lang="ko-KR" altLang="en-US" sz="900">
                <a:solidFill>
                  <a:prstClr val="black"/>
                </a:solidFill>
                <a:latin typeface="+mn-ea"/>
              </a:endParaRPr>
            </a:p>
          </p:txBody>
        </p:sp>
        <p:sp>
          <p:nvSpPr>
            <p:cNvPr id="25" name="타원 24">
              <a:extLst>
                <a:ext uri="{FF2B5EF4-FFF2-40B4-BE49-F238E27FC236}">
                  <a16:creationId xmlns:a16="http://schemas.microsoft.com/office/drawing/2014/main" id="{F46A84D1-242C-4930-BD3A-79291A9A4B3B}"/>
                </a:ext>
              </a:extLst>
            </p:cNvPr>
            <p:cNvSpPr/>
            <p:nvPr/>
          </p:nvSpPr>
          <p:spPr>
            <a:xfrm>
              <a:off x="3495923" y="2618997"/>
              <a:ext cx="71441" cy="71441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>
              <a:noAutofit/>
            </a:bodyPr>
            <a:lstStyle/>
            <a:p>
              <a:pPr algn="ctr" defTabSz="604891">
                <a:defRPr/>
              </a:pPr>
              <a:endParaRPr lang="ko-KR" altLang="en-US" sz="900">
                <a:solidFill>
                  <a:prstClr val="black"/>
                </a:solidFill>
                <a:latin typeface="+mn-ea"/>
              </a:endParaRPr>
            </a:p>
          </p:txBody>
        </p:sp>
        <p:sp>
          <p:nvSpPr>
            <p:cNvPr id="26" name="타원 25">
              <a:extLst>
                <a:ext uri="{FF2B5EF4-FFF2-40B4-BE49-F238E27FC236}">
                  <a16:creationId xmlns:a16="http://schemas.microsoft.com/office/drawing/2014/main" id="{F46A84D1-242C-4930-BD3A-79291A9A4B3B}"/>
                </a:ext>
              </a:extLst>
            </p:cNvPr>
            <p:cNvSpPr/>
            <p:nvPr/>
          </p:nvSpPr>
          <p:spPr>
            <a:xfrm>
              <a:off x="878666" y="2618997"/>
              <a:ext cx="71441" cy="714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>
              <a:noAutofit/>
            </a:bodyPr>
            <a:lstStyle/>
            <a:p>
              <a:pPr algn="ctr" defTabSz="604891">
                <a:defRPr/>
              </a:pPr>
              <a:endParaRPr lang="ko-KR" altLang="en-US" sz="900">
                <a:solidFill>
                  <a:prstClr val="black"/>
                </a:solidFill>
                <a:latin typeface="+mn-ea"/>
              </a:endParaRPr>
            </a:p>
          </p:txBody>
        </p:sp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F46A84D1-242C-4930-BD3A-79291A9A4B3B}"/>
                </a:ext>
              </a:extLst>
            </p:cNvPr>
            <p:cNvSpPr/>
            <p:nvPr/>
          </p:nvSpPr>
          <p:spPr>
            <a:xfrm>
              <a:off x="496680" y="2618997"/>
              <a:ext cx="71441" cy="71441"/>
            </a:xfrm>
            <a:prstGeom prst="ellipse">
              <a:avLst/>
            </a:prstGeom>
            <a:solidFill>
              <a:srgbClr val="00B050"/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>
              <a:noAutofit/>
            </a:bodyPr>
            <a:lstStyle/>
            <a:p>
              <a:pPr algn="ctr" defTabSz="604891">
                <a:defRPr/>
              </a:pPr>
              <a:endParaRPr lang="ko-KR" altLang="en-US" sz="900">
                <a:solidFill>
                  <a:prstClr val="black"/>
                </a:solidFill>
                <a:latin typeface="+mn-ea"/>
              </a:endParaRPr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F46A84D1-242C-4930-BD3A-79291A9A4B3B}"/>
                </a:ext>
              </a:extLst>
            </p:cNvPr>
            <p:cNvSpPr/>
            <p:nvPr/>
          </p:nvSpPr>
          <p:spPr>
            <a:xfrm>
              <a:off x="1524924" y="2618997"/>
              <a:ext cx="71441" cy="71441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>
              <a:noAutofit/>
            </a:bodyPr>
            <a:lstStyle/>
            <a:p>
              <a:pPr algn="ctr" defTabSz="604891">
                <a:defRPr/>
              </a:pPr>
              <a:endParaRPr lang="ko-KR" altLang="en-US" sz="900">
                <a:solidFill>
                  <a:prstClr val="black"/>
                </a:solidFill>
                <a:latin typeface="+mn-ea"/>
              </a:endParaRPr>
            </a:p>
          </p:txBody>
        </p:sp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F46A84D1-242C-4930-BD3A-79291A9A4B3B}"/>
                </a:ext>
              </a:extLst>
            </p:cNvPr>
            <p:cNvSpPr/>
            <p:nvPr/>
          </p:nvSpPr>
          <p:spPr>
            <a:xfrm>
              <a:off x="1806725" y="2618997"/>
              <a:ext cx="71441" cy="71441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>
              <a:noAutofit/>
            </a:bodyPr>
            <a:lstStyle/>
            <a:p>
              <a:pPr algn="ctr" defTabSz="604891">
                <a:defRPr/>
              </a:pPr>
              <a:endParaRPr lang="ko-KR" altLang="en-US" sz="900">
                <a:solidFill>
                  <a:prstClr val="black"/>
                </a:solidFill>
                <a:latin typeface="+mn-ea"/>
              </a:endParaRPr>
            </a:p>
          </p:txBody>
        </p:sp>
        <p:sp>
          <p:nvSpPr>
            <p:cNvPr id="30" name="직사각형 29"/>
            <p:cNvSpPr/>
            <p:nvPr/>
          </p:nvSpPr>
          <p:spPr>
            <a:xfrm>
              <a:off x="1998643" y="2312249"/>
              <a:ext cx="1113715" cy="1661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lvl="0" algn="ctr">
                <a:lnSpc>
                  <a:spcPct val="120000"/>
                </a:lnSpc>
                <a:buClr>
                  <a:srgbClr val="0070C0"/>
                </a:buClr>
                <a:defRPr/>
              </a:pPr>
              <a:r>
                <a:rPr lang="ko-KR" altLang="en-US" sz="900" dirty="0">
                  <a:ln w="9525">
                    <a:solidFill>
                      <a:prstClr val="white">
                        <a:lumMod val="50000"/>
                        <a:alpha val="0"/>
                      </a:prstClr>
                    </a:solidFill>
                  </a:ln>
                  <a:solidFill>
                    <a:prstClr val="black"/>
                  </a:solidFill>
                  <a:latin typeface="+mj-ea"/>
                  <a:ea typeface="+mj-ea"/>
                </a:rPr>
                <a:t>객체 데이터 발생 시점</a:t>
              </a:r>
            </a:p>
          </p:txBody>
        </p:sp>
        <p:cxnSp>
          <p:nvCxnSpPr>
            <p:cNvPr id="31" name="구부러진 연결선 30"/>
            <p:cNvCxnSpPr>
              <a:stCxn id="30" idx="1"/>
              <a:endCxn id="27" idx="1"/>
            </p:cNvCxnSpPr>
            <p:nvPr/>
          </p:nvCxnSpPr>
          <p:spPr>
            <a:xfrm rot="10800000" flipV="1">
              <a:off x="507143" y="2395349"/>
              <a:ext cx="1491501" cy="234110"/>
            </a:xfrm>
            <a:prstGeom prst="curvedConnector2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구부러진 연결선 31"/>
            <p:cNvCxnSpPr>
              <a:stCxn id="30" idx="1"/>
              <a:endCxn id="26" idx="7"/>
            </p:cNvCxnSpPr>
            <p:nvPr/>
          </p:nvCxnSpPr>
          <p:spPr>
            <a:xfrm rot="10800000" flipV="1">
              <a:off x="939645" y="2395349"/>
              <a:ext cx="1058998" cy="234110"/>
            </a:xfrm>
            <a:prstGeom prst="curvedConnector2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구부러진 연결선 32"/>
            <p:cNvCxnSpPr>
              <a:stCxn id="30" idx="1"/>
              <a:endCxn id="28" idx="7"/>
            </p:cNvCxnSpPr>
            <p:nvPr/>
          </p:nvCxnSpPr>
          <p:spPr>
            <a:xfrm rot="10800000" flipV="1">
              <a:off x="1585903" y="2395349"/>
              <a:ext cx="412740" cy="234110"/>
            </a:xfrm>
            <a:prstGeom prst="curvedConnector2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구부러진 연결선 33"/>
            <p:cNvCxnSpPr>
              <a:stCxn id="30" idx="1"/>
              <a:endCxn id="29" idx="0"/>
            </p:cNvCxnSpPr>
            <p:nvPr/>
          </p:nvCxnSpPr>
          <p:spPr>
            <a:xfrm rot="10800000" flipV="1">
              <a:off x="1842447" y="2395349"/>
              <a:ext cx="156197" cy="223648"/>
            </a:xfrm>
            <a:prstGeom prst="curvedConnector2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그룹 34"/>
          <p:cNvGrpSpPr/>
          <p:nvPr/>
        </p:nvGrpSpPr>
        <p:grpSpPr>
          <a:xfrm>
            <a:off x="5161970" y="2226925"/>
            <a:ext cx="4382513" cy="1413780"/>
            <a:chOff x="5526088" y="3713923"/>
            <a:chExt cx="4968877" cy="1602938"/>
          </a:xfrm>
        </p:grpSpPr>
        <p:sp>
          <p:nvSpPr>
            <p:cNvPr id="36" name="직사각형 35"/>
            <p:cNvSpPr/>
            <p:nvPr/>
          </p:nvSpPr>
          <p:spPr>
            <a:xfrm>
              <a:off x="7148148" y="5107487"/>
              <a:ext cx="3043946" cy="209374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lvl="0" algn="r">
                <a:lnSpc>
                  <a:spcPct val="120000"/>
                </a:lnSpc>
                <a:buClr>
                  <a:srgbClr val="0070C0"/>
                </a:buClr>
                <a:defRPr/>
              </a:pPr>
              <a:r>
                <a:rPr lang="ko-KR" altLang="en-US" sz="1000" dirty="0">
                  <a:ln w="9525">
                    <a:solidFill>
                      <a:prstClr val="white">
                        <a:lumMod val="50000"/>
                        <a:alpha val="0"/>
                      </a:prstClr>
                    </a:solidFill>
                  </a:ln>
                  <a:solidFill>
                    <a:prstClr val="black"/>
                  </a:solidFill>
                  <a:latin typeface="+mj-ea"/>
                  <a:ea typeface="+mj-ea"/>
                </a:rPr>
                <a:t>데이터 시간 </a:t>
              </a:r>
              <a:r>
                <a:rPr lang="ko-KR" altLang="en-US" sz="1000" dirty="0" err="1">
                  <a:ln w="9525">
                    <a:solidFill>
                      <a:prstClr val="white">
                        <a:lumMod val="50000"/>
                        <a:alpha val="0"/>
                      </a:prstClr>
                    </a:solidFill>
                  </a:ln>
                  <a:solidFill>
                    <a:prstClr val="black"/>
                  </a:solidFill>
                  <a:latin typeface="+mj-ea"/>
                  <a:ea typeface="+mj-ea"/>
                </a:rPr>
                <a:t>차리에</a:t>
              </a:r>
              <a:r>
                <a:rPr lang="ko-KR" altLang="en-US" sz="1000" dirty="0">
                  <a:ln w="9525">
                    <a:solidFill>
                      <a:prstClr val="white">
                        <a:lumMod val="50000"/>
                        <a:alpha val="0"/>
                      </a:prstClr>
                    </a:solidFill>
                  </a:ln>
                  <a:solidFill>
                    <a:prstClr val="black"/>
                  </a:solidFill>
                  <a:latin typeface="+mj-ea"/>
                  <a:ea typeface="+mj-ea"/>
                </a:rPr>
                <a:t> 의한 위치 오차 보정</a:t>
              </a:r>
            </a:p>
          </p:txBody>
        </p:sp>
        <p:grpSp>
          <p:nvGrpSpPr>
            <p:cNvPr id="37" name="그룹 36"/>
            <p:cNvGrpSpPr/>
            <p:nvPr/>
          </p:nvGrpSpPr>
          <p:grpSpPr>
            <a:xfrm>
              <a:off x="5526088" y="3713923"/>
              <a:ext cx="4968877" cy="1127709"/>
              <a:chOff x="5526088" y="4070298"/>
              <a:chExt cx="4968877" cy="1127709"/>
            </a:xfrm>
          </p:grpSpPr>
          <p:cxnSp>
            <p:nvCxnSpPr>
              <p:cNvPr id="38" name="직선 연결선 37">
                <a:extLst>
                  <a:ext uri="{FF2B5EF4-FFF2-40B4-BE49-F238E27FC236}">
                    <a16:creationId xmlns:a16="http://schemas.microsoft.com/office/drawing/2014/main" id="{344817A8-F5DD-4048-A1C8-0F249C3230C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526088" y="4562530"/>
                <a:ext cx="4968877" cy="0"/>
              </a:xfrm>
              <a:prstGeom prst="line">
                <a:avLst/>
              </a:prstGeom>
              <a:ln w="38100">
                <a:solidFill>
                  <a:schemeClr val="accent5">
                    <a:lumMod val="75000"/>
                  </a:schemeClr>
                </a:solidFill>
                <a:headEnd type="triangle" w="sm" len="sm"/>
                <a:tailEnd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타원 38">
                <a:extLst>
                  <a:ext uri="{FF2B5EF4-FFF2-40B4-BE49-F238E27FC236}">
                    <a16:creationId xmlns:a16="http://schemas.microsoft.com/office/drawing/2014/main" id="{F46A84D1-242C-4930-BD3A-79291A9A4B3B}"/>
                  </a:ext>
                </a:extLst>
              </p:cNvPr>
              <p:cNvSpPr/>
              <p:nvPr/>
            </p:nvSpPr>
            <p:spPr>
              <a:xfrm>
                <a:off x="6694132" y="4522030"/>
                <a:ext cx="81000" cy="8100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anchor="ctr">
                <a:noAutofit/>
              </a:bodyPr>
              <a:lstStyle/>
              <a:p>
                <a:pPr algn="ctr" defTabSz="604891">
                  <a:defRPr/>
                </a:pPr>
                <a:endParaRPr lang="ko-KR" altLang="en-US" sz="900">
                  <a:solidFill>
                    <a:prstClr val="black"/>
                  </a:solidFill>
                  <a:latin typeface="+mn-ea"/>
                </a:endParaRPr>
              </a:p>
            </p:txBody>
          </p:sp>
          <p:sp>
            <p:nvSpPr>
              <p:cNvPr id="40" name="타원 39">
                <a:extLst>
                  <a:ext uri="{FF2B5EF4-FFF2-40B4-BE49-F238E27FC236}">
                    <a16:creationId xmlns:a16="http://schemas.microsoft.com/office/drawing/2014/main" id="{F46A84D1-242C-4930-BD3A-79291A9A4B3B}"/>
                  </a:ext>
                </a:extLst>
              </p:cNvPr>
              <p:cNvSpPr/>
              <p:nvPr/>
            </p:nvSpPr>
            <p:spPr>
              <a:xfrm>
                <a:off x="9687915" y="4522030"/>
                <a:ext cx="81000" cy="8100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anchor="ctr">
                <a:noAutofit/>
              </a:bodyPr>
              <a:lstStyle/>
              <a:p>
                <a:pPr algn="ctr" defTabSz="604891">
                  <a:defRPr/>
                </a:pPr>
                <a:endParaRPr lang="ko-KR" altLang="en-US" sz="900">
                  <a:solidFill>
                    <a:prstClr val="black"/>
                  </a:solidFill>
                  <a:latin typeface="+mn-ea"/>
                </a:endParaRPr>
              </a:p>
            </p:txBody>
          </p:sp>
          <p:sp>
            <p:nvSpPr>
              <p:cNvPr id="41" name="타원 40">
                <a:extLst>
                  <a:ext uri="{FF2B5EF4-FFF2-40B4-BE49-F238E27FC236}">
                    <a16:creationId xmlns:a16="http://schemas.microsoft.com/office/drawing/2014/main" id="{F46A84D1-242C-4930-BD3A-79291A9A4B3B}"/>
                  </a:ext>
                </a:extLst>
              </p:cNvPr>
              <p:cNvSpPr/>
              <p:nvPr/>
            </p:nvSpPr>
            <p:spPr>
              <a:xfrm>
                <a:off x="7708213" y="4522030"/>
                <a:ext cx="81000" cy="8100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190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anchor="ctr">
                <a:noAutofit/>
              </a:bodyPr>
              <a:lstStyle/>
              <a:p>
                <a:pPr algn="ctr" defTabSz="604891">
                  <a:defRPr/>
                </a:pPr>
                <a:endParaRPr lang="ko-KR" altLang="en-US" sz="900">
                  <a:solidFill>
                    <a:prstClr val="black"/>
                  </a:solidFill>
                  <a:latin typeface="+mn-ea"/>
                </a:endParaRPr>
              </a:p>
            </p:txBody>
          </p:sp>
          <p:sp>
            <p:nvSpPr>
              <p:cNvPr id="42" name="타원 41">
                <a:extLst>
                  <a:ext uri="{FF2B5EF4-FFF2-40B4-BE49-F238E27FC236}">
                    <a16:creationId xmlns:a16="http://schemas.microsoft.com/office/drawing/2014/main" id="{F46A84D1-242C-4930-BD3A-79291A9A4B3B}"/>
                  </a:ext>
                </a:extLst>
              </p:cNvPr>
              <p:cNvSpPr/>
              <p:nvPr/>
            </p:nvSpPr>
            <p:spPr>
              <a:xfrm>
                <a:off x="7988974" y="4522030"/>
                <a:ext cx="81000" cy="81000"/>
              </a:xfrm>
              <a:prstGeom prst="ellipse">
                <a:avLst/>
              </a:prstGeom>
              <a:solidFill>
                <a:srgbClr val="00B050"/>
              </a:solidFill>
              <a:ln w="190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anchor="ctr">
                <a:noAutofit/>
              </a:bodyPr>
              <a:lstStyle/>
              <a:p>
                <a:pPr algn="ctr" defTabSz="604891">
                  <a:defRPr/>
                </a:pPr>
                <a:endParaRPr lang="ko-KR" altLang="en-US" sz="900">
                  <a:solidFill>
                    <a:prstClr val="black"/>
                  </a:solidFill>
                  <a:latin typeface="+mn-ea"/>
                </a:endParaRPr>
              </a:p>
            </p:txBody>
          </p:sp>
          <p:sp>
            <p:nvSpPr>
              <p:cNvPr id="43" name="타원 42">
                <a:extLst>
                  <a:ext uri="{FF2B5EF4-FFF2-40B4-BE49-F238E27FC236}">
                    <a16:creationId xmlns:a16="http://schemas.microsoft.com/office/drawing/2014/main" id="{F46A84D1-242C-4930-BD3A-79291A9A4B3B}"/>
                  </a:ext>
                </a:extLst>
              </p:cNvPr>
              <p:cNvSpPr/>
              <p:nvPr/>
            </p:nvSpPr>
            <p:spPr>
              <a:xfrm>
                <a:off x="8847529" y="4522030"/>
                <a:ext cx="81000" cy="81000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 w="190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anchor="ctr">
                <a:noAutofit/>
              </a:bodyPr>
              <a:lstStyle/>
              <a:p>
                <a:pPr algn="ctr" defTabSz="604891">
                  <a:defRPr/>
                </a:pPr>
                <a:endParaRPr lang="ko-KR" altLang="en-US" sz="900">
                  <a:solidFill>
                    <a:prstClr val="black"/>
                  </a:solidFill>
                  <a:latin typeface="+mn-ea"/>
                </a:endParaRPr>
              </a:p>
            </p:txBody>
          </p:sp>
          <p:sp>
            <p:nvSpPr>
              <p:cNvPr id="44" name="타원 43">
                <a:extLst>
                  <a:ext uri="{FF2B5EF4-FFF2-40B4-BE49-F238E27FC236}">
                    <a16:creationId xmlns:a16="http://schemas.microsoft.com/office/drawing/2014/main" id="{F46A84D1-242C-4930-BD3A-79291A9A4B3B}"/>
                  </a:ext>
                </a:extLst>
              </p:cNvPr>
              <p:cNvSpPr/>
              <p:nvPr/>
            </p:nvSpPr>
            <p:spPr>
              <a:xfrm>
                <a:off x="9148627" y="4522030"/>
                <a:ext cx="81000" cy="81000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anchor="ctr">
                <a:noAutofit/>
              </a:bodyPr>
              <a:lstStyle/>
              <a:p>
                <a:pPr algn="ctr" defTabSz="604891">
                  <a:defRPr/>
                </a:pPr>
                <a:endParaRPr lang="ko-KR" altLang="en-US" sz="900">
                  <a:solidFill>
                    <a:prstClr val="black"/>
                  </a:solidFill>
                  <a:latin typeface="+mn-ea"/>
                </a:endParaRPr>
              </a:p>
            </p:txBody>
          </p:sp>
          <p:cxnSp>
            <p:nvCxnSpPr>
              <p:cNvPr id="45" name="꺾인 연결선 44"/>
              <p:cNvCxnSpPr>
                <a:stCxn id="39" idx="0"/>
                <a:endCxn id="40" idx="0"/>
              </p:cNvCxnSpPr>
              <p:nvPr/>
            </p:nvCxnSpPr>
            <p:spPr>
              <a:xfrm rot="5400000" flipH="1" flipV="1">
                <a:off x="8231523" y="3025139"/>
                <a:ext cx="12700" cy="2993783"/>
              </a:xfrm>
              <a:prstGeom prst="bentConnector3">
                <a:avLst>
                  <a:gd name="adj1" fmla="val 2025000"/>
                </a:avLst>
              </a:prstGeom>
              <a:ln>
                <a:solidFill>
                  <a:schemeClr val="accent5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6" name="직사각형 45"/>
              <p:cNvSpPr/>
              <p:nvPr/>
            </p:nvSpPr>
            <p:spPr>
              <a:xfrm>
                <a:off x="6740982" y="4070298"/>
                <a:ext cx="2993783" cy="188436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pPr lvl="0" algn="ctr">
                  <a:lnSpc>
                    <a:spcPct val="120000"/>
                  </a:lnSpc>
                  <a:buClr>
                    <a:srgbClr val="0070C0"/>
                  </a:buClr>
                  <a:defRPr/>
                </a:pPr>
                <a:r>
                  <a:rPr lang="ko-KR" altLang="en-US" sz="900" dirty="0">
                    <a:ln w="9525">
                      <a:solidFill>
                        <a:prstClr val="white">
                          <a:lumMod val="50000"/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latin typeface="+mj-ea"/>
                    <a:ea typeface="+mj-ea"/>
                  </a:rPr>
                  <a:t>지도내 이동 장애물 위치 예측</a:t>
                </a:r>
              </a:p>
            </p:txBody>
          </p:sp>
          <p:sp>
            <p:nvSpPr>
              <p:cNvPr id="47" name="타원 46">
                <a:extLst>
                  <a:ext uri="{FF2B5EF4-FFF2-40B4-BE49-F238E27FC236}">
                    <a16:creationId xmlns:a16="http://schemas.microsoft.com/office/drawing/2014/main" id="{F46A84D1-242C-4930-BD3A-79291A9A4B3B}"/>
                  </a:ext>
                </a:extLst>
              </p:cNvPr>
              <p:cNvSpPr/>
              <p:nvPr/>
            </p:nvSpPr>
            <p:spPr>
              <a:xfrm>
                <a:off x="6181191" y="4532233"/>
                <a:ext cx="81000" cy="8100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190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anchor="ctr">
                <a:noAutofit/>
              </a:bodyPr>
              <a:lstStyle/>
              <a:p>
                <a:pPr algn="ctr" defTabSz="604891">
                  <a:defRPr/>
                </a:pPr>
                <a:endParaRPr lang="ko-KR" altLang="en-US" sz="900">
                  <a:solidFill>
                    <a:prstClr val="black"/>
                  </a:solidFill>
                  <a:latin typeface="+mn-ea"/>
                </a:endParaRPr>
              </a:p>
            </p:txBody>
          </p:sp>
          <p:sp>
            <p:nvSpPr>
              <p:cNvPr id="48" name="타원 47">
                <a:extLst>
                  <a:ext uri="{FF2B5EF4-FFF2-40B4-BE49-F238E27FC236}">
                    <a16:creationId xmlns:a16="http://schemas.microsoft.com/office/drawing/2014/main" id="{F46A84D1-242C-4930-BD3A-79291A9A4B3B}"/>
                  </a:ext>
                </a:extLst>
              </p:cNvPr>
              <p:cNvSpPr/>
              <p:nvPr/>
            </p:nvSpPr>
            <p:spPr>
              <a:xfrm>
                <a:off x="5748096" y="4532233"/>
                <a:ext cx="81000" cy="81000"/>
              </a:xfrm>
              <a:prstGeom prst="ellipse">
                <a:avLst/>
              </a:prstGeom>
              <a:solidFill>
                <a:srgbClr val="00B050"/>
              </a:solidFill>
              <a:ln w="190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anchor="ctr">
                <a:noAutofit/>
              </a:bodyPr>
              <a:lstStyle/>
              <a:p>
                <a:pPr algn="ctr" defTabSz="604891">
                  <a:defRPr/>
                </a:pPr>
                <a:endParaRPr lang="ko-KR" altLang="en-US" sz="900">
                  <a:solidFill>
                    <a:prstClr val="black"/>
                  </a:solidFill>
                  <a:latin typeface="+mn-ea"/>
                </a:endParaRPr>
              </a:p>
            </p:txBody>
          </p:sp>
          <p:sp>
            <p:nvSpPr>
              <p:cNvPr id="49" name="타원 48">
                <a:extLst>
                  <a:ext uri="{FF2B5EF4-FFF2-40B4-BE49-F238E27FC236}">
                    <a16:creationId xmlns:a16="http://schemas.microsoft.com/office/drawing/2014/main" id="{F46A84D1-242C-4930-BD3A-79291A9A4B3B}"/>
                  </a:ext>
                </a:extLst>
              </p:cNvPr>
              <p:cNvSpPr/>
              <p:nvPr/>
            </p:nvSpPr>
            <p:spPr>
              <a:xfrm>
                <a:off x="6913916" y="4532233"/>
                <a:ext cx="81000" cy="81000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 w="190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anchor="ctr">
                <a:noAutofit/>
              </a:bodyPr>
              <a:lstStyle/>
              <a:p>
                <a:pPr algn="ctr" defTabSz="604891">
                  <a:defRPr/>
                </a:pPr>
                <a:endParaRPr lang="ko-KR" altLang="en-US" sz="900">
                  <a:solidFill>
                    <a:prstClr val="black"/>
                  </a:solidFill>
                  <a:latin typeface="+mn-ea"/>
                </a:endParaRPr>
              </a:p>
            </p:txBody>
          </p:sp>
          <p:sp>
            <p:nvSpPr>
              <p:cNvPr id="50" name="타원 49">
                <a:extLst>
                  <a:ext uri="{FF2B5EF4-FFF2-40B4-BE49-F238E27FC236}">
                    <a16:creationId xmlns:a16="http://schemas.microsoft.com/office/drawing/2014/main" id="{F46A84D1-242C-4930-BD3A-79291A9A4B3B}"/>
                  </a:ext>
                </a:extLst>
              </p:cNvPr>
              <p:cNvSpPr/>
              <p:nvPr/>
            </p:nvSpPr>
            <p:spPr>
              <a:xfrm>
                <a:off x="7233420" y="4532233"/>
                <a:ext cx="81000" cy="81000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anchor="ctr">
                <a:noAutofit/>
              </a:bodyPr>
              <a:lstStyle/>
              <a:p>
                <a:pPr algn="ctr" defTabSz="604891">
                  <a:defRPr/>
                </a:pPr>
                <a:endParaRPr lang="ko-KR" altLang="en-US" sz="900">
                  <a:solidFill>
                    <a:prstClr val="black"/>
                  </a:solidFill>
                  <a:latin typeface="+mn-ea"/>
                </a:endParaRPr>
              </a:p>
            </p:txBody>
          </p:sp>
          <p:cxnSp>
            <p:nvCxnSpPr>
              <p:cNvPr id="51" name="꺾인 연결선 50"/>
              <p:cNvCxnSpPr>
                <a:stCxn id="50" idx="4"/>
                <a:endCxn id="40" idx="3"/>
              </p:cNvCxnSpPr>
              <p:nvPr/>
            </p:nvCxnSpPr>
            <p:spPr>
              <a:xfrm rot="5400000" flipH="1" flipV="1">
                <a:off x="8475815" y="3389272"/>
                <a:ext cx="22065" cy="2425857"/>
              </a:xfrm>
              <a:prstGeom prst="bentConnector3">
                <a:avLst>
                  <a:gd name="adj1" fmla="val -1036030"/>
                </a:avLst>
              </a:prstGeom>
              <a:ln>
                <a:solidFill>
                  <a:schemeClr val="accent5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꺾인 연결선 51"/>
              <p:cNvCxnSpPr>
                <a:stCxn id="49" idx="4"/>
                <a:endCxn id="40" idx="4"/>
              </p:cNvCxnSpPr>
              <p:nvPr/>
            </p:nvCxnSpPr>
            <p:spPr>
              <a:xfrm rot="5400000" flipH="1" flipV="1">
                <a:off x="8336313" y="3221132"/>
                <a:ext cx="10203" cy="2773999"/>
              </a:xfrm>
              <a:prstGeom prst="bentConnector3">
                <a:avLst>
                  <a:gd name="adj1" fmla="val -3983142"/>
                </a:avLst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꺾인 연결선 52"/>
              <p:cNvCxnSpPr>
                <a:stCxn id="47" idx="4"/>
                <a:endCxn id="40" idx="5"/>
              </p:cNvCxnSpPr>
              <p:nvPr/>
            </p:nvCxnSpPr>
            <p:spPr>
              <a:xfrm rot="5400000" flipH="1" flipV="1">
                <a:off x="7978339" y="2834520"/>
                <a:ext cx="22065" cy="3535362"/>
              </a:xfrm>
              <a:prstGeom prst="bentConnector3">
                <a:avLst>
                  <a:gd name="adj1" fmla="val -2676420"/>
                </a:avLst>
              </a:prstGeom>
              <a:ln>
                <a:solidFill>
                  <a:schemeClr val="accent4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꺾인 연결선 53"/>
              <p:cNvCxnSpPr>
                <a:stCxn id="48" idx="4"/>
                <a:endCxn id="40" idx="5"/>
              </p:cNvCxnSpPr>
              <p:nvPr/>
            </p:nvCxnSpPr>
            <p:spPr>
              <a:xfrm rot="5400000" flipH="1" flipV="1">
                <a:off x="7761791" y="2617972"/>
                <a:ext cx="22065" cy="3968457"/>
              </a:xfrm>
              <a:prstGeom prst="bentConnector3">
                <a:avLst>
                  <a:gd name="adj1" fmla="val -3482212"/>
                </a:avLst>
              </a:prstGeom>
              <a:ln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5" name="직사각형 54"/>
              <p:cNvSpPr/>
              <p:nvPr/>
            </p:nvSpPr>
            <p:spPr>
              <a:xfrm>
                <a:off x="6651000" y="5009571"/>
                <a:ext cx="2993783" cy="188436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pPr lvl="0" algn="ctr">
                  <a:lnSpc>
                    <a:spcPct val="120000"/>
                  </a:lnSpc>
                  <a:buClr>
                    <a:srgbClr val="0070C0"/>
                  </a:buClr>
                  <a:defRPr/>
                </a:pPr>
                <a:r>
                  <a:rPr lang="ko-KR" altLang="en-US" sz="900" dirty="0">
                    <a:ln w="9525">
                      <a:solidFill>
                        <a:prstClr val="white">
                          <a:lumMod val="50000"/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latin typeface="+mj-ea"/>
                    <a:ea typeface="+mj-ea"/>
                  </a:rPr>
                  <a:t>객체 데이터 이동 장애물 위치 예측</a:t>
                </a:r>
              </a:p>
            </p:txBody>
          </p:sp>
        </p:grpSp>
      </p:grpSp>
      <p:sp>
        <p:nvSpPr>
          <p:cNvPr id="57" name="오른쪽 화살표 56"/>
          <p:cNvSpPr/>
          <p:nvPr/>
        </p:nvSpPr>
        <p:spPr>
          <a:xfrm>
            <a:off x="4689243" y="2511941"/>
            <a:ext cx="418950" cy="267912"/>
          </a:xfrm>
          <a:prstGeom prst="rightArrow">
            <a:avLst/>
          </a:prstGeom>
          <a:gradFill flip="none" rotWithShape="1">
            <a:gsLst>
              <a:gs pos="0">
                <a:schemeClr val="accent4">
                  <a:lumMod val="5000"/>
                  <a:lumOff val="95000"/>
                </a:schemeClr>
              </a:gs>
              <a:gs pos="74000">
                <a:schemeClr val="accent4">
                  <a:lumMod val="45000"/>
                  <a:lumOff val="55000"/>
                </a:schemeClr>
              </a:gs>
              <a:gs pos="83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5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graphicFrame>
        <p:nvGraphicFramePr>
          <p:cNvPr id="79" name="표 78"/>
          <p:cNvGraphicFramePr>
            <a:graphicFrameLocks noGrp="1"/>
          </p:cNvGraphicFramePr>
          <p:nvPr/>
        </p:nvGraphicFramePr>
        <p:xfrm>
          <a:off x="5010355" y="5171324"/>
          <a:ext cx="4514644" cy="14579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05693">
                  <a:extLst>
                    <a:ext uri="{9D8B030D-6E8A-4147-A177-3AD203B41FA5}">
                      <a16:colId xmlns:a16="http://schemas.microsoft.com/office/drawing/2014/main" val="4068469479"/>
                    </a:ext>
                  </a:extLst>
                </a:gridCol>
                <a:gridCol w="1344136">
                  <a:extLst>
                    <a:ext uri="{9D8B030D-6E8A-4147-A177-3AD203B41FA5}">
                      <a16:colId xmlns:a16="http://schemas.microsoft.com/office/drawing/2014/main" val="72431706"/>
                    </a:ext>
                  </a:extLst>
                </a:gridCol>
                <a:gridCol w="1864815">
                  <a:extLst>
                    <a:ext uri="{9D8B030D-6E8A-4147-A177-3AD203B41FA5}">
                      <a16:colId xmlns:a16="http://schemas.microsoft.com/office/drawing/2014/main" val="1897723735"/>
                    </a:ext>
                  </a:extLst>
                </a:gridCol>
              </a:tblGrid>
              <a:tr h="29159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데이터</a:t>
                      </a:r>
                    </a:p>
                  </a:txBody>
                  <a:tcPr marL="80649" marR="80649" marT="40325" marB="403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좌표계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80649" marR="80649" marT="40325" marB="40325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내용</a:t>
                      </a:r>
                    </a:p>
                  </a:txBody>
                  <a:tcPr marL="80649" marR="80649" marT="40325" marB="40325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8272158"/>
                  </a:ext>
                </a:extLst>
              </a:tr>
              <a:tr h="29159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객체 데이터</a:t>
                      </a:r>
                    </a:p>
                  </a:txBody>
                  <a:tcPr marL="80649" marR="80649" marT="40325" marB="403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상대 </a:t>
                      </a:r>
                      <a:r>
                        <a:rPr lang="ko-KR" altLang="en-US" sz="1000" dirty="0" err="1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좌표계</a:t>
                      </a:r>
                      <a:endParaRPr lang="ko-KR" altLang="en-US" sz="10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80649" marR="80649" marT="40325" marB="40325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차량별</a:t>
                      </a:r>
                      <a:r>
                        <a:rPr lang="ko-KR" altLang="en-US" sz="10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원점</a:t>
                      </a:r>
                      <a:r>
                        <a:rPr lang="en-US" altLang="ko-KR" sz="10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X(</a:t>
                      </a:r>
                      <a:r>
                        <a:rPr lang="ko-KR" altLang="en-US" sz="10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종</a:t>
                      </a:r>
                      <a:r>
                        <a:rPr lang="en-US" altLang="ko-KR" sz="10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), Y(</a:t>
                      </a:r>
                      <a:r>
                        <a:rPr lang="ko-KR" altLang="en-US" sz="10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횡</a:t>
                      </a:r>
                      <a:r>
                        <a:rPr lang="en-US" altLang="ko-KR" sz="10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10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80649" marR="80649" marT="40325" marB="40325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273523"/>
                  </a:ext>
                </a:extLst>
              </a:tr>
              <a:tr h="291591">
                <a:tc>
                  <a:txBody>
                    <a:bodyPr/>
                    <a:lstStyle/>
                    <a:p>
                      <a:pPr marL="0" marR="0" indent="0" algn="ctr" defTabSz="103674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err="1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측위</a:t>
                      </a:r>
                      <a:r>
                        <a:rPr lang="ko-KR" altLang="en-US" sz="10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데이터</a:t>
                      </a:r>
                    </a:p>
                  </a:txBody>
                  <a:tcPr marL="80649" marR="80649" marT="40325" marB="403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위경도 </a:t>
                      </a:r>
                      <a:r>
                        <a:rPr lang="ko-KR" altLang="en-US" sz="1000" dirty="0" err="1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좌표계</a:t>
                      </a:r>
                      <a:endParaRPr lang="ko-KR" altLang="en-US" sz="10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80649" marR="80649" marT="40325" marB="40325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GNSS </a:t>
                      </a:r>
                      <a:r>
                        <a:rPr lang="ko-KR" altLang="en-US" sz="10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위경도 좌표</a:t>
                      </a:r>
                    </a:p>
                  </a:txBody>
                  <a:tcPr marL="80649" marR="80649" marT="40325" marB="40325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918334"/>
                  </a:ext>
                </a:extLst>
              </a:tr>
              <a:tr h="29159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정밀지도</a:t>
                      </a:r>
                      <a:r>
                        <a:rPr lang="en-US" altLang="ko-KR" sz="10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(L3)</a:t>
                      </a:r>
                      <a:endParaRPr lang="ko-KR" altLang="en-US" sz="10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80649" marR="80649" marT="40325" marB="403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X-Y</a:t>
                      </a:r>
                      <a:r>
                        <a:rPr lang="en-US" altLang="ko-KR" sz="1000" baseline="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baseline="0" dirty="0" err="1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좌표계</a:t>
                      </a:r>
                      <a:endParaRPr lang="ko-KR" altLang="en-US" sz="10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80649" marR="80649" marT="40325" marB="40325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원점 정의</a:t>
                      </a:r>
                      <a:r>
                        <a:rPr lang="en-US" altLang="ko-KR" sz="10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X(</a:t>
                      </a:r>
                      <a:r>
                        <a:rPr lang="ko-KR" altLang="en-US" sz="10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정동</a:t>
                      </a:r>
                      <a:r>
                        <a:rPr lang="en-US" altLang="ko-KR" sz="10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), Y(</a:t>
                      </a:r>
                      <a:r>
                        <a:rPr lang="ko-KR" altLang="en-US" sz="10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정북</a:t>
                      </a:r>
                      <a:r>
                        <a:rPr lang="en-US" altLang="ko-KR" sz="10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10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80649" marR="80649" marT="40325" marB="40325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7609690"/>
                  </a:ext>
                </a:extLst>
              </a:tr>
              <a:tr h="29159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배포용 지도</a:t>
                      </a:r>
                    </a:p>
                  </a:txBody>
                  <a:tcPr marL="80649" marR="80649" marT="40325" marB="403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(TBD)</a:t>
                      </a:r>
                      <a:endParaRPr lang="ko-KR" altLang="en-US" sz="10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80649" marR="80649" marT="40325" marB="40325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(TBD)</a:t>
                      </a:r>
                      <a:endParaRPr lang="ko-KR" altLang="en-US" sz="10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80649" marR="80649" marT="40325" marB="40325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26946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21790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74845" y="213862"/>
            <a:ext cx="9150153" cy="384721"/>
          </a:xfrm>
        </p:spPr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알고리즘 이슈 사항 </a:t>
            </a:r>
            <a:r>
              <a:rPr lang="en-US" altLang="ko-KR" dirty="0"/>
              <a:t>– </a:t>
            </a:r>
            <a:r>
              <a:rPr lang="ko-KR" altLang="en-US" dirty="0"/>
              <a:t>이동 장애물 인지 데이터 융합 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F55F954-5E86-475A-837F-2B8CED6C7DF1}" type="slidenum">
              <a:rPr lang="ko-KR" altLang="en-US" smtClean="0"/>
              <a:pPr/>
              <a:t>10</a:t>
            </a:fld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381000" y="887043"/>
            <a:ext cx="9144000" cy="2220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5256" indent="-95256"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buFont typeface="Wingdings" panose="05000000000000000000" pitchFamily="2" charset="2"/>
              <a:buChar char="§"/>
              <a:defRPr/>
            </a:pPr>
            <a:r>
              <a:rPr lang="ko-KR" altLang="en-US" sz="1300" b="1" kern="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+mj-ea"/>
                <a:ea typeface="+mj-ea"/>
                <a:cs typeface="Arial" panose="020B0604020202020204" pitchFamily="34" charset="0"/>
              </a:rPr>
              <a:t> 센서 및 인지 알고리즘의 오차에 의한 영향</a:t>
            </a:r>
            <a:endParaRPr lang="en-US" altLang="ko-KR" sz="1300" b="1" kern="0" dirty="0">
              <a:ln>
                <a:solidFill>
                  <a:schemeClr val="tx1">
                    <a:alpha val="0"/>
                  </a:schemeClr>
                </a:solidFill>
              </a:ln>
              <a:latin typeface="+mj-ea"/>
              <a:ea typeface="+mj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인지 및 </a:t>
            </a:r>
            <a:r>
              <a:rPr lang="ko-KR" altLang="en-US" sz="1300" kern="0" dirty="0" err="1">
                <a:ln>
                  <a:solidFill>
                    <a:schemeClr val="tx1">
                      <a:alpha val="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측위</a:t>
            </a:r>
            <a:r>
              <a:rPr lang="ko-KR" altLang="en-US" sz="1300" kern="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오차에 의한 인지</a:t>
            </a:r>
            <a:r>
              <a:rPr lang="en-US" altLang="ko-KR" sz="1300" kern="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</a:t>
            </a:r>
            <a:r>
              <a:rPr lang="ko-KR" altLang="en-US" sz="1300" kern="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알고리즘 성능 저하 발생 </a:t>
            </a:r>
            <a:endParaRPr lang="en-US" altLang="ko-KR" sz="1300" kern="0" dirty="0">
              <a:ln>
                <a:solidFill>
                  <a:schemeClr val="tx1">
                    <a:alpha val="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 err="1">
                <a:ln>
                  <a:solidFill>
                    <a:schemeClr val="tx1">
                      <a:alpha val="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측위</a:t>
            </a:r>
            <a:r>
              <a:rPr lang="ko-KR" altLang="en-US" sz="1300" kern="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오차</a:t>
            </a:r>
            <a:r>
              <a:rPr lang="en-US" altLang="ko-KR" sz="1300" kern="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, </a:t>
            </a:r>
            <a:r>
              <a:rPr lang="ko-KR" altLang="en-US" sz="1300" kern="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장애물 인지 위치 오차 </a:t>
            </a:r>
            <a:r>
              <a:rPr lang="en-US" altLang="ko-KR" sz="1300" kern="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: </a:t>
            </a:r>
            <a:r>
              <a:rPr lang="ko-KR" altLang="en-US" sz="1300" kern="0" dirty="0" err="1">
                <a:ln>
                  <a:solidFill>
                    <a:schemeClr val="tx1">
                      <a:alpha val="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산술합</a:t>
            </a:r>
            <a:endParaRPr lang="en-US" altLang="ko-KR" sz="1300" kern="0" dirty="0">
              <a:ln>
                <a:solidFill>
                  <a:schemeClr val="tx1">
                    <a:alpha val="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속도 오차 </a:t>
            </a:r>
            <a:r>
              <a:rPr lang="en-US" altLang="ko-KR" sz="1300" kern="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: </a:t>
            </a:r>
            <a:r>
              <a:rPr lang="ko-KR" altLang="en-US" sz="1300" kern="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시간에 비례하여 오차 확대 </a:t>
            </a:r>
            <a:endParaRPr lang="en-US" altLang="ko-KR" sz="1300" kern="0" dirty="0">
              <a:ln>
                <a:solidFill>
                  <a:schemeClr val="tx1">
                    <a:alpha val="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각도 </a:t>
            </a:r>
            <a:r>
              <a:rPr lang="en-US" altLang="ko-KR" sz="1300" kern="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: </a:t>
            </a:r>
            <a:r>
              <a:rPr lang="ko-KR" altLang="en-US" sz="1300" kern="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거리에 비례하여 오차 확대 </a:t>
            </a:r>
            <a:endParaRPr lang="en-US" altLang="ko-KR" sz="1300" kern="0" dirty="0">
              <a:ln>
                <a:solidFill>
                  <a:schemeClr val="tx1">
                    <a:alpha val="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각속도 </a:t>
            </a:r>
            <a:r>
              <a:rPr lang="en-US" altLang="ko-KR" sz="1300" kern="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: </a:t>
            </a:r>
            <a:r>
              <a:rPr lang="ko-KR" altLang="en-US" sz="1300" kern="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시간</a:t>
            </a:r>
            <a:r>
              <a:rPr lang="en-US" altLang="ko-KR" sz="1300" kern="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-</a:t>
            </a:r>
            <a:r>
              <a:rPr lang="ko-KR" altLang="en-US" sz="1300" kern="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거리 비례한 오차 확대</a:t>
            </a:r>
            <a:endParaRPr lang="en-US" altLang="ko-KR" sz="1300" kern="0" dirty="0">
              <a:ln>
                <a:solidFill>
                  <a:schemeClr val="tx1">
                    <a:alpha val="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→ </a:t>
            </a:r>
            <a:r>
              <a:rPr lang="ko-KR" altLang="en-US" sz="1300" kern="0" dirty="0" err="1">
                <a:ln>
                  <a:solidFill>
                    <a:schemeClr val="tx1">
                      <a:alpha val="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오차별</a:t>
            </a:r>
            <a:r>
              <a:rPr lang="ko-KR" altLang="en-US" sz="1300" kern="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특성을 </a:t>
            </a:r>
            <a:r>
              <a:rPr lang="en-US" altLang="ko-KR" sz="1300" kern="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data association </a:t>
            </a:r>
            <a:r>
              <a:rPr lang="ko-KR" altLang="en-US" sz="1300" kern="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및 좌표 추정에 반영</a:t>
            </a:r>
            <a:endParaRPr lang="en-US" altLang="ko-KR" sz="1300" kern="0" dirty="0">
              <a:ln>
                <a:solidFill>
                  <a:schemeClr val="tx1">
                    <a:alpha val="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</p:txBody>
      </p:sp>
      <p:grpSp>
        <p:nvGrpSpPr>
          <p:cNvPr id="59" name="그룹 58"/>
          <p:cNvGrpSpPr/>
          <p:nvPr/>
        </p:nvGrpSpPr>
        <p:grpSpPr>
          <a:xfrm>
            <a:off x="7623516" y="1441083"/>
            <a:ext cx="1901483" cy="1959683"/>
            <a:chOff x="7451591" y="1758421"/>
            <a:chExt cx="1901483" cy="1959683"/>
          </a:xfrm>
        </p:grpSpPr>
        <p:sp>
          <p:nvSpPr>
            <p:cNvPr id="60" name="타원 59"/>
            <p:cNvSpPr/>
            <p:nvPr/>
          </p:nvSpPr>
          <p:spPr>
            <a:xfrm>
              <a:off x="7494419" y="1860590"/>
              <a:ext cx="1077630" cy="1077630"/>
            </a:xfrm>
            <a:prstGeom prst="ellipse">
              <a:avLst/>
            </a:prstGeom>
            <a:noFill/>
            <a:ln>
              <a:solidFill>
                <a:schemeClr val="bg1"/>
              </a:solidFill>
              <a:prstDash val="dash"/>
            </a:ln>
            <a:effectLst>
              <a:glow rad="190500">
                <a:schemeClr val="accent2">
                  <a:satMod val="175000"/>
                  <a:alpha val="2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grpSp>
          <p:nvGrpSpPr>
            <p:cNvPr id="61" name="그룹 60"/>
            <p:cNvGrpSpPr/>
            <p:nvPr/>
          </p:nvGrpSpPr>
          <p:grpSpPr>
            <a:xfrm rot="445265">
              <a:off x="7478083" y="2209665"/>
              <a:ext cx="1483869" cy="1508439"/>
              <a:chOff x="8738876" y="2532382"/>
              <a:chExt cx="1259106" cy="1279954"/>
            </a:xfrm>
          </p:grpSpPr>
          <p:grpSp>
            <p:nvGrpSpPr>
              <p:cNvPr id="64" name="그룹 63"/>
              <p:cNvGrpSpPr>
                <a:grpSpLocks noChangeAspect="1"/>
              </p:cNvGrpSpPr>
              <p:nvPr/>
            </p:nvGrpSpPr>
            <p:grpSpPr>
              <a:xfrm rot="944872">
                <a:off x="8738876" y="2532382"/>
                <a:ext cx="1259106" cy="799333"/>
                <a:chOff x="8676326" y="1920114"/>
                <a:chExt cx="1450124" cy="920600"/>
              </a:xfrm>
            </p:grpSpPr>
            <p:cxnSp>
              <p:nvCxnSpPr>
                <p:cNvPr id="66" name="직선 화살표 연결선 65"/>
                <p:cNvCxnSpPr/>
                <p:nvPr/>
              </p:nvCxnSpPr>
              <p:spPr>
                <a:xfrm>
                  <a:off x="9122016" y="2162236"/>
                  <a:ext cx="1004434" cy="0"/>
                </a:xfrm>
                <a:prstGeom prst="straightConnector1">
                  <a:avLst/>
                </a:prstGeom>
                <a:ln>
                  <a:solidFill>
                    <a:schemeClr val="accent4">
                      <a:lumMod val="75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7" name="직선 화살표 연결선 66"/>
                <p:cNvCxnSpPr/>
                <p:nvPr/>
              </p:nvCxnSpPr>
              <p:spPr>
                <a:xfrm rot="21566019" flipH="1">
                  <a:off x="9118663" y="2162256"/>
                  <a:ext cx="6706" cy="678458"/>
                </a:xfrm>
                <a:prstGeom prst="straightConnector1">
                  <a:avLst/>
                </a:prstGeom>
                <a:ln>
                  <a:solidFill>
                    <a:schemeClr val="accent4">
                      <a:lumMod val="75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pic>
              <p:nvPicPr>
                <p:cNvPr id="68" name="Picture 4" descr="Free Vector | Construction machines top view"/>
                <p:cNvPicPr>
                  <a:picLocks noChangeAspect="1" noChangeArrowheads="1"/>
                </p:cNvPicPr>
                <p:nvPr/>
              </p:nvPicPr>
              <p:blipFill rotWithShape="1">
                <a:blip r:embed="rId3" cstate="print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6217" t="53063" r="51848" b="6560"/>
                <a:stretch/>
              </p:blipFill>
              <p:spPr bwMode="auto">
                <a:xfrm rot="16200000">
                  <a:off x="8879894" y="1716546"/>
                  <a:ext cx="484245" cy="891381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sp>
            <p:nvSpPr>
              <p:cNvPr id="65" name="원호 64"/>
              <p:cNvSpPr/>
              <p:nvPr/>
            </p:nvSpPr>
            <p:spPr>
              <a:xfrm rot="984712">
                <a:off x="8806243" y="2762420"/>
                <a:ext cx="1176831" cy="1049916"/>
              </a:xfrm>
              <a:prstGeom prst="arc">
                <a:avLst>
                  <a:gd name="adj1" fmla="val 16200000"/>
                  <a:gd name="adj2" fmla="val 20848732"/>
                </a:avLst>
              </a:prstGeom>
              <a:ln w="19050">
                <a:solidFill>
                  <a:schemeClr val="accent4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sz="2400"/>
              </a:p>
            </p:txBody>
          </p:sp>
        </p:grpSp>
        <p:sp>
          <p:nvSpPr>
            <p:cNvPr id="62" name="TextBox 61"/>
            <p:cNvSpPr txBox="1"/>
            <p:nvPr/>
          </p:nvSpPr>
          <p:spPr>
            <a:xfrm>
              <a:off x="7451591" y="3232162"/>
              <a:ext cx="1901483" cy="4514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spcBef>
                  <a:spcPts val="176"/>
                </a:spcBef>
                <a:spcAft>
                  <a:spcPts val="176"/>
                </a:spcAft>
              </a:pPr>
              <a:r>
                <a:rPr lang="ko-KR" altLang="en-US" sz="100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latin typeface="+mj-ea"/>
                  <a:ea typeface="+mj-ea"/>
                </a:rPr>
                <a:t>객체 각속도 오차</a:t>
              </a:r>
              <a:endParaRPr lang="en-US" altLang="ko-KR" sz="10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+mj-ea"/>
                <a:ea typeface="+mj-ea"/>
              </a:endParaRPr>
            </a:p>
            <a:p>
              <a:pPr>
                <a:spcBef>
                  <a:spcPts val="176"/>
                </a:spcBef>
                <a:spcAft>
                  <a:spcPts val="176"/>
                </a:spcAft>
              </a:pPr>
              <a:r>
                <a:rPr lang="en-US" altLang="ko-KR" sz="100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latin typeface="+mn-ea"/>
                </a:rPr>
                <a:t>- </a:t>
              </a:r>
              <a:r>
                <a:rPr lang="ko-KR" altLang="en-US" sz="100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latin typeface="+mn-ea"/>
                </a:rPr>
                <a:t>회전 성분을 직교 성분으로 오인</a:t>
              </a: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7995804" y="1758421"/>
              <a:ext cx="67037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spcBef>
                  <a:spcPts val="176"/>
                </a:spcBef>
                <a:spcAft>
                  <a:spcPts val="176"/>
                </a:spcAft>
              </a:pPr>
              <a:r>
                <a:rPr lang="ko-KR" altLang="en-US" sz="100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latin typeface="+mj-ea"/>
                  <a:ea typeface="+mj-ea"/>
                </a:rPr>
                <a:t>인지 오차</a:t>
              </a:r>
              <a:endParaRPr lang="ko-KR" altLang="en-US" sz="10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+mn-ea"/>
              </a:endParaRPr>
            </a:p>
          </p:txBody>
        </p:sp>
      </p:grpSp>
      <p:grpSp>
        <p:nvGrpSpPr>
          <p:cNvPr id="69" name="그룹 68"/>
          <p:cNvGrpSpPr/>
          <p:nvPr/>
        </p:nvGrpSpPr>
        <p:grpSpPr>
          <a:xfrm>
            <a:off x="4913559" y="866495"/>
            <a:ext cx="2615826" cy="2718349"/>
            <a:chOff x="4388929" y="1183833"/>
            <a:chExt cx="2615826" cy="2718349"/>
          </a:xfrm>
        </p:grpSpPr>
        <p:sp>
          <p:nvSpPr>
            <p:cNvPr id="70" name="타원 69"/>
            <p:cNvSpPr/>
            <p:nvPr/>
          </p:nvSpPr>
          <p:spPr>
            <a:xfrm>
              <a:off x="4388929" y="2682964"/>
              <a:ext cx="1077630" cy="1077630"/>
            </a:xfrm>
            <a:prstGeom prst="ellipse">
              <a:avLst/>
            </a:prstGeom>
            <a:noFill/>
            <a:ln>
              <a:solidFill>
                <a:schemeClr val="bg1"/>
              </a:solidFill>
              <a:prstDash val="dash"/>
            </a:ln>
            <a:effectLst>
              <a:glow rad="190500">
                <a:srgbClr val="FF0000">
                  <a:alpha val="20000"/>
                </a:srgb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grpSp>
          <p:nvGrpSpPr>
            <p:cNvPr id="71" name="그룹 70"/>
            <p:cNvGrpSpPr/>
            <p:nvPr/>
          </p:nvGrpSpPr>
          <p:grpSpPr>
            <a:xfrm>
              <a:off x="4427717" y="2318795"/>
              <a:ext cx="2063909" cy="1032687"/>
              <a:chOff x="6438388" y="3251683"/>
              <a:chExt cx="1751286" cy="876265"/>
            </a:xfrm>
          </p:grpSpPr>
          <p:cxnSp>
            <p:nvCxnSpPr>
              <p:cNvPr id="76" name="직선 화살표 연결선 75"/>
              <p:cNvCxnSpPr/>
              <p:nvPr/>
            </p:nvCxnSpPr>
            <p:spPr>
              <a:xfrm flipV="1">
                <a:off x="6921407" y="3251683"/>
                <a:ext cx="1268267" cy="732917"/>
              </a:xfrm>
              <a:prstGeom prst="straightConnector1">
                <a:avLst/>
              </a:prstGeom>
              <a:ln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직선 화살표 연결선 76"/>
              <p:cNvCxnSpPr/>
              <p:nvPr/>
            </p:nvCxnSpPr>
            <p:spPr>
              <a:xfrm flipH="1" flipV="1">
                <a:off x="6561296" y="3361450"/>
                <a:ext cx="360111" cy="623150"/>
              </a:xfrm>
              <a:prstGeom prst="straightConnector1">
                <a:avLst/>
              </a:prstGeom>
              <a:ln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78" name="Picture 4" descr="Free Vector | Construction machines top view"/>
              <p:cNvPicPr>
                <a:picLocks noChangeAspect="1" noChangeArrowheads="1"/>
              </p:cNvPicPr>
              <p:nvPr/>
            </p:nvPicPr>
            <p:blipFill rotWithShape="1">
              <a:blip r:embed="rId4" cstate="print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0435" t="40104" r="30520" b="5083"/>
              <a:stretch/>
            </p:blipFill>
            <p:spPr bwMode="auto">
              <a:xfrm rot="3602877">
                <a:off x="6795750" y="3390020"/>
                <a:ext cx="380566" cy="109528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80" name="직선 화살표 연결선 79"/>
              <p:cNvCxnSpPr/>
              <p:nvPr/>
            </p:nvCxnSpPr>
            <p:spPr>
              <a:xfrm flipV="1">
                <a:off x="6884976" y="3494254"/>
                <a:ext cx="1184739" cy="454892"/>
              </a:xfrm>
              <a:prstGeom prst="straightConnector1">
                <a:avLst/>
              </a:prstGeom>
              <a:ln>
                <a:solidFill>
                  <a:srgbClr val="C00000"/>
                </a:solidFill>
                <a:prstDash val="lg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2" name="원호 71"/>
            <p:cNvSpPr/>
            <p:nvPr/>
          </p:nvSpPr>
          <p:spPr>
            <a:xfrm rot="20451810">
              <a:off x="4672206" y="1738965"/>
              <a:ext cx="1869380" cy="1743461"/>
            </a:xfrm>
            <a:prstGeom prst="arc">
              <a:avLst>
                <a:gd name="adj1" fmla="val 17760828"/>
                <a:gd name="adj2" fmla="val 0"/>
              </a:avLst>
            </a:prstGeom>
            <a:ln w="19050">
              <a:solidFill>
                <a:srgbClr val="C00000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5210674" y="1183833"/>
              <a:ext cx="1794081" cy="4514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spcBef>
                  <a:spcPts val="176"/>
                </a:spcBef>
                <a:spcAft>
                  <a:spcPts val="176"/>
                </a:spcAft>
              </a:pPr>
              <a:r>
                <a:rPr lang="ko-KR" altLang="en-US" sz="1000" dirty="0" err="1">
                  <a:ln>
                    <a:solidFill>
                      <a:schemeClr val="tx1">
                        <a:alpha val="0"/>
                      </a:schemeClr>
                    </a:solidFill>
                  </a:ln>
                  <a:latin typeface="+mj-ea"/>
                  <a:ea typeface="+mj-ea"/>
                </a:rPr>
                <a:t>자차</a:t>
              </a:r>
              <a:r>
                <a:rPr lang="ko-KR" altLang="en-US" sz="100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latin typeface="+mj-ea"/>
                  <a:ea typeface="+mj-ea"/>
                </a:rPr>
                <a:t> 각속도 오차</a:t>
              </a:r>
              <a:endParaRPr lang="en-US" altLang="ko-KR" sz="10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+mj-ea"/>
                <a:ea typeface="+mj-ea"/>
              </a:endParaRPr>
            </a:p>
            <a:p>
              <a:pPr>
                <a:spcBef>
                  <a:spcPts val="176"/>
                </a:spcBef>
                <a:spcAft>
                  <a:spcPts val="176"/>
                </a:spcAft>
              </a:pPr>
              <a:r>
                <a:rPr lang="en-US" altLang="ko-KR" sz="100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latin typeface="+mn-ea"/>
                </a:rPr>
                <a:t>- </a:t>
              </a:r>
              <a:r>
                <a:rPr lang="ko-KR" altLang="en-US" sz="100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latin typeface="+mn-ea"/>
                </a:rPr>
                <a:t>각속도</a:t>
              </a:r>
              <a:r>
                <a:rPr lang="en-US" altLang="ko-KR" sz="100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latin typeface="+mn-ea"/>
                </a:rPr>
                <a:t>X</a:t>
              </a:r>
              <a:r>
                <a:rPr lang="ko-KR" altLang="en-US" sz="100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latin typeface="+mn-ea"/>
                </a:rPr>
                <a:t>거리로 상대속도 보정</a:t>
              </a: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4946623" y="3655961"/>
              <a:ext cx="931665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spcBef>
                  <a:spcPts val="176"/>
                </a:spcBef>
                <a:spcAft>
                  <a:spcPts val="176"/>
                </a:spcAft>
              </a:pPr>
              <a:r>
                <a:rPr lang="ko-KR" altLang="en-US" sz="1000" dirty="0" err="1">
                  <a:ln>
                    <a:solidFill>
                      <a:schemeClr val="tx1">
                        <a:alpha val="0"/>
                      </a:schemeClr>
                    </a:solidFill>
                  </a:ln>
                  <a:latin typeface="+mj-ea"/>
                  <a:ea typeface="+mj-ea"/>
                </a:rPr>
                <a:t>측위</a:t>
              </a:r>
              <a:r>
                <a:rPr lang="ko-KR" altLang="en-US" sz="100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latin typeface="+mj-ea"/>
                  <a:ea typeface="+mj-ea"/>
                </a:rPr>
                <a:t> 좌표 오차</a:t>
              </a:r>
              <a:endParaRPr lang="ko-KR" altLang="en-US" sz="10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+mn-ea"/>
              </a:endParaRPr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5819770" y="2769709"/>
              <a:ext cx="104387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spcBef>
                  <a:spcPts val="176"/>
                </a:spcBef>
                <a:spcAft>
                  <a:spcPts val="176"/>
                </a:spcAft>
              </a:pPr>
              <a:r>
                <a:rPr lang="ko-KR" altLang="en-US" sz="1000" dirty="0" err="1">
                  <a:ln>
                    <a:solidFill>
                      <a:schemeClr val="tx1">
                        <a:alpha val="0"/>
                      </a:schemeClr>
                    </a:solidFill>
                  </a:ln>
                  <a:latin typeface="+mj-ea"/>
                  <a:ea typeface="+mj-ea"/>
                </a:rPr>
                <a:t>측위</a:t>
              </a:r>
              <a:r>
                <a:rPr lang="ko-KR" altLang="en-US" sz="100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latin typeface="+mj-ea"/>
                  <a:ea typeface="+mj-ea"/>
                </a:rPr>
                <a:t> 방향각 오차</a:t>
              </a:r>
              <a:endParaRPr lang="ko-KR" altLang="en-US" sz="10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+mn-ea"/>
              </a:endParaRPr>
            </a:p>
          </p:txBody>
        </p:sp>
      </p:grpSp>
      <p:graphicFrame>
        <p:nvGraphicFramePr>
          <p:cNvPr id="81" name="표 80"/>
          <p:cNvGraphicFramePr>
            <a:graphicFrameLocks noGrp="1"/>
          </p:cNvGraphicFramePr>
          <p:nvPr/>
        </p:nvGraphicFramePr>
        <p:xfrm>
          <a:off x="381000" y="4132415"/>
          <a:ext cx="9144001" cy="25099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85021">
                  <a:extLst>
                    <a:ext uri="{9D8B030D-6E8A-4147-A177-3AD203B41FA5}">
                      <a16:colId xmlns:a16="http://schemas.microsoft.com/office/drawing/2014/main" val="4068469479"/>
                    </a:ext>
                  </a:extLst>
                </a:gridCol>
                <a:gridCol w="3397512">
                  <a:extLst>
                    <a:ext uri="{9D8B030D-6E8A-4147-A177-3AD203B41FA5}">
                      <a16:colId xmlns:a16="http://schemas.microsoft.com/office/drawing/2014/main" val="72431706"/>
                    </a:ext>
                  </a:extLst>
                </a:gridCol>
                <a:gridCol w="1734147">
                  <a:extLst>
                    <a:ext uri="{9D8B030D-6E8A-4147-A177-3AD203B41FA5}">
                      <a16:colId xmlns:a16="http://schemas.microsoft.com/office/drawing/2014/main" val="3030759103"/>
                    </a:ext>
                  </a:extLst>
                </a:gridCol>
                <a:gridCol w="1927321">
                  <a:extLst>
                    <a:ext uri="{9D8B030D-6E8A-4147-A177-3AD203B41FA5}">
                      <a16:colId xmlns:a16="http://schemas.microsoft.com/office/drawing/2014/main" val="1897723735"/>
                    </a:ext>
                  </a:extLst>
                </a:gridCol>
              </a:tblGrid>
              <a:tr h="31374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오차 종류</a:t>
                      </a:r>
                    </a:p>
                  </a:txBody>
                  <a:tcPr marL="80649" marR="80649" marT="40325" marB="403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원인</a:t>
                      </a:r>
                    </a:p>
                  </a:txBody>
                  <a:tcPr marL="80649" marR="80649" marT="40325" marB="40325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80649" marR="80649" marT="40325" marB="40325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8272158"/>
                  </a:ext>
                </a:extLst>
              </a:tr>
              <a:tr h="31374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인지 오차</a:t>
                      </a:r>
                    </a:p>
                  </a:txBody>
                  <a:tcPr marL="80649" marR="80649" marT="40325" marB="40325" anchor="ctr">
                    <a:lnL>
                      <a:noFill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센서 성능</a:t>
                      </a:r>
                      <a:r>
                        <a:rPr lang="en-US" altLang="ko-KR" sz="10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인지 알고리즘 성능</a:t>
                      </a:r>
                    </a:p>
                  </a:txBody>
                  <a:tcPr marL="80649" marR="80649" marT="40325" marB="40325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&lt; 10 cm</a:t>
                      </a:r>
                      <a:endParaRPr lang="ko-KR" altLang="en-US" sz="10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80649" marR="80649" marT="40325" marB="40325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라이다 센서 성능</a:t>
                      </a:r>
                    </a:p>
                  </a:txBody>
                  <a:tcPr marL="80649" marR="80649" marT="40325" marB="40325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273523"/>
                  </a:ext>
                </a:extLst>
              </a:tr>
              <a:tr h="313748">
                <a:tc>
                  <a:txBody>
                    <a:bodyPr/>
                    <a:lstStyle/>
                    <a:p>
                      <a:pPr marL="0" marR="0" indent="0" algn="ctr" defTabSz="103674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err="1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측위</a:t>
                      </a:r>
                      <a:r>
                        <a:rPr lang="ko-KR" altLang="en-US" sz="10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좌표 오차</a:t>
                      </a:r>
                    </a:p>
                  </a:txBody>
                  <a:tcPr marL="80649" marR="80649" marT="40325" marB="40325" anchor="ctr">
                    <a:lnL>
                      <a:noFill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GPS </a:t>
                      </a:r>
                      <a:r>
                        <a:rPr lang="ko-KR" altLang="en-US" sz="1000" dirty="0" err="1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측위</a:t>
                      </a:r>
                      <a:r>
                        <a:rPr lang="en-US" altLang="ko-KR" sz="10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방식 </a:t>
                      </a:r>
                      <a:r>
                        <a:rPr lang="en-US" altLang="ko-KR" sz="10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(NTRIP)</a:t>
                      </a:r>
                      <a:endParaRPr lang="ko-KR" altLang="en-US" sz="10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80649" marR="80649" marT="40325" marB="40325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&lt; 10 cm</a:t>
                      </a:r>
                      <a:endParaRPr lang="ko-KR" altLang="en-US" sz="10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80649" marR="80649" marT="40325" marB="40325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지역별</a:t>
                      </a:r>
                      <a:r>
                        <a:rPr lang="en-US" altLang="ko-KR" sz="10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dirty="0" err="1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지형별</a:t>
                      </a:r>
                      <a:r>
                        <a:rPr lang="ko-KR" altLang="en-US" sz="10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편차</a:t>
                      </a:r>
                    </a:p>
                  </a:txBody>
                  <a:tcPr marL="80649" marR="80649" marT="40325" marB="40325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918334"/>
                  </a:ext>
                </a:extLst>
              </a:tr>
              <a:tr h="31374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측위</a:t>
                      </a:r>
                      <a:r>
                        <a:rPr lang="ko-KR" altLang="en-US" sz="10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방향각 오차</a:t>
                      </a:r>
                    </a:p>
                  </a:txBody>
                  <a:tcPr marL="80649" marR="80649" marT="40325" marB="40325" anchor="ctr">
                    <a:lnL>
                      <a:noFill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자차</a:t>
                      </a:r>
                      <a:r>
                        <a:rPr lang="ko-KR" altLang="en-US" sz="10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방향각 오차에 의해 장애물 거리 비례 오차 발생</a:t>
                      </a:r>
                    </a:p>
                  </a:txBody>
                  <a:tcPr marL="80649" marR="80649" marT="40325" marB="40325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1°</a:t>
                      </a:r>
                      <a:r>
                        <a:rPr lang="he-IL" altLang="ko-KR" sz="10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֯</a:t>
                      </a:r>
                      <a:r>
                        <a:rPr lang="en-US" altLang="ko-KR" sz="10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10m</a:t>
                      </a:r>
                      <a:r>
                        <a:rPr lang="ko-KR" altLang="en-US" sz="10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당 </a:t>
                      </a:r>
                      <a:r>
                        <a:rPr lang="en-US" altLang="ko-KR" sz="10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17.5cm</a:t>
                      </a:r>
                      <a:endParaRPr lang="ko-KR" altLang="en-US" sz="10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80649" marR="80649" marT="40325" marB="40325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장애물 상대 거리 비례</a:t>
                      </a:r>
                    </a:p>
                  </a:txBody>
                  <a:tcPr marL="80649" marR="80649" marT="40325" marB="40325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7609690"/>
                  </a:ext>
                </a:extLst>
              </a:tr>
              <a:tr h="31374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자차</a:t>
                      </a:r>
                      <a:r>
                        <a:rPr lang="ko-KR" altLang="en-US" sz="10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속도 오차</a:t>
                      </a:r>
                    </a:p>
                  </a:txBody>
                  <a:tcPr marL="80649" marR="80649" marT="40325" marB="40325" anchor="ctr">
                    <a:lnL>
                      <a:noFill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위치 추정 과정에서 시간</a:t>
                      </a:r>
                      <a:r>
                        <a:rPr lang="ko-KR" altLang="en-US" sz="1000" baseline="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비례 오차 발생</a:t>
                      </a:r>
                      <a:endParaRPr lang="ko-KR" altLang="en-US" sz="10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80649" marR="80649" marT="40325" marB="40325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&lt; 10 cm</a:t>
                      </a:r>
                      <a:endParaRPr lang="ko-KR" altLang="en-US" sz="10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80649" marR="80649" marT="40325" marB="40325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시간 비례</a:t>
                      </a:r>
                    </a:p>
                  </a:txBody>
                  <a:tcPr marL="80649" marR="80649" marT="40325" marB="40325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9116267"/>
                  </a:ext>
                </a:extLst>
              </a:tr>
              <a:tr h="31374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자차</a:t>
                      </a:r>
                      <a:r>
                        <a:rPr lang="ko-KR" altLang="en-US" sz="1000" baseline="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각속도 오차</a:t>
                      </a:r>
                      <a:endParaRPr lang="ko-KR" altLang="en-US" sz="10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80649" marR="80649" marT="40325" marB="40325" anchor="ctr">
                    <a:lnL>
                      <a:noFill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절대 속도 추정 과정에서 오차 발생</a:t>
                      </a:r>
                    </a:p>
                  </a:txBody>
                  <a:tcPr marL="80649" marR="80649" marT="40325" marB="40325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?</a:t>
                      </a:r>
                      <a:endParaRPr lang="ko-KR" altLang="en-US" sz="10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80649" marR="80649" marT="40325" marB="40325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상대 거리</a:t>
                      </a:r>
                      <a:r>
                        <a:rPr lang="en-US" altLang="ko-KR" sz="10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시간 비례</a:t>
                      </a:r>
                    </a:p>
                  </a:txBody>
                  <a:tcPr marL="80649" marR="80649" marT="40325" marB="40325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4243929"/>
                  </a:ext>
                </a:extLst>
              </a:tr>
              <a:tr h="31374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객체 속도 오차</a:t>
                      </a:r>
                    </a:p>
                  </a:txBody>
                  <a:tcPr marL="80649" marR="80649" marT="40325" marB="40325" anchor="ctr">
                    <a:lnL>
                      <a:noFill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센서 성능</a:t>
                      </a:r>
                      <a:r>
                        <a:rPr lang="en-US" altLang="ko-KR" sz="10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인지 알고리즘 성능</a:t>
                      </a:r>
                    </a:p>
                  </a:txBody>
                  <a:tcPr marL="80649" marR="80649" marT="40325" marB="40325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&lt; 10 cm</a:t>
                      </a:r>
                      <a:endParaRPr lang="ko-KR" altLang="en-US" sz="10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80649" marR="80649" marT="40325" marB="40325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103674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시간 비례</a:t>
                      </a:r>
                    </a:p>
                  </a:txBody>
                  <a:tcPr marL="80649" marR="80649" marT="40325" marB="40325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3695310"/>
                  </a:ext>
                </a:extLst>
              </a:tr>
              <a:tr h="31374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객체 각속도 오차</a:t>
                      </a:r>
                    </a:p>
                  </a:txBody>
                  <a:tcPr marL="80649" marR="80649" marT="40325" marB="40325" anchor="ctr">
                    <a:lnL>
                      <a:noFill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객체의 각속도 측정이 불가하여 발생</a:t>
                      </a:r>
                    </a:p>
                  </a:txBody>
                  <a:tcPr marL="80649" marR="80649" marT="40325" marB="40325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&lt; 17 cm</a:t>
                      </a:r>
                      <a:endParaRPr lang="ko-KR" altLang="en-US" sz="10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80649" marR="80649" marT="40325" marB="40325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</a:t>
                      </a:r>
                      <a:endParaRPr lang="ko-KR" altLang="en-US" sz="10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80649" marR="80649" marT="40325" marB="40325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26946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07279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2.1 </a:t>
            </a:r>
            <a:r>
              <a:rPr lang="ko-KR" altLang="en-US" dirty="0"/>
              <a:t>이동 장애물 인지 데이터 융합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294967295"/>
          </p:nvPr>
        </p:nvSpPr>
        <p:spPr>
          <a:xfrm>
            <a:off x="9358313" y="6650038"/>
            <a:ext cx="547687" cy="207962"/>
          </a:xfrm>
        </p:spPr>
        <p:txBody>
          <a:bodyPr/>
          <a:lstStyle/>
          <a:p>
            <a:fld id="{BF55F954-5E86-475A-837F-2B8CED6C7DF1}" type="slidenum">
              <a:rPr lang="ko-KR" altLang="en-US" smtClean="0"/>
              <a:pPr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78467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74846" y="213862"/>
            <a:ext cx="6720682" cy="384721"/>
          </a:xfrm>
        </p:spPr>
        <p:txBody>
          <a:bodyPr/>
          <a:lstStyle/>
          <a:p>
            <a:r>
              <a:rPr lang="en-US" altLang="ko-KR" dirty="0"/>
              <a:t>L3(</a:t>
            </a:r>
            <a:r>
              <a:rPr lang="ko-KR" altLang="en-US" dirty="0"/>
              <a:t>이동</a:t>
            </a:r>
            <a:r>
              <a:rPr lang="en-US" altLang="ko-KR" dirty="0"/>
              <a:t> </a:t>
            </a:r>
            <a:r>
              <a:rPr lang="ko-KR" altLang="en-US" dirty="0"/>
              <a:t>장애물 계층</a:t>
            </a:r>
            <a:r>
              <a:rPr lang="en-US" altLang="ko-KR" dirty="0"/>
              <a:t>) </a:t>
            </a:r>
            <a:r>
              <a:rPr lang="ko-KR" altLang="en-US" dirty="0"/>
              <a:t>알고리즘 개요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F55F954-5E86-475A-837F-2B8CED6C7DF1}" type="slidenum">
              <a:rPr lang="ko-KR" altLang="en-US" smtClean="0"/>
              <a:pPr/>
              <a:t>12</a:t>
            </a:fld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381000" y="873427"/>
            <a:ext cx="9144000" cy="1286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5256" indent="-95256"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buFont typeface="Wingdings" panose="05000000000000000000" pitchFamily="2" charset="2"/>
              <a:buChar char="§"/>
              <a:defRPr/>
            </a:pPr>
            <a:r>
              <a:rPr lang="ko-KR" altLang="en-US" sz="1300" b="1" kern="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알고리즘 목표</a:t>
            </a:r>
            <a:endParaRPr lang="en-US" altLang="ko-KR" sz="1300" b="1" kern="0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 err="1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차량별로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인지한 장애물 정보를 단일 지도상에 통합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 err="1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차량별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상이한 데이터 수집 시점 반영 장애물 위치 보정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중복 장애물 식별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및 통합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(data association)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미검출 장애물 추적 및 신규 검출 장애물 이력 관리</a:t>
            </a:r>
            <a:endParaRPr lang="en-US" altLang="ko-KR" sz="1300" kern="0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81000" y="2332921"/>
            <a:ext cx="9144000" cy="19092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5256" indent="-95256"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buFont typeface="Wingdings" panose="05000000000000000000" pitchFamily="2" charset="2"/>
              <a:buChar char="§"/>
              <a:defRPr/>
            </a:pPr>
            <a:r>
              <a:rPr lang="ko-KR" altLang="en-US" sz="1300" b="1" kern="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알고리즘 개요</a:t>
            </a:r>
            <a:endParaRPr lang="en-US" altLang="ko-KR" sz="1300" b="1" kern="0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- 100msec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주기 동작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- 3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개의 주요 모듈로 구성 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 (1) </a:t>
            </a:r>
            <a:r>
              <a:rPr lang="ko-KR" altLang="en-US" sz="1300" kern="0" dirty="0" err="1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차량별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상이한 인지 데이터의 시공간 정렬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+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위치 추정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 (2) </a:t>
            </a:r>
            <a:r>
              <a:rPr lang="ko-KR" altLang="en-US" sz="1300" kern="0" dirty="0" err="1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장애물간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Data association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및 좌표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-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속도 융합 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 (3)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장애물 추적 및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ID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관리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381000" y="4412729"/>
            <a:ext cx="9144000" cy="1286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5256" indent="-95256"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buFont typeface="Wingdings" panose="05000000000000000000" pitchFamily="2" charset="2"/>
              <a:buChar char="§"/>
              <a:defRPr/>
            </a:pPr>
            <a:r>
              <a:rPr lang="ko-KR" altLang="en-US" sz="1300" b="1" kern="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알고리즘 결과 </a:t>
            </a:r>
            <a:r>
              <a:rPr lang="en-US" altLang="ko-KR" sz="1300" b="1" kern="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(</a:t>
            </a:r>
            <a:r>
              <a:rPr lang="ko-KR" altLang="en-US" sz="1300" b="1" kern="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출력</a:t>
            </a:r>
            <a:r>
              <a:rPr lang="en-US" altLang="ko-KR" sz="1300" b="1" kern="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)</a:t>
            </a: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각 장애물 별 위치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,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속도 및 메타 데이터 세트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en-US" altLang="ko-KR" sz="1300" kern="0" spc="-5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(</a:t>
            </a:r>
            <a:r>
              <a:rPr lang="ko-KR" altLang="en-US" sz="1300" kern="0" spc="-5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장애물 </a:t>
            </a:r>
            <a:r>
              <a:rPr lang="en-US" altLang="ko-KR" sz="1300" kern="0" spc="-5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ID) (</a:t>
            </a:r>
            <a:r>
              <a:rPr lang="ko-KR" altLang="en-US" sz="1300" kern="0" spc="-5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장애물</a:t>
            </a:r>
            <a:r>
              <a:rPr lang="en-US" altLang="ko-KR" sz="1300" kern="0" spc="-5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</a:t>
            </a:r>
            <a:r>
              <a:rPr lang="ko-KR" altLang="en-US" sz="1300" kern="0" spc="-5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종류</a:t>
            </a:r>
            <a:r>
              <a:rPr lang="en-US" altLang="ko-KR" sz="1300" kern="0" spc="-5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) (</a:t>
            </a:r>
            <a:r>
              <a:rPr lang="ko-KR" altLang="en-US" sz="1300" kern="0" spc="-5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장애물 위치 </a:t>
            </a:r>
            <a:r>
              <a:rPr lang="en-US" altLang="ko-KR" sz="1300" kern="0" spc="-5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X,Y) (</a:t>
            </a:r>
            <a:r>
              <a:rPr lang="ko-KR" altLang="en-US" sz="1300" kern="0" spc="-5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장애물</a:t>
            </a:r>
            <a:r>
              <a:rPr lang="en-US" altLang="ko-KR" sz="1300" kern="0" spc="-5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</a:t>
            </a:r>
            <a:r>
              <a:rPr lang="ko-KR" altLang="en-US" sz="1300" kern="0" spc="-5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속도 </a:t>
            </a:r>
            <a:r>
              <a:rPr lang="en-US" altLang="ko-KR" sz="1300" kern="0" spc="-5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V,W) </a:t>
            </a:r>
            <a:r>
              <a:rPr lang="en-US" altLang="ko-KR" sz="1300" i="1" u="sng" kern="0" spc="-5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(</a:t>
            </a:r>
            <a:r>
              <a:rPr lang="ko-KR" altLang="en-US" sz="1300" i="1" u="sng" kern="0" spc="-5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장애물</a:t>
            </a:r>
            <a:r>
              <a:rPr lang="en-US" altLang="ko-KR" sz="1300" i="1" u="sng" kern="0" spc="-5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</a:t>
            </a:r>
            <a:r>
              <a:rPr lang="ko-KR" altLang="en-US" sz="1300" i="1" u="sng" kern="0" spc="-5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크기 </a:t>
            </a:r>
            <a:r>
              <a:rPr lang="en-US" altLang="ko-KR" sz="1300" i="1" u="sng" kern="0" spc="-5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W-H-L)</a:t>
            </a:r>
            <a:r>
              <a:rPr lang="en-US" altLang="ko-KR" sz="1300" kern="0" spc="-5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(</a:t>
            </a:r>
            <a:r>
              <a:rPr lang="ko-KR" altLang="en-US" sz="1300" kern="0" spc="-5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인지 차량 대수</a:t>
            </a:r>
            <a:r>
              <a:rPr lang="en-US" altLang="ko-KR" sz="1300" kern="0" spc="-50" baseline="3000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①</a:t>
            </a:r>
            <a:r>
              <a:rPr lang="en-US" altLang="ko-KR" sz="1300" kern="0" spc="-5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) (</a:t>
            </a:r>
            <a:r>
              <a:rPr lang="ko-KR" altLang="en-US" sz="1300" kern="0" spc="-5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인지 상태</a:t>
            </a:r>
            <a:r>
              <a:rPr lang="en-US" altLang="ko-KR" sz="1300" kern="0" spc="-50" baseline="3000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②</a:t>
            </a:r>
            <a:r>
              <a:rPr lang="en-US" altLang="ko-KR" sz="1300" kern="0" spc="-5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) (</a:t>
            </a:r>
            <a:r>
              <a:rPr lang="ko-KR" altLang="en-US" sz="1300" kern="0" spc="-5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인지 카운터</a:t>
            </a:r>
            <a:r>
              <a:rPr lang="en-US" altLang="ko-KR" sz="1300" kern="0" spc="-50" baseline="3000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③</a:t>
            </a:r>
            <a:r>
              <a:rPr lang="en-US" altLang="ko-KR" sz="1300" kern="0" spc="-5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)</a:t>
            </a: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spc="-5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                                                                                                                 ┗ </a:t>
            </a:r>
            <a:r>
              <a:rPr lang="ko-KR" altLang="en-US" sz="1300" kern="0" spc="-5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필요 여부에 대한 재검토 </a:t>
            </a:r>
            <a:endParaRPr lang="en-US" altLang="ko-KR" sz="1300" kern="0" spc="-50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192817" y="5869802"/>
            <a:ext cx="6332183" cy="7911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50" dirty="0"/>
              <a:t>① 몇 대의 차량에서 인지하였는가 </a:t>
            </a:r>
            <a:r>
              <a:rPr lang="en-US" altLang="ko-KR" sz="1050" dirty="0"/>
              <a:t>(0</a:t>
            </a:r>
            <a:r>
              <a:rPr lang="ko-KR" altLang="en-US" sz="1050" dirty="0"/>
              <a:t>대 </a:t>
            </a:r>
            <a:r>
              <a:rPr lang="en-US" altLang="ko-KR" sz="1050" dirty="0"/>
              <a:t>~ 5</a:t>
            </a:r>
            <a:r>
              <a:rPr lang="ko-KR" altLang="en-US" sz="1050" dirty="0"/>
              <a:t>대</a:t>
            </a:r>
            <a:r>
              <a:rPr lang="en-US" altLang="ko-KR" sz="1050" dirty="0"/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1050" dirty="0"/>
              <a:t>② 인지 </a:t>
            </a:r>
            <a:r>
              <a:rPr lang="en-US" altLang="ko-KR" sz="1050" dirty="0"/>
              <a:t>(1</a:t>
            </a:r>
            <a:r>
              <a:rPr lang="ko-KR" altLang="en-US" sz="1050" dirty="0"/>
              <a:t>대 이상 차량에서 인지</a:t>
            </a:r>
            <a:r>
              <a:rPr lang="en-US" altLang="ko-KR" sz="1050" dirty="0"/>
              <a:t>) / </a:t>
            </a:r>
            <a:r>
              <a:rPr lang="ko-KR" altLang="en-US" sz="1050" dirty="0"/>
              <a:t>미검출 </a:t>
            </a:r>
            <a:r>
              <a:rPr lang="en-US" altLang="ko-KR" sz="1050" dirty="0"/>
              <a:t>(0</a:t>
            </a:r>
            <a:r>
              <a:rPr lang="ko-KR" altLang="en-US" sz="1050" dirty="0"/>
              <a:t>대 차량에서 인지</a:t>
            </a:r>
            <a:r>
              <a:rPr lang="en-US" altLang="ko-KR" sz="1050" dirty="0"/>
              <a:t>) / </a:t>
            </a:r>
            <a:r>
              <a:rPr lang="ko-KR" altLang="en-US" sz="1050" dirty="0"/>
              <a:t>신규 </a:t>
            </a:r>
            <a:r>
              <a:rPr lang="en-US" altLang="ko-KR" sz="1050" dirty="0"/>
              <a:t>(</a:t>
            </a:r>
            <a:r>
              <a:rPr lang="ko-KR" altLang="en-US" sz="1050" dirty="0"/>
              <a:t>최초로 </a:t>
            </a:r>
            <a:r>
              <a:rPr lang="en-US" altLang="ko-KR" sz="1050" dirty="0"/>
              <a:t>1</a:t>
            </a:r>
            <a:r>
              <a:rPr lang="ko-KR" altLang="en-US" sz="1050" dirty="0"/>
              <a:t>대 인지</a:t>
            </a:r>
            <a:r>
              <a:rPr lang="en-US" altLang="ko-KR" sz="1050" dirty="0"/>
              <a:t>) / NULL (</a:t>
            </a:r>
            <a:r>
              <a:rPr lang="ko-KR" altLang="en-US" sz="1050" dirty="0"/>
              <a:t>빈 아이디</a:t>
            </a:r>
            <a:r>
              <a:rPr lang="en-US" altLang="ko-KR" sz="1050" dirty="0"/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1050" dirty="0"/>
              <a:t>③ 미검출 시</a:t>
            </a:r>
            <a:r>
              <a:rPr lang="en-US" altLang="ko-KR" sz="1050" dirty="0"/>
              <a:t>, </a:t>
            </a:r>
            <a:r>
              <a:rPr lang="ko-KR" altLang="en-US" sz="1050" dirty="0"/>
              <a:t>미검출 회수 </a:t>
            </a:r>
            <a:r>
              <a:rPr lang="en-US" altLang="ko-KR" sz="1050" dirty="0"/>
              <a:t>(3-</a:t>
            </a:r>
            <a:r>
              <a:rPr lang="ko-KR" altLang="en-US" sz="1050" dirty="0"/>
              <a:t>회수</a:t>
            </a:r>
            <a:r>
              <a:rPr lang="en-US" altLang="ko-KR" sz="1050" dirty="0"/>
              <a:t>, 0</a:t>
            </a:r>
            <a:r>
              <a:rPr lang="ko-KR" altLang="en-US" sz="1050" dirty="0"/>
              <a:t>에서 소멸</a:t>
            </a:r>
            <a:r>
              <a:rPr lang="en-US" altLang="ko-KR" sz="1050" dirty="0"/>
              <a:t>) / </a:t>
            </a:r>
            <a:r>
              <a:rPr lang="ko-KR" altLang="en-US" sz="1050" dirty="0"/>
              <a:t>신규 검출 시</a:t>
            </a:r>
            <a:r>
              <a:rPr lang="en-US" altLang="ko-KR" sz="1050" dirty="0"/>
              <a:t>, </a:t>
            </a:r>
            <a:r>
              <a:rPr lang="ko-KR" altLang="en-US" sz="1050" dirty="0"/>
              <a:t>검출 회수 </a:t>
            </a:r>
            <a:r>
              <a:rPr lang="en-US" altLang="ko-KR" sz="1050" dirty="0"/>
              <a:t>(1~2</a:t>
            </a:r>
            <a:r>
              <a:rPr lang="ko-KR" altLang="en-US" sz="1050" dirty="0"/>
              <a:t>회</a:t>
            </a:r>
            <a:r>
              <a:rPr lang="en-US" altLang="ko-KR" sz="1050" dirty="0"/>
              <a:t>, 3</a:t>
            </a:r>
            <a:r>
              <a:rPr lang="ko-KR" altLang="en-US" sz="1050" dirty="0"/>
              <a:t>회시 인지</a:t>
            </a:r>
            <a:r>
              <a:rPr lang="en-US" altLang="ko-KR" sz="1050" dirty="0"/>
              <a:t>) / </a:t>
            </a:r>
            <a:r>
              <a:rPr lang="ko-KR" altLang="en-US" sz="1050" dirty="0"/>
              <a:t>인지 중</a:t>
            </a:r>
            <a:r>
              <a:rPr lang="en-US" altLang="ko-KR" sz="1050" dirty="0"/>
              <a:t>(3)</a:t>
            </a:r>
            <a:endParaRPr lang="ko-KR" altLang="en-US" sz="1050" dirty="0"/>
          </a:p>
        </p:txBody>
      </p:sp>
    </p:spTree>
    <p:extLst>
      <p:ext uri="{BB962C8B-B14F-4D97-AF65-F5344CB8AC3E}">
        <p14:creationId xmlns:p14="http://schemas.microsoft.com/office/powerpoint/2010/main" val="23338790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L3(</a:t>
            </a:r>
            <a:r>
              <a:rPr lang="ko-KR" altLang="en-US" dirty="0"/>
              <a:t>이동</a:t>
            </a:r>
            <a:r>
              <a:rPr lang="en-US" altLang="ko-KR" dirty="0"/>
              <a:t> </a:t>
            </a:r>
            <a:r>
              <a:rPr lang="ko-KR" altLang="en-US" dirty="0"/>
              <a:t>장애물 계층</a:t>
            </a:r>
            <a:r>
              <a:rPr lang="en-US" altLang="ko-KR" dirty="0"/>
              <a:t>) </a:t>
            </a:r>
            <a:r>
              <a:rPr lang="ko-KR" altLang="en-US" dirty="0"/>
              <a:t>알고리즘 구성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F55F954-5E86-475A-837F-2B8CED6C7DF1}" type="slidenum">
              <a:rPr lang="ko-KR" altLang="en-US" smtClean="0"/>
              <a:pPr/>
              <a:t>13</a:t>
            </a:fld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381000" y="875789"/>
            <a:ext cx="4572000" cy="28433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5256" indent="-95256"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buFont typeface="Wingdings" panose="05000000000000000000" pitchFamily="2" charset="2"/>
              <a:buChar char="§"/>
              <a:defRPr/>
            </a:pPr>
            <a:r>
              <a:rPr lang="ko-KR" altLang="en-US" sz="1300" b="1" kern="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입력 데이터</a:t>
            </a:r>
            <a:endParaRPr lang="en-US" altLang="ko-KR" sz="1300" b="1" kern="0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(t-1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처리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결과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)</a:t>
            </a: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데이터 처리 시점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: T_L3fusion_old</a:t>
            </a: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L3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데이터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: L3obstacle(L), L=0~255</a:t>
            </a: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ID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관리 데이터 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</a:t>
            </a: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(N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번 차량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데이터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), N=0~4</a:t>
            </a: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장애물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인지 </a:t>
            </a:r>
            <a:r>
              <a:rPr lang="ko-KR" altLang="en-US" sz="1300" kern="0" dirty="0" err="1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데이터셋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: obstacle(N)(M), M=0~32</a:t>
            </a: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 err="1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측위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</a:t>
            </a:r>
            <a:r>
              <a:rPr lang="ko-KR" altLang="en-US" sz="1300" kern="0" dirty="0" err="1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데이터셋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: vehicle(N)</a:t>
            </a:r>
            <a:endParaRPr lang="en-US" altLang="ko-KR" sz="1300" kern="0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5545282" y="1557972"/>
            <a:ext cx="1980000" cy="234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50" dirty="0" err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차량별</a:t>
            </a:r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데이터 입력</a:t>
            </a:r>
          </a:p>
        </p:txBody>
      </p:sp>
      <p:sp>
        <p:nvSpPr>
          <p:cNvPr id="12" name="순서도: 판단 11"/>
          <p:cNvSpPr/>
          <p:nvPr/>
        </p:nvSpPr>
        <p:spPr>
          <a:xfrm>
            <a:off x="5545282" y="1955481"/>
            <a:ext cx="1980000" cy="468000"/>
          </a:xfrm>
          <a:prstGeom prst="flowChartDecision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기준</a:t>
            </a:r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시간내</a:t>
            </a:r>
            <a:endParaRPr lang="en-US" altLang="ko-KR" sz="105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algn="ctr"/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유효한 입력 여부</a:t>
            </a:r>
          </a:p>
        </p:txBody>
      </p:sp>
      <p:cxnSp>
        <p:nvCxnSpPr>
          <p:cNvPr id="13" name="꺾인 연결선 12"/>
          <p:cNvCxnSpPr>
            <a:stCxn id="24" idx="3"/>
            <a:endCxn id="26" idx="0"/>
          </p:cNvCxnSpPr>
          <p:nvPr/>
        </p:nvCxnSpPr>
        <p:spPr>
          <a:xfrm>
            <a:off x="7525282" y="5206044"/>
            <a:ext cx="1227363" cy="39750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/>
          <p:cNvCxnSpPr>
            <a:stCxn id="23" idx="2"/>
            <a:endCxn id="25" idx="0"/>
          </p:cNvCxnSpPr>
          <p:nvPr/>
        </p:nvCxnSpPr>
        <p:spPr>
          <a:xfrm>
            <a:off x="6535282" y="5837553"/>
            <a:ext cx="0" cy="16350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/>
          <p:cNvSpPr/>
          <p:nvPr/>
        </p:nvSpPr>
        <p:spPr>
          <a:xfrm>
            <a:off x="5545282" y="1160463"/>
            <a:ext cx="1980000" cy="234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L3 </a:t>
            </a:r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기준 시각 설정</a:t>
            </a:r>
          </a:p>
        </p:txBody>
      </p:sp>
      <p:sp>
        <p:nvSpPr>
          <p:cNvPr id="16" name="직사각형 15"/>
          <p:cNvSpPr/>
          <p:nvPr/>
        </p:nvSpPr>
        <p:spPr>
          <a:xfrm>
            <a:off x="7762645" y="2072481"/>
            <a:ext cx="1980000" cy="234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통신</a:t>
            </a:r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/</a:t>
            </a:r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차량 고장 예외 처리 </a:t>
            </a:r>
          </a:p>
        </p:txBody>
      </p:sp>
      <p:sp>
        <p:nvSpPr>
          <p:cNvPr id="17" name="직사각형 16"/>
          <p:cNvSpPr/>
          <p:nvPr/>
        </p:nvSpPr>
        <p:spPr>
          <a:xfrm>
            <a:off x="5545282" y="2586990"/>
            <a:ext cx="1980000" cy="234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차량 </a:t>
            </a:r>
            <a:r>
              <a:rPr lang="ko-KR" altLang="en-US" sz="1050" dirty="0" err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측위</a:t>
            </a:r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ko-KR" altLang="en-US" sz="1050" dirty="0" err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좌표계</a:t>
            </a:r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변환</a:t>
            </a:r>
          </a:p>
        </p:txBody>
      </p:sp>
      <p:sp>
        <p:nvSpPr>
          <p:cNvPr id="18" name="직사각형 17"/>
          <p:cNvSpPr/>
          <p:nvPr/>
        </p:nvSpPr>
        <p:spPr>
          <a:xfrm>
            <a:off x="5545282" y="2984499"/>
            <a:ext cx="1980000" cy="234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50" dirty="0" err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차량별</a:t>
            </a:r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장애물 속도 </a:t>
            </a:r>
            <a:r>
              <a:rPr lang="ko-KR" altLang="en-US" sz="1050" dirty="0" err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좌표계</a:t>
            </a:r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변환</a:t>
            </a:r>
          </a:p>
        </p:txBody>
      </p:sp>
      <p:sp>
        <p:nvSpPr>
          <p:cNvPr id="19" name="직사각형 18"/>
          <p:cNvSpPr/>
          <p:nvPr/>
        </p:nvSpPr>
        <p:spPr>
          <a:xfrm>
            <a:off x="5545282" y="3382008"/>
            <a:ext cx="1980000" cy="234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50" dirty="0" err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차량별</a:t>
            </a:r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장애물 위치 </a:t>
            </a:r>
            <a:r>
              <a:rPr lang="ko-KR" altLang="en-US" sz="1050" dirty="0" err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좌표계</a:t>
            </a:r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변환</a:t>
            </a:r>
          </a:p>
        </p:txBody>
      </p:sp>
      <p:sp>
        <p:nvSpPr>
          <p:cNvPr id="20" name="직사각형 19"/>
          <p:cNvSpPr/>
          <p:nvPr/>
        </p:nvSpPr>
        <p:spPr>
          <a:xfrm>
            <a:off x="5545282" y="3779517"/>
            <a:ext cx="1980000" cy="234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50" dirty="0" err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차량별</a:t>
            </a:r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장애물 위치 추정 </a:t>
            </a:r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</a:t>
            </a:r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기준</a:t>
            </a:r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시점</a:t>
            </a:r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)</a:t>
            </a:r>
            <a:endParaRPr lang="ko-KR" altLang="en-US" sz="105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5545282" y="4177026"/>
            <a:ext cx="1980000" cy="234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지도 장애물 위치 추정 </a:t>
            </a:r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</a:t>
            </a:r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기준</a:t>
            </a:r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시점</a:t>
            </a:r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)</a:t>
            </a:r>
            <a:endParaRPr lang="ko-KR" altLang="en-US" sz="105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5545282" y="4574535"/>
            <a:ext cx="1980000" cy="234000"/>
          </a:xfrm>
          <a:prstGeom prst="rect">
            <a:avLst/>
          </a:prstGeom>
          <a:solidFill>
            <a:schemeClr val="bg1"/>
          </a:solidFill>
          <a:ln w="19050">
            <a:solidFill>
              <a:srgbClr val="00B0F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객체간 </a:t>
            </a:r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association</a:t>
            </a:r>
            <a:endParaRPr lang="ko-KR" altLang="en-US" sz="105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545282" y="5603553"/>
            <a:ext cx="1980000" cy="234000"/>
          </a:xfrm>
          <a:prstGeom prst="rect">
            <a:avLst/>
          </a:prstGeom>
          <a:solidFill>
            <a:schemeClr val="bg1"/>
          </a:solidFill>
          <a:ln w="19050">
            <a:solidFill>
              <a:srgbClr val="007A00"/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정상 검출 장애물 이력 관리</a:t>
            </a:r>
          </a:p>
        </p:txBody>
      </p:sp>
      <p:sp>
        <p:nvSpPr>
          <p:cNvPr id="24" name="순서도: 판단 23"/>
          <p:cNvSpPr/>
          <p:nvPr/>
        </p:nvSpPr>
        <p:spPr>
          <a:xfrm>
            <a:off x="5545282" y="4972044"/>
            <a:ext cx="1980000" cy="468000"/>
          </a:xfrm>
          <a:prstGeom prst="flowChartDecision">
            <a:avLst/>
          </a:prstGeom>
          <a:solidFill>
            <a:schemeClr val="bg1"/>
          </a:solidFill>
          <a:ln w="19050">
            <a:solidFill>
              <a:srgbClr val="007A00"/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장애물 검출 </a:t>
            </a:r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state</a:t>
            </a:r>
            <a:endParaRPr lang="ko-KR" altLang="en-US" sz="105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545282" y="6001062"/>
            <a:ext cx="1980000" cy="234000"/>
          </a:xfrm>
          <a:prstGeom prst="rect">
            <a:avLst/>
          </a:prstGeom>
          <a:solidFill>
            <a:schemeClr val="bg1"/>
          </a:solidFill>
          <a:ln w="19050">
            <a:solidFill>
              <a:srgbClr val="00B0F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정상 인지 장애물 데이터</a:t>
            </a:r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융합</a:t>
            </a:r>
          </a:p>
        </p:txBody>
      </p:sp>
      <p:sp>
        <p:nvSpPr>
          <p:cNvPr id="26" name="직사각형 25"/>
          <p:cNvSpPr/>
          <p:nvPr/>
        </p:nvSpPr>
        <p:spPr>
          <a:xfrm>
            <a:off x="7762645" y="5603553"/>
            <a:ext cx="1980000" cy="234000"/>
          </a:xfrm>
          <a:prstGeom prst="rect">
            <a:avLst/>
          </a:prstGeom>
          <a:solidFill>
            <a:schemeClr val="bg1"/>
          </a:solidFill>
          <a:ln w="19050">
            <a:solidFill>
              <a:srgbClr val="007A00"/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미검출 장애물 이력 관리</a:t>
            </a:r>
          </a:p>
        </p:txBody>
      </p:sp>
      <p:sp>
        <p:nvSpPr>
          <p:cNvPr id="27" name="직사각형 26"/>
          <p:cNvSpPr/>
          <p:nvPr/>
        </p:nvSpPr>
        <p:spPr>
          <a:xfrm>
            <a:off x="3327919" y="5603553"/>
            <a:ext cx="1980000" cy="234000"/>
          </a:xfrm>
          <a:prstGeom prst="rect">
            <a:avLst/>
          </a:prstGeom>
          <a:solidFill>
            <a:schemeClr val="bg1"/>
          </a:solidFill>
          <a:ln w="19050">
            <a:solidFill>
              <a:srgbClr val="007A00"/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신규 검출 장애물 이력 관리</a:t>
            </a:r>
          </a:p>
        </p:txBody>
      </p:sp>
      <p:sp>
        <p:nvSpPr>
          <p:cNvPr id="28" name="직사각형 27"/>
          <p:cNvSpPr/>
          <p:nvPr/>
        </p:nvSpPr>
        <p:spPr>
          <a:xfrm>
            <a:off x="5545282" y="6398575"/>
            <a:ext cx="1980000" cy="234000"/>
          </a:xfrm>
          <a:prstGeom prst="rect">
            <a:avLst/>
          </a:prstGeom>
          <a:solidFill>
            <a:schemeClr val="bg1"/>
          </a:solidFill>
          <a:ln w="19050">
            <a:solidFill>
              <a:srgbClr val="007A00"/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사용</a:t>
            </a:r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/</a:t>
            </a:r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미사용 </a:t>
            </a:r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ID </a:t>
            </a:r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관리</a:t>
            </a:r>
          </a:p>
        </p:txBody>
      </p:sp>
      <p:sp>
        <p:nvSpPr>
          <p:cNvPr id="29" name="직사각형 28"/>
          <p:cNvSpPr/>
          <p:nvPr/>
        </p:nvSpPr>
        <p:spPr>
          <a:xfrm>
            <a:off x="7762645" y="2584765"/>
            <a:ext cx="1980000" cy="234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50" dirty="0" err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측위</a:t>
            </a:r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오류 예외 처리</a:t>
            </a:r>
          </a:p>
        </p:txBody>
      </p:sp>
      <p:sp>
        <p:nvSpPr>
          <p:cNvPr id="30" name="직사각형 29"/>
          <p:cNvSpPr/>
          <p:nvPr/>
        </p:nvSpPr>
        <p:spPr>
          <a:xfrm>
            <a:off x="7762645" y="4574535"/>
            <a:ext cx="1980000" cy="234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융합 오류 예외 처리</a:t>
            </a:r>
          </a:p>
        </p:txBody>
      </p:sp>
      <p:cxnSp>
        <p:nvCxnSpPr>
          <p:cNvPr id="31" name="직선 화살표 연결선 30"/>
          <p:cNvCxnSpPr>
            <a:stCxn id="22" idx="3"/>
            <a:endCxn id="30" idx="1"/>
          </p:cNvCxnSpPr>
          <p:nvPr/>
        </p:nvCxnSpPr>
        <p:spPr>
          <a:xfrm>
            <a:off x="7525282" y="4691535"/>
            <a:ext cx="23736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/>
          <p:cNvCxnSpPr>
            <a:stCxn id="12" idx="2"/>
            <a:endCxn id="17" idx="0"/>
          </p:cNvCxnSpPr>
          <p:nvPr/>
        </p:nvCxnSpPr>
        <p:spPr>
          <a:xfrm>
            <a:off x="6535282" y="2423481"/>
            <a:ext cx="0" cy="16350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/>
          <p:cNvCxnSpPr>
            <a:stCxn id="18" idx="2"/>
            <a:endCxn id="19" idx="0"/>
          </p:cNvCxnSpPr>
          <p:nvPr/>
        </p:nvCxnSpPr>
        <p:spPr>
          <a:xfrm>
            <a:off x="6535282" y="3218499"/>
            <a:ext cx="0" cy="16350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/>
          <p:cNvCxnSpPr>
            <a:stCxn id="27" idx="2"/>
            <a:endCxn id="49" idx="0"/>
          </p:cNvCxnSpPr>
          <p:nvPr/>
        </p:nvCxnSpPr>
        <p:spPr>
          <a:xfrm flipH="1">
            <a:off x="4317918" y="5837553"/>
            <a:ext cx="1" cy="16350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/>
          <p:cNvCxnSpPr>
            <a:stCxn id="24" idx="2"/>
            <a:endCxn id="23" idx="0"/>
          </p:cNvCxnSpPr>
          <p:nvPr/>
        </p:nvCxnSpPr>
        <p:spPr>
          <a:xfrm>
            <a:off x="6535282" y="5440044"/>
            <a:ext cx="0" cy="16350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/>
          <p:cNvCxnSpPr>
            <a:stCxn id="22" idx="2"/>
            <a:endCxn id="24" idx="0"/>
          </p:cNvCxnSpPr>
          <p:nvPr/>
        </p:nvCxnSpPr>
        <p:spPr>
          <a:xfrm>
            <a:off x="6535282" y="4808535"/>
            <a:ext cx="0" cy="16350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/>
          <p:cNvCxnSpPr>
            <a:stCxn id="21" idx="2"/>
            <a:endCxn id="22" idx="0"/>
          </p:cNvCxnSpPr>
          <p:nvPr/>
        </p:nvCxnSpPr>
        <p:spPr>
          <a:xfrm>
            <a:off x="6535282" y="4411026"/>
            <a:ext cx="0" cy="16350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/>
          <p:cNvCxnSpPr>
            <a:stCxn id="17" idx="3"/>
            <a:endCxn id="29" idx="1"/>
          </p:cNvCxnSpPr>
          <p:nvPr/>
        </p:nvCxnSpPr>
        <p:spPr>
          <a:xfrm flipV="1">
            <a:off x="7525282" y="2701765"/>
            <a:ext cx="237363" cy="22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/>
          <p:cNvCxnSpPr>
            <a:stCxn id="15" idx="2"/>
            <a:endCxn id="11" idx="0"/>
          </p:cNvCxnSpPr>
          <p:nvPr/>
        </p:nvCxnSpPr>
        <p:spPr>
          <a:xfrm>
            <a:off x="6535282" y="1394463"/>
            <a:ext cx="0" cy="16350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/>
          <p:cNvCxnSpPr>
            <a:stCxn id="17" idx="2"/>
            <a:endCxn id="18" idx="0"/>
          </p:cNvCxnSpPr>
          <p:nvPr/>
        </p:nvCxnSpPr>
        <p:spPr>
          <a:xfrm>
            <a:off x="6535282" y="2820990"/>
            <a:ext cx="0" cy="16350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/>
          <p:cNvCxnSpPr>
            <a:stCxn id="20" idx="2"/>
            <a:endCxn id="21" idx="0"/>
          </p:cNvCxnSpPr>
          <p:nvPr/>
        </p:nvCxnSpPr>
        <p:spPr>
          <a:xfrm>
            <a:off x="6535282" y="4013517"/>
            <a:ext cx="0" cy="16350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41"/>
          <p:cNvCxnSpPr>
            <a:stCxn id="25" idx="2"/>
            <a:endCxn id="28" idx="0"/>
          </p:cNvCxnSpPr>
          <p:nvPr/>
        </p:nvCxnSpPr>
        <p:spPr>
          <a:xfrm>
            <a:off x="6535282" y="6235062"/>
            <a:ext cx="0" cy="16351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/>
          <p:cNvCxnSpPr>
            <a:stCxn id="12" idx="3"/>
            <a:endCxn id="16" idx="1"/>
          </p:cNvCxnSpPr>
          <p:nvPr/>
        </p:nvCxnSpPr>
        <p:spPr>
          <a:xfrm>
            <a:off x="7525282" y="2189481"/>
            <a:ext cx="23736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43"/>
          <p:cNvCxnSpPr>
            <a:stCxn id="11" idx="2"/>
            <a:endCxn id="12" idx="0"/>
          </p:cNvCxnSpPr>
          <p:nvPr/>
        </p:nvCxnSpPr>
        <p:spPr>
          <a:xfrm>
            <a:off x="6535282" y="1791972"/>
            <a:ext cx="0" cy="16350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화살표 연결선 44"/>
          <p:cNvCxnSpPr>
            <a:stCxn id="19" idx="2"/>
            <a:endCxn id="20" idx="0"/>
          </p:cNvCxnSpPr>
          <p:nvPr/>
        </p:nvCxnSpPr>
        <p:spPr>
          <a:xfrm>
            <a:off x="6535282" y="3616008"/>
            <a:ext cx="0" cy="16350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꺾인 연결선 45"/>
          <p:cNvCxnSpPr>
            <a:stCxn id="24" idx="1"/>
            <a:endCxn id="27" idx="0"/>
          </p:cNvCxnSpPr>
          <p:nvPr/>
        </p:nvCxnSpPr>
        <p:spPr>
          <a:xfrm rot="10800000" flipV="1">
            <a:off x="4317920" y="5206043"/>
            <a:ext cx="1227363" cy="39750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꺾인 연결선 46"/>
          <p:cNvCxnSpPr>
            <a:stCxn id="49" idx="2"/>
            <a:endCxn id="28" idx="1"/>
          </p:cNvCxnSpPr>
          <p:nvPr/>
        </p:nvCxnSpPr>
        <p:spPr>
          <a:xfrm rot="16200000" flipH="1">
            <a:off x="4791344" y="5761636"/>
            <a:ext cx="280513" cy="1227364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꺾인 연결선 47"/>
          <p:cNvCxnSpPr>
            <a:stCxn id="26" idx="2"/>
            <a:endCxn id="28" idx="3"/>
          </p:cNvCxnSpPr>
          <p:nvPr/>
        </p:nvCxnSpPr>
        <p:spPr>
          <a:xfrm rot="5400000">
            <a:off x="7799953" y="5562883"/>
            <a:ext cx="678022" cy="122736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직사각형 48"/>
          <p:cNvSpPr/>
          <p:nvPr/>
        </p:nvSpPr>
        <p:spPr>
          <a:xfrm>
            <a:off x="3327918" y="6001062"/>
            <a:ext cx="1980000" cy="234000"/>
          </a:xfrm>
          <a:prstGeom prst="rect">
            <a:avLst/>
          </a:prstGeom>
          <a:solidFill>
            <a:schemeClr val="bg1"/>
          </a:solidFill>
          <a:ln w="19050">
            <a:solidFill>
              <a:srgbClr val="00B0F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신규 검출 장애물 데이터</a:t>
            </a:r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융합</a:t>
            </a:r>
          </a:p>
        </p:txBody>
      </p:sp>
      <p:sp>
        <p:nvSpPr>
          <p:cNvPr id="50" name="타원 49"/>
          <p:cNvSpPr/>
          <p:nvPr/>
        </p:nvSpPr>
        <p:spPr>
          <a:xfrm>
            <a:off x="7430563" y="2467050"/>
            <a:ext cx="252000" cy="252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rPr>
              <a:t>2</a:t>
            </a:r>
            <a:endParaRPr lang="ko-KR" altLang="en-US" sz="9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Arial" panose="020B0604020202020204" pitchFamily="34" charset="0"/>
              <a:ea typeface="KoPub돋움체 Bold" panose="02020603020101020101" pitchFamily="18" charset="-127"/>
              <a:cs typeface="Arial" panose="020B0604020202020204" pitchFamily="34" charset="0"/>
            </a:endParaRPr>
          </a:p>
        </p:txBody>
      </p:sp>
      <p:sp>
        <p:nvSpPr>
          <p:cNvPr id="52" name="타원 51"/>
          <p:cNvSpPr/>
          <p:nvPr/>
        </p:nvSpPr>
        <p:spPr>
          <a:xfrm>
            <a:off x="7430563" y="4086271"/>
            <a:ext cx="252000" cy="252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rPr>
              <a:t>4</a:t>
            </a:r>
            <a:endParaRPr lang="ko-KR" altLang="en-US" sz="9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Arial" panose="020B0604020202020204" pitchFamily="34" charset="0"/>
              <a:ea typeface="KoPub돋움체 Bold" panose="02020603020101020101" pitchFamily="18" charset="-127"/>
              <a:cs typeface="Arial" panose="020B0604020202020204" pitchFamily="34" charset="0"/>
            </a:endParaRPr>
          </a:p>
        </p:txBody>
      </p:sp>
      <p:sp>
        <p:nvSpPr>
          <p:cNvPr id="53" name="타원 52"/>
          <p:cNvSpPr/>
          <p:nvPr/>
        </p:nvSpPr>
        <p:spPr>
          <a:xfrm>
            <a:off x="7430563" y="4462790"/>
            <a:ext cx="252000" cy="252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rPr>
              <a:t>5</a:t>
            </a:r>
            <a:endParaRPr lang="ko-KR" altLang="en-US" sz="9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Arial" panose="020B0604020202020204" pitchFamily="34" charset="0"/>
              <a:ea typeface="KoPub돋움체 Bold" panose="02020603020101020101" pitchFamily="18" charset="-127"/>
              <a:cs typeface="Arial" panose="020B0604020202020204" pitchFamily="34" charset="0"/>
            </a:endParaRPr>
          </a:p>
        </p:txBody>
      </p:sp>
      <p:sp>
        <p:nvSpPr>
          <p:cNvPr id="54" name="타원 53"/>
          <p:cNvSpPr/>
          <p:nvPr/>
        </p:nvSpPr>
        <p:spPr>
          <a:xfrm>
            <a:off x="7430563" y="5477547"/>
            <a:ext cx="252000" cy="252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rPr>
              <a:t>6</a:t>
            </a:r>
            <a:endParaRPr lang="ko-KR" altLang="en-US" sz="9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Arial" panose="020B0604020202020204" pitchFamily="34" charset="0"/>
              <a:ea typeface="KoPub돋움체 Bold" panose="02020603020101020101" pitchFamily="18" charset="-127"/>
              <a:cs typeface="Arial" panose="020B0604020202020204" pitchFamily="34" charset="0"/>
            </a:endParaRPr>
          </a:p>
        </p:txBody>
      </p:sp>
      <p:sp>
        <p:nvSpPr>
          <p:cNvPr id="55" name="타원 54"/>
          <p:cNvSpPr/>
          <p:nvPr/>
        </p:nvSpPr>
        <p:spPr>
          <a:xfrm>
            <a:off x="5300600" y="5992061"/>
            <a:ext cx="252000" cy="252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rPr>
              <a:t>7</a:t>
            </a:r>
            <a:endParaRPr lang="ko-KR" altLang="en-US" sz="9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Arial" panose="020B0604020202020204" pitchFamily="34" charset="0"/>
              <a:ea typeface="KoPub돋움체 Bold" panose="02020603020101020101" pitchFamily="18" charset="-127"/>
              <a:cs typeface="Arial" panose="020B0604020202020204" pitchFamily="34" charset="0"/>
            </a:endParaRPr>
          </a:p>
        </p:txBody>
      </p:sp>
      <p:sp>
        <p:nvSpPr>
          <p:cNvPr id="56" name="타원 55"/>
          <p:cNvSpPr/>
          <p:nvPr/>
        </p:nvSpPr>
        <p:spPr>
          <a:xfrm>
            <a:off x="5103069" y="5468553"/>
            <a:ext cx="252000" cy="252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rPr>
              <a:t>8</a:t>
            </a:r>
            <a:endParaRPr lang="ko-KR" altLang="en-US" sz="9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Arial" panose="020B0604020202020204" pitchFamily="34" charset="0"/>
              <a:ea typeface="KoPub돋움체 Bold" panose="02020603020101020101" pitchFamily="18" charset="-127"/>
              <a:cs typeface="Arial" panose="020B0604020202020204" pitchFamily="34" charset="0"/>
            </a:endParaRPr>
          </a:p>
        </p:txBody>
      </p:sp>
      <p:sp>
        <p:nvSpPr>
          <p:cNvPr id="57" name="타원 56"/>
          <p:cNvSpPr/>
          <p:nvPr/>
        </p:nvSpPr>
        <p:spPr>
          <a:xfrm>
            <a:off x="7751648" y="5477553"/>
            <a:ext cx="252000" cy="252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rPr>
              <a:t>9</a:t>
            </a:r>
            <a:endParaRPr lang="ko-KR" altLang="en-US" sz="9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Arial" panose="020B0604020202020204" pitchFamily="34" charset="0"/>
              <a:ea typeface="KoPub돋움체 Bold" panose="02020603020101020101" pitchFamily="18" charset="-127"/>
              <a:cs typeface="Arial" panose="020B0604020202020204" pitchFamily="34" charset="0"/>
            </a:endParaRPr>
          </a:p>
        </p:txBody>
      </p:sp>
      <p:sp>
        <p:nvSpPr>
          <p:cNvPr id="58" name="타원 57"/>
          <p:cNvSpPr/>
          <p:nvPr/>
        </p:nvSpPr>
        <p:spPr>
          <a:xfrm>
            <a:off x="7430563" y="6310081"/>
            <a:ext cx="252000" cy="252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rPr>
              <a:t>10</a:t>
            </a:r>
            <a:endParaRPr lang="ko-KR" altLang="en-US" sz="9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Arial" panose="020B0604020202020204" pitchFamily="34" charset="0"/>
              <a:ea typeface="KoPub돋움체 Bold" panose="02020603020101020101" pitchFamily="18" charset="-127"/>
              <a:cs typeface="Arial" panose="020B0604020202020204" pitchFamily="34" charset="0"/>
            </a:endParaRPr>
          </a:p>
        </p:txBody>
      </p:sp>
      <p:sp>
        <p:nvSpPr>
          <p:cNvPr id="7" name="왼쪽 중괄호 6"/>
          <p:cNvSpPr/>
          <p:nvPr/>
        </p:nvSpPr>
        <p:spPr>
          <a:xfrm>
            <a:off x="5351417" y="1277463"/>
            <a:ext cx="150368" cy="1146018"/>
          </a:xfrm>
          <a:prstGeom prst="leftBrace">
            <a:avLst>
              <a:gd name="adj1" fmla="val 250081"/>
              <a:gd name="adj2" fmla="val 50000"/>
            </a:avLst>
          </a:prstGeom>
          <a:ln w="190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타원 58"/>
          <p:cNvSpPr/>
          <p:nvPr/>
        </p:nvSpPr>
        <p:spPr>
          <a:xfrm>
            <a:off x="5103069" y="1724472"/>
            <a:ext cx="252000" cy="252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rPr>
              <a:t>1</a:t>
            </a:r>
            <a:endParaRPr lang="ko-KR" altLang="en-US" sz="9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Arial" panose="020B0604020202020204" pitchFamily="34" charset="0"/>
              <a:ea typeface="KoPub돋움체 Bold" panose="02020603020101020101" pitchFamily="18" charset="-127"/>
              <a:cs typeface="Arial" panose="020B0604020202020204" pitchFamily="34" charset="0"/>
            </a:endParaRPr>
          </a:p>
        </p:txBody>
      </p:sp>
      <p:sp>
        <p:nvSpPr>
          <p:cNvPr id="60" name="왼쪽 중괄호 59"/>
          <p:cNvSpPr/>
          <p:nvPr/>
        </p:nvSpPr>
        <p:spPr>
          <a:xfrm>
            <a:off x="5351417" y="3052380"/>
            <a:ext cx="150368" cy="903670"/>
          </a:xfrm>
          <a:prstGeom prst="leftBrace">
            <a:avLst>
              <a:gd name="adj1" fmla="val 250081"/>
              <a:gd name="adj2" fmla="val 50000"/>
            </a:avLst>
          </a:prstGeom>
          <a:ln w="190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타원 60"/>
          <p:cNvSpPr/>
          <p:nvPr/>
        </p:nvSpPr>
        <p:spPr>
          <a:xfrm>
            <a:off x="5103069" y="3374481"/>
            <a:ext cx="252000" cy="252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rPr>
              <a:t>3</a:t>
            </a:r>
            <a:endParaRPr lang="ko-KR" altLang="en-US" sz="9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Arial" panose="020B0604020202020204" pitchFamily="34" charset="0"/>
              <a:ea typeface="KoPub돋움체 Bold" panose="02020603020101020101" pitchFamily="18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23156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① </a:t>
            </a:r>
            <a:r>
              <a:rPr lang="ko-KR" altLang="en-US" dirty="0"/>
              <a:t>입력 데이터 준비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F55F954-5E86-475A-837F-2B8CED6C7DF1}" type="slidenum">
              <a:rPr lang="ko-KR" altLang="en-US" smtClean="0"/>
              <a:pPr/>
              <a:t>14</a:t>
            </a:fld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381000" y="873125"/>
            <a:ext cx="9144000" cy="1597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5256" indent="-95256"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buFont typeface="Wingdings" panose="05000000000000000000" pitchFamily="2" charset="2"/>
              <a:buChar char="§"/>
              <a:defRPr/>
            </a:pPr>
            <a:r>
              <a:rPr lang="ko-KR" altLang="en-US" sz="1300" b="1" kern="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개요</a:t>
            </a:r>
            <a:endParaRPr lang="en-US" altLang="ko-KR" sz="1300" b="1" kern="0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동작 주기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(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現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100msec)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가 돌아오면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, </a:t>
            </a: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유효한 시간 범위 내에 장애물 데이터 및 </a:t>
            </a:r>
            <a:r>
              <a:rPr lang="ko-KR" altLang="en-US" sz="1300" kern="0" dirty="0" err="1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측위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데이터가 존재하는지 확인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 err="1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차량별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인지 데이터 변수를 준비 한다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.</a:t>
            </a: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⑦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에 설명할 표준편차 계산을 여기에서 처리 필요</a:t>
            </a:r>
            <a:endParaRPr lang="en-US" altLang="ko-KR" sz="1300" kern="0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953000" y="2126213"/>
            <a:ext cx="4572000" cy="45063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spcBef>
                <a:spcPts val="150"/>
              </a:spcBef>
              <a:spcAft>
                <a:spcPts val="150"/>
              </a:spcAft>
              <a:buFontTx/>
              <a:buChar char="-"/>
            </a:pPr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Obstacle(N)(M) </a:t>
            </a:r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구성</a:t>
            </a:r>
            <a:b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</a:br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1) </a:t>
            </a:r>
            <a:r>
              <a:rPr lang="en-US" altLang="ko-KR" sz="1050" dirty="0" err="1">
                <a:ln>
                  <a:solidFill>
                    <a:schemeClr val="tx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obstacle_time</a:t>
            </a:r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: </a:t>
            </a:r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검출</a:t>
            </a:r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시각</a:t>
            </a:r>
            <a:b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</a:br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2) </a:t>
            </a:r>
            <a:r>
              <a:rPr lang="en-US" altLang="ko-KR" sz="1050" dirty="0" err="1">
                <a:ln>
                  <a:solidFill>
                    <a:schemeClr val="tx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obstacle_x</a:t>
            </a:r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: (TBD) </a:t>
            </a:r>
            <a:r>
              <a:rPr lang="ko-KR" altLang="en-US" sz="1050" dirty="0" err="1">
                <a:ln>
                  <a:solidFill>
                    <a:schemeClr val="tx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자차</a:t>
            </a:r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기준 </a:t>
            </a:r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longitudinal distance</a:t>
            </a:r>
            <a:b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</a:br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3) </a:t>
            </a:r>
            <a:r>
              <a:rPr lang="en-US" altLang="ko-KR" sz="1050" dirty="0" err="1">
                <a:ln>
                  <a:solidFill>
                    <a:schemeClr val="tx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obstacle_y</a:t>
            </a:r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: (TBD) </a:t>
            </a:r>
            <a:r>
              <a:rPr lang="ko-KR" altLang="en-US" sz="1050" dirty="0" err="1">
                <a:ln>
                  <a:solidFill>
                    <a:schemeClr val="tx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자차</a:t>
            </a:r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기준 </a:t>
            </a:r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lateral distance</a:t>
            </a:r>
            <a:b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</a:br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4) </a:t>
            </a:r>
            <a:r>
              <a:rPr lang="en-US" altLang="ko-KR" sz="1050" dirty="0" err="1">
                <a:ln>
                  <a:solidFill>
                    <a:schemeClr val="tx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obstacle_vx</a:t>
            </a:r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: (TBD) X </a:t>
            </a:r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방향</a:t>
            </a:r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상대 속도</a:t>
            </a:r>
            <a:b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</a:br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5) </a:t>
            </a:r>
            <a:r>
              <a:rPr lang="en-US" altLang="ko-KR" sz="1050" dirty="0" err="1">
                <a:ln>
                  <a:solidFill>
                    <a:schemeClr val="tx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obstacle_vy</a:t>
            </a:r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: (TBD) Y </a:t>
            </a:r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방향 상대 속도</a:t>
            </a:r>
            <a:b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</a:br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6) </a:t>
            </a:r>
            <a:r>
              <a:rPr lang="en-US" altLang="ko-KR" sz="1050" dirty="0" err="1">
                <a:ln>
                  <a:solidFill>
                    <a:schemeClr val="tx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obstacle_type</a:t>
            </a:r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: (TBD) 0:</a:t>
            </a:r>
            <a:r>
              <a:rPr lang="ko-KR" altLang="en-US" sz="1050" dirty="0" err="1">
                <a:ln>
                  <a:solidFill>
                    <a:schemeClr val="tx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아동급</a:t>
            </a:r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, 1:</a:t>
            </a:r>
            <a:r>
              <a:rPr lang="ko-KR" altLang="en-US" sz="1050" dirty="0" err="1">
                <a:ln>
                  <a:solidFill>
                    <a:schemeClr val="tx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성인급</a:t>
            </a:r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, 2:</a:t>
            </a:r>
            <a:r>
              <a:rPr lang="ko-KR" altLang="en-US" sz="1050" dirty="0" err="1">
                <a:ln>
                  <a:solidFill>
                    <a:schemeClr val="tx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차량급</a:t>
            </a:r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b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</a:br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7) </a:t>
            </a:r>
            <a:r>
              <a:rPr lang="en-US" altLang="ko-KR" sz="1050" dirty="0" err="1">
                <a:ln>
                  <a:solidFill>
                    <a:schemeClr val="tx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obstacle_w</a:t>
            </a:r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: (TBD) </a:t>
            </a:r>
            <a:r>
              <a:rPr lang="ko-KR" altLang="en-US" sz="1050" dirty="0" err="1">
                <a:ln>
                  <a:solidFill>
                    <a:schemeClr val="tx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자차</a:t>
            </a:r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기준 좌우</a:t>
            </a:r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폭</a:t>
            </a:r>
            <a:b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</a:br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8) </a:t>
            </a:r>
            <a:r>
              <a:rPr lang="en-US" altLang="ko-KR" sz="1050" dirty="0" err="1">
                <a:ln>
                  <a:solidFill>
                    <a:schemeClr val="tx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obstacle_l</a:t>
            </a:r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: (TBD) </a:t>
            </a:r>
            <a:r>
              <a:rPr lang="ko-KR" altLang="en-US" sz="1050" dirty="0" err="1">
                <a:ln>
                  <a:solidFill>
                    <a:schemeClr val="tx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자차</a:t>
            </a:r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기준 전후 깊이 </a:t>
            </a:r>
            <a:b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</a:br>
            <a:endParaRPr lang="en-US" altLang="ko-KR" sz="1050" dirty="0">
              <a:ln>
                <a:solidFill>
                  <a:schemeClr val="tx1">
                    <a:alpha val="0"/>
                  </a:schemeClr>
                </a:solidFill>
              </a:ln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marL="171450" indent="-171450">
              <a:lnSpc>
                <a:spcPct val="150000"/>
              </a:lnSpc>
              <a:spcBef>
                <a:spcPts val="150"/>
              </a:spcBef>
              <a:spcAft>
                <a:spcPts val="150"/>
              </a:spcAft>
              <a:buFontTx/>
              <a:buChar char="-"/>
            </a:pPr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Vehicle(N)</a:t>
            </a:r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구성</a:t>
            </a:r>
            <a:b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</a:br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1) </a:t>
            </a:r>
            <a:r>
              <a:rPr lang="en-US" altLang="ko-KR" sz="1050" dirty="0" err="1">
                <a:ln>
                  <a:solidFill>
                    <a:schemeClr val="tx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vehicle_time</a:t>
            </a:r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: </a:t>
            </a:r>
            <a:r>
              <a:rPr lang="ko-KR" altLang="en-US" sz="1050" dirty="0" err="1">
                <a:ln>
                  <a:solidFill>
                    <a:schemeClr val="tx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측위</a:t>
            </a:r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시각 </a:t>
            </a:r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(TBD: </a:t>
            </a:r>
            <a:r>
              <a:rPr lang="en-US" altLang="ko-KR" sz="1050" dirty="0" err="1">
                <a:ln>
                  <a:solidFill>
                    <a:schemeClr val="tx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obstacle_time</a:t>
            </a:r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(N)</a:t>
            </a:r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과 동일</a:t>
            </a:r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?)</a:t>
            </a:r>
            <a:b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</a:br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2) </a:t>
            </a:r>
            <a:r>
              <a:rPr lang="en-US" altLang="ko-KR" sz="1050" dirty="0" err="1">
                <a:ln>
                  <a:solidFill>
                    <a:schemeClr val="tx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vehicle_n</a:t>
            </a:r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: (TBD) </a:t>
            </a:r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위도로 표시된 </a:t>
            </a:r>
            <a:r>
              <a:rPr lang="ko-KR" altLang="en-US" sz="1050" dirty="0" err="1">
                <a:ln>
                  <a:solidFill>
                    <a:schemeClr val="tx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자차</a:t>
            </a:r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좌표 </a:t>
            </a:r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(</a:t>
            </a:r>
            <a:r>
              <a:rPr lang="ko-KR" altLang="en-US" sz="1050" dirty="0" err="1">
                <a:ln>
                  <a:solidFill>
                    <a:schemeClr val="tx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변환식</a:t>
            </a:r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별첨</a:t>
            </a:r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)</a:t>
            </a:r>
            <a:b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</a:br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3) </a:t>
            </a:r>
            <a:r>
              <a:rPr lang="en-US" altLang="ko-KR" sz="1050" dirty="0" err="1">
                <a:ln>
                  <a:solidFill>
                    <a:schemeClr val="tx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vehicle_e</a:t>
            </a:r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: (TBD) </a:t>
            </a:r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경도로</a:t>
            </a:r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표시된 </a:t>
            </a:r>
            <a:r>
              <a:rPr lang="ko-KR" altLang="en-US" sz="1050" dirty="0" err="1">
                <a:ln>
                  <a:solidFill>
                    <a:schemeClr val="tx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자차</a:t>
            </a:r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좌표 </a:t>
            </a:r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(</a:t>
            </a:r>
            <a:r>
              <a:rPr lang="ko-KR" altLang="en-US" sz="1050" dirty="0" err="1">
                <a:ln>
                  <a:solidFill>
                    <a:schemeClr val="tx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변환식</a:t>
            </a:r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별첨</a:t>
            </a:r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)</a:t>
            </a:r>
            <a:b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</a:br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4) </a:t>
            </a:r>
            <a:r>
              <a:rPr lang="en-US" altLang="ko-KR" sz="1050" dirty="0" err="1">
                <a:ln>
                  <a:solidFill>
                    <a:schemeClr val="tx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vehicle_vx</a:t>
            </a:r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: x</a:t>
            </a:r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방향 속도</a:t>
            </a:r>
            <a:b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</a:br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5) vehicle_vy : y</a:t>
            </a:r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방향 속도</a:t>
            </a:r>
            <a:b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</a:br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6) </a:t>
            </a:r>
            <a:r>
              <a:rPr lang="en-US" altLang="ko-KR" sz="1050" dirty="0" err="1">
                <a:ln>
                  <a:solidFill>
                    <a:schemeClr val="tx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vehicle_ha</a:t>
            </a:r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: heading angle (2D, </a:t>
            </a:r>
            <a:r>
              <a:rPr lang="ko-KR" altLang="en-US" sz="1050" dirty="0" err="1">
                <a:ln>
                  <a:solidFill>
                    <a:schemeClr val="tx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진북</a:t>
            </a:r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기준 방향각</a:t>
            </a:r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)</a:t>
            </a:r>
            <a:b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</a:br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7) </a:t>
            </a:r>
            <a:r>
              <a:rPr lang="en-US" altLang="ko-KR" sz="1050" dirty="0" err="1">
                <a:ln>
                  <a:solidFill>
                    <a:schemeClr val="tx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vehicle_YR</a:t>
            </a:r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: </a:t>
            </a:r>
            <a:r>
              <a:rPr lang="ko-KR" altLang="en-US" sz="1050" dirty="0" err="1">
                <a:ln>
                  <a:solidFill>
                    <a:schemeClr val="tx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반시계</a:t>
            </a:r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방향 기준 각속도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381000" y="2639640"/>
            <a:ext cx="4572000" cy="3729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5256" indent="-95256"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buFont typeface="Wingdings" panose="05000000000000000000" pitchFamily="2" charset="2"/>
              <a:buChar char="§"/>
              <a:defRPr/>
            </a:pPr>
            <a:r>
              <a:rPr lang="ko-KR" altLang="en-US" sz="1300" b="1" kern="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알고리즘</a:t>
            </a:r>
            <a:r>
              <a:rPr lang="en-US" altLang="ko-KR" sz="1300" b="1" kern="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</a:t>
            </a:r>
            <a:r>
              <a:rPr lang="ko-KR" altLang="en-US" sz="1300" b="1" kern="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설명</a:t>
            </a:r>
            <a:endParaRPr lang="en-US" altLang="ko-KR" sz="1300" b="1" kern="0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동작 시각을 확인하여 변수 세팅 </a:t>
            </a:r>
            <a:b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</a:b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  (T_L3fusion_old, T_L3fusion)</a:t>
            </a: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N0~4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에 대하여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, (0: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특장차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, 1~4: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보조차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)</a:t>
            </a:r>
            <a:b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</a:b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 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각각의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N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에 대해서 최신 수신 데이터를 </a:t>
            </a:r>
            <a:b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</a:b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 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기준으로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Obstacle(N)(M)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의 구조체를 채움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  ※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생성 시점이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T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범위 내에 위치하는지는 확인하지 않는다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.</a:t>
            </a:r>
            <a:b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</a:b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N0~4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에 대하여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,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해당 데이터가 없는 경우 예외 처리 </a:t>
            </a:r>
            <a:b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</a:b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  (TBD :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예외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처리는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2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차년도에 개발 예정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)</a:t>
            </a: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N0~4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에 대하여 최신 데이터를 기준으로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Vehicle(N)</a:t>
            </a:r>
            <a:b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</a:b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 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구조체를 채움</a:t>
            </a:r>
            <a:b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</a:b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  (TBD :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예외 처리는 상기와 동일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4249161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순서도: 처리 6"/>
          <p:cNvSpPr/>
          <p:nvPr/>
        </p:nvSpPr>
        <p:spPr>
          <a:xfrm>
            <a:off x="4952998" y="3955983"/>
            <a:ext cx="4572001" cy="267659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5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74846" y="213862"/>
            <a:ext cx="6720682" cy="384721"/>
          </a:xfrm>
        </p:spPr>
        <p:txBody>
          <a:bodyPr/>
          <a:lstStyle/>
          <a:p>
            <a:r>
              <a:rPr lang="en-US" altLang="ko-KR" dirty="0"/>
              <a:t>② </a:t>
            </a:r>
            <a:r>
              <a:rPr lang="ko-KR" altLang="en-US" dirty="0"/>
              <a:t>차량 </a:t>
            </a:r>
            <a:r>
              <a:rPr lang="ko-KR" altLang="en-US" dirty="0" err="1"/>
              <a:t>측위</a:t>
            </a:r>
            <a:r>
              <a:rPr lang="ko-KR" altLang="en-US" dirty="0"/>
              <a:t> </a:t>
            </a:r>
            <a:r>
              <a:rPr lang="ko-KR" altLang="en-US" dirty="0" err="1"/>
              <a:t>좌표계</a:t>
            </a:r>
            <a:r>
              <a:rPr lang="ko-KR" altLang="en-US" dirty="0"/>
              <a:t> 변경 </a:t>
            </a:r>
            <a:r>
              <a:rPr lang="en-US" altLang="ko-KR" dirty="0"/>
              <a:t>(1/2)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F55F954-5E86-475A-837F-2B8CED6C7DF1}" type="slidenum">
              <a:rPr lang="ko-KR" altLang="en-US" smtClean="0"/>
              <a:pPr/>
              <a:t>15</a:t>
            </a:fld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381000" y="873125"/>
            <a:ext cx="4572000" cy="211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5256" indent="-95256"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buFont typeface="Wingdings" panose="05000000000000000000" pitchFamily="2" charset="2"/>
              <a:buChar char="§"/>
              <a:defRPr/>
            </a:pPr>
            <a:r>
              <a:rPr lang="ko-KR" altLang="en-US" sz="1300" b="1" kern="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기준 </a:t>
            </a:r>
            <a:r>
              <a:rPr lang="ko-KR" altLang="en-US" sz="1300" b="1" kern="0" dirty="0" err="1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좌표계</a:t>
            </a:r>
            <a:r>
              <a:rPr lang="ko-KR" altLang="en-US" sz="1300" b="1" kern="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변경 개요</a:t>
            </a:r>
            <a:endParaRPr lang="en-US" altLang="ko-KR" sz="1300" b="1" kern="0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L3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알고리즘에서 사용하는 기준 </a:t>
            </a:r>
            <a:r>
              <a:rPr lang="ko-KR" altLang="en-US" sz="1300" kern="0" dirty="0" err="1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좌표계를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별도로 정의한다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.</a:t>
            </a: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다양한 </a:t>
            </a:r>
            <a:r>
              <a:rPr lang="ko-KR" altLang="en-US" sz="1300" kern="0" dirty="0" err="1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좌표계를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통일하여 연산 효율성 향상 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작업 영역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(500m X 500m)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대상으로 </a:t>
            </a:r>
            <a:b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</a:b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 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자체적인 원점과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X-Y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방향을 갖는 </a:t>
            </a:r>
            <a:r>
              <a:rPr lang="ko-KR" altLang="en-US" sz="1300" kern="0" dirty="0" err="1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좌표계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신규 정의 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 err="1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작업지점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1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의 위경도 좌표를 원점으로 설정 </a:t>
            </a:r>
            <a:b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</a:b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 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동경 방향을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X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로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,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북위 방향을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Y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로 정의 </a:t>
            </a:r>
            <a:endParaRPr lang="en-US" altLang="ko-KR" sz="1300" kern="0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381000" y="3991085"/>
            <a:ext cx="4572000" cy="2318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5256" indent="-95256"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buFont typeface="Wingdings" panose="05000000000000000000" pitchFamily="2" charset="2"/>
              <a:buChar char="§"/>
              <a:defRPr/>
            </a:pPr>
            <a:r>
              <a:rPr lang="ko-KR" altLang="en-US" sz="1300" b="1" kern="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</a:t>
            </a:r>
            <a:r>
              <a:rPr lang="en-US" altLang="ko-KR" sz="1300" b="1" kern="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GPS </a:t>
            </a:r>
            <a:r>
              <a:rPr lang="ko-KR" altLang="en-US" sz="1300" b="1" kern="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변환</a:t>
            </a:r>
            <a:endParaRPr lang="en-US" altLang="ko-KR" sz="1300" b="1" kern="0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작업 지점에 대하여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1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도에 대한 기준 거리를 계산하여 </a:t>
            </a:r>
            <a:b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</a:b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  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비례식 적용</a:t>
            </a:r>
            <a:b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</a:b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  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→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(TBD)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처리 속도를 고려하여 오차는 무시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flat surface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를 가정하여 계산 </a:t>
            </a:r>
            <a:b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</a:b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  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→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(TBD) 250m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작업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반경에서 오차는 무시 가능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 err="1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위도별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LUT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를 적용하여 고속 처리 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0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  (https://en.wikipedia.org/wiki/Geographical_distance)</a:t>
            </a:r>
          </a:p>
        </p:txBody>
      </p:sp>
      <p:graphicFrame>
        <p:nvGraphicFramePr>
          <p:cNvPr id="9" name="표 8"/>
          <p:cNvGraphicFramePr>
            <a:graphicFrameLocks noGrp="1"/>
          </p:cNvGraphicFramePr>
          <p:nvPr/>
        </p:nvGraphicFramePr>
        <p:xfrm>
          <a:off x="4952999" y="1194157"/>
          <a:ext cx="4572001" cy="25165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93797">
                  <a:extLst>
                    <a:ext uri="{9D8B030D-6E8A-4147-A177-3AD203B41FA5}">
                      <a16:colId xmlns:a16="http://schemas.microsoft.com/office/drawing/2014/main" val="434892236"/>
                    </a:ext>
                  </a:extLst>
                </a:gridCol>
                <a:gridCol w="1414913">
                  <a:extLst>
                    <a:ext uri="{9D8B030D-6E8A-4147-A177-3AD203B41FA5}">
                      <a16:colId xmlns:a16="http://schemas.microsoft.com/office/drawing/2014/main" val="3499238781"/>
                    </a:ext>
                  </a:extLst>
                </a:gridCol>
                <a:gridCol w="1863291">
                  <a:extLst>
                    <a:ext uri="{9D8B030D-6E8A-4147-A177-3AD203B41FA5}">
                      <a16:colId xmlns:a16="http://schemas.microsoft.com/office/drawing/2014/main" val="3485199855"/>
                    </a:ext>
                  </a:extLst>
                </a:gridCol>
              </a:tblGrid>
              <a:tr h="29181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dirty="0"/>
                        <a:t>사용 대상</a:t>
                      </a:r>
                    </a:p>
                  </a:txBody>
                  <a:tcPr marL="54000" marR="54000" marT="25200" marB="25200">
                    <a:lnR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dirty="0" err="1"/>
                        <a:t>좌표계</a:t>
                      </a:r>
                      <a:r>
                        <a:rPr lang="ko-KR" altLang="en-US" sz="1000" dirty="0"/>
                        <a:t> 종류</a:t>
                      </a:r>
                    </a:p>
                  </a:txBody>
                  <a:tcPr marL="54000" marR="54000" marT="25200" marB="25200">
                    <a:lnL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dirty="0" err="1"/>
                        <a:t>좌표계</a:t>
                      </a:r>
                      <a:r>
                        <a:rPr lang="ko-KR" altLang="en-US" sz="1000" dirty="0"/>
                        <a:t> 설명</a:t>
                      </a:r>
                    </a:p>
                  </a:txBody>
                  <a:tcPr marL="54000" marR="54000" marT="25200" marB="25200">
                    <a:lnL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4675494"/>
                  </a:ext>
                </a:extLst>
              </a:tr>
              <a:tr h="29181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dirty="0"/>
                        <a:t>차량 검출 장애물</a:t>
                      </a:r>
                    </a:p>
                  </a:txBody>
                  <a:tcPr marL="54000" marR="54000" marT="25200" marB="25200">
                    <a:lnR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dirty="0" err="1"/>
                        <a:t>상대좌표</a:t>
                      </a:r>
                      <a:endParaRPr lang="ko-KR" altLang="en-US" sz="1000" dirty="0"/>
                    </a:p>
                  </a:txBody>
                  <a:tcPr marL="54000" marR="54000" marT="25200" marB="25200">
                    <a:lnL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dirty="0" err="1"/>
                        <a:t>차량별</a:t>
                      </a:r>
                      <a:r>
                        <a:rPr lang="en-US" altLang="ko-KR" sz="1000" dirty="0"/>
                        <a:t> </a:t>
                      </a:r>
                      <a:r>
                        <a:rPr lang="ko-KR" altLang="en-US" sz="1000" dirty="0"/>
                        <a:t>종</a:t>
                      </a:r>
                      <a:r>
                        <a:rPr lang="en-US" altLang="ko-KR" sz="1000" dirty="0"/>
                        <a:t>-</a:t>
                      </a:r>
                      <a:r>
                        <a:rPr lang="ko-KR" altLang="en-US" sz="1000" dirty="0" err="1"/>
                        <a:t>횡방향</a:t>
                      </a:r>
                      <a:r>
                        <a:rPr lang="ko-KR" altLang="en-US" sz="1000" dirty="0"/>
                        <a:t> </a:t>
                      </a:r>
                      <a:r>
                        <a:rPr lang="ko-KR" altLang="en-US" sz="1000" dirty="0" err="1"/>
                        <a:t>좌표계</a:t>
                      </a:r>
                      <a:endParaRPr lang="ko-KR" altLang="en-US" sz="1000" dirty="0"/>
                    </a:p>
                  </a:txBody>
                  <a:tcPr marL="54000" marR="54000" marT="25200" marB="25200">
                    <a:lnL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7104681"/>
                  </a:ext>
                </a:extLst>
              </a:tr>
              <a:tr h="556177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dirty="0"/>
                        <a:t>차량 </a:t>
                      </a:r>
                      <a:r>
                        <a:rPr lang="ko-KR" altLang="en-US" sz="1000" dirty="0" err="1"/>
                        <a:t>측위</a:t>
                      </a:r>
                      <a:r>
                        <a:rPr lang="ko-KR" altLang="en-US" sz="1000" dirty="0"/>
                        <a:t> </a:t>
                      </a:r>
                    </a:p>
                  </a:txBody>
                  <a:tcPr marL="54000" marR="54000" marT="25200" marB="25200">
                    <a:lnR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dirty="0" err="1"/>
                        <a:t>위경도좌표</a:t>
                      </a:r>
                      <a:endParaRPr lang="ko-KR" altLang="en-US" sz="1000" dirty="0"/>
                    </a:p>
                  </a:txBody>
                  <a:tcPr marL="54000" marR="54000" marT="25200" marB="25200">
                    <a:lnL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dirty="0"/>
                        <a:t>위성 항법으로 측정한</a:t>
                      </a:r>
                      <a:endParaRPr lang="en-US" altLang="ko-KR" sz="1000" dirty="0"/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dirty="0"/>
                        <a:t>위 경도 좌표</a:t>
                      </a:r>
                    </a:p>
                  </a:txBody>
                  <a:tcPr marL="54000" marR="54000" marT="25200" marB="25200">
                    <a:lnL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1378866"/>
                  </a:ext>
                </a:extLst>
              </a:tr>
              <a:tr h="556177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000" dirty="0"/>
                        <a:t>L3 </a:t>
                      </a:r>
                      <a:r>
                        <a:rPr lang="ko-KR" altLang="en-US" sz="1000" dirty="0"/>
                        <a:t>맵</a:t>
                      </a:r>
                    </a:p>
                  </a:txBody>
                  <a:tcPr marL="54000" marR="54000" marT="25200" marB="25200">
                    <a:lnR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dirty="0"/>
                        <a:t>자체 기준</a:t>
                      </a:r>
                      <a:r>
                        <a:rPr lang="en-US" altLang="ko-KR" sz="1000" baseline="0" dirty="0"/>
                        <a:t> X-Y </a:t>
                      </a:r>
                      <a:r>
                        <a:rPr lang="ko-KR" altLang="en-US" sz="1000" baseline="0" dirty="0" err="1"/>
                        <a:t>좌표계</a:t>
                      </a:r>
                      <a:endParaRPr lang="ko-KR" altLang="en-US" sz="1000" dirty="0"/>
                    </a:p>
                  </a:txBody>
                  <a:tcPr marL="54000" marR="54000" marT="25200" marB="25200">
                    <a:lnL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dirty="0"/>
                        <a:t>지도 상의 한 점을 원점으로</a:t>
                      </a:r>
                      <a:endParaRPr lang="en-US" altLang="ko-KR" sz="1000" baseline="0" dirty="0"/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aseline="0" dirty="0"/>
                        <a:t>정동을 </a:t>
                      </a:r>
                      <a:r>
                        <a:rPr lang="en-US" altLang="ko-KR" sz="1000" baseline="0" dirty="0"/>
                        <a:t>X, </a:t>
                      </a:r>
                      <a:r>
                        <a:rPr lang="ko-KR" altLang="en-US" sz="1000" baseline="0" dirty="0"/>
                        <a:t>정북을</a:t>
                      </a:r>
                      <a:r>
                        <a:rPr lang="en-US" altLang="ko-KR" sz="1000" baseline="0" dirty="0"/>
                        <a:t>Y</a:t>
                      </a:r>
                      <a:endParaRPr lang="ko-KR" altLang="en-US" sz="1000" dirty="0"/>
                    </a:p>
                  </a:txBody>
                  <a:tcPr marL="54000" marR="54000" marT="25200" marB="25200">
                    <a:lnL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6655284"/>
                  </a:ext>
                </a:extLst>
              </a:tr>
              <a:tr h="82054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dirty="0"/>
                        <a:t>배포용 지도 </a:t>
                      </a:r>
                      <a:r>
                        <a:rPr lang="en-US" altLang="ko-KR" sz="1000" dirty="0"/>
                        <a:t>(L1~3)</a:t>
                      </a:r>
                      <a:endParaRPr lang="ko-KR" altLang="en-US" sz="1000" dirty="0"/>
                    </a:p>
                  </a:txBody>
                  <a:tcPr marL="54000" marR="54000" marT="25200" marB="25200">
                    <a:lnR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000" dirty="0"/>
                        <a:t>(TBD) </a:t>
                      </a:r>
                      <a:r>
                        <a:rPr lang="ko-KR" altLang="en-US" sz="1000" dirty="0" err="1"/>
                        <a:t>위경도좌표</a:t>
                      </a:r>
                      <a:endParaRPr lang="ko-KR" altLang="en-US" sz="1000" dirty="0"/>
                    </a:p>
                  </a:txBody>
                  <a:tcPr marL="54000" marR="54000" marT="25200" marB="25200">
                    <a:lnL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000" dirty="0"/>
                        <a:t>(TBD)</a:t>
                      </a:r>
                      <a:r>
                        <a:rPr lang="en-US" altLang="ko-KR" sz="1000" baseline="0" dirty="0"/>
                        <a:t> </a:t>
                      </a:r>
                      <a:r>
                        <a:rPr lang="ko-KR" altLang="en-US" sz="1000" baseline="0" dirty="0"/>
                        <a:t>어떤 정보를 전달할 </a:t>
                      </a:r>
                      <a:endParaRPr lang="en-US" altLang="ko-KR" sz="1000" baseline="0" dirty="0"/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aseline="0" dirty="0"/>
                        <a:t>것인지 실무 검토 필요</a:t>
                      </a:r>
                      <a:endParaRPr lang="en-US" altLang="ko-KR" sz="1000" baseline="0" dirty="0"/>
                    </a:p>
                    <a:p>
                      <a:pPr marL="0" indent="0" algn="ctr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en-US" altLang="ko-KR" sz="1000" baseline="0" dirty="0"/>
                        <a:t>(</a:t>
                      </a:r>
                      <a:r>
                        <a:rPr lang="ko-KR" altLang="en-US" sz="1000" baseline="0" dirty="0"/>
                        <a:t>한자연</a:t>
                      </a:r>
                      <a:r>
                        <a:rPr lang="en-US" altLang="ko-KR" sz="1000" baseline="0" dirty="0"/>
                        <a:t>, </a:t>
                      </a:r>
                      <a:r>
                        <a:rPr lang="ko-KR" altLang="en-US" sz="1000" baseline="0" dirty="0" err="1"/>
                        <a:t>전자연</a:t>
                      </a:r>
                      <a:r>
                        <a:rPr lang="en-US" altLang="ko-KR" sz="1000" baseline="0" dirty="0"/>
                        <a:t>, </a:t>
                      </a:r>
                      <a:r>
                        <a:rPr lang="ko-KR" altLang="en-US" sz="1000" baseline="0" dirty="0" err="1"/>
                        <a:t>텔레컨스</a:t>
                      </a:r>
                      <a:r>
                        <a:rPr lang="en-US" altLang="ko-KR" sz="1000" baseline="0" dirty="0"/>
                        <a:t>, </a:t>
                      </a:r>
                      <a:r>
                        <a:rPr lang="ko-KR" altLang="en-US" sz="1000" baseline="0" dirty="0"/>
                        <a:t>만도</a:t>
                      </a:r>
                      <a:r>
                        <a:rPr lang="en-US" altLang="ko-KR" sz="1000" baseline="0" dirty="0"/>
                        <a:t>)</a:t>
                      </a:r>
                      <a:endParaRPr lang="ko-KR" altLang="en-US" sz="1000" dirty="0"/>
                    </a:p>
                  </a:txBody>
                  <a:tcPr marL="54000" marR="54000" marT="25200" marB="25200">
                    <a:lnL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1277357"/>
                  </a:ext>
                </a:extLst>
              </a:tr>
            </a:tbl>
          </a:graphicData>
        </a:graphic>
      </p:graphicFrame>
      <p:grpSp>
        <p:nvGrpSpPr>
          <p:cNvPr id="8" name="그룹 7">
            <a:extLst>
              <a:ext uri="{FF2B5EF4-FFF2-40B4-BE49-F238E27FC236}">
                <a16:creationId xmlns:a16="http://schemas.microsoft.com/office/drawing/2014/main" id="{ED3E8836-EFA2-4374-817E-5953CD02D88B}"/>
              </a:ext>
            </a:extLst>
          </p:cNvPr>
          <p:cNvGrpSpPr/>
          <p:nvPr/>
        </p:nvGrpSpPr>
        <p:grpSpPr>
          <a:xfrm>
            <a:off x="5539818" y="4342812"/>
            <a:ext cx="3966421" cy="1892921"/>
            <a:chOff x="5539818" y="4342812"/>
            <a:chExt cx="3966421" cy="1892921"/>
          </a:xfrm>
        </p:grpSpPr>
        <p:grpSp>
          <p:nvGrpSpPr>
            <p:cNvPr id="30" name="그룹 29"/>
            <p:cNvGrpSpPr/>
            <p:nvPr/>
          </p:nvGrpSpPr>
          <p:grpSpPr>
            <a:xfrm>
              <a:off x="5539818" y="4342812"/>
              <a:ext cx="2167581" cy="1892921"/>
              <a:chOff x="6182090" y="3596572"/>
              <a:chExt cx="2167581" cy="1892921"/>
            </a:xfrm>
          </p:grpSpPr>
          <p:sp>
            <p:nvSpPr>
              <p:cNvPr id="12" name="TextBox 11"/>
              <p:cNvSpPr txBox="1"/>
              <p:nvPr/>
            </p:nvSpPr>
            <p:spPr>
              <a:xfrm>
                <a:off x="6182090" y="5089383"/>
                <a:ext cx="216758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1000" dirty="0" err="1">
                    <a:latin typeface="+mn-ea"/>
                  </a:rPr>
                  <a:t>작업지점</a:t>
                </a:r>
                <a:r>
                  <a:rPr lang="en-US" altLang="ko-KR" sz="1000" dirty="0">
                    <a:latin typeface="+mn-ea"/>
                  </a:rPr>
                  <a:t>1 (0,0)</a:t>
                </a:r>
              </a:p>
              <a:p>
                <a:r>
                  <a:rPr lang="en-US" altLang="ko-KR" sz="1000" dirty="0">
                    <a:latin typeface="+mn-ea"/>
                  </a:rPr>
                  <a:t>→ (</a:t>
                </a:r>
                <a:r>
                  <a:rPr lang="ko-KR" altLang="en-US" sz="1000" dirty="0">
                    <a:latin typeface="+mn-ea"/>
                  </a:rPr>
                  <a:t>예시</a:t>
                </a:r>
                <a:r>
                  <a:rPr lang="en-US" altLang="ko-KR" sz="1000" dirty="0">
                    <a:latin typeface="+mn-ea"/>
                  </a:rPr>
                  <a:t>) 37.408913, 127.095411</a:t>
                </a:r>
                <a:endParaRPr lang="ko-KR" altLang="en-US" sz="1000" dirty="0">
                  <a:latin typeface="+mn-ea"/>
                </a:endParaRPr>
              </a:p>
            </p:txBody>
          </p:sp>
          <p:grpSp>
            <p:nvGrpSpPr>
              <p:cNvPr id="19" name="그룹 18"/>
              <p:cNvGrpSpPr/>
              <p:nvPr/>
            </p:nvGrpSpPr>
            <p:grpSpPr>
              <a:xfrm>
                <a:off x="6559127" y="3596572"/>
                <a:ext cx="1530595" cy="1487495"/>
                <a:chOff x="4899200" y="5171168"/>
                <a:chExt cx="1530595" cy="1487495"/>
              </a:xfrm>
            </p:grpSpPr>
            <p:cxnSp>
              <p:nvCxnSpPr>
                <p:cNvPr id="15" name="직선 화살표 연결선 14"/>
                <p:cNvCxnSpPr/>
                <p:nvPr/>
              </p:nvCxnSpPr>
              <p:spPr>
                <a:xfrm>
                  <a:off x="5034013" y="6535553"/>
                  <a:ext cx="1126156" cy="0"/>
                </a:xfrm>
                <a:prstGeom prst="straightConnector1">
                  <a:avLst/>
                </a:prstGeom>
                <a:ln>
                  <a:solidFill>
                    <a:schemeClr val="bg2">
                      <a:lumMod val="5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직선 화살표 연결선 15"/>
                <p:cNvCxnSpPr/>
                <p:nvPr/>
              </p:nvCxnSpPr>
              <p:spPr>
                <a:xfrm rot="16200000">
                  <a:off x="4470935" y="5972475"/>
                  <a:ext cx="1126156" cy="0"/>
                </a:xfrm>
                <a:prstGeom prst="straightConnector1">
                  <a:avLst/>
                </a:prstGeom>
                <a:ln>
                  <a:solidFill>
                    <a:schemeClr val="bg2">
                      <a:lumMod val="5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7" name="TextBox 16"/>
                <p:cNvSpPr txBox="1"/>
                <p:nvPr/>
              </p:nvSpPr>
              <p:spPr>
                <a:xfrm>
                  <a:off x="6160169" y="6412442"/>
                  <a:ext cx="269626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000" dirty="0">
                      <a:latin typeface="+mn-ea"/>
                    </a:rPr>
                    <a:t>X</a:t>
                  </a:r>
                  <a:endParaRPr lang="ko-KR" altLang="en-US" sz="1000" dirty="0">
                    <a:latin typeface="+mn-ea"/>
                  </a:endParaRPr>
                </a:p>
              </p:txBody>
            </p:sp>
            <p:sp>
              <p:nvSpPr>
                <p:cNvPr id="18" name="TextBox 17"/>
                <p:cNvSpPr txBox="1"/>
                <p:nvPr/>
              </p:nvSpPr>
              <p:spPr>
                <a:xfrm>
                  <a:off x="4899200" y="5171168"/>
                  <a:ext cx="269626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000" dirty="0">
                      <a:latin typeface="+mn-ea"/>
                    </a:rPr>
                    <a:t>Y</a:t>
                  </a:r>
                  <a:endParaRPr lang="ko-KR" altLang="en-US" sz="1000" dirty="0">
                    <a:latin typeface="+mn-ea"/>
                  </a:endParaRPr>
                </a:p>
              </p:txBody>
            </p:sp>
          </p:grpSp>
          <p:sp>
            <p:nvSpPr>
              <p:cNvPr id="20" name="곱셈 기호 19"/>
              <p:cNvSpPr/>
              <p:nvPr/>
            </p:nvSpPr>
            <p:spPr>
              <a:xfrm>
                <a:off x="6586917" y="4858147"/>
                <a:ext cx="216000" cy="216000"/>
              </a:xfrm>
              <a:prstGeom prst="mathMultiply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</p:grpSp>
        <p:grpSp>
          <p:nvGrpSpPr>
            <p:cNvPr id="29" name="그룹 28"/>
            <p:cNvGrpSpPr/>
            <p:nvPr/>
          </p:nvGrpSpPr>
          <p:grpSpPr>
            <a:xfrm rot="1173367">
              <a:off x="7328288" y="4360099"/>
              <a:ext cx="2177951" cy="890176"/>
              <a:chOff x="5938447" y="6159832"/>
              <a:chExt cx="2177951" cy="890176"/>
            </a:xfrm>
          </p:grpSpPr>
          <p:sp>
            <p:nvSpPr>
              <p:cNvPr id="21" name="직사각형 20"/>
              <p:cNvSpPr/>
              <p:nvPr/>
            </p:nvSpPr>
            <p:spPr>
              <a:xfrm>
                <a:off x="5938447" y="6824029"/>
                <a:ext cx="539083" cy="20574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ko-KR" altLang="en-US" sz="90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차량</a:t>
                </a:r>
                <a:r>
                  <a:rPr lang="en-US" altLang="ko-KR" sz="90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 N</a:t>
                </a:r>
                <a:endParaRPr lang="ko-KR" altLang="en-US" sz="90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  <p:grpSp>
            <p:nvGrpSpPr>
              <p:cNvPr id="22" name="그룹 21"/>
              <p:cNvGrpSpPr/>
              <p:nvPr/>
            </p:nvGrpSpPr>
            <p:grpSpPr>
              <a:xfrm>
                <a:off x="6341123" y="6159832"/>
                <a:ext cx="1775275" cy="890176"/>
                <a:chOff x="4899200" y="5768487"/>
                <a:chExt cx="1775275" cy="890176"/>
              </a:xfrm>
            </p:grpSpPr>
            <p:cxnSp>
              <p:nvCxnSpPr>
                <p:cNvPr id="23" name="직선 화살표 연결선 22"/>
                <p:cNvCxnSpPr/>
                <p:nvPr/>
              </p:nvCxnSpPr>
              <p:spPr>
                <a:xfrm>
                  <a:off x="5034013" y="6535553"/>
                  <a:ext cx="542084" cy="0"/>
                </a:xfrm>
                <a:prstGeom prst="straightConnector1">
                  <a:avLst/>
                </a:prstGeom>
                <a:ln>
                  <a:solidFill>
                    <a:schemeClr val="bg2">
                      <a:lumMod val="5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직선 화살표 연결선 23"/>
                <p:cNvCxnSpPr/>
                <p:nvPr/>
              </p:nvCxnSpPr>
              <p:spPr>
                <a:xfrm flipV="1">
                  <a:off x="5034013" y="6032315"/>
                  <a:ext cx="0" cy="503238"/>
                </a:xfrm>
                <a:prstGeom prst="straightConnector1">
                  <a:avLst/>
                </a:prstGeom>
                <a:ln>
                  <a:solidFill>
                    <a:schemeClr val="bg2">
                      <a:lumMod val="5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5" name="TextBox 24"/>
                <p:cNvSpPr txBox="1"/>
                <p:nvPr/>
              </p:nvSpPr>
              <p:spPr>
                <a:xfrm>
                  <a:off x="5576097" y="6412442"/>
                  <a:ext cx="1098378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000" dirty="0">
                      <a:latin typeface="+mn-ea"/>
                    </a:rPr>
                    <a:t>X (longitudinal)</a:t>
                  </a:r>
                  <a:endParaRPr lang="ko-KR" altLang="en-US" sz="1000" dirty="0">
                    <a:latin typeface="+mn-ea"/>
                  </a:endParaRPr>
                </a:p>
              </p:txBody>
            </p:sp>
            <p:sp>
              <p:nvSpPr>
                <p:cNvPr id="26" name="TextBox 25"/>
                <p:cNvSpPr txBox="1"/>
                <p:nvPr/>
              </p:nvSpPr>
              <p:spPr>
                <a:xfrm>
                  <a:off x="4899200" y="5768487"/>
                  <a:ext cx="763351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000" dirty="0">
                      <a:latin typeface="+mn-ea"/>
                    </a:rPr>
                    <a:t>Y (lateral)</a:t>
                  </a:r>
                  <a:endParaRPr lang="ko-KR" altLang="en-US" sz="1000" dirty="0">
                    <a:latin typeface="+mn-ea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9148657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74846" y="213862"/>
            <a:ext cx="6720682" cy="384721"/>
          </a:xfrm>
        </p:spPr>
        <p:txBody>
          <a:bodyPr/>
          <a:lstStyle/>
          <a:p>
            <a:r>
              <a:rPr lang="en-US" altLang="ko-KR" dirty="0"/>
              <a:t>② </a:t>
            </a:r>
            <a:r>
              <a:rPr lang="ko-KR" altLang="en-US" dirty="0"/>
              <a:t>차량 </a:t>
            </a:r>
            <a:r>
              <a:rPr lang="ko-KR" altLang="en-US" dirty="0" err="1"/>
              <a:t>측위</a:t>
            </a:r>
            <a:r>
              <a:rPr lang="ko-KR" altLang="en-US" dirty="0"/>
              <a:t> </a:t>
            </a:r>
            <a:r>
              <a:rPr lang="ko-KR" altLang="en-US" dirty="0" err="1"/>
              <a:t>좌표계</a:t>
            </a:r>
            <a:r>
              <a:rPr lang="ko-KR" altLang="en-US" dirty="0"/>
              <a:t> 변경 </a:t>
            </a:r>
            <a:r>
              <a:rPr lang="en-US" altLang="ko-KR" dirty="0"/>
              <a:t>(2/2)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F55F954-5E86-475A-837F-2B8CED6C7DF1}" type="slidenum">
              <a:rPr lang="ko-KR" altLang="en-US" smtClean="0"/>
              <a:pPr/>
              <a:t>16</a:t>
            </a:fld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4953000" y="5020850"/>
            <a:ext cx="4572000" cy="14152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171450" indent="-171450">
              <a:lnSpc>
                <a:spcPct val="110000"/>
              </a:lnSpc>
              <a:spcBef>
                <a:spcPts val="150"/>
              </a:spcBef>
              <a:spcAft>
                <a:spcPts val="150"/>
              </a:spcAft>
              <a:buFontTx/>
              <a:buChar char="-"/>
              <a:defRPr sz="1050">
                <a:ln>
                  <a:solidFill>
                    <a:schemeClr val="tx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1pPr>
          </a:lstStyle>
          <a:p>
            <a:r>
              <a:rPr lang="en-US" altLang="ko-KR" dirty="0"/>
              <a:t>X : </a:t>
            </a:r>
            <a:r>
              <a:rPr lang="ko-KR" altLang="en-US" dirty="0"/>
              <a:t>경도 차이 </a:t>
            </a:r>
            <a:r>
              <a:rPr lang="en-US" altLang="ko-KR" dirty="0"/>
              <a:t>(deg) * K2 *1000 (m</a:t>
            </a:r>
            <a:r>
              <a:rPr lang="ko-KR" altLang="en-US" dirty="0"/>
              <a:t>로 표현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Y : </a:t>
            </a:r>
            <a:r>
              <a:rPr lang="ko-KR" altLang="en-US" dirty="0"/>
              <a:t>위도 차이 </a:t>
            </a:r>
            <a:r>
              <a:rPr lang="en-US" altLang="ko-KR" dirty="0"/>
              <a:t>(deg) * K1 *1000 (m</a:t>
            </a:r>
            <a:r>
              <a:rPr lang="ko-KR" altLang="en-US" dirty="0"/>
              <a:t>로 표현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Heading : GPS </a:t>
            </a:r>
            <a:r>
              <a:rPr lang="ko-KR" altLang="en-US" dirty="0"/>
              <a:t>헤딩 </a:t>
            </a:r>
            <a:r>
              <a:rPr lang="en-US" altLang="ko-KR" dirty="0"/>
              <a:t>+ 90</a:t>
            </a:r>
            <a:r>
              <a:rPr lang="ko-KR" altLang="en-US" dirty="0"/>
              <a:t>도 </a:t>
            </a:r>
            <a:r>
              <a:rPr lang="en-US" altLang="ko-KR" dirty="0"/>
              <a:t>(</a:t>
            </a:r>
            <a:r>
              <a:rPr lang="ko-KR" altLang="en-US" dirty="0" err="1"/>
              <a:t>진북</a:t>
            </a:r>
            <a:r>
              <a:rPr lang="ko-KR" altLang="en-US" dirty="0"/>
              <a:t> 기준에서 </a:t>
            </a:r>
            <a:r>
              <a:rPr lang="en-US" altLang="ko-KR" dirty="0"/>
              <a:t>X</a:t>
            </a:r>
            <a:r>
              <a:rPr lang="ko-KR" altLang="en-US" dirty="0"/>
              <a:t>기준으로 변경</a:t>
            </a:r>
            <a:r>
              <a:rPr lang="en-US" altLang="ko-KR" dirty="0"/>
              <a:t>)</a:t>
            </a:r>
          </a:p>
          <a:p>
            <a:r>
              <a:rPr lang="en-US" altLang="ko-KR" dirty="0" err="1"/>
              <a:t>Vx</a:t>
            </a:r>
            <a:r>
              <a:rPr lang="en-US" altLang="ko-KR" dirty="0"/>
              <a:t> : Speed * cos(Heading)</a:t>
            </a:r>
          </a:p>
          <a:p>
            <a:r>
              <a:rPr lang="en-US" altLang="ko-KR" dirty="0" err="1"/>
              <a:t>Vy</a:t>
            </a:r>
            <a:r>
              <a:rPr lang="en-US" altLang="ko-KR" dirty="0"/>
              <a:t> : Speed * sin(Heading)</a:t>
            </a:r>
          </a:p>
          <a:p>
            <a:r>
              <a:rPr lang="en-US" altLang="ko-KR" dirty="0" err="1"/>
              <a:t>Yawrate</a:t>
            </a:r>
            <a:r>
              <a:rPr lang="en-US" altLang="ko-KR" dirty="0"/>
              <a:t> : </a:t>
            </a:r>
            <a:r>
              <a:rPr lang="ko-KR" altLang="en-US" dirty="0"/>
              <a:t>동일</a:t>
            </a:r>
          </a:p>
        </p:txBody>
      </p:sp>
      <p:sp>
        <p:nvSpPr>
          <p:cNvPr id="15" name="직사각형 14"/>
          <p:cNvSpPr/>
          <p:nvPr/>
        </p:nvSpPr>
        <p:spPr>
          <a:xfrm>
            <a:off x="381000" y="874743"/>
            <a:ext cx="4572000" cy="1235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5256" indent="-95256"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buFont typeface="Wingdings" panose="05000000000000000000" pitchFamily="2" charset="2"/>
              <a:buChar char="§"/>
              <a:defRPr/>
            </a:pPr>
            <a:r>
              <a:rPr lang="ko-KR" altLang="en-US" sz="1300" b="1" kern="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개요</a:t>
            </a:r>
            <a:endParaRPr lang="en-US" altLang="ko-KR" sz="1300" b="1" kern="0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 err="1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자차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</a:t>
            </a:r>
            <a:r>
              <a:rPr lang="ko-KR" altLang="en-US" sz="1300" kern="0" dirty="0" err="1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측위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</a:t>
            </a:r>
            <a:r>
              <a:rPr lang="ko-KR" altLang="en-US" sz="1300" kern="0" dirty="0" err="1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좌표계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변경 </a:t>
            </a:r>
            <a:b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</a:b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  (GPS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위도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,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경도 → 작업공간 직교 </a:t>
            </a:r>
            <a:r>
              <a:rPr lang="ko-KR" altLang="en-US" sz="1300" kern="0" dirty="0" err="1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좌표계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)</a:t>
            </a: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처리 속도를 위해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LUT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를 통해 확보한 비례 계수를 일괄 적용 </a:t>
            </a:r>
            <a:endParaRPr lang="en-US" altLang="ko-KR" sz="1300" kern="0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381000" y="5020850"/>
            <a:ext cx="4572000" cy="1235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5256" indent="-95256"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buFont typeface="Wingdings" panose="05000000000000000000" pitchFamily="2" charset="2"/>
              <a:buChar char="§"/>
              <a:defRPr/>
            </a:pPr>
            <a:r>
              <a:rPr lang="ko-KR" altLang="en-US" sz="1300" b="1" kern="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알고리즘 설명</a:t>
            </a:r>
            <a:endParaRPr lang="en-US" altLang="ko-KR" sz="1300" b="1" kern="0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X, Y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계산 식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(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우측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)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적용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변환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처리 후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,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기존 변수에 업데이트</a:t>
            </a:r>
            <a:b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</a:b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  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이후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,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차량 </a:t>
            </a:r>
            <a:r>
              <a:rPr lang="ko-KR" altLang="en-US" sz="1300" kern="0" dirty="0" err="1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측위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데이터는 작업공간 </a:t>
            </a:r>
            <a:r>
              <a:rPr lang="ko-KR" altLang="en-US" sz="1300" kern="0" dirty="0" err="1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좌표계로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처리됨 </a:t>
            </a:r>
            <a:endParaRPr lang="en-US" altLang="ko-KR" sz="1300" kern="0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381000" y="2341093"/>
            <a:ext cx="4572000" cy="2169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5256" indent="-95256"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buFont typeface="Wingdings" panose="05000000000000000000" pitchFamily="2" charset="2"/>
              <a:buChar char="§"/>
              <a:defRPr/>
            </a:pPr>
            <a:r>
              <a:rPr lang="ko-KR" altLang="en-US" sz="1300" b="1" kern="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작업 </a:t>
            </a:r>
            <a:r>
              <a:rPr lang="ko-KR" altLang="en-US" sz="1300" b="1" kern="0" dirty="0" err="1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할당시</a:t>
            </a:r>
            <a:r>
              <a:rPr lang="ko-KR" altLang="en-US" sz="1300" b="1" kern="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초기화</a:t>
            </a:r>
            <a:endParaRPr lang="en-US" altLang="ko-KR" sz="1300" b="1" kern="0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위도 </a:t>
            </a:r>
            <a:r>
              <a:rPr lang="ko-KR" altLang="en-US" sz="1300" kern="0" dirty="0" err="1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변환값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K1, </a:t>
            </a:r>
            <a:b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</a:b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 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경도 </a:t>
            </a:r>
            <a:r>
              <a:rPr lang="ko-KR" altLang="en-US" sz="1300" kern="0" dirty="0" err="1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변환값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K2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는 작업 지점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1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을 기준으로 초기화 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초기화 과정은 작업 초기화 시점에서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1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회 설정 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  :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작업 경계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,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작업 지점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,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작업 종류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,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시작 위치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,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이탈 위치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작업 지점을 기준으로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1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회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K1, K2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를 계산하여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,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계속 활용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LUT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를 처리하여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K1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과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K2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의 값을 선정한 이후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,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계속 활용</a:t>
            </a:r>
            <a:endParaRPr lang="en-US" altLang="ko-KR" sz="1300" kern="0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</p:txBody>
      </p:sp>
      <p:graphicFrame>
        <p:nvGraphicFramePr>
          <p:cNvPr id="4" name="표 3"/>
          <p:cNvGraphicFramePr>
            <a:graphicFrameLocks noGrp="1"/>
          </p:cNvGraphicFramePr>
          <p:nvPr/>
        </p:nvGraphicFramePr>
        <p:xfrm>
          <a:off x="4953000" y="1170399"/>
          <a:ext cx="4572000" cy="334000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50720">
                  <a:extLst>
                    <a:ext uri="{9D8B030D-6E8A-4147-A177-3AD203B41FA5}">
                      <a16:colId xmlns:a16="http://schemas.microsoft.com/office/drawing/2014/main" val="282308621"/>
                    </a:ext>
                  </a:extLst>
                </a:gridCol>
                <a:gridCol w="1310640">
                  <a:extLst>
                    <a:ext uri="{9D8B030D-6E8A-4147-A177-3AD203B41FA5}">
                      <a16:colId xmlns:a16="http://schemas.microsoft.com/office/drawing/2014/main" val="4086822415"/>
                    </a:ext>
                  </a:extLst>
                </a:gridCol>
                <a:gridCol w="1310640">
                  <a:extLst>
                    <a:ext uri="{9D8B030D-6E8A-4147-A177-3AD203B41FA5}">
                      <a16:colId xmlns:a16="http://schemas.microsoft.com/office/drawing/2014/main" val="2897071943"/>
                    </a:ext>
                  </a:extLst>
                </a:gridCol>
              </a:tblGrid>
              <a:tr h="62145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dirty="0"/>
                        <a:t>기준 위도 </a:t>
                      </a:r>
                      <a:r>
                        <a:rPr lang="en-US" altLang="ko-KR" sz="1000" dirty="0"/>
                        <a:t>(</a:t>
                      </a:r>
                      <a:r>
                        <a:rPr lang="ko-KR" altLang="en-US" sz="1000" dirty="0" err="1"/>
                        <a:t>분해능은</a:t>
                      </a:r>
                      <a:r>
                        <a:rPr lang="en-US" altLang="ko-KR" sz="1000" dirty="0"/>
                        <a:t> TBD)</a:t>
                      </a: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000" dirty="0"/>
                        <a:t>1deg</a:t>
                      </a:r>
                      <a:r>
                        <a:rPr lang="ko-KR" altLang="en-US" sz="1000" dirty="0"/>
                        <a:t>당 약 </a:t>
                      </a:r>
                      <a:r>
                        <a:rPr lang="en-US" altLang="ko-KR" sz="1000" dirty="0"/>
                        <a:t>110km </a:t>
                      </a:r>
                      <a:r>
                        <a:rPr lang="ko-KR" altLang="en-US" sz="1000" dirty="0"/>
                        <a:t>거리</a:t>
                      </a:r>
                    </a:p>
                  </a:txBody>
                  <a:tcPr marL="54000" marR="54000" marT="25200" marB="25200" anchor="ctr">
                    <a:lnR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000" dirty="0"/>
                        <a:t>K2 (</a:t>
                      </a:r>
                      <a:r>
                        <a:rPr lang="ko-KR" altLang="en-US" sz="1000" dirty="0"/>
                        <a:t>경도</a:t>
                      </a:r>
                      <a:r>
                        <a:rPr lang="en-US" altLang="ko-KR" sz="1000" dirty="0"/>
                        <a:t>, X)</a:t>
                      </a:r>
                      <a:endParaRPr lang="ko-KR" altLang="en-US" sz="1000" dirty="0"/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000" dirty="0"/>
                        <a:t>K1 (</a:t>
                      </a:r>
                      <a:r>
                        <a:rPr lang="ko-KR" altLang="en-US" sz="1000" dirty="0"/>
                        <a:t>위도</a:t>
                      </a:r>
                      <a:r>
                        <a:rPr lang="en-US" altLang="ko-KR" sz="1000" dirty="0"/>
                        <a:t>, Y)</a:t>
                      </a:r>
                      <a:endParaRPr lang="ko-KR" altLang="en-US" sz="1000" dirty="0"/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4293872"/>
                  </a:ext>
                </a:extLst>
              </a:tr>
              <a:tr h="30206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40</a:t>
                      </a:r>
                    </a:p>
                  </a:txBody>
                  <a:tcPr marL="9525" marR="9525" marT="9525" marB="0" anchor="ctr">
                    <a:lnR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85.39610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111.03257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2986022"/>
                  </a:ext>
                </a:extLst>
              </a:tr>
              <a:tr h="30206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39</a:t>
                      </a:r>
                    </a:p>
                  </a:txBody>
                  <a:tcPr marL="9525" marR="9525" marT="9525" marB="0" anchor="ctr">
                    <a:lnR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86.62863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111.01319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9991872"/>
                  </a:ext>
                </a:extLst>
              </a:tr>
              <a:tr h="30206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38</a:t>
                      </a:r>
                    </a:p>
                  </a:txBody>
                  <a:tcPr marL="9525" marR="9525" marT="9525" marB="0" anchor="ctr">
                    <a:lnR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87.83466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110.99396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3222876"/>
                  </a:ext>
                </a:extLst>
              </a:tr>
              <a:tr h="30206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37</a:t>
                      </a:r>
                    </a:p>
                  </a:txBody>
                  <a:tcPr marL="9525" marR="9525" marT="9525" marB="0" anchor="ctr">
                    <a:lnR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89.01384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110.97489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2225597"/>
                  </a:ext>
                </a:extLst>
              </a:tr>
              <a:tr h="30206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36</a:t>
                      </a:r>
                    </a:p>
                  </a:txBody>
                  <a:tcPr marL="9525" marR="9525" marT="9525" marB="0" anchor="ctr">
                    <a:lnR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90.16583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110.95603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1031383"/>
                  </a:ext>
                </a:extLst>
              </a:tr>
              <a:tr h="30206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35</a:t>
                      </a:r>
                    </a:p>
                  </a:txBody>
                  <a:tcPr marL="9525" marR="9525" marT="9525" marB="0" anchor="ctr">
                    <a:lnR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91.29028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110.93738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2332397"/>
                  </a:ext>
                </a:extLst>
              </a:tr>
              <a:tr h="30206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34</a:t>
                      </a:r>
                    </a:p>
                  </a:txBody>
                  <a:tcPr marL="9525" marR="9525" marT="9525" marB="0" anchor="ctr">
                    <a:lnR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92.38687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110.91897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9759723"/>
                  </a:ext>
                </a:extLst>
              </a:tr>
              <a:tr h="30206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33</a:t>
                      </a:r>
                    </a:p>
                  </a:txBody>
                  <a:tcPr marL="9525" marR="9525" marT="9525" marB="0" anchor="ctr">
                    <a:lnR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93.45527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110.90083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7625580"/>
                  </a:ext>
                </a:extLst>
              </a:tr>
              <a:tr h="30206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32</a:t>
                      </a:r>
                    </a:p>
                  </a:txBody>
                  <a:tcPr marL="9525" marR="9525" marT="9525" marB="0" anchor="ctr">
                    <a:lnR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94.49516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110.88297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0785574"/>
                  </a:ext>
                </a:extLst>
              </a:tr>
            </a:tbl>
          </a:graphicData>
        </a:graphic>
      </p:graphicFrame>
      <p:graphicFrame>
        <p:nvGraphicFramePr>
          <p:cNvPr id="19" name="개체 18"/>
          <p:cNvGraphicFramePr>
            <a:graphicFrameLocks noChangeAspect="1"/>
          </p:cNvGraphicFramePr>
          <p:nvPr/>
        </p:nvGraphicFramePr>
        <p:xfrm>
          <a:off x="9525000" y="1195418"/>
          <a:ext cx="287728" cy="58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showAsIcon="1" r:id="rId3" imgW="380880" imgH="771480" progId="Excel.Sheet.12">
                  <p:embed/>
                </p:oleObj>
              </mc:Choice>
              <mc:Fallback>
                <p:oleObj name="Worksheet" showAsIcon="1" r:id="rId3" imgW="380880" imgH="771480" progId="Excel.Sheet.12">
                  <p:embed/>
                  <p:pic>
                    <p:nvPicPr>
                      <p:cNvPr id="19" name="개체 1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525000" y="1195418"/>
                        <a:ext cx="287728" cy="582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698643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74846" y="213862"/>
            <a:ext cx="6720682" cy="384721"/>
          </a:xfrm>
        </p:spPr>
        <p:txBody>
          <a:bodyPr/>
          <a:lstStyle/>
          <a:p>
            <a:r>
              <a:rPr lang="en-US" altLang="ko-KR" dirty="0"/>
              <a:t>③ </a:t>
            </a:r>
            <a:r>
              <a:rPr lang="ko-KR" altLang="en-US" dirty="0"/>
              <a:t>차량 이동 장애물 인지 데이터의 시공간 보정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F55F954-5E86-475A-837F-2B8CED6C7DF1}" type="slidenum">
              <a:rPr lang="ko-KR" altLang="en-US" smtClean="0"/>
              <a:pPr/>
              <a:t>17</a:t>
            </a:fld>
            <a:endParaRPr lang="ko-KR" altLang="en-US"/>
          </a:p>
        </p:txBody>
      </p:sp>
      <p:sp>
        <p:nvSpPr>
          <p:cNvPr id="15" name="직사각형 14"/>
          <p:cNvSpPr/>
          <p:nvPr/>
        </p:nvSpPr>
        <p:spPr>
          <a:xfrm>
            <a:off x="381000" y="881596"/>
            <a:ext cx="4572000" cy="1286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5256" indent="-95256"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buFont typeface="Wingdings" panose="05000000000000000000" pitchFamily="2" charset="2"/>
              <a:buChar char="§"/>
              <a:defRPr/>
            </a:pPr>
            <a:r>
              <a:rPr lang="ko-KR" altLang="en-US" sz="1300" b="1" kern="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개요</a:t>
            </a:r>
            <a:endParaRPr lang="en-US" altLang="ko-KR" sz="1300" b="1" kern="0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장애물 데이터 </a:t>
            </a:r>
            <a:r>
              <a:rPr lang="ko-KR" altLang="en-US" sz="1300" kern="0" dirty="0" err="1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좌표계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변경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(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상대 좌표 → 절대 좌표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)</a:t>
            </a: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장애물 절대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속도 추정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(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상대 속도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+ </a:t>
            </a:r>
            <a:r>
              <a:rPr lang="ko-KR" altLang="en-US" sz="1300" kern="0" dirty="0" err="1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자차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속도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+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각속도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)</a:t>
            </a: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장애물 속도를 반영한 ∆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T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에서 변경된 위치 추정</a:t>
            </a:r>
            <a:endParaRPr lang="en-US" altLang="ko-KR" sz="1300" kern="0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380999" y="2379274"/>
            <a:ext cx="8763001" cy="37097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5256" indent="-95256"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buFont typeface="Wingdings" panose="05000000000000000000" pitchFamily="2" charset="2"/>
              <a:buChar char="§"/>
              <a:defRPr/>
            </a:pPr>
            <a:r>
              <a:rPr lang="ko-KR" altLang="en-US" sz="1300" b="1" kern="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알고리즘 설명</a:t>
            </a:r>
            <a:endParaRPr lang="en-US" altLang="ko-KR" sz="1300" b="1" kern="0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모든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차량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(N)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및 장애물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(M)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에 대하여 반복 처리 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처리된 결과를 기존 장애물 구조체에 업데이트하여 메모리 사용 효율화 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알고리즘 동작 이후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,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기존 구조체 좌표는 </a:t>
            </a:r>
            <a:r>
              <a:rPr lang="ko-KR" altLang="en-US" sz="1300" kern="0" dirty="0" err="1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절대좌표로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대체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이동 장애물의 위치와 속도만 변환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(1)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속도 </a:t>
            </a:r>
            <a:r>
              <a:rPr lang="ko-KR" altLang="en-US" sz="1300" kern="0" dirty="0" err="1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좌표계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변경 우선 처리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(</a:t>
            </a:r>
            <a:r>
              <a:rPr lang="ko-KR" altLang="en-US" sz="1300" kern="0" dirty="0" err="1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좌표계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업데이트 전 처리 필요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)</a:t>
            </a:r>
            <a:b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</a:br>
            <a:b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</a:br>
            <a:br>
              <a:rPr lang="en-US" altLang="ko-KR" sz="20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</a:b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(2) </a:t>
            </a:r>
            <a:r>
              <a:rPr lang="ko-KR" altLang="en-US" sz="1300" kern="0" dirty="0" err="1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좌표계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변경 </a:t>
            </a:r>
            <a:b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</a:br>
            <a:b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</a:br>
            <a:br>
              <a:rPr lang="en-US" altLang="ko-KR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</a:b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(3)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위치 추정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</p:txBody>
      </p:sp>
      <p:grpSp>
        <p:nvGrpSpPr>
          <p:cNvPr id="4" name="그룹 3"/>
          <p:cNvGrpSpPr/>
          <p:nvPr/>
        </p:nvGrpSpPr>
        <p:grpSpPr>
          <a:xfrm>
            <a:off x="6623802" y="990604"/>
            <a:ext cx="2901198" cy="2113958"/>
            <a:chOff x="5578319" y="1623274"/>
            <a:chExt cx="2901198" cy="2113958"/>
          </a:xfrm>
        </p:grpSpPr>
        <p:grpSp>
          <p:nvGrpSpPr>
            <p:cNvPr id="17" name="그룹 16"/>
            <p:cNvGrpSpPr/>
            <p:nvPr/>
          </p:nvGrpSpPr>
          <p:grpSpPr>
            <a:xfrm>
              <a:off x="5578319" y="1844311"/>
              <a:ext cx="2167581" cy="1892921"/>
              <a:chOff x="6182090" y="3596572"/>
              <a:chExt cx="2167581" cy="1892921"/>
            </a:xfrm>
          </p:grpSpPr>
          <p:sp>
            <p:nvSpPr>
              <p:cNvPr id="18" name="TextBox 17"/>
              <p:cNvSpPr txBox="1"/>
              <p:nvPr/>
            </p:nvSpPr>
            <p:spPr>
              <a:xfrm>
                <a:off x="6182090" y="5089383"/>
                <a:ext cx="216758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1000" dirty="0" err="1">
                    <a:latin typeface="+mn-ea"/>
                  </a:rPr>
                  <a:t>작업지점</a:t>
                </a:r>
                <a:r>
                  <a:rPr lang="en-US" altLang="ko-KR" sz="1000" dirty="0">
                    <a:latin typeface="+mn-ea"/>
                  </a:rPr>
                  <a:t>1 (0,0)</a:t>
                </a:r>
              </a:p>
              <a:p>
                <a:r>
                  <a:rPr lang="en-US" altLang="ko-KR" sz="1000" dirty="0">
                    <a:latin typeface="+mn-ea"/>
                  </a:rPr>
                  <a:t>→ (</a:t>
                </a:r>
                <a:r>
                  <a:rPr lang="ko-KR" altLang="en-US" sz="1000" dirty="0">
                    <a:latin typeface="+mn-ea"/>
                  </a:rPr>
                  <a:t>예시</a:t>
                </a:r>
                <a:r>
                  <a:rPr lang="en-US" altLang="ko-KR" sz="1000" dirty="0">
                    <a:latin typeface="+mn-ea"/>
                  </a:rPr>
                  <a:t>) 37.408913, 127.095411</a:t>
                </a:r>
                <a:endParaRPr lang="ko-KR" altLang="en-US" sz="1000" dirty="0">
                  <a:latin typeface="+mn-ea"/>
                </a:endParaRPr>
              </a:p>
            </p:txBody>
          </p:sp>
          <p:grpSp>
            <p:nvGrpSpPr>
              <p:cNvPr id="19" name="그룹 18"/>
              <p:cNvGrpSpPr/>
              <p:nvPr/>
            </p:nvGrpSpPr>
            <p:grpSpPr>
              <a:xfrm>
                <a:off x="6559127" y="3596572"/>
                <a:ext cx="1530595" cy="1487495"/>
                <a:chOff x="4899200" y="5171168"/>
                <a:chExt cx="1530595" cy="1487495"/>
              </a:xfrm>
            </p:grpSpPr>
            <p:cxnSp>
              <p:nvCxnSpPr>
                <p:cNvPr id="21" name="직선 화살표 연결선 20"/>
                <p:cNvCxnSpPr/>
                <p:nvPr/>
              </p:nvCxnSpPr>
              <p:spPr>
                <a:xfrm>
                  <a:off x="5034013" y="6535553"/>
                  <a:ext cx="1126156" cy="0"/>
                </a:xfrm>
                <a:prstGeom prst="straightConnector1">
                  <a:avLst/>
                </a:prstGeom>
                <a:ln>
                  <a:solidFill>
                    <a:schemeClr val="bg2">
                      <a:lumMod val="5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직선 화살표 연결선 21"/>
                <p:cNvCxnSpPr/>
                <p:nvPr/>
              </p:nvCxnSpPr>
              <p:spPr>
                <a:xfrm rot="16200000">
                  <a:off x="4470935" y="5972475"/>
                  <a:ext cx="1126156" cy="0"/>
                </a:xfrm>
                <a:prstGeom prst="straightConnector1">
                  <a:avLst/>
                </a:prstGeom>
                <a:ln>
                  <a:solidFill>
                    <a:schemeClr val="bg2">
                      <a:lumMod val="5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3" name="TextBox 22"/>
                <p:cNvSpPr txBox="1"/>
                <p:nvPr/>
              </p:nvSpPr>
              <p:spPr>
                <a:xfrm>
                  <a:off x="6160169" y="6412442"/>
                  <a:ext cx="269626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000" dirty="0">
                      <a:latin typeface="+mn-ea"/>
                    </a:rPr>
                    <a:t>X</a:t>
                  </a:r>
                  <a:endParaRPr lang="ko-KR" altLang="en-US" sz="1000" dirty="0">
                    <a:latin typeface="+mn-ea"/>
                  </a:endParaRPr>
                </a:p>
              </p:txBody>
            </p:sp>
            <p:sp>
              <p:nvSpPr>
                <p:cNvPr id="24" name="TextBox 23"/>
                <p:cNvSpPr txBox="1"/>
                <p:nvPr/>
              </p:nvSpPr>
              <p:spPr>
                <a:xfrm>
                  <a:off x="4899200" y="5171168"/>
                  <a:ext cx="269626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000" dirty="0">
                      <a:latin typeface="+mn-ea"/>
                    </a:rPr>
                    <a:t>Y</a:t>
                  </a:r>
                  <a:endParaRPr lang="ko-KR" altLang="en-US" sz="1000" dirty="0">
                    <a:latin typeface="+mn-ea"/>
                  </a:endParaRPr>
                </a:p>
              </p:txBody>
            </p:sp>
          </p:grpSp>
          <p:sp>
            <p:nvSpPr>
              <p:cNvPr id="20" name="곱셈 기호 19"/>
              <p:cNvSpPr/>
              <p:nvPr/>
            </p:nvSpPr>
            <p:spPr>
              <a:xfrm>
                <a:off x="6586917" y="4858147"/>
                <a:ext cx="216000" cy="216000"/>
              </a:xfrm>
              <a:prstGeom prst="mathMultiply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</p:grpSp>
        <p:grpSp>
          <p:nvGrpSpPr>
            <p:cNvPr id="25" name="그룹 24"/>
            <p:cNvGrpSpPr/>
            <p:nvPr/>
          </p:nvGrpSpPr>
          <p:grpSpPr>
            <a:xfrm rot="19798614">
              <a:off x="6301566" y="1623274"/>
              <a:ext cx="2177951" cy="890174"/>
              <a:chOff x="5938447" y="6159832"/>
              <a:chExt cx="2177951" cy="890174"/>
            </a:xfrm>
          </p:grpSpPr>
          <p:sp>
            <p:nvSpPr>
              <p:cNvPr id="26" name="직사각형 25"/>
              <p:cNvSpPr/>
              <p:nvPr/>
            </p:nvSpPr>
            <p:spPr>
              <a:xfrm>
                <a:off x="5938447" y="6824029"/>
                <a:ext cx="539083" cy="20574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ko-KR" altLang="en-US" sz="90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차량</a:t>
                </a:r>
                <a:r>
                  <a:rPr lang="en-US" altLang="ko-KR" sz="90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 N</a:t>
                </a:r>
                <a:endParaRPr lang="ko-KR" altLang="en-US" sz="90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  <p:grpSp>
            <p:nvGrpSpPr>
              <p:cNvPr id="27" name="그룹 26"/>
              <p:cNvGrpSpPr/>
              <p:nvPr/>
            </p:nvGrpSpPr>
            <p:grpSpPr>
              <a:xfrm>
                <a:off x="6341123" y="6159832"/>
                <a:ext cx="1775275" cy="890174"/>
                <a:chOff x="4899200" y="5768487"/>
                <a:chExt cx="1775275" cy="890174"/>
              </a:xfrm>
            </p:grpSpPr>
            <p:cxnSp>
              <p:nvCxnSpPr>
                <p:cNvPr id="28" name="직선 화살표 연결선 27"/>
                <p:cNvCxnSpPr/>
                <p:nvPr/>
              </p:nvCxnSpPr>
              <p:spPr>
                <a:xfrm>
                  <a:off x="5034013" y="6535553"/>
                  <a:ext cx="542084" cy="0"/>
                </a:xfrm>
                <a:prstGeom prst="straightConnector1">
                  <a:avLst/>
                </a:prstGeom>
                <a:ln>
                  <a:solidFill>
                    <a:schemeClr val="bg2">
                      <a:lumMod val="5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직선 화살표 연결선 28"/>
                <p:cNvCxnSpPr/>
                <p:nvPr/>
              </p:nvCxnSpPr>
              <p:spPr>
                <a:xfrm flipV="1">
                  <a:off x="5034013" y="6032315"/>
                  <a:ext cx="0" cy="503238"/>
                </a:xfrm>
                <a:prstGeom prst="straightConnector1">
                  <a:avLst/>
                </a:prstGeom>
                <a:ln>
                  <a:solidFill>
                    <a:schemeClr val="bg2">
                      <a:lumMod val="5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0" name="TextBox 29"/>
                <p:cNvSpPr txBox="1"/>
                <p:nvPr/>
              </p:nvSpPr>
              <p:spPr>
                <a:xfrm>
                  <a:off x="5576097" y="6412440"/>
                  <a:ext cx="1098378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000" dirty="0">
                      <a:latin typeface="Harrington" panose="04040505050A02020702" pitchFamily="82" charset="0"/>
                    </a:rPr>
                    <a:t>X</a:t>
                  </a:r>
                  <a:r>
                    <a:rPr lang="en-US" altLang="ko-KR" sz="1000" dirty="0">
                      <a:latin typeface="+mn-ea"/>
                    </a:rPr>
                    <a:t> (longitudinal)</a:t>
                  </a:r>
                  <a:endParaRPr lang="ko-KR" altLang="en-US" sz="1000" dirty="0">
                    <a:latin typeface="+mn-ea"/>
                  </a:endParaRPr>
                </a:p>
              </p:txBody>
            </p:sp>
            <p:sp>
              <p:nvSpPr>
                <p:cNvPr id="31" name="TextBox 30"/>
                <p:cNvSpPr txBox="1"/>
                <p:nvPr/>
              </p:nvSpPr>
              <p:spPr>
                <a:xfrm>
                  <a:off x="4899200" y="5768487"/>
                  <a:ext cx="763351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000" dirty="0">
                      <a:latin typeface="Harrington" panose="04040505050A02020702" pitchFamily="82" charset="0"/>
                    </a:rPr>
                    <a:t>Y</a:t>
                  </a:r>
                  <a:r>
                    <a:rPr lang="en-US" altLang="ko-KR" sz="1000" dirty="0">
                      <a:latin typeface="+mn-ea"/>
                    </a:rPr>
                    <a:t> (lateral)</a:t>
                  </a:r>
                  <a:endParaRPr lang="ko-KR" altLang="en-US" sz="1000" dirty="0">
                    <a:latin typeface="+mn-ea"/>
                  </a:endParaRPr>
                </a:p>
              </p:txBody>
            </p:sp>
          </p:grp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381000" y="5151375"/>
                <a:ext cx="9150154" cy="4878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ko-KR"/>
                </a:defPPr>
                <a:lvl1pPr marL="171450" indent="-171450">
                  <a:lnSpc>
                    <a:spcPct val="110000"/>
                  </a:lnSpc>
                  <a:spcBef>
                    <a:spcPts val="150"/>
                  </a:spcBef>
                  <a:spcAft>
                    <a:spcPts val="150"/>
                  </a:spcAft>
                  <a:buFontTx/>
                  <a:buChar char="-"/>
                  <a:defRPr sz="105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latin typeface="KoPub돋움체 Medium" panose="02020603020101020101" pitchFamily="18" charset="-127"/>
                    <a:ea typeface="KoPub돋움체 Medium" panose="02020603020101020101" pitchFamily="18" charset="-127"/>
                  </a:defRPr>
                </a:lvl1pPr>
              </a:lstStyle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mr>
                          <m:m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ko-KR" dirty="0"/>
                  <a:t>=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ko-KR" i="1" dirty="0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  <m:brk m:alnAt="7"/>
                                </m:rPr>
                                <a:rPr lang="en-US" altLang="ko-KR" b="0" i="0" dirty="0" smtClean="0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  <m:r>
                                <m:rPr>
                                  <m:sty m:val="p"/>
                                </m:rPr>
                                <a:rPr lang="en-US" altLang="ko-KR" b="0" i="0" dirty="0" smtClean="0">
                                  <a:latin typeface="Cambria Math" panose="02040503050406030204" pitchFamily="18" charset="0"/>
                                </a:rPr>
                                <m:t>os</m:t>
                              </m:r>
                              <m:r>
                                <m:rPr>
                                  <m:brk m:alnAt="7"/>
                                </m:rP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  <m:t>⁡</m:t>
                              </m:r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  <m:t>𝑣𝑒h𝑖𝑐𝑙𝑒</m:t>
                              </m:r>
                              <m: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  <m:t>h𝑎</m:t>
                              </m:r>
                              <m:r>
                                <m:rPr>
                                  <m:brk m:alnAt="7"/>
                                </m:rP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  <m:t>))</m:t>
                              </m:r>
                            </m:e>
                            <m:e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altLang="ko-KR" b="0" i="0" dirty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  <m:t>𝑣𝑒h𝑖𝑐𝑙𝑒</m:t>
                              </m:r>
                              <m: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  <m:t>h𝑎</m:t>
                              </m:r>
                              <m:d>
                                <m:dPr>
                                  <m:ctrlPr>
                                    <a:rPr lang="en-US" altLang="ko-KR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b="0" i="1" dirty="0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</m:d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US" altLang="ko-KR" b="0" i="0" dirty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  <m:t>𝑣𝑒h𝑖𝑐𝑙𝑒</m:t>
                              </m:r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  <m:t>h𝑎</m:t>
                              </m:r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  <m:t>))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altLang="ko-KR" b="0" i="0" dirty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  <m:t>𝑣𝑒h𝑖𝑐𝑙𝑒</m:t>
                              </m:r>
                              <m: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  <m:t>h𝑎</m:t>
                              </m:r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  <m:t>))</m:t>
                              </m:r>
                            </m:e>
                          </m:mr>
                        </m:m>
                      </m:e>
                    </m:d>
                    <m:r>
                      <a:rPr lang="en-US" altLang="ko-KR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d>
                      <m:dPr>
                        <m:begChr m:val="["/>
                        <m:endChr m:val="]"/>
                        <m:ctrlPr>
                          <a:rPr lang="en-US" altLang="ko-KR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ko-KR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ko-KR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𝑏𝑠𝑡𝑎𝑐𝑙</m:t>
                              </m:r>
                              <m:sSub>
                                <m:sSubPr>
                                  <m:ctrlPr>
                                    <a:rPr lang="en-US" altLang="ko-KR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ko-KR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ko-KR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  <m:d>
                                    <m:dPr>
                                      <m:ctrlPr>
                                        <a:rPr lang="en-US" altLang="ko-KR" b="0" i="1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ko-KR" b="0" i="1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𝑁</m:t>
                                      </m:r>
                                    </m:e>
                                  </m:d>
                                  <m:d>
                                    <m:dPr>
                                      <m:ctrlPr>
                                        <a:rPr lang="en-US" altLang="ko-KR" b="0" i="1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ko-KR" b="0" i="1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d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𝑜𝑏𝑠𝑡𝑎𝑐𝑙</m:t>
                              </m:r>
                              <m:sSub>
                                <m:sSubPr>
                                  <m:ctrlPr>
                                    <a:rPr lang="en-US" altLang="ko-KR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altLang="ko-KR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  <m:d>
                                    <m:dPr>
                                      <m:ctrlPr>
                                        <a:rPr lang="en-US" altLang="ko-KR" b="0" i="1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ko-KR" b="0" i="1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𝑁</m:t>
                                      </m:r>
                                    </m:e>
                                  </m:d>
                                  <m:d>
                                    <m:dPr>
                                      <m:ctrlPr>
                                        <a:rPr lang="en-US" altLang="ko-KR" b="0" i="1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ko-KR" b="0" i="1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d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altLang="ko-KR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d>
                      <m:dPr>
                        <m:begChr m:val="["/>
                        <m:endChr m:val="]"/>
                        <m:ctrlPr>
                          <a:rPr lang="en-US" altLang="ko-KR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ko-KR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ko-KR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𝑒h𝑖𝑐𝑙𝑒</m:t>
                              </m:r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  <m:mr>
                            <m:e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𝑣𝑒h𝑖𝑐𝑙𝑒</m:t>
                              </m:r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5151375"/>
                <a:ext cx="9150154" cy="48789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374846" y="4239800"/>
                <a:ext cx="9150154" cy="5168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ko-KR"/>
                </a:defPPr>
                <a:lvl1pPr marL="171450" indent="-171450">
                  <a:lnSpc>
                    <a:spcPct val="110000"/>
                  </a:lnSpc>
                  <a:spcBef>
                    <a:spcPts val="150"/>
                  </a:spcBef>
                  <a:spcAft>
                    <a:spcPts val="150"/>
                  </a:spcAft>
                  <a:buFontTx/>
                  <a:buChar char="-"/>
                  <a:defRPr sz="105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latin typeface="KoPub돋움체 Medium" panose="02020603020101020101" pitchFamily="18" charset="-127"/>
                    <a:ea typeface="KoPub돋움체 Medium" panose="02020603020101020101" pitchFamily="18" charset="-127"/>
                  </a:defRPr>
                </a:lvl1pPr>
              </a:lstStyle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𝑉𝑦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ko-KR" dirty="0"/>
                  <a:t>=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ko-KR" i="1" dirty="0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  <m:brk m:alnAt="7"/>
                                </m:rPr>
                                <a:rPr lang="en-US" altLang="ko-KR" b="0" i="0" dirty="0" smtClean="0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  <m:r>
                                <m:rPr>
                                  <m:sty m:val="p"/>
                                </m:rPr>
                                <a:rPr lang="en-US" altLang="ko-KR" b="0" i="0" dirty="0" smtClean="0">
                                  <a:latin typeface="Cambria Math" panose="02040503050406030204" pitchFamily="18" charset="0"/>
                                </a:rPr>
                                <m:t>os</m:t>
                              </m:r>
                              <m:r>
                                <m:rPr>
                                  <m:brk m:alnAt="7"/>
                                </m:rP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  <m:t>⁡</m:t>
                              </m:r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  <m:t>𝑣𝑒h𝑖𝑐𝑙𝑒</m:t>
                              </m:r>
                              <m: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  <m:t>h𝑎</m:t>
                              </m:r>
                              <m:r>
                                <m:rPr>
                                  <m:brk m:alnAt="7"/>
                                </m:rP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  <m:t>))</m:t>
                              </m:r>
                            </m:e>
                            <m:e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altLang="ko-KR" b="0" i="0" dirty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  <m:t>𝑣𝑒h𝑖𝑐𝑙𝑒</m:t>
                              </m:r>
                              <m: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  <m:t>h𝑎</m:t>
                              </m:r>
                              <m:d>
                                <m:dPr>
                                  <m:ctrlPr>
                                    <a:rPr lang="en-US" altLang="ko-KR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b="0" i="1" dirty="0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</m:d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US" altLang="ko-KR" b="0" i="0" dirty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  <m:t>𝑣𝑒h𝑖𝑐𝑙𝑒</m:t>
                              </m:r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  <m:t>h𝑎</m:t>
                              </m:r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  <m:t>))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altLang="ko-KR" b="0" i="0" dirty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  <m:t>𝑣𝑒h𝑖𝑐𝑙𝑒</m:t>
                              </m:r>
                              <m: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  <m:t>h𝑎</m:t>
                              </m:r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  <m:t>))</m:t>
                              </m:r>
                            </m:e>
                          </m:mr>
                        </m:m>
                      </m:e>
                    </m:d>
                    <m:r>
                      <a:rPr lang="en-US" altLang="ko-KR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d>
                      <m:dPr>
                        <m:begChr m:val="["/>
                        <m:endChr m:val="]"/>
                        <m:ctrlPr>
                          <a:rPr lang="en-US" altLang="ko-KR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ko-KR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ko-KR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𝑏𝑠𝑡𝑎𝑐𝑙</m:t>
                              </m:r>
                              <m:sSub>
                                <m:sSubPr>
                                  <m:ctrlPr>
                                    <a:rPr lang="en-US" altLang="ko-KR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en-US" altLang="ko-KR" b="0" i="1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ko-KR" b="0" i="1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b>
                                      <m:r>
                                        <m:rPr>
                                          <m:brk m:alnAt="7"/>
                                        </m:rPr>
                                        <a:rPr lang="en-US" altLang="ko-KR" b="0" i="1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𝑣</m:t>
                                      </m:r>
                                    </m:sub>
                                  </m:sSub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ko-KR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ko-KR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d>
                                    <m:dPr>
                                      <m:ctrlPr>
                                        <a:rPr lang="en-US" altLang="ko-KR" b="0" i="1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ko-KR" b="0" i="1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𝑁</m:t>
                                      </m:r>
                                    </m:e>
                                  </m:d>
                                  <m:d>
                                    <m:dPr>
                                      <m:ctrlPr>
                                        <a:rPr lang="en-US" altLang="ko-KR" b="0" i="1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ko-KR" b="0" i="1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d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𝑜𝑏𝑠𝑡𝑎𝑐𝑙</m:t>
                              </m:r>
                              <m:sSub>
                                <m:sSubPr>
                                  <m:ctrlPr>
                                    <a:rPr lang="en-US" altLang="ko-KR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en-US" altLang="ko-KR" b="0" i="1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b="0" i="1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b>
                                      <m:r>
                                        <a:rPr lang="en-US" altLang="ko-KR" b="0" i="1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𝑣</m:t>
                                      </m:r>
                                    </m:sub>
                                  </m:sSub>
                                </m:e>
                                <m:sub>
                                  <m:r>
                                    <a:rPr lang="en-US" altLang="ko-KR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  <m:d>
                                    <m:dPr>
                                      <m:ctrlPr>
                                        <a:rPr lang="en-US" altLang="ko-KR" b="0" i="1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ko-KR" b="0" i="1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𝑁</m:t>
                                      </m:r>
                                    </m:e>
                                  </m:d>
                                  <m:d>
                                    <m:dPr>
                                      <m:ctrlPr>
                                        <a:rPr lang="en-US" altLang="ko-KR" b="0" i="1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ko-KR" b="0" i="1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d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altLang="ko-KR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d>
                      <m:dPr>
                        <m:begChr m:val="["/>
                        <m:endChr m:val="]"/>
                        <m:ctrlPr>
                          <a:rPr lang="en-US" altLang="ko-KR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ko-KR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ko-KR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𝑒h𝑖𝑐𝑙</m:t>
                              </m:r>
                              <m:sSub>
                                <m:sSubPr>
                                  <m:ctrlPr>
                                    <a:rPr lang="en-US" altLang="ko-KR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ko-KR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ko-KR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  <m:r>
                                    <a:rPr lang="en-US" altLang="ko-KR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  <m:d>
                                    <m:dPr>
                                      <m:ctrlPr>
                                        <a:rPr lang="en-US" altLang="ko-KR" b="0" i="1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ko-KR" b="0" i="1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𝑁</m:t>
                                      </m:r>
                                    </m:e>
                                  </m:d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𝑣𝑒h𝑖𝑐𝑙</m:t>
                              </m:r>
                              <m:sSub>
                                <m:sSubPr>
                                  <m:ctrlPr>
                                    <a:rPr lang="en-US" altLang="ko-KR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altLang="ko-KR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𝑣𝑦</m:t>
                                  </m:r>
                                  <m:d>
                                    <m:dPr>
                                      <m:ctrlPr>
                                        <a:rPr lang="en-US" altLang="ko-KR" b="0" i="1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ko-KR" b="0" i="1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𝑁</m:t>
                                      </m:r>
                                    </m:e>
                                  </m:d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altLang="ko-KR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d>
                      <m:dPr>
                        <m:begChr m:val="["/>
                        <m:endChr m:val="]"/>
                        <m:ctrlPr>
                          <a:rPr lang="en-US" altLang="ko-KR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ko-KR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ko-KR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𝑣𝑒h𝑖𝑐𝑙𝑒</m:t>
                              </m:r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𝑌𝑅</m:t>
                              </m:r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 </m:t>
                              </m:r>
                            </m:e>
                          </m:mr>
                          <m:mr>
                            <m:e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𝑣𝑒h𝑖𝑐𝑙𝑒</m:t>
                              </m:r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𝑌𝑅</m:t>
                              </m:r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 </m:t>
                              </m:r>
                            </m:e>
                            <m:e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ko-KR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ko-KR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ko-KR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𝑏𝑠𝑡𝑎𝑐𝑙𝑒</m:t>
                              </m:r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)(</m:t>
                              </m:r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𝑀</m:t>
                              </m:r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  <m:mr>
                            <m:e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𝑜𝑏𝑠𝑡𝑎𝑙𝑐𝑒</m:t>
                              </m:r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)(</m:t>
                              </m:r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𝑀</m:t>
                              </m:r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846" y="4239800"/>
                <a:ext cx="9150154" cy="51680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374846" y="6132640"/>
                <a:ext cx="3758380" cy="4878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ko-KR"/>
                </a:defPPr>
                <a:lvl1pPr marL="171450" indent="-171450">
                  <a:lnSpc>
                    <a:spcPct val="110000"/>
                  </a:lnSpc>
                  <a:spcBef>
                    <a:spcPts val="150"/>
                  </a:spcBef>
                  <a:spcAft>
                    <a:spcPts val="150"/>
                  </a:spcAft>
                  <a:buFontTx/>
                  <a:buChar char="-"/>
                  <a:defRPr sz="105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latin typeface="KoPub돋움체 Medium" panose="02020603020101020101" pitchFamily="18" charset="-127"/>
                    <a:ea typeface="KoPub돋움체 Medium" panose="02020603020101020101" pitchFamily="18" charset="-127"/>
                  </a:defRPr>
                </a:lvl1pPr>
              </a:lstStyle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`</m:t>
                              </m:r>
                            </m:e>
                          </m:mr>
                          <m:m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`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ko-KR" dirty="0"/>
                  <a:t>=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ko-KR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ko-KR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ko-KR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(변경된 </m:t>
                              </m:r>
                              <m:r>
                                <a:rPr lang="ko-KR" altLang="en-US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좌</m:t>
                              </m:r>
                              <m:r>
                                <a:rPr lang="ko-KR" altLang="en-US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표</m:t>
                              </m:r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  <m:mr>
                            <m:e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(변경된 좌표) </m:t>
                              </m:r>
                            </m:e>
                          </m:mr>
                        </m:m>
                      </m:e>
                    </m:d>
                    <m:r>
                      <a:rPr lang="en-US" altLang="ko-KR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+(∆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)∙</m:t>
                    </m:r>
                    <m:d>
                      <m:dPr>
                        <m:begChr m:val="["/>
                        <m:endChr m:val="]"/>
                        <m:ctrlPr>
                          <a:rPr lang="en-US" altLang="ko-KR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ko-KR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ko-KR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𝑉</m:t>
                              </m:r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𝑉𝑦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846" y="6132640"/>
                <a:ext cx="3758380" cy="48789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441640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74846" y="213862"/>
            <a:ext cx="6720682" cy="384721"/>
          </a:xfrm>
        </p:spPr>
        <p:txBody>
          <a:bodyPr/>
          <a:lstStyle/>
          <a:p>
            <a:r>
              <a:rPr lang="en-US" altLang="ko-KR" dirty="0"/>
              <a:t>④ L3 </a:t>
            </a:r>
            <a:r>
              <a:rPr lang="ko-KR" altLang="en-US" dirty="0"/>
              <a:t>장애물 위치 추정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F55F954-5E86-475A-837F-2B8CED6C7DF1}" type="slidenum">
              <a:rPr lang="ko-KR" altLang="en-US" smtClean="0"/>
              <a:pPr/>
              <a:t>18</a:t>
            </a:fld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381000" y="873125"/>
            <a:ext cx="4572000" cy="15465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5256" indent="-95256"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buFont typeface="Wingdings" panose="05000000000000000000" pitchFamily="2" charset="2"/>
              <a:buChar char="§"/>
              <a:defRPr/>
            </a:pPr>
            <a:r>
              <a:rPr lang="ko-KR" altLang="en-US" sz="1300" b="1" kern="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개요</a:t>
            </a:r>
            <a:endParaRPr lang="en-US" altLang="ko-KR" sz="1300" b="1" kern="0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이전 시각에 계산된 지도상의 장애물 위치를 활용하여</a:t>
            </a:r>
            <a:b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</a:b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 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현재 시각에서의 장애물 위치를 추정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장애물 속도를 반영하여 ∆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T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에 대한 위치 계산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⑦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에 설명할 표준편차 계산을 여기에서 처리 필요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81000" y="2755739"/>
            <a:ext cx="4572000" cy="15465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5256" indent="-95256"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buFont typeface="Wingdings" panose="05000000000000000000" pitchFamily="2" charset="2"/>
              <a:buChar char="§"/>
              <a:defRPr/>
            </a:pPr>
            <a:r>
              <a:rPr lang="ko-KR" altLang="en-US" sz="1300" b="1" kern="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알고리즘 설명</a:t>
            </a:r>
            <a:endParaRPr lang="en-US" altLang="ko-KR" sz="1300" b="1" kern="0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지도상의 모든 장애물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(L)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에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대하여 반복 처리 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처리된 결과를 기존 장애물 구조체에 업데이트</a:t>
            </a:r>
            <a:b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</a:b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 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메모리 사용 효율화 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(TBD)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이동 장애물의 위치만 갱신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707355" y="4302316"/>
                <a:ext cx="3758380" cy="4190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ko-KR"/>
                </a:defPPr>
                <a:lvl1pPr marL="171450" indent="-171450">
                  <a:lnSpc>
                    <a:spcPct val="110000"/>
                  </a:lnSpc>
                  <a:spcBef>
                    <a:spcPts val="150"/>
                  </a:spcBef>
                  <a:spcAft>
                    <a:spcPts val="150"/>
                  </a:spcAft>
                  <a:buFontTx/>
                  <a:buChar char="-"/>
                  <a:defRPr sz="105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latin typeface="KoPub돋움체 Medium" panose="02020603020101020101" pitchFamily="18" charset="-127"/>
                    <a:ea typeface="KoPub돋움체 Medium" panose="02020603020101020101" pitchFamily="18" charset="-127"/>
                  </a:defRPr>
                </a:lvl1pPr>
              </a:lstStyle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`</m:t>
                              </m:r>
                            </m:e>
                          </m:mr>
                          <m:m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`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ko-KR" dirty="0"/>
                  <a:t>=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ko-KR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ko-KR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ko-KR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e>
                          </m:mr>
                          <m:mr>
                            <m:e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e>
                          </m:mr>
                        </m:m>
                      </m:e>
                    </m:d>
                    <m:r>
                      <a:rPr lang="en-US" altLang="ko-KR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+(∆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)∙</m:t>
                    </m:r>
                    <m:d>
                      <m:dPr>
                        <m:begChr m:val="["/>
                        <m:endChr m:val="]"/>
                        <m:ctrlPr>
                          <a:rPr lang="en-US" altLang="ko-KR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ko-KR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ko-KR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𝑉</m:t>
                              </m:r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𝑉𝑦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355" y="4302316"/>
                <a:ext cx="3758380" cy="41908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/>
          <p:cNvSpPr txBox="1"/>
          <p:nvPr/>
        </p:nvSpPr>
        <p:spPr>
          <a:xfrm>
            <a:off x="4953000" y="1209162"/>
            <a:ext cx="4572000" cy="13126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171450" indent="-171450">
              <a:lnSpc>
                <a:spcPct val="110000"/>
              </a:lnSpc>
              <a:spcBef>
                <a:spcPts val="150"/>
              </a:spcBef>
              <a:spcAft>
                <a:spcPts val="150"/>
              </a:spcAft>
              <a:buFontTx/>
              <a:buChar char="-"/>
              <a:defRPr sz="1050">
                <a:ln>
                  <a:solidFill>
                    <a:schemeClr val="tx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1pPr>
          </a:lstStyle>
          <a:p>
            <a:pPr marL="0" indent="0">
              <a:buNone/>
            </a:pPr>
            <a:r>
              <a:rPr lang="ko-KR" altLang="en-US" b="1" dirty="0"/>
              <a:t>오차 추정</a:t>
            </a:r>
            <a:endParaRPr lang="en-US" altLang="ko-KR" b="1" dirty="0"/>
          </a:p>
          <a:p>
            <a:r>
              <a:rPr lang="en-US" altLang="ko-KR" dirty="0"/>
              <a:t>(</a:t>
            </a:r>
            <a:r>
              <a:rPr lang="ko-KR" altLang="en-US" dirty="0"/>
              <a:t>가정</a:t>
            </a:r>
            <a:r>
              <a:rPr lang="en-US" altLang="ko-KR" dirty="0"/>
              <a:t>) </a:t>
            </a:r>
            <a:r>
              <a:rPr lang="ko-KR" altLang="en-US" dirty="0"/>
              <a:t>장애물은 각속도 없는 </a:t>
            </a:r>
            <a:r>
              <a:rPr lang="en-US" altLang="ko-KR" dirty="0"/>
              <a:t>2D </a:t>
            </a:r>
            <a:r>
              <a:rPr lang="ko-KR" altLang="en-US" dirty="0"/>
              <a:t>움직임만을 갖는다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(</a:t>
            </a:r>
            <a:r>
              <a:rPr lang="ko-KR" altLang="en-US" dirty="0"/>
              <a:t>이유</a:t>
            </a:r>
            <a:r>
              <a:rPr lang="en-US" altLang="ko-KR" dirty="0"/>
              <a:t>) </a:t>
            </a:r>
            <a:r>
              <a:rPr lang="ko-KR" altLang="en-US" dirty="0"/>
              <a:t>現 센서 구성은 객체의 </a:t>
            </a:r>
            <a:r>
              <a:rPr lang="en-US" altLang="ko-KR" dirty="0" err="1"/>
              <a:t>Yawrate</a:t>
            </a:r>
            <a:r>
              <a:rPr lang="ko-KR" altLang="en-US" dirty="0"/>
              <a:t> 추정에 한계가 있고</a:t>
            </a:r>
            <a:r>
              <a:rPr lang="en-US" altLang="ko-KR" dirty="0"/>
              <a:t>, </a:t>
            </a:r>
            <a:br>
              <a:rPr lang="en-US" altLang="ko-KR" dirty="0"/>
            </a:br>
            <a:r>
              <a:rPr lang="ko-KR" altLang="en-US" dirty="0"/>
              <a:t>대상 장애물도 충분히 느림</a:t>
            </a:r>
            <a:endParaRPr lang="en-US" altLang="ko-KR" dirty="0"/>
          </a:p>
          <a:p>
            <a:r>
              <a:rPr lang="ko-KR" altLang="en-US" dirty="0"/>
              <a:t>각속도에 의한</a:t>
            </a:r>
            <a:r>
              <a:rPr lang="en-US" altLang="ko-KR" dirty="0"/>
              <a:t> 1</a:t>
            </a:r>
            <a:r>
              <a:rPr lang="ko-KR" altLang="en-US" dirty="0"/>
              <a:t>프레임당 최대 오차 발생 상황을 가정 </a:t>
            </a:r>
            <a:br>
              <a:rPr lang="en-US" altLang="ko-KR" dirty="0"/>
            </a:br>
            <a:r>
              <a:rPr lang="ko-KR" altLang="en-US" dirty="0"/>
              <a:t>차량 회전 반경 </a:t>
            </a:r>
            <a:r>
              <a:rPr lang="en-US" altLang="ko-KR" dirty="0"/>
              <a:t>4m </a:t>
            </a:r>
            <a:r>
              <a:rPr lang="ko-KR" altLang="en-US" dirty="0"/>
              <a:t>가정 </a:t>
            </a:r>
            <a:r>
              <a:rPr lang="en-US" altLang="ko-KR" dirty="0"/>
              <a:t>(</a:t>
            </a:r>
            <a:r>
              <a:rPr lang="ko-KR" altLang="en-US" dirty="0"/>
              <a:t>법규 기준 </a:t>
            </a:r>
            <a:r>
              <a:rPr lang="en-US" altLang="ko-KR" dirty="0"/>
              <a:t>7m </a:t>
            </a:r>
            <a:r>
              <a:rPr lang="ko-KR" altLang="en-US" dirty="0"/>
              <a:t>대비</a:t>
            </a:r>
            <a:r>
              <a:rPr lang="en-US" altLang="ko-KR" dirty="0"/>
              <a:t> </a:t>
            </a:r>
            <a:r>
              <a:rPr lang="ko-KR" altLang="en-US" dirty="0"/>
              <a:t>열악 조건</a:t>
            </a:r>
            <a:r>
              <a:rPr lang="en-US" altLang="ko-KR" dirty="0"/>
              <a:t>)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5246912" y="2596733"/>
                <a:ext cx="2159309" cy="1615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050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altLang="ko-KR" sz="105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105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altLang="ko-KR" sz="105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ko-KR" sz="105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altLang="ko-KR" sz="105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=40</m:t>
                      </m:r>
                      <m:r>
                        <a:rPr lang="en-US" altLang="ko-KR" sz="105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𝐾𝑃𝐻</m:t>
                      </m:r>
                      <m:r>
                        <a:rPr lang="en-US" altLang="ko-KR" sz="105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×0.1</m:t>
                      </m:r>
                      <m:r>
                        <a:rPr lang="en-US" altLang="ko-KR" sz="105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r>
                        <a:rPr lang="en-US" altLang="ko-KR" sz="1050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1050" b="0" i="0" dirty="0" smtClean="0">
                          <a:latin typeface="Cambria Math" panose="02040503050406030204" pitchFamily="18" charset="0"/>
                        </a:rPr>
                        <m:t>1.11</m:t>
                      </m:r>
                      <m:r>
                        <m:rPr>
                          <m:sty m:val="p"/>
                        </m:rPr>
                        <a:rPr lang="en-US" altLang="ko-KR" sz="1050" b="0" i="0" dirty="0" smtClean="0">
                          <a:latin typeface="Cambria Math" panose="02040503050406030204" pitchFamily="18" charset="0"/>
                        </a:rPr>
                        <m:t>m</m:t>
                      </m:r>
                    </m:oMath>
                  </m:oMathPara>
                </a14:m>
                <a:endParaRPr lang="ko-KR" altLang="en-US" sz="1050" dirty="0"/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6912" y="2596733"/>
                <a:ext cx="2159309" cy="161583"/>
              </a:xfrm>
              <a:prstGeom prst="rect">
                <a:avLst/>
              </a:prstGeom>
              <a:blipFill>
                <a:blip r:embed="rId4"/>
                <a:stretch>
                  <a:fillRect l="-847" r="-847" b="-1153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5246912" y="2830339"/>
                <a:ext cx="1121333" cy="3014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1050" i="1" smtClean="0"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en-US" altLang="ko-KR" sz="105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05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ko-KR" sz="105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V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altLang="ko-KR" sz="105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R</m:t>
                          </m:r>
                        </m:den>
                      </m:f>
                      <m:r>
                        <a:rPr lang="en-US" altLang="ko-KR" sz="105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=2.78</m:t>
                      </m:r>
                      <m:r>
                        <m:rPr>
                          <m:sty m:val="p"/>
                        </m:rPr>
                        <a:rPr lang="en-US" altLang="ko-KR" sz="105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rad</m:t>
                      </m:r>
                      <m:r>
                        <a:rPr lang="en-US" altLang="ko-KR" sz="105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/</m:t>
                      </m:r>
                      <m:r>
                        <m:rPr>
                          <m:sty m:val="p"/>
                        </m:rPr>
                        <a:rPr lang="en-US" altLang="ko-KR" sz="105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</m:t>
                      </m:r>
                    </m:oMath>
                  </m:oMathPara>
                </a14:m>
                <a:endParaRPr lang="ko-KR" altLang="en-US" sz="1050" dirty="0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6912" y="2830339"/>
                <a:ext cx="1121333" cy="301493"/>
              </a:xfrm>
              <a:prstGeom prst="rect">
                <a:avLst/>
              </a:prstGeom>
              <a:blipFill>
                <a:blip r:embed="rId5"/>
                <a:stretch>
                  <a:fillRect l="-2174" t="-4000" r="-543" b="-14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5770242" y="3193956"/>
                <a:ext cx="1911100" cy="1615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05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ko-KR" sz="105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105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altLang="ko-KR" sz="105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unc>
                        <m:funcPr>
                          <m:ctrlPr>
                            <a:rPr lang="en-US" altLang="ko-KR" sz="105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05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altLang="ko-KR" sz="105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ko-KR" altLang="en-US" sz="105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𝛾</m:t>
                              </m:r>
                              <m:r>
                                <a:rPr lang="en-US" altLang="ko-KR" sz="10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US" altLang="ko-KR" sz="105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0.1</m:t>
                              </m:r>
                              <m:r>
                                <a:rPr lang="en-US" altLang="ko-KR" sz="105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e>
                      </m:func>
                      <m:r>
                        <a:rPr lang="en-US" altLang="ko-KR" sz="105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=1.105</m:t>
                      </m:r>
                      <m:r>
                        <a:rPr lang="en-US" altLang="ko-KR" sz="105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ko-KR" altLang="en-US" sz="1050" dirty="0"/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0242" y="3193956"/>
                <a:ext cx="1911100" cy="161583"/>
              </a:xfrm>
              <a:prstGeom prst="rect">
                <a:avLst/>
              </a:prstGeom>
              <a:blipFill>
                <a:blip r:embed="rId6"/>
                <a:stretch>
                  <a:fillRect l="-319" r="-958" b="-2307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5770242" y="3440480"/>
                <a:ext cx="2305439" cy="1615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05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ko-KR" sz="105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105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altLang="ko-KR" sz="105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altLang="ko-KR" sz="105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ko-KR" sz="105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05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ko-KR" sz="105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ko-KR" altLang="en-US" sz="105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𝛾</m:t>
                                  </m:r>
                                  <m:r>
                                    <a:rPr lang="en-US" altLang="ko-KR" sz="105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×0.1</m:t>
                                  </m:r>
                                  <m:r>
                                    <a:rPr lang="en-US" altLang="ko-KR" sz="105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</m:d>
                              <m:r>
                                <a:rPr lang="en-US" altLang="ko-KR" sz="105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e>
                          </m:func>
                        </m:e>
                      </m:d>
                      <m:r>
                        <a:rPr lang="en-US" altLang="ko-KR" sz="105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=−0.16</m:t>
                      </m:r>
                      <m:r>
                        <a:rPr lang="en-US" altLang="ko-KR" sz="105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ko-KR" altLang="en-US" sz="1050" dirty="0"/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0242" y="3440480"/>
                <a:ext cx="2305439" cy="161583"/>
              </a:xfrm>
              <a:prstGeom prst="rect">
                <a:avLst/>
              </a:prstGeom>
              <a:blipFill>
                <a:blip r:embed="rId7"/>
                <a:stretch>
                  <a:fillRect l="-794" r="-794" b="-2592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1" name="그룹 40"/>
          <p:cNvGrpSpPr/>
          <p:nvPr/>
        </p:nvGrpSpPr>
        <p:grpSpPr>
          <a:xfrm>
            <a:off x="8464204" y="1440544"/>
            <a:ext cx="1098784" cy="1687364"/>
            <a:chOff x="8464204" y="2264205"/>
            <a:chExt cx="1098784" cy="1687364"/>
          </a:xfrm>
        </p:grpSpPr>
        <p:grpSp>
          <p:nvGrpSpPr>
            <p:cNvPr id="36" name="그룹 35"/>
            <p:cNvGrpSpPr/>
            <p:nvPr/>
          </p:nvGrpSpPr>
          <p:grpSpPr>
            <a:xfrm>
              <a:off x="8464204" y="2264205"/>
              <a:ext cx="1060796" cy="1687364"/>
              <a:chOff x="5330534" y="2505364"/>
              <a:chExt cx="1060796" cy="1687364"/>
            </a:xfrm>
          </p:grpSpPr>
          <p:cxnSp>
            <p:nvCxnSpPr>
              <p:cNvPr id="20" name="직선 화살표 연결선 19"/>
              <p:cNvCxnSpPr/>
              <p:nvPr/>
            </p:nvCxnSpPr>
            <p:spPr>
              <a:xfrm flipV="1">
                <a:off x="5330535" y="2524992"/>
                <a:ext cx="0" cy="1475508"/>
              </a:xfrm>
              <a:prstGeom prst="straightConnector1">
                <a:avLst/>
              </a:prstGeom>
              <a:ln>
                <a:solidFill>
                  <a:schemeClr val="bg2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직선 화살표 연결선 21"/>
              <p:cNvCxnSpPr/>
              <p:nvPr/>
            </p:nvCxnSpPr>
            <p:spPr>
              <a:xfrm rot="2400000" flipV="1">
                <a:off x="5804754" y="2717220"/>
                <a:ext cx="0" cy="1475508"/>
              </a:xfrm>
              <a:prstGeom prst="straightConnector1">
                <a:avLst/>
              </a:prstGeom>
              <a:ln>
                <a:solidFill>
                  <a:schemeClr val="bg2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30" name="그림 29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330534" y="2505365"/>
                <a:ext cx="1060796" cy="518205"/>
              </a:xfrm>
              <a:prstGeom prst="rect">
                <a:avLst/>
              </a:prstGeom>
            </p:spPr>
          </p:pic>
          <p:cxnSp>
            <p:nvCxnSpPr>
              <p:cNvPr id="31" name="직선 화살표 연결선 30"/>
              <p:cNvCxnSpPr/>
              <p:nvPr/>
            </p:nvCxnSpPr>
            <p:spPr>
              <a:xfrm>
                <a:off x="5330535" y="2505364"/>
                <a:ext cx="1060795" cy="15703"/>
              </a:xfrm>
              <a:prstGeom prst="straightConnector1">
                <a:avLst/>
              </a:prstGeom>
              <a:ln>
                <a:solidFill>
                  <a:schemeClr val="bg2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9" name="TextBox 38"/>
            <p:cNvSpPr txBox="1"/>
            <p:nvPr/>
          </p:nvSpPr>
          <p:spPr>
            <a:xfrm>
              <a:off x="9270618" y="2279908"/>
              <a:ext cx="28405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D</a:t>
              </a:r>
              <a:endParaRPr lang="ko-KR" altLang="en-US" sz="1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9166726" y="2766914"/>
              <a:ext cx="39626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x, y</a:t>
              </a:r>
              <a:endParaRPr lang="ko-KR" altLang="en-US" sz="1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1" name="직사각형 20"/>
          <p:cNvSpPr/>
          <p:nvPr/>
        </p:nvSpPr>
        <p:spPr>
          <a:xfrm>
            <a:off x="4953000" y="3810858"/>
            <a:ext cx="4572000" cy="28230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5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L3Obstacle(L) </a:t>
            </a:r>
            <a:r>
              <a:rPr lang="ko-KR" altLang="en-US" sz="105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구성 </a:t>
            </a:r>
            <a:r>
              <a:rPr lang="en-US" altLang="ko-KR" sz="105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(L3 </a:t>
            </a:r>
            <a:r>
              <a:rPr lang="ko-KR" altLang="en-US" sz="105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출력 변수와 동일</a:t>
            </a:r>
            <a:r>
              <a:rPr lang="en-US" altLang="ko-KR" sz="105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)</a:t>
            </a:r>
            <a:br>
              <a:rPr lang="en-US" altLang="ko-KR" sz="105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</a:br>
            <a:r>
              <a:rPr lang="en-US" altLang="ko-KR" sz="105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1) L3map_time : L3</a:t>
            </a:r>
            <a:r>
              <a:rPr lang="ko-KR" altLang="en-US" sz="105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지도 기준 시각</a:t>
            </a:r>
            <a:br>
              <a:rPr lang="en-US" altLang="ko-KR" sz="105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</a:br>
            <a:r>
              <a:rPr lang="en-US" altLang="ko-KR" sz="105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2) </a:t>
            </a:r>
            <a:r>
              <a:rPr lang="en-US" altLang="ko-KR" sz="1050" dirty="0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obstacle_ID</a:t>
            </a:r>
            <a:r>
              <a:rPr lang="en-US" altLang="ko-KR" sz="105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: </a:t>
            </a:r>
            <a:r>
              <a:rPr lang="ko-KR" altLang="en-US" sz="105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장애물</a:t>
            </a:r>
            <a:r>
              <a:rPr lang="en-US" altLang="ko-KR" sz="105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lang="ko-KR" altLang="en-US" sz="105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추적</a:t>
            </a:r>
            <a:r>
              <a:rPr lang="en-US" altLang="ko-KR" sz="105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ID</a:t>
            </a:r>
          </a:p>
          <a:p>
            <a:pPr>
              <a:lnSpc>
                <a:spcPct val="130000"/>
              </a:lnSpc>
            </a:pPr>
            <a:r>
              <a:rPr lang="en-US" altLang="ko-KR" sz="105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3) </a:t>
            </a:r>
            <a:r>
              <a:rPr lang="en-US" altLang="ko-KR" sz="1050" dirty="0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obstacle_x</a:t>
            </a:r>
            <a:r>
              <a:rPr lang="en-US" altLang="ko-KR" sz="105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: </a:t>
            </a:r>
            <a:r>
              <a:rPr lang="ko-KR" altLang="en-US" sz="105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글로벌 지도 기준 </a:t>
            </a:r>
            <a:r>
              <a:rPr lang="en-US" altLang="ko-KR" sz="105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X</a:t>
            </a:r>
            <a:r>
              <a:rPr lang="ko-KR" altLang="en-US" sz="105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좌표 </a:t>
            </a:r>
            <a:br>
              <a:rPr lang="en-US" altLang="ko-KR" sz="105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</a:br>
            <a:r>
              <a:rPr lang="en-US" altLang="ko-KR" sz="105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4) </a:t>
            </a:r>
            <a:r>
              <a:rPr lang="en-US" altLang="ko-KR" sz="1050" dirty="0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obstacle_y</a:t>
            </a:r>
            <a:r>
              <a:rPr lang="en-US" altLang="ko-KR" sz="105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: </a:t>
            </a:r>
            <a:r>
              <a:rPr lang="ko-KR" altLang="en-US" sz="105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글로벌 지도 기준 </a:t>
            </a:r>
            <a:r>
              <a:rPr lang="en-US" altLang="ko-KR" sz="105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Y</a:t>
            </a:r>
            <a:r>
              <a:rPr lang="ko-KR" altLang="en-US" sz="105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좌표 </a:t>
            </a:r>
            <a:br>
              <a:rPr lang="en-US" altLang="ko-KR" sz="105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</a:br>
            <a:r>
              <a:rPr lang="en-US" altLang="ko-KR" sz="105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4) </a:t>
            </a:r>
            <a:r>
              <a:rPr lang="en-US" altLang="ko-KR" sz="1050" dirty="0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obstacle_vx</a:t>
            </a:r>
            <a:r>
              <a:rPr lang="en-US" altLang="ko-KR" sz="105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: X </a:t>
            </a:r>
            <a:r>
              <a:rPr lang="ko-KR" altLang="en-US" sz="105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방향</a:t>
            </a:r>
            <a:r>
              <a:rPr lang="en-US" altLang="ko-KR" sz="105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lang="ko-KR" altLang="en-US" sz="105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속도</a:t>
            </a:r>
            <a:br>
              <a:rPr lang="en-US" altLang="ko-KR" sz="105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</a:br>
            <a:r>
              <a:rPr lang="en-US" altLang="ko-KR" sz="105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5) </a:t>
            </a:r>
            <a:r>
              <a:rPr lang="en-US" altLang="ko-KR" sz="1050" dirty="0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obstacle_vy</a:t>
            </a:r>
            <a:r>
              <a:rPr lang="en-US" altLang="ko-KR" sz="105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: Y </a:t>
            </a:r>
            <a:r>
              <a:rPr lang="ko-KR" altLang="en-US" sz="105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방향 속도</a:t>
            </a:r>
            <a:br>
              <a:rPr lang="en-US" altLang="ko-KR" sz="105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</a:br>
            <a:r>
              <a:rPr lang="en-US" altLang="ko-KR" sz="105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6) </a:t>
            </a:r>
            <a:r>
              <a:rPr lang="en-US" altLang="ko-KR" sz="1050" dirty="0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obstacle_type</a:t>
            </a:r>
            <a:r>
              <a:rPr lang="en-US" altLang="ko-KR" sz="105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: 0:</a:t>
            </a:r>
            <a:r>
              <a:rPr lang="ko-KR" altLang="en-US" sz="1050" dirty="0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아동급</a:t>
            </a:r>
            <a:r>
              <a:rPr lang="en-US" altLang="ko-KR" sz="105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, 1:</a:t>
            </a:r>
            <a:r>
              <a:rPr lang="ko-KR" altLang="en-US" sz="1050" dirty="0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성인급</a:t>
            </a:r>
            <a:r>
              <a:rPr lang="en-US" altLang="ko-KR" sz="105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, 2:</a:t>
            </a:r>
            <a:r>
              <a:rPr lang="ko-KR" altLang="en-US" sz="1050" dirty="0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차량급</a:t>
            </a:r>
            <a:r>
              <a:rPr lang="en-US" altLang="ko-KR" sz="105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br>
              <a:rPr lang="en-US" altLang="ko-KR" sz="105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</a:br>
            <a:r>
              <a:rPr lang="en-US" altLang="ko-KR" sz="105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7) </a:t>
            </a:r>
            <a:r>
              <a:rPr lang="en-US" altLang="ko-KR" sz="1050" dirty="0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obstacle_w</a:t>
            </a:r>
            <a:r>
              <a:rPr lang="en-US" altLang="ko-KR" sz="105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: (TBD) </a:t>
            </a:r>
            <a:r>
              <a:rPr lang="ko-KR" altLang="en-US" sz="1050" dirty="0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자차</a:t>
            </a:r>
            <a:r>
              <a:rPr lang="ko-KR" altLang="en-US" sz="105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기준 좌우</a:t>
            </a:r>
            <a:r>
              <a:rPr lang="en-US" altLang="ko-KR" sz="105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lang="ko-KR" altLang="en-US" sz="105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폭</a:t>
            </a:r>
            <a:br>
              <a:rPr lang="en-US" altLang="ko-KR" sz="105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</a:br>
            <a:r>
              <a:rPr lang="en-US" altLang="ko-KR" sz="105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8) </a:t>
            </a:r>
            <a:r>
              <a:rPr lang="en-US" altLang="ko-KR" sz="1050" dirty="0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obstacle_l</a:t>
            </a:r>
            <a:r>
              <a:rPr lang="en-US" altLang="ko-KR" sz="105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: (TBD) </a:t>
            </a:r>
            <a:r>
              <a:rPr lang="ko-KR" altLang="en-US" sz="1050" dirty="0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자차</a:t>
            </a:r>
            <a:r>
              <a:rPr lang="en-US" altLang="ko-KR" sz="105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lang="ko-KR" altLang="en-US" sz="105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기준 전후 깊이 </a:t>
            </a:r>
            <a:endParaRPr lang="en-US" altLang="ko-KR" sz="1050" dirty="0">
              <a:ln>
                <a:solidFill>
                  <a:prstClr val="black">
                    <a:alpha val="0"/>
                  </a:prstClr>
                </a:solidFill>
              </a:ln>
              <a:solidFill>
                <a:prstClr val="black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>
              <a:lnSpc>
                <a:spcPct val="130000"/>
              </a:lnSpc>
            </a:pPr>
            <a:r>
              <a:rPr lang="en-US" altLang="ko-KR" sz="105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9) </a:t>
            </a:r>
            <a:r>
              <a:rPr lang="en-US" altLang="ko-KR" sz="1050" dirty="0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obstacle_vcounter</a:t>
            </a:r>
            <a:r>
              <a:rPr lang="en-US" altLang="ko-KR" sz="105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: </a:t>
            </a:r>
            <a:r>
              <a:rPr lang="ko-KR" altLang="en-US" sz="1050" dirty="0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몇대의</a:t>
            </a:r>
            <a:r>
              <a:rPr lang="ko-KR" altLang="en-US" sz="105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차량에서 검출하였는지 </a:t>
            </a:r>
            <a:r>
              <a:rPr lang="en-US" altLang="ko-KR" sz="105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(0~5)</a:t>
            </a:r>
          </a:p>
          <a:p>
            <a:pPr>
              <a:lnSpc>
                <a:spcPct val="130000"/>
              </a:lnSpc>
            </a:pPr>
            <a:r>
              <a:rPr lang="en-US" altLang="ko-KR" sz="105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10) </a:t>
            </a:r>
            <a:r>
              <a:rPr lang="en-US" altLang="ko-KR" sz="1050" dirty="0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obstacle_state</a:t>
            </a:r>
            <a:r>
              <a:rPr lang="en-US" altLang="ko-KR" sz="105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: 0:NULL, 1:</a:t>
            </a:r>
            <a:r>
              <a:rPr lang="ko-KR" altLang="en-US" sz="105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인지</a:t>
            </a:r>
            <a:r>
              <a:rPr lang="en-US" altLang="ko-KR" sz="105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lang="ko-KR" altLang="en-US" sz="105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중</a:t>
            </a:r>
            <a:r>
              <a:rPr lang="en-US" altLang="ko-KR" sz="105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, 2:</a:t>
            </a:r>
            <a:r>
              <a:rPr lang="ko-KR" altLang="en-US" sz="105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미검출</a:t>
            </a:r>
            <a:r>
              <a:rPr lang="en-US" altLang="ko-KR" sz="105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, 3:</a:t>
            </a:r>
            <a:r>
              <a:rPr lang="ko-KR" altLang="en-US" sz="1050" dirty="0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신규검출</a:t>
            </a:r>
            <a:endParaRPr lang="en-US" altLang="ko-KR" sz="1050" dirty="0">
              <a:ln>
                <a:solidFill>
                  <a:prstClr val="black">
                    <a:alpha val="0"/>
                  </a:prstClr>
                </a:solidFill>
              </a:ln>
              <a:solidFill>
                <a:prstClr val="black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>
              <a:lnSpc>
                <a:spcPct val="130000"/>
              </a:lnSpc>
            </a:pPr>
            <a:r>
              <a:rPr lang="en-US" altLang="ko-KR" sz="105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11) </a:t>
            </a:r>
            <a:r>
              <a:rPr lang="en-US" altLang="ko-KR" sz="1050" dirty="0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obstacle_history</a:t>
            </a:r>
            <a:r>
              <a:rPr lang="en-US" altLang="ko-KR" sz="105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: 3:</a:t>
            </a:r>
            <a:r>
              <a:rPr lang="ko-KR" altLang="en-US" sz="105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계속인지</a:t>
            </a:r>
            <a:r>
              <a:rPr lang="en-US" altLang="ko-KR" sz="105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lang="ko-KR" altLang="en-US" sz="105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중</a:t>
            </a:r>
            <a:r>
              <a:rPr lang="en-US" altLang="ko-KR" sz="105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, 1~2: </a:t>
            </a:r>
            <a:r>
              <a:rPr lang="ko-KR" altLang="en-US" sz="1050" dirty="0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삭제중</a:t>
            </a:r>
            <a:r>
              <a:rPr lang="en-US" altLang="ko-KR" sz="105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/</a:t>
            </a:r>
            <a:r>
              <a:rPr lang="ko-KR" altLang="en-US" sz="1050" dirty="0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등록중</a:t>
            </a:r>
            <a:r>
              <a:rPr lang="en-US" altLang="ko-KR" sz="105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, 0: </a:t>
            </a:r>
            <a:r>
              <a:rPr lang="ko-KR" altLang="en-US" sz="105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삭제됨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046902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74846" y="213862"/>
            <a:ext cx="6720682" cy="384721"/>
          </a:xfrm>
        </p:spPr>
        <p:txBody>
          <a:bodyPr/>
          <a:lstStyle/>
          <a:p>
            <a:r>
              <a:rPr lang="en-US" altLang="ko-KR" dirty="0"/>
              <a:t>⑤ </a:t>
            </a:r>
            <a:r>
              <a:rPr lang="ko-KR" altLang="en-US" dirty="0"/>
              <a:t>장애물 간 </a:t>
            </a:r>
            <a:r>
              <a:rPr lang="en-US" altLang="ko-KR" dirty="0"/>
              <a:t>Data Association (</a:t>
            </a:r>
            <a:r>
              <a:rPr lang="ko-KR" altLang="en-US" dirty="0"/>
              <a:t>동일</a:t>
            </a:r>
            <a:r>
              <a:rPr lang="en-US" altLang="ko-KR" dirty="0"/>
              <a:t> </a:t>
            </a:r>
            <a:r>
              <a:rPr lang="ko-KR" altLang="en-US" dirty="0"/>
              <a:t>장애물 매칭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F55F954-5E86-475A-837F-2B8CED6C7DF1}" type="slidenum">
              <a:rPr lang="ko-KR" altLang="en-US" smtClean="0"/>
              <a:pPr/>
              <a:t>19</a:t>
            </a:fld>
            <a:endParaRPr lang="ko-KR" altLang="en-US"/>
          </a:p>
        </p:txBody>
      </p:sp>
      <p:sp>
        <p:nvSpPr>
          <p:cNvPr id="15" name="직사각형 14"/>
          <p:cNvSpPr/>
          <p:nvPr/>
        </p:nvSpPr>
        <p:spPr>
          <a:xfrm>
            <a:off x="380999" y="873125"/>
            <a:ext cx="5130567" cy="140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5256" indent="-95256" defTabSz="914411" fontAlgn="base">
              <a:lnSpc>
                <a:spcPct val="15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buFont typeface="Wingdings" panose="05000000000000000000" pitchFamily="2" charset="2"/>
              <a:buChar char="§"/>
              <a:defRPr/>
            </a:pPr>
            <a:r>
              <a:rPr lang="ko-KR" altLang="en-US" sz="1300" b="1" kern="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개요</a:t>
            </a:r>
            <a:endParaRPr lang="en-US" altLang="ko-KR" sz="1300" b="1" kern="0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5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 err="1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차량별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인지 장애물을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L3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레이어 상에 맵핑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5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다중 차량 중복 인지 장애물 식별 및 통합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</a:t>
            </a:r>
          </a:p>
          <a:p>
            <a:pPr defTabSz="914411" fontAlgn="base">
              <a:lnSpc>
                <a:spcPct val="15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en-US" altLang="ko-KR" sz="1300" kern="0" dirty="0" err="1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Munkres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(Hungarian)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알고리즘 기반 인지 데이터 식별 및 할당</a:t>
            </a:r>
            <a:endParaRPr lang="en-US" altLang="ko-KR" sz="1300" kern="0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374846" y="2462819"/>
            <a:ext cx="5564560" cy="94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5256" indent="-95256"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buFont typeface="Wingdings" panose="05000000000000000000" pitchFamily="2" charset="2"/>
              <a:buChar char="§"/>
              <a:defRPr/>
            </a:pPr>
            <a:r>
              <a:rPr lang="ko-KR" altLang="en-US" sz="1300" b="1" kern="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알고리즘 설명</a:t>
            </a:r>
            <a:endParaRPr lang="en-US" altLang="ko-KR" sz="1300" b="1" kern="0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Detection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과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track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으로 이루어진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bipartite graph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기반의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weight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최적화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최소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Euclidian distance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를 갖도록 행과 열에 계산 수행</a:t>
            </a:r>
            <a:endParaRPr lang="en-US" altLang="ko-KR" sz="1300" kern="0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표 8">
                <a:extLst>
                  <a:ext uri="{FF2B5EF4-FFF2-40B4-BE49-F238E27FC236}">
                    <a16:creationId xmlns:a16="http://schemas.microsoft.com/office/drawing/2014/main" id="{0CFF324F-3FFF-4CB4-8E67-2EE16BF25C5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308523" y="1204120"/>
              <a:ext cx="3049233" cy="1273115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783393">
                      <a:extLst>
                        <a:ext uri="{9D8B030D-6E8A-4147-A177-3AD203B41FA5}">
                          <a16:colId xmlns:a16="http://schemas.microsoft.com/office/drawing/2014/main" val="282308621"/>
                        </a:ext>
                      </a:extLst>
                    </a:gridCol>
                    <a:gridCol w="566460">
                      <a:extLst>
                        <a:ext uri="{9D8B030D-6E8A-4147-A177-3AD203B41FA5}">
                          <a16:colId xmlns:a16="http://schemas.microsoft.com/office/drawing/2014/main" val="4086822415"/>
                        </a:ext>
                      </a:extLst>
                    </a:gridCol>
                    <a:gridCol w="566460">
                      <a:extLst>
                        <a:ext uri="{9D8B030D-6E8A-4147-A177-3AD203B41FA5}">
                          <a16:colId xmlns:a16="http://schemas.microsoft.com/office/drawing/2014/main" val="2897071943"/>
                        </a:ext>
                      </a:extLst>
                    </a:gridCol>
                    <a:gridCol w="566460">
                      <a:extLst>
                        <a:ext uri="{9D8B030D-6E8A-4147-A177-3AD203B41FA5}">
                          <a16:colId xmlns:a16="http://schemas.microsoft.com/office/drawing/2014/main" val="2054195814"/>
                        </a:ext>
                      </a:extLst>
                    </a:gridCol>
                    <a:gridCol w="566460">
                      <a:extLst>
                        <a:ext uri="{9D8B030D-6E8A-4147-A177-3AD203B41FA5}">
                          <a16:colId xmlns:a16="http://schemas.microsoft.com/office/drawing/2014/main" val="2314407055"/>
                        </a:ext>
                      </a:extLst>
                    </a:gridCol>
                  </a:tblGrid>
                  <a:tr h="253835">
                    <a:tc>
                      <a:txBody>
                        <a:bodyPr/>
                        <a:lstStyle/>
                        <a:p>
                          <a:pPr algn="ctr" latinLnBrk="1">
                            <a:lnSpc>
                              <a:spcPct val="150000"/>
                            </a:lnSpc>
                          </a:pPr>
                          <a:endParaRPr lang="ko-KR" altLang="en-US" sz="1000" dirty="0"/>
                        </a:p>
                      </a:txBody>
                      <a:tcPr marL="54000" marR="54000" marT="25200" marB="25200" anchor="ctr">
                        <a:lnR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lnSpc>
                              <a:spcPct val="15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000" b="0" i="1" smtClean="0">
                                        <a:latin typeface="Cambria Math" panose="02040503050406030204" pitchFamily="18" charset="0"/>
                                      </a:rPr>
                                      <m:t>𝑇𝑟𝑎𝑐𝑘</m:t>
                                    </m:r>
                                  </m:e>
                                  <m:sub>
                                    <m:r>
                                      <a:rPr lang="en-US" altLang="ko-KR" sz="10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000" dirty="0"/>
                        </a:p>
                      </a:txBody>
                      <a:tcPr marL="54000" marR="54000" marT="25200" marB="25200" anchor="ctr">
                        <a:lnL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lnSpc>
                              <a:spcPct val="15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000" b="0" i="1" smtClean="0">
                                        <a:latin typeface="Cambria Math" panose="02040503050406030204" pitchFamily="18" charset="0"/>
                                      </a:rPr>
                                      <m:t>𝑇𝑟𝑎𝑐𝑘</m:t>
                                    </m:r>
                                  </m:e>
                                  <m:sub>
                                    <m:r>
                                      <a:rPr lang="en-US" altLang="ko-KR" sz="1000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000" dirty="0"/>
                        </a:p>
                      </a:txBody>
                      <a:tcPr marL="54000" marR="54000" marT="25200" marB="25200" anchor="ctr">
                        <a:lnL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lnSpc>
                              <a:spcPct val="15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000" b="0" i="1" smtClean="0">
                                        <a:latin typeface="Cambria Math" panose="02040503050406030204" pitchFamily="18" charset="0"/>
                                      </a:rPr>
                                      <m:t>𝑇𝑟𝑎𝑐𝑘</m:t>
                                    </m:r>
                                  </m:e>
                                  <m:sub>
                                    <m:r>
                                      <a:rPr lang="en-US" altLang="ko-KR" sz="10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000" dirty="0"/>
                        </a:p>
                      </a:txBody>
                      <a:tcPr marL="54000" marR="54000" marT="25200" marB="25200" anchor="ctr">
                        <a:lnL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lnSpc>
                              <a:spcPct val="15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000" b="0" i="1" smtClean="0">
                                        <a:latin typeface="Cambria Math" panose="02040503050406030204" pitchFamily="18" charset="0"/>
                                      </a:rPr>
                                      <m:t>𝑇𝑟𝑎𝑐𝑘</m:t>
                                    </m:r>
                                  </m:e>
                                  <m:sub>
                                    <m:r>
                                      <a:rPr lang="en-US" altLang="ko-KR" sz="1000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000" dirty="0"/>
                        </a:p>
                      </a:txBody>
                      <a:tcPr marL="54000" marR="54000" marT="25200" marB="25200" anchor="ctr">
                        <a:lnL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224293872"/>
                      </a:ext>
                    </a:extLst>
                  </a:tr>
                  <a:tr h="243925">
                    <a:tc>
                      <a:txBody>
                        <a:bodyPr/>
                        <a:lstStyle/>
                        <a:p>
                          <a:pPr algn="ctr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  <m:t>𝐷𝑒𝑡𝑒𝑐𝑡𝑖𝑜𝑛</m:t>
                                    </m:r>
                                  </m:e>
                                  <m:sub>
                                    <m: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altLang="ko-KR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endParaRPr>
                        </a:p>
                      </a:txBody>
                      <a:tcPr marL="9525" marR="9525" marT="9525" marB="0" anchor="ctr">
                        <a:lnR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10</a:t>
                          </a:r>
                        </a:p>
                      </a:txBody>
                      <a:tcPr marL="9525" marR="9525" marT="9525" marB="0" anchor="ctr">
                        <a:lnL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70</a:t>
                          </a:r>
                        </a:p>
                      </a:txBody>
                      <a:tcPr marL="9525" marR="9525" marT="9525" marB="0" anchor="ctr">
                        <a:lnL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55</a:t>
                          </a:r>
                        </a:p>
                      </a:txBody>
                      <a:tcPr marL="9525" marR="9525" marT="9525" marB="0" anchor="ctr">
                        <a:lnL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25</a:t>
                          </a:r>
                        </a:p>
                      </a:txBody>
                      <a:tcPr marL="9525" marR="9525" marT="9525" marB="0" anchor="ctr">
                        <a:lnL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72986022"/>
                      </a:ext>
                    </a:extLst>
                  </a:tr>
                  <a:tr h="24392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  <m:t>𝐷𝑒𝑡𝑒𝑐𝑡𝑖𝑜𝑛</m:t>
                                    </m:r>
                                  </m:e>
                                  <m:sub>
                                    <m: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altLang="ko-KR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endParaRPr>
                        </a:p>
                      </a:txBody>
                      <a:tcPr marL="9525" marR="9525" marT="9525" marB="0" anchor="ctr">
                        <a:lnR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62</a:t>
                          </a:r>
                        </a:p>
                      </a:txBody>
                      <a:tcPr marL="9525" marR="9525" marT="9525" marB="0" anchor="ctr">
                        <a:lnL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15</a:t>
                          </a:r>
                        </a:p>
                      </a:txBody>
                      <a:tcPr marL="9525" marR="9525" marT="9525" marB="0" anchor="ctr">
                        <a:lnL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58</a:t>
                          </a:r>
                        </a:p>
                      </a:txBody>
                      <a:tcPr marL="9525" marR="9525" marT="9525" marB="0" anchor="ctr">
                        <a:lnL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35</a:t>
                          </a:r>
                        </a:p>
                      </a:txBody>
                      <a:tcPr marL="9525" marR="9525" marT="9525" marB="0" anchor="ctr">
                        <a:lnL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199991872"/>
                      </a:ext>
                    </a:extLst>
                  </a:tr>
                  <a:tr h="24392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  <m:t>𝐷𝑒𝑡𝑒𝑐𝑡𝑖𝑜𝑛</m:t>
                                    </m:r>
                                  </m:e>
                                  <m:sub>
                                    <m: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altLang="ko-KR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endParaRPr>
                        </a:p>
                      </a:txBody>
                      <a:tcPr marL="9525" marR="9525" marT="9525" marB="0" anchor="ctr">
                        <a:lnR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23</a:t>
                          </a:r>
                        </a:p>
                      </a:txBody>
                      <a:tcPr marL="9525" marR="9525" marT="9525" marB="0" anchor="ctr">
                        <a:lnL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78</a:t>
                          </a:r>
                        </a:p>
                      </a:txBody>
                      <a:tcPr marL="9525" marR="9525" marT="9525" marB="0" anchor="ctr">
                        <a:lnL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14</a:t>
                          </a:r>
                        </a:p>
                      </a:txBody>
                      <a:tcPr marL="9525" marR="9525" marT="9525" marB="0" anchor="ctr">
                        <a:lnL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63</a:t>
                          </a:r>
                        </a:p>
                      </a:txBody>
                      <a:tcPr marL="9525" marR="9525" marT="9525" marB="0" anchor="ctr">
                        <a:lnL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233222876"/>
                      </a:ext>
                    </a:extLst>
                  </a:tr>
                  <a:tr h="24392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  <m:t>𝐷𝑒𝑡𝑒𝑐𝑡𝑖𝑜𝑛</m:t>
                                    </m:r>
                                  </m:e>
                                  <m:sub>
                                    <m: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altLang="ko-KR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endParaRPr>
                        </a:p>
                      </a:txBody>
                      <a:tcPr marL="9525" marR="9525" marT="9525" marB="0" anchor="ctr">
                        <a:lnR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55</a:t>
                          </a:r>
                        </a:p>
                      </a:txBody>
                      <a:tcPr marL="9525" marR="9525" marT="9525" marB="0" anchor="ctr">
                        <a:lnL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34</a:t>
                          </a:r>
                        </a:p>
                      </a:txBody>
                      <a:tcPr marL="9525" marR="9525" marT="9525" marB="0" anchor="ctr">
                        <a:lnL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47</a:t>
                          </a:r>
                        </a:p>
                      </a:txBody>
                      <a:tcPr marL="9525" marR="9525" marT="9525" marB="0" anchor="ctr">
                        <a:lnL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48222559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표 8">
                <a:extLst>
                  <a:ext uri="{FF2B5EF4-FFF2-40B4-BE49-F238E27FC236}">
                    <a16:creationId xmlns:a16="http://schemas.microsoft.com/office/drawing/2014/main" id="{0CFF324F-3FFF-4CB4-8E67-2EE16BF25C5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67143187"/>
                  </p:ext>
                </p:extLst>
              </p:nvPr>
            </p:nvGraphicFramePr>
            <p:xfrm>
              <a:off x="6308523" y="1204120"/>
              <a:ext cx="3049233" cy="1273115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783393">
                      <a:extLst>
                        <a:ext uri="{9D8B030D-6E8A-4147-A177-3AD203B41FA5}">
                          <a16:colId xmlns:a16="http://schemas.microsoft.com/office/drawing/2014/main" val="282308621"/>
                        </a:ext>
                      </a:extLst>
                    </a:gridCol>
                    <a:gridCol w="566460">
                      <a:extLst>
                        <a:ext uri="{9D8B030D-6E8A-4147-A177-3AD203B41FA5}">
                          <a16:colId xmlns:a16="http://schemas.microsoft.com/office/drawing/2014/main" val="4086822415"/>
                        </a:ext>
                      </a:extLst>
                    </a:gridCol>
                    <a:gridCol w="566460">
                      <a:extLst>
                        <a:ext uri="{9D8B030D-6E8A-4147-A177-3AD203B41FA5}">
                          <a16:colId xmlns:a16="http://schemas.microsoft.com/office/drawing/2014/main" val="2897071943"/>
                        </a:ext>
                      </a:extLst>
                    </a:gridCol>
                    <a:gridCol w="566460">
                      <a:extLst>
                        <a:ext uri="{9D8B030D-6E8A-4147-A177-3AD203B41FA5}">
                          <a16:colId xmlns:a16="http://schemas.microsoft.com/office/drawing/2014/main" val="2054195814"/>
                        </a:ext>
                      </a:extLst>
                    </a:gridCol>
                    <a:gridCol w="566460">
                      <a:extLst>
                        <a:ext uri="{9D8B030D-6E8A-4147-A177-3AD203B41FA5}">
                          <a16:colId xmlns:a16="http://schemas.microsoft.com/office/drawing/2014/main" val="2314407055"/>
                        </a:ext>
                      </a:extLst>
                    </a:gridCol>
                  </a:tblGrid>
                  <a:tr h="297415">
                    <a:tc>
                      <a:txBody>
                        <a:bodyPr/>
                        <a:lstStyle/>
                        <a:p>
                          <a:pPr algn="ctr" latinLnBrk="1">
                            <a:lnSpc>
                              <a:spcPct val="150000"/>
                            </a:lnSpc>
                          </a:pPr>
                          <a:endParaRPr lang="ko-KR" altLang="en-US" sz="1000" dirty="0"/>
                        </a:p>
                      </a:txBody>
                      <a:tcPr marL="54000" marR="54000" marT="25200" marB="25200" anchor="ctr">
                        <a:lnR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54000" marR="54000" marT="25200" marB="25200" anchor="ctr">
                        <a:lnL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38710" t="-2041" r="-301075" b="-3469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54000" marR="54000" marT="25200" marB="25200" anchor="ctr">
                        <a:lnL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38710" t="-2041" r="-201075" b="-3469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54000" marR="54000" marT="25200" marB="25200" anchor="ctr">
                        <a:lnL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35106" t="-2041" r="-98936" b="-3469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54000" marR="54000" marT="25200" marB="25200" anchor="ctr">
                        <a:lnL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39785" t="-2041" b="-3469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24293872"/>
                      </a:ext>
                    </a:extLst>
                  </a:tr>
                  <a:tr h="243925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9525" marR="9525" marT="9525" marB="0" anchor="ctr">
                        <a:lnR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t="-125000" r="-289147" b="-3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10</a:t>
                          </a:r>
                        </a:p>
                      </a:txBody>
                      <a:tcPr marL="9525" marR="9525" marT="9525" marB="0" anchor="ctr">
                        <a:lnL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70</a:t>
                          </a:r>
                        </a:p>
                      </a:txBody>
                      <a:tcPr marL="9525" marR="9525" marT="9525" marB="0" anchor="ctr">
                        <a:lnL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55</a:t>
                          </a:r>
                        </a:p>
                      </a:txBody>
                      <a:tcPr marL="9525" marR="9525" marT="9525" marB="0" anchor="ctr">
                        <a:lnL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25</a:t>
                          </a:r>
                        </a:p>
                      </a:txBody>
                      <a:tcPr marL="9525" marR="9525" marT="9525" marB="0" anchor="ctr">
                        <a:lnL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72986022"/>
                      </a:ext>
                    </a:extLst>
                  </a:tr>
                  <a:tr h="243925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9525" marR="9525" marT="9525" marB="0" anchor="ctr">
                        <a:lnR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t="-219512" r="-289147" b="-2170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62</a:t>
                          </a:r>
                        </a:p>
                      </a:txBody>
                      <a:tcPr marL="9525" marR="9525" marT="9525" marB="0" anchor="ctr">
                        <a:lnL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15</a:t>
                          </a:r>
                        </a:p>
                      </a:txBody>
                      <a:tcPr marL="9525" marR="9525" marT="9525" marB="0" anchor="ctr">
                        <a:lnL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58</a:t>
                          </a:r>
                        </a:p>
                      </a:txBody>
                      <a:tcPr marL="9525" marR="9525" marT="9525" marB="0" anchor="ctr">
                        <a:lnL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35</a:t>
                          </a:r>
                        </a:p>
                      </a:txBody>
                      <a:tcPr marL="9525" marR="9525" marT="9525" marB="0" anchor="ctr">
                        <a:lnL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199991872"/>
                      </a:ext>
                    </a:extLst>
                  </a:tr>
                  <a:tr h="243925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9525" marR="9525" marT="9525" marB="0" anchor="ctr">
                        <a:lnR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t="-327500" r="-289147" b="-12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23</a:t>
                          </a:r>
                        </a:p>
                      </a:txBody>
                      <a:tcPr marL="9525" marR="9525" marT="9525" marB="0" anchor="ctr">
                        <a:lnL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78</a:t>
                          </a:r>
                        </a:p>
                      </a:txBody>
                      <a:tcPr marL="9525" marR="9525" marT="9525" marB="0" anchor="ctr">
                        <a:lnL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14</a:t>
                          </a:r>
                        </a:p>
                      </a:txBody>
                      <a:tcPr marL="9525" marR="9525" marT="9525" marB="0" anchor="ctr">
                        <a:lnL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63</a:t>
                          </a:r>
                        </a:p>
                      </a:txBody>
                      <a:tcPr marL="9525" marR="9525" marT="9525" marB="0" anchor="ctr">
                        <a:lnL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233222876"/>
                      </a:ext>
                    </a:extLst>
                  </a:tr>
                  <a:tr h="243925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9525" marR="9525" marT="9525" marB="0" anchor="ctr">
                        <a:lnR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t="-427500" r="-289147" b="-2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55</a:t>
                          </a:r>
                        </a:p>
                      </a:txBody>
                      <a:tcPr marL="9525" marR="9525" marT="9525" marB="0" anchor="ctr">
                        <a:lnL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34</a:t>
                          </a:r>
                        </a:p>
                      </a:txBody>
                      <a:tcPr marL="9525" marR="9525" marT="9525" marB="0" anchor="ctr">
                        <a:lnL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47</a:t>
                          </a:r>
                        </a:p>
                      </a:txBody>
                      <a:tcPr marL="9525" marR="9525" marT="9525" marB="0" anchor="ctr">
                        <a:lnL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48222559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0" name="직사각형 9">
            <a:extLst>
              <a:ext uri="{FF2B5EF4-FFF2-40B4-BE49-F238E27FC236}">
                <a16:creationId xmlns:a16="http://schemas.microsoft.com/office/drawing/2014/main" id="{F63842B9-4FF3-4BEA-ACCD-ED6FB51CD2BF}"/>
              </a:ext>
            </a:extLst>
          </p:cNvPr>
          <p:cNvSpPr/>
          <p:nvPr/>
        </p:nvSpPr>
        <p:spPr>
          <a:xfrm>
            <a:off x="374846" y="3482724"/>
            <a:ext cx="5564560" cy="3091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defTabSz="914411" fontAlgn="base">
              <a:lnSpc>
                <a:spcPct val="110000"/>
              </a:lnSpc>
              <a:spcBef>
                <a:spcPts val="150"/>
              </a:spcBef>
              <a:spcAft>
                <a:spcPts val="150"/>
              </a:spcAft>
              <a:buClr>
                <a:schemeClr val="tx1"/>
              </a:buClr>
              <a:buSzPct val="100000"/>
              <a:buFont typeface="+mj-ea"/>
              <a:buAutoNum type="circleNumDbPlain"/>
              <a:defRPr/>
            </a:pP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행 또는 열의 최솟값 소거</a:t>
            </a:r>
            <a:b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</a:b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각 행 또는 각 열 에서 가장 작은 값의 요소를 해당하는 행의 모든 </a:t>
            </a:r>
            <a:b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</a:b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요소에서 차감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marL="342900" indent="-342900" defTabSz="914411" fontAlgn="base">
              <a:lnSpc>
                <a:spcPct val="110000"/>
              </a:lnSpc>
              <a:spcBef>
                <a:spcPts val="150"/>
              </a:spcBef>
              <a:spcAft>
                <a:spcPts val="150"/>
              </a:spcAft>
              <a:buClr>
                <a:schemeClr val="tx1"/>
              </a:buClr>
              <a:buSzPct val="100000"/>
              <a:buFont typeface="+mj-ea"/>
              <a:buAutoNum type="circleNumDbPlain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0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을 지나는 가로 세로 줄 수의 최솟값</a:t>
            </a:r>
            <a:b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</a:b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수직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,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수평으로 각각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n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개의 선이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0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을 통과하여 그려지면</a:t>
            </a:r>
            <a:b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</a:b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n X n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행렬에 대한 최적 할당 구현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marL="342900" indent="-342900" defTabSz="914411" fontAlgn="base">
              <a:lnSpc>
                <a:spcPct val="110000"/>
              </a:lnSpc>
              <a:spcBef>
                <a:spcPts val="150"/>
              </a:spcBef>
              <a:spcAft>
                <a:spcPts val="150"/>
              </a:spcAft>
              <a:buClr>
                <a:schemeClr val="tx1"/>
              </a:buClr>
              <a:buSzPct val="100000"/>
              <a:buFont typeface="+mj-ea"/>
              <a:buAutoNum type="circleNumDbPlain"/>
              <a:defRPr/>
            </a:pP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추가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0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생성</a:t>
            </a:r>
            <a:b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</a:b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수직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,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수평의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n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개 선이 생성되지 않는 경우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,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선이 포함되지 않은</a:t>
            </a:r>
            <a:b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</a:b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행 또는 열에서 최솟값을 찾고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,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해당 값을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0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을 제외한 모든 원소에서</a:t>
            </a:r>
            <a:b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</a:b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차감하여 추가적인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0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을 생성하고 스텝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③ 반복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marL="342900" indent="-342900" defTabSz="914411" fontAlgn="base">
              <a:lnSpc>
                <a:spcPct val="110000"/>
              </a:lnSpc>
              <a:spcBef>
                <a:spcPts val="150"/>
              </a:spcBef>
              <a:spcAft>
                <a:spcPts val="150"/>
              </a:spcAft>
              <a:buClr>
                <a:schemeClr val="tx1"/>
              </a:buClr>
              <a:buSzPct val="100000"/>
              <a:buFont typeface="+mj-ea"/>
              <a:buAutoNum type="circleNumDbPlain"/>
              <a:defRPr/>
            </a:pP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각 차량에서의 인지 데이터에서 </a:t>
            </a:r>
            <a:r>
              <a:rPr lang="en-US" altLang="ko-KR" sz="1300" kern="0" dirty="0" err="1">
                <a:ln>
                  <a:solidFill>
                    <a:schemeClr val="tx1">
                      <a:alpha val="500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munkres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알고리즘을 수행하여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track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을 할당하고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서로 </a:t>
            </a:r>
            <a:r>
              <a:rPr lang="ko-KR" altLang="en-US" sz="1300" kern="0" dirty="0" err="1">
                <a:ln>
                  <a:solidFill>
                    <a:schemeClr val="tx1">
                      <a:alpha val="500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다른차량에서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 같은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track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으로 할당되는 경우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중복 장애물로 인지하여 통합 수행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   </a:t>
            </a:r>
            <a:endParaRPr lang="en-US" altLang="ko-KR" sz="1300" kern="0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표 10">
                <a:extLst>
                  <a:ext uri="{FF2B5EF4-FFF2-40B4-BE49-F238E27FC236}">
                    <a16:creationId xmlns:a16="http://schemas.microsoft.com/office/drawing/2014/main" id="{B6FBF132-1294-4320-9F0D-CD8B9128693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308523" y="2874562"/>
              <a:ext cx="3049233" cy="1273115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783393">
                      <a:extLst>
                        <a:ext uri="{9D8B030D-6E8A-4147-A177-3AD203B41FA5}">
                          <a16:colId xmlns:a16="http://schemas.microsoft.com/office/drawing/2014/main" val="282308621"/>
                        </a:ext>
                      </a:extLst>
                    </a:gridCol>
                    <a:gridCol w="566460">
                      <a:extLst>
                        <a:ext uri="{9D8B030D-6E8A-4147-A177-3AD203B41FA5}">
                          <a16:colId xmlns:a16="http://schemas.microsoft.com/office/drawing/2014/main" val="4086822415"/>
                        </a:ext>
                      </a:extLst>
                    </a:gridCol>
                    <a:gridCol w="566460">
                      <a:extLst>
                        <a:ext uri="{9D8B030D-6E8A-4147-A177-3AD203B41FA5}">
                          <a16:colId xmlns:a16="http://schemas.microsoft.com/office/drawing/2014/main" val="2897071943"/>
                        </a:ext>
                      </a:extLst>
                    </a:gridCol>
                    <a:gridCol w="566460">
                      <a:extLst>
                        <a:ext uri="{9D8B030D-6E8A-4147-A177-3AD203B41FA5}">
                          <a16:colId xmlns:a16="http://schemas.microsoft.com/office/drawing/2014/main" val="2054195814"/>
                        </a:ext>
                      </a:extLst>
                    </a:gridCol>
                    <a:gridCol w="566460">
                      <a:extLst>
                        <a:ext uri="{9D8B030D-6E8A-4147-A177-3AD203B41FA5}">
                          <a16:colId xmlns:a16="http://schemas.microsoft.com/office/drawing/2014/main" val="2314407055"/>
                        </a:ext>
                      </a:extLst>
                    </a:gridCol>
                  </a:tblGrid>
                  <a:tr h="253835">
                    <a:tc>
                      <a:txBody>
                        <a:bodyPr/>
                        <a:lstStyle/>
                        <a:p>
                          <a:pPr algn="ctr" latinLnBrk="1">
                            <a:lnSpc>
                              <a:spcPct val="150000"/>
                            </a:lnSpc>
                          </a:pPr>
                          <a:endParaRPr lang="ko-KR" altLang="en-US" sz="1000" dirty="0"/>
                        </a:p>
                      </a:txBody>
                      <a:tcPr marL="54000" marR="54000" marT="25200" marB="25200" anchor="ctr">
                        <a:lnR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lnSpc>
                              <a:spcPct val="15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000" b="0" i="1" smtClean="0">
                                        <a:latin typeface="Cambria Math" panose="02040503050406030204" pitchFamily="18" charset="0"/>
                                      </a:rPr>
                                      <m:t>𝑇𝑟𝑎𝑐𝑘</m:t>
                                    </m:r>
                                  </m:e>
                                  <m:sub>
                                    <m:r>
                                      <a:rPr lang="en-US" altLang="ko-KR" sz="10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000" dirty="0"/>
                        </a:p>
                      </a:txBody>
                      <a:tcPr marL="54000" marR="54000" marT="25200" marB="25200" anchor="ctr">
                        <a:lnL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lnSpc>
                              <a:spcPct val="15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000" b="0" i="1" smtClean="0">
                                        <a:latin typeface="Cambria Math" panose="02040503050406030204" pitchFamily="18" charset="0"/>
                                      </a:rPr>
                                      <m:t>𝑇𝑟𝑎𝑐𝑘</m:t>
                                    </m:r>
                                  </m:e>
                                  <m:sub>
                                    <m:r>
                                      <a:rPr lang="en-US" altLang="ko-KR" sz="1000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000" dirty="0"/>
                        </a:p>
                      </a:txBody>
                      <a:tcPr marL="54000" marR="54000" marT="25200" marB="25200" anchor="ctr">
                        <a:lnL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lnSpc>
                              <a:spcPct val="15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000" b="0" i="1" smtClean="0">
                                        <a:latin typeface="Cambria Math" panose="02040503050406030204" pitchFamily="18" charset="0"/>
                                      </a:rPr>
                                      <m:t>𝑇𝑟𝑎𝑐𝑘</m:t>
                                    </m:r>
                                  </m:e>
                                  <m:sub>
                                    <m:r>
                                      <a:rPr lang="en-US" altLang="ko-KR" sz="10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000" dirty="0"/>
                        </a:p>
                      </a:txBody>
                      <a:tcPr marL="54000" marR="54000" marT="25200" marB="25200" anchor="ctr">
                        <a:lnL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lnSpc>
                              <a:spcPct val="15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000" b="0" i="1" smtClean="0">
                                        <a:latin typeface="Cambria Math" panose="02040503050406030204" pitchFamily="18" charset="0"/>
                                      </a:rPr>
                                      <m:t>𝑇𝑟𝑎𝑐𝑘</m:t>
                                    </m:r>
                                  </m:e>
                                  <m:sub>
                                    <m:r>
                                      <a:rPr lang="en-US" altLang="ko-KR" sz="1000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000" dirty="0"/>
                        </a:p>
                      </a:txBody>
                      <a:tcPr marL="54000" marR="54000" marT="25200" marB="25200" anchor="ctr">
                        <a:lnL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224293872"/>
                      </a:ext>
                    </a:extLst>
                  </a:tr>
                  <a:tr h="243925">
                    <a:tc>
                      <a:txBody>
                        <a:bodyPr/>
                        <a:lstStyle/>
                        <a:p>
                          <a:pPr algn="ctr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  <m:t>𝐷𝑒𝑡𝑒𝑐𝑡𝑖𝑜𝑛</m:t>
                                    </m:r>
                                  </m:e>
                                  <m:sub>
                                    <m: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altLang="ko-KR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endParaRPr>
                        </a:p>
                      </a:txBody>
                      <a:tcPr marL="9525" marR="9525" marT="9525" marB="0" anchor="ctr">
                        <a:lnR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60</a:t>
                          </a:r>
                        </a:p>
                      </a:txBody>
                      <a:tcPr marL="9525" marR="9525" marT="9525" marB="0" anchor="ctr">
                        <a:lnL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45</a:t>
                          </a:r>
                        </a:p>
                      </a:txBody>
                      <a:tcPr marL="9525" marR="9525" marT="9525" marB="0" anchor="ctr">
                        <a:lnL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15</a:t>
                          </a:r>
                        </a:p>
                      </a:txBody>
                      <a:tcPr marL="9525" marR="9525" marT="9525" marB="0" anchor="ctr">
                        <a:lnL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72986022"/>
                      </a:ext>
                    </a:extLst>
                  </a:tr>
                  <a:tr h="24392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  <m:t>𝐷𝑒𝑡𝑒𝑐𝑡𝑖𝑜𝑛</m:t>
                                    </m:r>
                                  </m:e>
                                  <m:sub>
                                    <m: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altLang="ko-KR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endParaRPr>
                        </a:p>
                      </a:txBody>
                      <a:tcPr marL="9525" marR="9525" marT="9525" marB="0" anchor="ctr">
                        <a:lnR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47</a:t>
                          </a:r>
                        </a:p>
                      </a:txBody>
                      <a:tcPr marL="9525" marR="9525" marT="9525" marB="0" anchor="ctr">
                        <a:lnL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43</a:t>
                          </a:r>
                        </a:p>
                      </a:txBody>
                      <a:tcPr marL="9525" marR="9525" marT="9525" marB="0" anchor="ctr">
                        <a:lnL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20</a:t>
                          </a:r>
                        </a:p>
                      </a:txBody>
                      <a:tcPr marL="9525" marR="9525" marT="9525" marB="0" anchor="ctr">
                        <a:lnL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199991872"/>
                      </a:ext>
                    </a:extLst>
                  </a:tr>
                  <a:tr h="24392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  <m:t>𝐷𝑒𝑡𝑒𝑐𝑡𝑖𝑜𝑛</m:t>
                                    </m:r>
                                  </m:e>
                                  <m:sub>
                                    <m: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altLang="ko-KR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endParaRPr>
                        </a:p>
                      </a:txBody>
                      <a:tcPr marL="9525" marR="9525" marT="9525" marB="0" anchor="ctr">
                        <a:lnR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9</a:t>
                          </a:r>
                        </a:p>
                      </a:txBody>
                      <a:tcPr marL="9525" marR="9525" marT="9525" marB="0" anchor="ctr">
                        <a:lnL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64</a:t>
                          </a:r>
                        </a:p>
                      </a:txBody>
                      <a:tcPr marL="9525" marR="9525" marT="9525" marB="0" anchor="ctr">
                        <a:lnL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49</a:t>
                          </a:r>
                        </a:p>
                      </a:txBody>
                      <a:tcPr marL="9525" marR="9525" marT="9525" marB="0" anchor="ctr">
                        <a:lnL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233222876"/>
                      </a:ext>
                    </a:extLst>
                  </a:tr>
                  <a:tr h="24392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  <m:t>𝐷𝑒𝑡𝑒𝑐𝑡𝑖𝑜𝑛</m:t>
                                    </m:r>
                                  </m:e>
                                  <m:sub>
                                    <m: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altLang="ko-KR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endParaRPr>
                        </a:p>
                      </a:txBody>
                      <a:tcPr marL="9525" marR="9525" marT="9525" marB="0" anchor="ctr">
                        <a:lnR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55</a:t>
                          </a:r>
                        </a:p>
                      </a:txBody>
                      <a:tcPr marL="9525" marR="9525" marT="9525" marB="0" anchor="ctr">
                        <a:lnL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34</a:t>
                          </a:r>
                        </a:p>
                      </a:txBody>
                      <a:tcPr marL="9525" marR="9525" marT="9525" marB="0" anchor="ctr">
                        <a:lnL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47</a:t>
                          </a:r>
                        </a:p>
                      </a:txBody>
                      <a:tcPr marL="9525" marR="9525" marT="9525" marB="0" anchor="ctr">
                        <a:lnL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48222559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표 10">
                <a:extLst>
                  <a:ext uri="{FF2B5EF4-FFF2-40B4-BE49-F238E27FC236}">
                    <a16:creationId xmlns:a16="http://schemas.microsoft.com/office/drawing/2014/main" id="{B6FBF132-1294-4320-9F0D-CD8B9128693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92813651"/>
                  </p:ext>
                </p:extLst>
              </p:nvPr>
            </p:nvGraphicFramePr>
            <p:xfrm>
              <a:off x="6308523" y="2874562"/>
              <a:ext cx="3049233" cy="1273115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783393">
                      <a:extLst>
                        <a:ext uri="{9D8B030D-6E8A-4147-A177-3AD203B41FA5}">
                          <a16:colId xmlns:a16="http://schemas.microsoft.com/office/drawing/2014/main" val="282308621"/>
                        </a:ext>
                      </a:extLst>
                    </a:gridCol>
                    <a:gridCol w="566460">
                      <a:extLst>
                        <a:ext uri="{9D8B030D-6E8A-4147-A177-3AD203B41FA5}">
                          <a16:colId xmlns:a16="http://schemas.microsoft.com/office/drawing/2014/main" val="4086822415"/>
                        </a:ext>
                      </a:extLst>
                    </a:gridCol>
                    <a:gridCol w="566460">
                      <a:extLst>
                        <a:ext uri="{9D8B030D-6E8A-4147-A177-3AD203B41FA5}">
                          <a16:colId xmlns:a16="http://schemas.microsoft.com/office/drawing/2014/main" val="2897071943"/>
                        </a:ext>
                      </a:extLst>
                    </a:gridCol>
                    <a:gridCol w="566460">
                      <a:extLst>
                        <a:ext uri="{9D8B030D-6E8A-4147-A177-3AD203B41FA5}">
                          <a16:colId xmlns:a16="http://schemas.microsoft.com/office/drawing/2014/main" val="2054195814"/>
                        </a:ext>
                      </a:extLst>
                    </a:gridCol>
                    <a:gridCol w="566460">
                      <a:extLst>
                        <a:ext uri="{9D8B030D-6E8A-4147-A177-3AD203B41FA5}">
                          <a16:colId xmlns:a16="http://schemas.microsoft.com/office/drawing/2014/main" val="2314407055"/>
                        </a:ext>
                      </a:extLst>
                    </a:gridCol>
                  </a:tblGrid>
                  <a:tr h="297415">
                    <a:tc>
                      <a:txBody>
                        <a:bodyPr/>
                        <a:lstStyle/>
                        <a:p>
                          <a:pPr algn="ctr" latinLnBrk="1">
                            <a:lnSpc>
                              <a:spcPct val="150000"/>
                            </a:lnSpc>
                          </a:pPr>
                          <a:endParaRPr lang="ko-KR" altLang="en-US" sz="1000" dirty="0"/>
                        </a:p>
                      </a:txBody>
                      <a:tcPr marL="54000" marR="54000" marT="25200" marB="25200" anchor="ctr">
                        <a:lnR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54000" marR="54000" marT="25200" marB="25200" anchor="ctr">
                        <a:lnL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38710" t="-2041" r="-301075" b="-3469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54000" marR="54000" marT="25200" marB="25200" anchor="ctr">
                        <a:lnL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38710" t="-2041" r="-201075" b="-3469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54000" marR="54000" marT="25200" marB="25200" anchor="ctr">
                        <a:lnL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35106" t="-2041" r="-98936" b="-3469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54000" marR="54000" marT="25200" marB="25200" anchor="ctr">
                        <a:lnL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39785" t="-2041" b="-3469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24293872"/>
                      </a:ext>
                    </a:extLst>
                  </a:tr>
                  <a:tr h="243925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9525" marR="9525" marT="9525" marB="0" anchor="ctr">
                        <a:lnR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125000" r="-289147" b="-3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60</a:t>
                          </a:r>
                        </a:p>
                      </a:txBody>
                      <a:tcPr marL="9525" marR="9525" marT="9525" marB="0" anchor="ctr">
                        <a:lnL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45</a:t>
                          </a:r>
                        </a:p>
                      </a:txBody>
                      <a:tcPr marL="9525" marR="9525" marT="9525" marB="0" anchor="ctr">
                        <a:lnL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15</a:t>
                          </a:r>
                        </a:p>
                      </a:txBody>
                      <a:tcPr marL="9525" marR="9525" marT="9525" marB="0" anchor="ctr">
                        <a:lnL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72986022"/>
                      </a:ext>
                    </a:extLst>
                  </a:tr>
                  <a:tr h="243925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9525" marR="9525" marT="9525" marB="0" anchor="ctr">
                        <a:lnR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219512" r="-289147" b="-2170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47</a:t>
                          </a:r>
                        </a:p>
                      </a:txBody>
                      <a:tcPr marL="9525" marR="9525" marT="9525" marB="0" anchor="ctr">
                        <a:lnL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43</a:t>
                          </a:r>
                        </a:p>
                      </a:txBody>
                      <a:tcPr marL="9525" marR="9525" marT="9525" marB="0" anchor="ctr">
                        <a:lnL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20</a:t>
                          </a:r>
                        </a:p>
                      </a:txBody>
                      <a:tcPr marL="9525" marR="9525" marT="9525" marB="0" anchor="ctr">
                        <a:lnL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199991872"/>
                      </a:ext>
                    </a:extLst>
                  </a:tr>
                  <a:tr h="243925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9525" marR="9525" marT="9525" marB="0" anchor="ctr">
                        <a:lnR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327500" r="-289147" b="-12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9</a:t>
                          </a:r>
                        </a:p>
                      </a:txBody>
                      <a:tcPr marL="9525" marR="9525" marT="9525" marB="0" anchor="ctr">
                        <a:lnL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64</a:t>
                          </a:r>
                        </a:p>
                      </a:txBody>
                      <a:tcPr marL="9525" marR="9525" marT="9525" marB="0" anchor="ctr">
                        <a:lnL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49</a:t>
                          </a:r>
                        </a:p>
                      </a:txBody>
                      <a:tcPr marL="9525" marR="9525" marT="9525" marB="0" anchor="ctr">
                        <a:lnL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233222876"/>
                      </a:ext>
                    </a:extLst>
                  </a:tr>
                  <a:tr h="243925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9525" marR="9525" marT="9525" marB="0" anchor="ctr">
                        <a:lnR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427500" r="-289147" b="-2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55</a:t>
                          </a:r>
                        </a:p>
                      </a:txBody>
                      <a:tcPr marL="9525" marR="9525" marT="9525" marB="0" anchor="ctr">
                        <a:lnL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34</a:t>
                          </a:r>
                        </a:p>
                      </a:txBody>
                      <a:tcPr marL="9525" marR="9525" marT="9525" marB="0" anchor="ctr">
                        <a:lnL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47</a:t>
                          </a:r>
                        </a:p>
                      </a:txBody>
                      <a:tcPr marL="9525" marR="9525" marT="9525" marB="0" anchor="ctr">
                        <a:lnL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48222559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표 11">
                <a:extLst>
                  <a:ext uri="{FF2B5EF4-FFF2-40B4-BE49-F238E27FC236}">
                    <a16:creationId xmlns:a16="http://schemas.microsoft.com/office/drawing/2014/main" id="{132807B3-EE67-43F9-B897-6E56997C0DF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308523" y="4545003"/>
              <a:ext cx="3049233" cy="1273115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783393">
                      <a:extLst>
                        <a:ext uri="{9D8B030D-6E8A-4147-A177-3AD203B41FA5}">
                          <a16:colId xmlns:a16="http://schemas.microsoft.com/office/drawing/2014/main" val="282308621"/>
                        </a:ext>
                      </a:extLst>
                    </a:gridCol>
                    <a:gridCol w="566460">
                      <a:extLst>
                        <a:ext uri="{9D8B030D-6E8A-4147-A177-3AD203B41FA5}">
                          <a16:colId xmlns:a16="http://schemas.microsoft.com/office/drawing/2014/main" val="4086822415"/>
                        </a:ext>
                      </a:extLst>
                    </a:gridCol>
                    <a:gridCol w="566460">
                      <a:extLst>
                        <a:ext uri="{9D8B030D-6E8A-4147-A177-3AD203B41FA5}">
                          <a16:colId xmlns:a16="http://schemas.microsoft.com/office/drawing/2014/main" val="2897071943"/>
                        </a:ext>
                      </a:extLst>
                    </a:gridCol>
                    <a:gridCol w="566460">
                      <a:extLst>
                        <a:ext uri="{9D8B030D-6E8A-4147-A177-3AD203B41FA5}">
                          <a16:colId xmlns:a16="http://schemas.microsoft.com/office/drawing/2014/main" val="2054195814"/>
                        </a:ext>
                      </a:extLst>
                    </a:gridCol>
                    <a:gridCol w="566460">
                      <a:extLst>
                        <a:ext uri="{9D8B030D-6E8A-4147-A177-3AD203B41FA5}">
                          <a16:colId xmlns:a16="http://schemas.microsoft.com/office/drawing/2014/main" val="2314407055"/>
                        </a:ext>
                      </a:extLst>
                    </a:gridCol>
                  </a:tblGrid>
                  <a:tr h="253835">
                    <a:tc>
                      <a:txBody>
                        <a:bodyPr/>
                        <a:lstStyle/>
                        <a:p>
                          <a:pPr algn="ctr" latinLnBrk="1">
                            <a:lnSpc>
                              <a:spcPct val="150000"/>
                            </a:lnSpc>
                          </a:pPr>
                          <a:endParaRPr lang="ko-KR" altLang="en-US" sz="1000" dirty="0"/>
                        </a:p>
                      </a:txBody>
                      <a:tcPr marL="54000" marR="54000" marT="25200" marB="25200" anchor="ctr">
                        <a:lnR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lnSpc>
                              <a:spcPct val="15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000" b="0" i="1" smtClean="0">
                                        <a:latin typeface="Cambria Math" panose="02040503050406030204" pitchFamily="18" charset="0"/>
                                      </a:rPr>
                                      <m:t>𝑇𝑟𝑎𝑐𝑘</m:t>
                                    </m:r>
                                  </m:e>
                                  <m:sub>
                                    <m:r>
                                      <a:rPr lang="en-US" altLang="ko-KR" sz="10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000" dirty="0"/>
                        </a:p>
                      </a:txBody>
                      <a:tcPr marL="54000" marR="54000" marT="25200" marB="25200" anchor="ctr">
                        <a:lnL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lnSpc>
                              <a:spcPct val="15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000" b="0" i="1" smtClean="0">
                                        <a:latin typeface="Cambria Math" panose="02040503050406030204" pitchFamily="18" charset="0"/>
                                      </a:rPr>
                                      <m:t>𝑇𝑟𝑎𝑐𝑘</m:t>
                                    </m:r>
                                  </m:e>
                                  <m:sub>
                                    <m:r>
                                      <a:rPr lang="en-US" altLang="ko-KR" sz="1000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000" dirty="0"/>
                        </a:p>
                      </a:txBody>
                      <a:tcPr marL="54000" marR="54000" marT="25200" marB="25200" anchor="ctr">
                        <a:lnL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lnSpc>
                              <a:spcPct val="15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000" b="0" i="1" smtClean="0">
                                        <a:latin typeface="Cambria Math" panose="02040503050406030204" pitchFamily="18" charset="0"/>
                                      </a:rPr>
                                      <m:t>𝑇𝑟𝑎𝑐𝑘</m:t>
                                    </m:r>
                                  </m:e>
                                  <m:sub>
                                    <m:r>
                                      <a:rPr lang="en-US" altLang="ko-KR" sz="10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000" dirty="0"/>
                        </a:p>
                      </a:txBody>
                      <a:tcPr marL="54000" marR="54000" marT="25200" marB="25200" anchor="ctr">
                        <a:lnL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lnSpc>
                              <a:spcPct val="15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000" b="0" i="1" smtClean="0">
                                        <a:latin typeface="Cambria Math" panose="02040503050406030204" pitchFamily="18" charset="0"/>
                                      </a:rPr>
                                      <m:t>𝑇𝑟𝑎𝑐𝑘</m:t>
                                    </m:r>
                                  </m:e>
                                  <m:sub>
                                    <m:r>
                                      <a:rPr lang="en-US" altLang="ko-KR" sz="1000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000" dirty="0"/>
                        </a:p>
                      </a:txBody>
                      <a:tcPr marL="54000" marR="54000" marT="25200" marB="25200" anchor="ctr">
                        <a:lnL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224293872"/>
                      </a:ext>
                    </a:extLst>
                  </a:tr>
                  <a:tr h="243925">
                    <a:tc>
                      <a:txBody>
                        <a:bodyPr/>
                        <a:lstStyle/>
                        <a:p>
                          <a:pPr algn="ctr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  <m:t>𝐷𝑒𝑡𝑒𝑐𝑡𝑖𝑜𝑛</m:t>
                                    </m:r>
                                  </m:e>
                                  <m:sub>
                                    <m: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altLang="ko-KR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endParaRPr>
                        </a:p>
                      </a:txBody>
                      <a:tcPr marL="9525" marR="9525" marT="9525" marB="0" anchor="ctr">
                        <a:lnR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60</a:t>
                          </a:r>
                        </a:p>
                      </a:txBody>
                      <a:tcPr marL="9525" marR="9525" marT="9525" marB="0" anchor="ctr">
                        <a:lnL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45</a:t>
                          </a:r>
                        </a:p>
                      </a:txBody>
                      <a:tcPr marL="9525" marR="9525" marT="9525" marB="0" anchor="ctr">
                        <a:lnL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15</a:t>
                          </a:r>
                        </a:p>
                      </a:txBody>
                      <a:tcPr marL="9525" marR="9525" marT="9525" marB="0" anchor="ctr">
                        <a:lnL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72986022"/>
                      </a:ext>
                    </a:extLst>
                  </a:tr>
                  <a:tr h="24392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  <m:t>𝐷𝑒𝑡𝑒𝑐𝑡𝑖𝑜𝑛</m:t>
                                    </m:r>
                                  </m:e>
                                  <m:sub>
                                    <m: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altLang="ko-KR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endParaRPr>
                        </a:p>
                      </a:txBody>
                      <a:tcPr marL="9525" marR="9525" marT="9525" marB="0" anchor="ctr">
                        <a:lnR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47</a:t>
                          </a:r>
                        </a:p>
                      </a:txBody>
                      <a:tcPr marL="9525" marR="9525" marT="9525" marB="0" anchor="ctr">
                        <a:lnL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43</a:t>
                          </a:r>
                        </a:p>
                      </a:txBody>
                      <a:tcPr marL="9525" marR="9525" marT="9525" marB="0" anchor="ctr">
                        <a:lnL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20</a:t>
                          </a:r>
                        </a:p>
                      </a:txBody>
                      <a:tcPr marL="9525" marR="9525" marT="9525" marB="0" anchor="ctr">
                        <a:lnL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199991872"/>
                      </a:ext>
                    </a:extLst>
                  </a:tr>
                  <a:tr h="24392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  <m:t>𝐷𝑒𝑡𝑒𝑐𝑡𝑖𝑜𝑛</m:t>
                                    </m:r>
                                  </m:e>
                                  <m:sub>
                                    <m: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altLang="ko-KR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endParaRPr>
                        </a:p>
                      </a:txBody>
                      <a:tcPr marL="9525" marR="9525" marT="9525" marB="0" anchor="ctr">
                        <a:lnR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9</a:t>
                          </a:r>
                        </a:p>
                      </a:txBody>
                      <a:tcPr marL="9525" marR="9525" marT="9525" marB="0" anchor="ctr">
                        <a:lnL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64</a:t>
                          </a:r>
                        </a:p>
                      </a:txBody>
                      <a:tcPr marL="9525" marR="9525" marT="9525" marB="0" anchor="ctr">
                        <a:lnL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49</a:t>
                          </a:r>
                        </a:p>
                      </a:txBody>
                      <a:tcPr marL="9525" marR="9525" marT="9525" marB="0" anchor="ctr">
                        <a:lnL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233222876"/>
                      </a:ext>
                    </a:extLst>
                  </a:tr>
                  <a:tr h="24392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  <m:t>𝐷𝑒𝑡𝑒𝑐𝑡𝑖𝑜𝑛</m:t>
                                    </m:r>
                                  </m:e>
                                  <m:sub>
                                    <m: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altLang="ko-KR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endParaRPr>
                        </a:p>
                      </a:txBody>
                      <a:tcPr marL="9525" marR="9525" marT="9525" marB="0" anchor="ctr">
                        <a:lnR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55</a:t>
                          </a:r>
                        </a:p>
                      </a:txBody>
                      <a:tcPr marL="9525" marR="9525" marT="9525" marB="0" anchor="ctr">
                        <a:lnL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34</a:t>
                          </a:r>
                        </a:p>
                      </a:txBody>
                      <a:tcPr marL="9525" marR="9525" marT="9525" marB="0" anchor="ctr">
                        <a:lnL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47</a:t>
                          </a:r>
                        </a:p>
                      </a:txBody>
                      <a:tcPr marL="9525" marR="9525" marT="9525" marB="0" anchor="ctr">
                        <a:lnL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48222559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표 11">
                <a:extLst>
                  <a:ext uri="{FF2B5EF4-FFF2-40B4-BE49-F238E27FC236}">
                    <a16:creationId xmlns:a16="http://schemas.microsoft.com/office/drawing/2014/main" id="{132807B3-EE67-43F9-B897-6E56997C0DF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93143859"/>
                  </p:ext>
                </p:extLst>
              </p:nvPr>
            </p:nvGraphicFramePr>
            <p:xfrm>
              <a:off x="6308523" y="4545003"/>
              <a:ext cx="3049233" cy="1273115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783393">
                      <a:extLst>
                        <a:ext uri="{9D8B030D-6E8A-4147-A177-3AD203B41FA5}">
                          <a16:colId xmlns:a16="http://schemas.microsoft.com/office/drawing/2014/main" val="282308621"/>
                        </a:ext>
                      </a:extLst>
                    </a:gridCol>
                    <a:gridCol w="566460">
                      <a:extLst>
                        <a:ext uri="{9D8B030D-6E8A-4147-A177-3AD203B41FA5}">
                          <a16:colId xmlns:a16="http://schemas.microsoft.com/office/drawing/2014/main" val="4086822415"/>
                        </a:ext>
                      </a:extLst>
                    </a:gridCol>
                    <a:gridCol w="566460">
                      <a:extLst>
                        <a:ext uri="{9D8B030D-6E8A-4147-A177-3AD203B41FA5}">
                          <a16:colId xmlns:a16="http://schemas.microsoft.com/office/drawing/2014/main" val="2897071943"/>
                        </a:ext>
                      </a:extLst>
                    </a:gridCol>
                    <a:gridCol w="566460">
                      <a:extLst>
                        <a:ext uri="{9D8B030D-6E8A-4147-A177-3AD203B41FA5}">
                          <a16:colId xmlns:a16="http://schemas.microsoft.com/office/drawing/2014/main" val="2054195814"/>
                        </a:ext>
                      </a:extLst>
                    </a:gridCol>
                    <a:gridCol w="566460">
                      <a:extLst>
                        <a:ext uri="{9D8B030D-6E8A-4147-A177-3AD203B41FA5}">
                          <a16:colId xmlns:a16="http://schemas.microsoft.com/office/drawing/2014/main" val="2314407055"/>
                        </a:ext>
                      </a:extLst>
                    </a:gridCol>
                  </a:tblGrid>
                  <a:tr h="297415">
                    <a:tc>
                      <a:txBody>
                        <a:bodyPr/>
                        <a:lstStyle/>
                        <a:p>
                          <a:pPr algn="ctr" latinLnBrk="1">
                            <a:lnSpc>
                              <a:spcPct val="150000"/>
                            </a:lnSpc>
                          </a:pPr>
                          <a:endParaRPr lang="ko-KR" altLang="en-US" sz="1000" dirty="0"/>
                        </a:p>
                      </a:txBody>
                      <a:tcPr marL="54000" marR="54000" marT="25200" marB="25200" anchor="ctr">
                        <a:lnR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54000" marR="54000" marT="25200" marB="25200" anchor="ctr">
                        <a:lnL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38710" t="-2041" r="-301075" b="-3469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54000" marR="54000" marT="25200" marB="25200" anchor="ctr">
                        <a:lnL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38710" t="-2041" r="-201075" b="-3469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54000" marR="54000" marT="25200" marB="25200" anchor="ctr">
                        <a:lnL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35106" t="-2041" r="-98936" b="-3469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54000" marR="54000" marT="25200" marB="25200" anchor="ctr">
                        <a:lnL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39785" t="-2041" b="-3469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24293872"/>
                      </a:ext>
                    </a:extLst>
                  </a:tr>
                  <a:tr h="243925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9525" marR="9525" marT="9525" marB="0" anchor="ctr">
                        <a:lnR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125000" r="-289147" b="-3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60</a:t>
                          </a:r>
                        </a:p>
                      </a:txBody>
                      <a:tcPr marL="9525" marR="9525" marT="9525" marB="0" anchor="ctr">
                        <a:lnL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45</a:t>
                          </a:r>
                        </a:p>
                      </a:txBody>
                      <a:tcPr marL="9525" marR="9525" marT="9525" marB="0" anchor="ctr">
                        <a:lnL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15</a:t>
                          </a:r>
                        </a:p>
                      </a:txBody>
                      <a:tcPr marL="9525" marR="9525" marT="9525" marB="0" anchor="ctr">
                        <a:lnL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72986022"/>
                      </a:ext>
                    </a:extLst>
                  </a:tr>
                  <a:tr h="243925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9525" marR="9525" marT="9525" marB="0" anchor="ctr">
                        <a:lnR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219512" r="-289147" b="-2170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47</a:t>
                          </a:r>
                        </a:p>
                      </a:txBody>
                      <a:tcPr marL="9525" marR="9525" marT="9525" marB="0" anchor="ctr">
                        <a:lnL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43</a:t>
                          </a:r>
                        </a:p>
                      </a:txBody>
                      <a:tcPr marL="9525" marR="9525" marT="9525" marB="0" anchor="ctr">
                        <a:lnL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20</a:t>
                          </a:r>
                        </a:p>
                      </a:txBody>
                      <a:tcPr marL="9525" marR="9525" marT="9525" marB="0" anchor="ctr">
                        <a:lnL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199991872"/>
                      </a:ext>
                    </a:extLst>
                  </a:tr>
                  <a:tr h="243925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9525" marR="9525" marT="9525" marB="0" anchor="ctr">
                        <a:lnR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327500" r="-289147" b="-12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9</a:t>
                          </a:r>
                        </a:p>
                      </a:txBody>
                      <a:tcPr marL="9525" marR="9525" marT="9525" marB="0" anchor="ctr">
                        <a:lnL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64</a:t>
                          </a:r>
                        </a:p>
                      </a:txBody>
                      <a:tcPr marL="9525" marR="9525" marT="9525" marB="0" anchor="ctr">
                        <a:lnL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49</a:t>
                          </a:r>
                        </a:p>
                      </a:txBody>
                      <a:tcPr marL="9525" marR="9525" marT="9525" marB="0" anchor="ctr">
                        <a:lnL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233222876"/>
                      </a:ext>
                    </a:extLst>
                  </a:tr>
                  <a:tr h="243925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9525" marR="9525" marT="9525" marB="0" anchor="ctr">
                        <a:lnR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427500" r="-289147" b="-2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55</a:t>
                          </a:r>
                        </a:p>
                      </a:txBody>
                      <a:tcPr marL="9525" marR="9525" marT="9525" marB="0" anchor="ctr">
                        <a:lnL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34</a:t>
                          </a:r>
                        </a:p>
                      </a:txBody>
                      <a:tcPr marL="9525" marR="9525" marT="9525" marB="0" anchor="ctr">
                        <a:lnL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47</a:t>
                          </a:r>
                        </a:p>
                      </a:txBody>
                      <a:tcPr marL="9525" marR="9525" marT="9525" marB="0" anchor="ctr">
                        <a:lnL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48222559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FF1A1FB2-9898-418A-BEAC-D23C4E889793}"/>
                  </a:ext>
                </a:extLst>
              </p:cNvPr>
              <p:cNvSpPr/>
              <p:nvPr/>
            </p:nvSpPr>
            <p:spPr>
              <a:xfrm>
                <a:off x="7231677" y="5865886"/>
                <a:ext cx="1502125" cy="932371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050" b="0" i="1" smtClean="0">
                            <a:ln>
                              <a:solidFill>
                                <a:prstClr val="black">
                                  <a:alpha val="0"/>
                                </a:prstClr>
                              </a:solidFill>
                            </a:ln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KoPub돋움체 Medium" panose="02020603020101020101" pitchFamily="18" charset="-127"/>
                          </a:rPr>
                        </m:ctrlPr>
                      </m:sSubPr>
                      <m:e>
                        <m:r>
                          <a:rPr lang="en-US" altLang="ko-KR" sz="1050" i="1">
                            <a:ln>
                              <a:solidFill>
                                <a:prstClr val="black">
                                  <a:alpha val="0"/>
                                </a:prstClr>
                              </a:solidFill>
                            </a:ln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KoPub돋움체 Medium" panose="02020603020101020101" pitchFamily="18" charset="-127"/>
                          </a:rPr>
                          <m:t>𝐷𝑒𝑡𝑒𝑐𝑡𝑖𝑜𝑛</m:t>
                        </m:r>
                      </m:e>
                      <m:sub>
                        <m:r>
                          <a:rPr lang="en-US" altLang="ko-KR" sz="1050" b="0" i="1" smtClean="0">
                            <a:ln>
                              <a:solidFill>
                                <a:prstClr val="black">
                                  <a:alpha val="0"/>
                                </a:prstClr>
                              </a:solidFill>
                            </a:ln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KoPub돋움체 Medium" panose="02020603020101020101" pitchFamily="18" charset="-127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ko-KR" sz="105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 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050" i="1">
                            <a:ln>
                              <a:solidFill>
                                <a:prstClr val="black">
                                  <a:alpha val="0"/>
                                </a:prstClr>
                              </a:solidFill>
                            </a:ln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KoPub돋움체 Medium" panose="02020603020101020101" pitchFamily="18" charset="-127"/>
                          </a:rPr>
                        </m:ctrlPr>
                      </m:sSubPr>
                      <m:e>
                        <m:r>
                          <a:rPr lang="en-US" altLang="ko-KR" sz="1050" b="0" i="1" smtClean="0">
                            <a:ln>
                              <a:solidFill>
                                <a:prstClr val="black">
                                  <a:alpha val="0"/>
                                </a:prstClr>
                              </a:solidFill>
                            </a:ln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KoPub돋움체 Medium" panose="02020603020101020101" pitchFamily="18" charset="-127"/>
                          </a:rPr>
                          <m:t>𝑇𝑟𝑎𝑐𝑘</m:t>
                        </m:r>
                      </m:e>
                      <m:sub>
                        <m:r>
                          <a:rPr lang="en-US" altLang="ko-KR" sz="1050" i="1">
                            <a:ln>
                              <a:solidFill>
                                <a:prstClr val="black">
                                  <a:alpha val="0"/>
                                </a:prstClr>
                              </a:solidFill>
                            </a:ln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KoPub돋움체 Medium" panose="02020603020101020101" pitchFamily="18" charset="-127"/>
                          </a:rPr>
                          <m:t>𝑖</m:t>
                        </m:r>
                      </m:sub>
                    </m:sSub>
                  </m:oMath>
                </a14:m>
                <a:endParaRPr lang="en-US" altLang="ko-KR" sz="105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  <a:p>
                <a:pPr>
                  <a:lnSpc>
                    <a:spcPct val="13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050" i="1">
                            <a:ln>
                              <a:solidFill>
                                <a:prstClr val="black">
                                  <a:alpha val="0"/>
                                </a:prstClr>
                              </a:solidFill>
                            </a:ln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KoPub돋움체 Medium" panose="02020603020101020101" pitchFamily="18" charset="-127"/>
                          </a:rPr>
                        </m:ctrlPr>
                      </m:sSubPr>
                      <m:e>
                        <m:r>
                          <a:rPr lang="en-US" altLang="ko-KR" sz="1050" i="1">
                            <a:ln>
                              <a:solidFill>
                                <a:prstClr val="black">
                                  <a:alpha val="0"/>
                                </a:prstClr>
                              </a:solidFill>
                            </a:ln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KoPub돋움체 Medium" panose="02020603020101020101" pitchFamily="18" charset="-127"/>
                          </a:rPr>
                          <m:t>𝐷𝑒𝑡𝑒𝑐𝑡𝑖𝑜𝑛</m:t>
                        </m:r>
                      </m:e>
                      <m:sub>
                        <m:r>
                          <a:rPr lang="en-US" altLang="ko-KR" sz="1050" b="0" i="1" smtClean="0">
                            <a:ln>
                              <a:solidFill>
                                <a:prstClr val="black">
                                  <a:alpha val="0"/>
                                </a:prstClr>
                              </a:solidFill>
                            </a:ln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KoPub돋움체 Medium" panose="02020603020101020101" pitchFamily="18" charset="-127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ko-KR" sz="105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 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050" i="1">
                            <a:ln>
                              <a:solidFill>
                                <a:prstClr val="black">
                                  <a:alpha val="0"/>
                                </a:prstClr>
                              </a:solidFill>
                            </a:ln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KoPub돋움체 Medium" panose="02020603020101020101" pitchFamily="18" charset="-127"/>
                          </a:rPr>
                        </m:ctrlPr>
                      </m:sSubPr>
                      <m:e>
                        <m:r>
                          <a:rPr lang="en-US" altLang="ko-KR" sz="1050" i="1">
                            <a:ln>
                              <a:solidFill>
                                <a:prstClr val="black">
                                  <a:alpha val="0"/>
                                </a:prstClr>
                              </a:solidFill>
                            </a:ln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KoPub돋움체 Medium" panose="02020603020101020101" pitchFamily="18" charset="-127"/>
                          </a:rPr>
                          <m:t>𝑇𝑟𝑎𝑐𝑘</m:t>
                        </m:r>
                      </m:e>
                      <m:sub>
                        <m:r>
                          <a:rPr lang="en-US" altLang="ko-KR" sz="1050" b="0" i="1" smtClean="0">
                            <a:ln>
                              <a:solidFill>
                                <a:prstClr val="black">
                                  <a:alpha val="0"/>
                                </a:prstClr>
                              </a:solidFill>
                            </a:ln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KoPub돋움체 Medium" panose="02020603020101020101" pitchFamily="18" charset="-127"/>
                          </a:rPr>
                          <m:t>𝑗</m:t>
                        </m:r>
                      </m:sub>
                    </m:sSub>
                  </m:oMath>
                </a14:m>
                <a:endParaRPr lang="en-US" altLang="ko-KR" sz="105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  <a:p>
                <a:pPr>
                  <a:lnSpc>
                    <a:spcPct val="13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050" i="1">
                            <a:ln>
                              <a:solidFill>
                                <a:prstClr val="black">
                                  <a:alpha val="0"/>
                                </a:prstClr>
                              </a:solidFill>
                            </a:ln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KoPub돋움체 Medium" panose="02020603020101020101" pitchFamily="18" charset="-127"/>
                          </a:rPr>
                        </m:ctrlPr>
                      </m:sSubPr>
                      <m:e>
                        <m:r>
                          <a:rPr lang="en-US" altLang="ko-KR" sz="1050" i="1">
                            <a:ln>
                              <a:solidFill>
                                <a:prstClr val="black">
                                  <a:alpha val="0"/>
                                </a:prstClr>
                              </a:solidFill>
                            </a:ln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KoPub돋움체 Medium" panose="02020603020101020101" pitchFamily="18" charset="-127"/>
                          </a:rPr>
                          <m:t>𝐷𝑒𝑡𝑒𝑐𝑡𝑖𝑜𝑛</m:t>
                        </m:r>
                      </m:e>
                      <m:sub>
                        <m:r>
                          <a:rPr lang="en-US" altLang="ko-KR" sz="1050" b="0" i="1" smtClean="0">
                            <a:ln>
                              <a:solidFill>
                                <a:prstClr val="black">
                                  <a:alpha val="0"/>
                                </a:prstClr>
                              </a:solidFill>
                            </a:ln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KoPub돋움체 Medium" panose="02020603020101020101" pitchFamily="18" charset="-127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ko-KR" sz="105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 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050" i="1">
                            <a:ln>
                              <a:solidFill>
                                <a:prstClr val="black">
                                  <a:alpha val="0"/>
                                </a:prstClr>
                              </a:solidFill>
                            </a:ln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KoPub돋움체 Medium" panose="02020603020101020101" pitchFamily="18" charset="-127"/>
                          </a:rPr>
                        </m:ctrlPr>
                      </m:sSubPr>
                      <m:e>
                        <m:r>
                          <a:rPr lang="en-US" altLang="ko-KR" sz="1050" i="1">
                            <a:ln>
                              <a:solidFill>
                                <a:prstClr val="black">
                                  <a:alpha val="0"/>
                                </a:prstClr>
                              </a:solidFill>
                            </a:ln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KoPub돋움체 Medium" panose="02020603020101020101" pitchFamily="18" charset="-127"/>
                          </a:rPr>
                          <m:t>𝑇𝑟𝑎𝑐𝑘</m:t>
                        </m:r>
                      </m:e>
                      <m:sub>
                        <m:r>
                          <a:rPr lang="en-US" altLang="ko-KR" sz="1050" b="0" i="1" smtClean="0">
                            <a:ln>
                              <a:solidFill>
                                <a:prstClr val="black">
                                  <a:alpha val="0"/>
                                </a:prstClr>
                              </a:solidFill>
                            </a:ln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KoPub돋움체 Medium" panose="02020603020101020101" pitchFamily="18" charset="-127"/>
                          </a:rPr>
                          <m:t>𝑘</m:t>
                        </m:r>
                      </m:sub>
                    </m:sSub>
                  </m:oMath>
                </a14:m>
                <a:endParaRPr lang="en-US" altLang="ko-KR" sz="105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  <a:p>
                <a:pPr>
                  <a:lnSpc>
                    <a:spcPct val="13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050" i="1">
                            <a:ln>
                              <a:solidFill>
                                <a:prstClr val="black">
                                  <a:alpha val="0"/>
                                </a:prstClr>
                              </a:solidFill>
                            </a:ln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KoPub돋움체 Medium" panose="02020603020101020101" pitchFamily="18" charset="-127"/>
                          </a:rPr>
                        </m:ctrlPr>
                      </m:sSubPr>
                      <m:e>
                        <m:r>
                          <a:rPr lang="en-US" altLang="ko-KR" sz="1050" i="1">
                            <a:ln>
                              <a:solidFill>
                                <a:prstClr val="black">
                                  <a:alpha val="0"/>
                                </a:prstClr>
                              </a:solidFill>
                            </a:ln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KoPub돋움체 Medium" panose="02020603020101020101" pitchFamily="18" charset="-127"/>
                          </a:rPr>
                          <m:t>𝐷𝑒𝑡𝑒𝑐𝑡𝑖𝑜𝑛</m:t>
                        </m:r>
                      </m:e>
                      <m:sub>
                        <m:r>
                          <a:rPr lang="en-US" altLang="ko-KR" sz="1050" b="0" i="1" smtClean="0">
                            <a:ln>
                              <a:solidFill>
                                <a:prstClr val="black">
                                  <a:alpha val="0"/>
                                </a:prstClr>
                              </a:solidFill>
                            </a:ln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KoPub돋움체 Medium" panose="02020603020101020101" pitchFamily="18" charset="-127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-US" altLang="ko-KR" sz="105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 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050" i="1">
                            <a:ln>
                              <a:solidFill>
                                <a:prstClr val="black">
                                  <a:alpha val="0"/>
                                </a:prstClr>
                              </a:solidFill>
                            </a:ln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KoPub돋움체 Medium" panose="02020603020101020101" pitchFamily="18" charset="-127"/>
                          </a:rPr>
                        </m:ctrlPr>
                      </m:sSubPr>
                      <m:e>
                        <m:r>
                          <a:rPr lang="en-US" altLang="ko-KR" sz="1050" i="1">
                            <a:ln>
                              <a:solidFill>
                                <a:prstClr val="black">
                                  <a:alpha val="0"/>
                                </a:prstClr>
                              </a:solidFill>
                            </a:ln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KoPub돋움체 Medium" panose="02020603020101020101" pitchFamily="18" charset="-127"/>
                          </a:rPr>
                          <m:t>𝑇𝑟𝑎𝑐𝑘</m:t>
                        </m:r>
                      </m:e>
                      <m:sub>
                        <m:r>
                          <a:rPr lang="en-US" altLang="ko-KR" sz="1050" b="0" i="1" smtClean="0">
                            <a:ln>
                              <a:solidFill>
                                <a:prstClr val="black">
                                  <a:alpha val="0"/>
                                </a:prstClr>
                              </a:solidFill>
                            </a:ln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KoPub돋움체 Medium" panose="02020603020101020101" pitchFamily="18" charset="-127"/>
                          </a:rPr>
                          <m:t>𝑙</m:t>
                        </m:r>
                      </m:sub>
                    </m:sSub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FF1A1FB2-9898-418A-BEAC-D23C4E8897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1677" y="5865886"/>
                <a:ext cx="1502125" cy="93237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36620C73-DDC3-4C97-AA7E-F1B4F293EF9F}"/>
              </a:ext>
            </a:extLst>
          </p:cNvPr>
          <p:cNvCxnSpPr>
            <a:cxnSpLocks/>
          </p:cNvCxnSpPr>
          <p:nvPr/>
        </p:nvCxnSpPr>
        <p:spPr>
          <a:xfrm>
            <a:off x="7358197" y="4974175"/>
            <a:ext cx="1730807" cy="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EA238EFA-CB3C-450B-8BB3-280F35F06D00}"/>
              </a:ext>
            </a:extLst>
          </p:cNvPr>
          <p:cNvCxnSpPr>
            <a:cxnSpLocks/>
          </p:cNvCxnSpPr>
          <p:nvPr/>
        </p:nvCxnSpPr>
        <p:spPr>
          <a:xfrm>
            <a:off x="7358197" y="5247641"/>
            <a:ext cx="1730807" cy="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6FB39F1E-5BC3-436C-91C8-D2F4351C9FCA}"/>
              </a:ext>
            </a:extLst>
          </p:cNvPr>
          <p:cNvCxnSpPr>
            <a:cxnSpLocks/>
          </p:cNvCxnSpPr>
          <p:nvPr/>
        </p:nvCxnSpPr>
        <p:spPr>
          <a:xfrm>
            <a:off x="7358197" y="5469831"/>
            <a:ext cx="1730807" cy="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D724A455-226D-452D-ACCF-E55346686505}"/>
              </a:ext>
            </a:extLst>
          </p:cNvPr>
          <p:cNvCxnSpPr>
            <a:cxnSpLocks/>
          </p:cNvCxnSpPr>
          <p:nvPr/>
        </p:nvCxnSpPr>
        <p:spPr>
          <a:xfrm>
            <a:off x="7358197" y="5709113"/>
            <a:ext cx="1730807" cy="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B77BBC9E-2A8D-424F-9677-D9228554E24A}"/>
              </a:ext>
            </a:extLst>
          </p:cNvPr>
          <p:cNvCxnSpPr>
            <a:cxnSpLocks/>
          </p:cNvCxnSpPr>
          <p:nvPr/>
        </p:nvCxnSpPr>
        <p:spPr>
          <a:xfrm flipV="1">
            <a:off x="7362872" y="4983083"/>
            <a:ext cx="0" cy="72603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1184B1AA-989A-487B-B356-717769EC1544}"/>
              </a:ext>
            </a:extLst>
          </p:cNvPr>
          <p:cNvCxnSpPr>
            <a:cxnSpLocks/>
          </p:cNvCxnSpPr>
          <p:nvPr/>
        </p:nvCxnSpPr>
        <p:spPr>
          <a:xfrm flipV="1">
            <a:off x="7961077" y="4992426"/>
            <a:ext cx="0" cy="72603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D0856D8C-2FDA-4BD0-9C3B-AE2535367FF2}"/>
              </a:ext>
            </a:extLst>
          </p:cNvPr>
          <p:cNvCxnSpPr>
            <a:cxnSpLocks/>
          </p:cNvCxnSpPr>
          <p:nvPr/>
        </p:nvCxnSpPr>
        <p:spPr>
          <a:xfrm flipV="1">
            <a:off x="8516554" y="4967586"/>
            <a:ext cx="0" cy="72603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1C1C841A-EB40-438A-B2DF-CE58FAC0E4EB}"/>
              </a:ext>
            </a:extLst>
          </p:cNvPr>
          <p:cNvCxnSpPr>
            <a:cxnSpLocks/>
          </p:cNvCxnSpPr>
          <p:nvPr/>
        </p:nvCxnSpPr>
        <p:spPr>
          <a:xfrm flipV="1">
            <a:off x="9059763" y="4974175"/>
            <a:ext cx="0" cy="72603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2CBCAB9-8716-401D-AFFD-0182566163AF}"/>
              </a:ext>
            </a:extLst>
          </p:cNvPr>
          <p:cNvSpPr/>
          <p:nvPr/>
        </p:nvSpPr>
        <p:spPr>
          <a:xfrm>
            <a:off x="8063862" y="2498474"/>
            <a:ext cx="705740" cy="2852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altLang="ko-KR" sz="105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Step 1</a:t>
            </a:r>
            <a:endParaRPr lang="ko-KR" altLang="en-US" dirty="0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119AEC6-CBCC-4C06-9F90-239E88185621}"/>
              </a:ext>
            </a:extLst>
          </p:cNvPr>
          <p:cNvSpPr/>
          <p:nvPr/>
        </p:nvSpPr>
        <p:spPr>
          <a:xfrm>
            <a:off x="8063862" y="4178583"/>
            <a:ext cx="705740" cy="2852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altLang="ko-KR" sz="105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Step 2</a:t>
            </a:r>
            <a:endParaRPr lang="ko-KR" altLang="en-US" dirty="0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D97ACE9-E0E6-4D7E-A4FB-F8913C70E23E}"/>
              </a:ext>
            </a:extLst>
          </p:cNvPr>
          <p:cNvSpPr/>
          <p:nvPr/>
        </p:nvSpPr>
        <p:spPr>
          <a:xfrm>
            <a:off x="6454525" y="6189435"/>
            <a:ext cx="705740" cy="2852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altLang="ko-KR" sz="105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Step 4</a:t>
            </a:r>
            <a:endParaRPr lang="ko-KR" altLang="en-US" dirty="0"/>
          </a:p>
        </p:txBody>
      </p:sp>
      <p:sp>
        <p:nvSpPr>
          <p:cNvPr id="30" name="화살표: 아래쪽 29">
            <a:extLst>
              <a:ext uri="{FF2B5EF4-FFF2-40B4-BE49-F238E27FC236}">
                <a16:creationId xmlns:a16="http://schemas.microsoft.com/office/drawing/2014/main" id="{04AA8998-3153-4AF1-A383-6BA8FBBB4ED1}"/>
              </a:ext>
            </a:extLst>
          </p:cNvPr>
          <p:cNvSpPr/>
          <p:nvPr/>
        </p:nvSpPr>
        <p:spPr>
          <a:xfrm>
            <a:off x="7829969" y="2544624"/>
            <a:ext cx="205570" cy="230704"/>
          </a:xfrm>
          <a:prstGeom prst="downArrow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5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31" name="화살표: 아래쪽 30">
            <a:extLst>
              <a:ext uri="{FF2B5EF4-FFF2-40B4-BE49-F238E27FC236}">
                <a16:creationId xmlns:a16="http://schemas.microsoft.com/office/drawing/2014/main" id="{210125BC-FAD5-4B86-B196-FF1FE5B3B0D6}"/>
              </a:ext>
            </a:extLst>
          </p:cNvPr>
          <p:cNvSpPr/>
          <p:nvPr/>
        </p:nvSpPr>
        <p:spPr>
          <a:xfrm>
            <a:off x="7858292" y="4211964"/>
            <a:ext cx="205570" cy="230704"/>
          </a:xfrm>
          <a:prstGeom prst="downArrow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5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870268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74846" y="213862"/>
            <a:ext cx="6720682" cy="384721"/>
          </a:xfrm>
        </p:spPr>
        <p:txBody>
          <a:bodyPr/>
          <a:lstStyle/>
          <a:p>
            <a:r>
              <a:rPr lang="en-US" altLang="ko-KR" dirty="0"/>
              <a:t>⑥ </a:t>
            </a:r>
            <a:r>
              <a:rPr lang="ko-KR" altLang="en-US" dirty="0"/>
              <a:t>연속</a:t>
            </a:r>
            <a:r>
              <a:rPr lang="en-US" altLang="ko-KR" dirty="0"/>
              <a:t>(</a:t>
            </a:r>
            <a:r>
              <a:rPr lang="ko-KR" altLang="en-US" dirty="0"/>
              <a:t>정상</a:t>
            </a:r>
            <a:r>
              <a:rPr lang="en-US" altLang="ko-KR" dirty="0"/>
              <a:t>) </a:t>
            </a:r>
            <a:r>
              <a:rPr lang="ko-KR" altLang="en-US" dirty="0"/>
              <a:t>검출 장애물 이력 관리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F55F954-5E86-475A-837F-2B8CED6C7DF1}" type="slidenum">
              <a:rPr lang="ko-KR" altLang="en-US" smtClean="0"/>
              <a:pPr/>
              <a:t>20</a:t>
            </a:fld>
            <a:endParaRPr lang="ko-KR" altLang="en-US"/>
          </a:p>
        </p:txBody>
      </p:sp>
      <p:sp>
        <p:nvSpPr>
          <p:cNvPr id="16" name="직사각형 15"/>
          <p:cNvSpPr/>
          <p:nvPr/>
        </p:nvSpPr>
        <p:spPr>
          <a:xfrm>
            <a:off x="381000" y="873125"/>
            <a:ext cx="5816600" cy="1286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5256" indent="-95256"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buFont typeface="Wingdings" panose="05000000000000000000" pitchFamily="2" charset="2"/>
              <a:buChar char="§"/>
              <a:defRPr/>
            </a:pPr>
            <a:r>
              <a:rPr lang="ko-KR" altLang="en-US" sz="1300" b="1" kern="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개요</a:t>
            </a:r>
            <a:endParaRPr lang="en-US" altLang="ko-KR" sz="1300" b="1" kern="0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지도상의 존재하는 객체가 재 검출된 경우의 처리 정책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이력 관리 정책에 따라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state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및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history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관리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history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는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1~3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의 값만을 가질 수 있으며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, 0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인 경우 객체는 삭제됨</a:t>
            </a:r>
            <a:endParaRPr lang="en-US" altLang="ko-KR" sz="1300" kern="0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381000" y="5034702"/>
            <a:ext cx="9144000" cy="1597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5256" indent="-95256"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buFont typeface="Wingdings" panose="05000000000000000000" pitchFamily="2" charset="2"/>
              <a:buChar char="§"/>
              <a:defRPr/>
            </a:pPr>
            <a:r>
              <a:rPr lang="ko-KR" altLang="en-US" sz="1300" b="1" kern="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지도상의 장애물에 대한 대응 전략</a:t>
            </a:r>
            <a:endParaRPr lang="en-US" altLang="ko-KR" sz="1300" b="1" kern="0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L3obstacle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에 존재하는 장애물에 해당하는 검출 결과가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있는 경우에 대하여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state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와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history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를 정책에 따라 변경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L3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에 존재하는 모든 객체는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state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와 무관하게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(1~3),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거기에 실제로 장애물이 존재하는 것으로 간주한다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. </a:t>
            </a: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단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, state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가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2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인 경우에 한하여 신뢰도를 조정하여 융합 결과에 반영되는 정도를 조정할 수 있다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. </a:t>
            </a: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  (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현재는 별도의 추가적인 조정은 없음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)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381000" y="2642546"/>
            <a:ext cx="9144000" cy="19092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5256" indent="-95256"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buFont typeface="Wingdings" panose="05000000000000000000" pitchFamily="2" charset="2"/>
              <a:buChar char="§"/>
              <a:defRPr/>
            </a:pPr>
            <a:r>
              <a:rPr lang="ko-KR" altLang="en-US" sz="1300" b="1" kern="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</a:t>
            </a:r>
            <a:r>
              <a:rPr lang="en-US" altLang="ko-KR" sz="1300" b="1" kern="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(</a:t>
            </a:r>
            <a:r>
              <a:rPr lang="ko-KR" altLang="en-US" sz="1300" b="1" kern="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공통</a:t>
            </a:r>
            <a:r>
              <a:rPr lang="en-US" altLang="ko-KR" sz="1300" b="1" kern="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) </a:t>
            </a:r>
            <a:r>
              <a:rPr lang="ko-KR" altLang="en-US" sz="1300" b="1" kern="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이력 관리 정책</a:t>
            </a:r>
            <a:endParaRPr lang="en-US" altLang="ko-KR" sz="1300" b="1" kern="0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지</a:t>
            </a:r>
            <a:r>
              <a:rPr lang="ko-KR" altLang="en-US" sz="130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속적인 검출 </a:t>
            </a:r>
            <a:r>
              <a:rPr lang="en-US" altLang="ko-KR" sz="130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: </a:t>
            </a:r>
            <a:r>
              <a:rPr lang="ko-KR" altLang="en-US" sz="130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별도 사항 없음  </a:t>
            </a:r>
            <a:r>
              <a:rPr lang="en-US" altLang="ko-KR" sz="130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(state=1, history=3 </a:t>
            </a:r>
            <a:r>
              <a:rPr lang="ko-KR" altLang="en-US" sz="130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계속 유지</a:t>
            </a:r>
            <a:r>
              <a:rPr lang="en-US" altLang="ko-KR" sz="130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)</a:t>
            </a: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   - </a:t>
            </a:r>
            <a:r>
              <a:rPr lang="ko-KR" altLang="en-US" sz="130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신규 검출 후 </a:t>
            </a:r>
            <a:r>
              <a:rPr lang="ko-KR" altLang="en-US" sz="1300" dirty="0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재검출</a:t>
            </a:r>
            <a:r>
              <a:rPr lang="ko-KR" altLang="en-US" sz="130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 </a:t>
            </a:r>
            <a:r>
              <a:rPr lang="en-US" altLang="ko-KR" sz="130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: </a:t>
            </a:r>
            <a:r>
              <a:rPr lang="ko-KR" altLang="en-US" sz="130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카운터를 증가하여 </a:t>
            </a:r>
            <a:r>
              <a:rPr lang="en-US" altLang="ko-KR" sz="130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3</a:t>
            </a:r>
            <a:r>
              <a:rPr lang="ko-KR" altLang="en-US" sz="130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이 되는 경우 지속 검출 상태로 변경</a:t>
            </a:r>
            <a:endParaRPr lang="en-US" altLang="ko-KR" sz="1300" dirty="0">
              <a:ln>
                <a:solidFill>
                  <a:prstClr val="black">
                    <a:alpha val="0"/>
                  </a:prstClr>
                </a:solidFill>
              </a:ln>
              <a:solidFill>
                <a:prstClr val="black"/>
              </a:solidFill>
              <a:latin typeface="+mn-ea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     (history=history+1 → history=3</a:t>
            </a:r>
            <a:r>
              <a:rPr lang="ko-KR" altLang="en-US" sz="130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인 경우</a:t>
            </a:r>
            <a:r>
              <a:rPr lang="en-US" altLang="ko-KR" sz="130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, state</a:t>
            </a:r>
            <a:r>
              <a:rPr lang="ko-KR" altLang="en-US" sz="130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를</a:t>
            </a:r>
            <a:r>
              <a:rPr lang="en-US" altLang="ko-KR" sz="130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 1</a:t>
            </a:r>
            <a:r>
              <a:rPr lang="ko-KR" altLang="en-US" sz="130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로 변경</a:t>
            </a:r>
            <a:r>
              <a:rPr lang="en-US" altLang="ko-KR" sz="130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, </a:t>
            </a:r>
            <a:r>
              <a:rPr lang="ko-KR" altLang="en-US" sz="130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그 외 </a:t>
            </a:r>
            <a:r>
              <a:rPr lang="en-US" altLang="ko-KR" sz="130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state=3 </a:t>
            </a:r>
            <a:r>
              <a:rPr lang="ko-KR" altLang="en-US" sz="130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유지</a:t>
            </a:r>
            <a:r>
              <a:rPr lang="en-US" altLang="ko-KR" sz="130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)</a:t>
            </a: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   - </a:t>
            </a:r>
            <a:r>
              <a:rPr lang="ko-KR" altLang="en-US" sz="130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미검출 후 </a:t>
            </a:r>
            <a:r>
              <a:rPr lang="ko-KR" altLang="en-US" sz="1300" dirty="0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재검출</a:t>
            </a:r>
            <a:r>
              <a:rPr lang="ko-KR" altLang="en-US" sz="130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 </a:t>
            </a:r>
            <a:r>
              <a:rPr lang="en-US" altLang="ko-KR" sz="130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: </a:t>
            </a:r>
            <a:r>
              <a:rPr lang="ko-KR" altLang="en-US" sz="130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카운터와 무관하게 즉각 안정적 검출로 변경 </a:t>
            </a:r>
            <a:r>
              <a:rPr lang="en-US" altLang="ko-KR" sz="130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(history=3, state=1</a:t>
            </a:r>
            <a:r>
              <a:rPr lang="ko-KR" altLang="en-US" sz="130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로 변경</a:t>
            </a:r>
            <a:r>
              <a:rPr lang="en-US" altLang="ko-KR" sz="130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)</a:t>
            </a: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      ※ </a:t>
            </a:r>
            <a:r>
              <a:rPr lang="ko-KR" altLang="en-US" sz="130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실제</a:t>
            </a:r>
            <a:r>
              <a:rPr lang="en-US" altLang="ko-KR" sz="130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 </a:t>
            </a:r>
            <a:r>
              <a:rPr lang="ko-KR" altLang="en-US" sz="130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운용을 통한 타당성 검증 필요 </a:t>
            </a:r>
            <a:r>
              <a:rPr lang="en-US" altLang="ko-KR" sz="130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(</a:t>
            </a:r>
            <a:r>
              <a:rPr lang="ko-KR" altLang="en-US" sz="130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예시</a:t>
            </a:r>
            <a:r>
              <a:rPr lang="en-US" altLang="ko-KR" sz="130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) </a:t>
            </a:r>
            <a:r>
              <a:rPr lang="ko-KR" altLang="en-US" sz="130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신규 검출과 동일하게 처리 등</a:t>
            </a:r>
            <a:endParaRPr lang="en-US" altLang="ko-KR" sz="1300" dirty="0">
              <a:ln>
                <a:solidFill>
                  <a:prstClr val="black">
                    <a:alpha val="0"/>
                  </a:prstClr>
                </a:solidFill>
              </a:ln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7228612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74846" y="213862"/>
            <a:ext cx="6720682" cy="384721"/>
          </a:xfrm>
        </p:spPr>
        <p:txBody>
          <a:bodyPr/>
          <a:lstStyle/>
          <a:p>
            <a:r>
              <a:rPr lang="en-US" altLang="ko-KR" dirty="0"/>
              <a:t>⑦ </a:t>
            </a:r>
            <a:r>
              <a:rPr lang="ko-KR" altLang="en-US" dirty="0"/>
              <a:t>장애물 위치</a:t>
            </a:r>
            <a:r>
              <a:rPr lang="en-US" altLang="ko-KR" dirty="0"/>
              <a:t>, </a:t>
            </a:r>
            <a:r>
              <a:rPr lang="ko-KR" altLang="en-US" dirty="0"/>
              <a:t>속도 데이터 융합 </a:t>
            </a:r>
            <a:r>
              <a:rPr lang="en-US" altLang="ko-KR" dirty="0"/>
              <a:t>(1/2)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F55F954-5E86-475A-837F-2B8CED6C7DF1}" type="slidenum">
              <a:rPr lang="ko-KR" altLang="en-US" smtClean="0"/>
              <a:pPr/>
              <a:t>21</a:t>
            </a:fld>
            <a:endParaRPr lang="ko-KR" altLang="en-US"/>
          </a:p>
        </p:txBody>
      </p:sp>
      <p:sp>
        <p:nvSpPr>
          <p:cNvPr id="15" name="직사각형 14"/>
          <p:cNvSpPr/>
          <p:nvPr/>
        </p:nvSpPr>
        <p:spPr>
          <a:xfrm>
            <a:off x="380999" y="873125"/>
            <a:ext cx="9143999" cy="1597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5256" indent="-95256"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buFont typeface="Wingdings" panose="05000000000000000000" pitchFamily="2" charset="2"/>
              <a:buChar char="§"/>
              <a:defRPr/>
            </a:pPr>
            <a:r>
              <a:rPr lang="ko-KR" altLang="en-US" sz="1300" b="1" kern="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개요</a:t>
            </a:r>
            <a:endParaRPr lang="en-US" altLang="ko-KR" sz="1300" b="1" kern="0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지도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및 </a:t>
            </a:r>
            <a:r>
              <a:rPr lang="ko-KR" altLang="en-US" sz="1300" kern="0" dirty="0" err="1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차량별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인지 장애물 중 동일 장애물로 분류된 객체의 위치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-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속도를 결정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지도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-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차량 공통 검출은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(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정상 검출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),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차량간 공통 검출은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(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신규 검출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)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로 구분되나 동일 알고리즘을 적용함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각 인지 데이터의 신뢰성을 반영하여 위치를 결정해야 함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(TBD) information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융합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/ Track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융합 등의 방법이 있으나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,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장애물 속도를 고려하여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, information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융합 방식을 적용 중</a:t>
            </a:r>
            <a:endParaRPr lang="en-US" altLang="ko-KR" sz="1300" kern="0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381000" y="3991044"/>
            <a:ext cx="7391400" cy="26320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5256" indent="-95256"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buFont typeface="Wingdings" panose="05000000000000000000" pitchFamily="2" charset="2"/>
              <a:buChar char="§"/>
              <a:defRPr/>
            </a:pPr>
            <a:r>
              <a:rPr lang="ko-KR" altLang="en-US" sz="1300" b="1" kern="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알고리즘 설명</a:t>
            </a:r>
            <a:endParaRPr lang="en-US" altLang="ko-KR" sz="1300" b="1" kern="0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총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N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개의 </a:t>
            </a:r>
            <a:r>
              <a:rPr lang="ko-KR" altLang="en-US" sz="1300" kern="0" dirty="0" err="1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계측값에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대해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,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오차의 분산의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역을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weight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로 적용하여 평균을 계산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X, Y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좌표에 대하여 독립적으로 계산을 적용하여 좌표 추정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endParaRPr lang="en-US" altLang="ko-KR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(TBD) </a:t>
            </a:r>
            <a:r>
              <a:rPr lang="en-US" altLang="ko-KR" sz="1300" kern="0" dirty="0" err="1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Vx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, </a:t>
            </a:r>
            <a:r>
              <a:rPr lang="en-US" altLang="ko-KR" sz="1300" kern="0" dirty="0" err="1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Vy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는 이전 좌표와의 편차를 통해 계산 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553200" y="5675390"/>
            <a:ext cx="3213099" cy="95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171450" indent="-171450">
              <a:lnSpc>
                <a:spcPct val="110000"/>
              </a:lnSpc>
              <a:spcBef>
                <a:spcPts val="150"/>
              </a:spcBef>
              <a:spcAft>
                <a:spcPts val="150"/>
              </a:spcAft>
              <a:buFontTx/>
              <a:buChar char="-"/>
              <a:defRPr sz="1050">
                <a:ln>
                  <a:solidFill>
                    <a:schemeClr val="tx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1pPr>
          </a:lstStyle>
          <a:p>
            <a:r>
              <a:rPr lang="en-US" altLang="ko-KR" dirty="0">
                <a:latin typeface="+mn-ea"/>
                <a:ea typeface="+mn-ea"/>
              </a:rPr>
              <a:t>X(N) : N</a:t>
            </a:r>
            <a:r>
              <a:rPr lang="ko-KR" altLang="en-US" dirty="0">
                <a:latin typeface="+mn-ea"/>
                <a:ea typeface="+mn-ea"/>
              </a:rPr>
              <a:t>번째 계측된 </a:t>
            </a:r>
            <a:r>
              <a:rPr lang="en-US" altLang="ko-KR" dirty="0">
                <a:latin typeface="+mn-ea"/>
                <a:ea typeface="+mn-ea"/>
              </a:rPr>
              <a:t>X</a:t>
            </a:r>
            <a:r>
              <a:rPr lang="ko-KR" altLang="en-US" dirty="0">
                <a:latin typeface="+mn-ea"/>
                <a:ea typeface="+mn-ea"/>
              </a:rPr>
              <a:t>좌표 </a:t>
            </a:r>
            <a:r>
              <a:rPr lang="en-US" altLang="ko-KR" dirty="0">
                <a:latin typeface="+mn-ea"/>
                <a:ea typeface="+mn-ea"/>
              </a:rPr>
              <a:t>(N</a:t>
            </a:r>
            <a:r>
              <a:rPr lang="ko-KR" altLang="en-US" dirty="0">
                <a:latin typeface="+mn-ea"/>
                <a:ea typeface="+mn-ea"/>
              </a:rPr>
              <a:t>은 </a:t>
            </a:r>
            <a:r>
              <a:rPr lang="en-US" altLang="ko-KR" dirty="0">
                <a:latin typeface="+mn-ea"/>
                <a:ea typeface="+mn-ea"/>
              </a:rPr>
              <a:t>1</a:t>
            </a:r>
            <a:r>
              <a:rPr lang="ko-KR" altLang="en-US" dirty="0">
                <a:latin typeface="+mn-ea"/>
                <a:ea typeface="+mn-ea"/>
              </a:rPr>
              <a:t>이상 </a:t>
            </a:r>
            <a:r>
              <a:rPr lang="en-US" altLang="ko-KR" dirty="0">
                <a:latin typeface="+mn-ea"/>
                <a:ea typeface="+mn-ea"/>
              </a:rPr>
              <a:t>6</a:t>
            </a:r>
            <a:r>
              <a:rPr lang="ko-KR" altLang="en-US" dirty="0">
                <a:latin typeface="+mn-ea"/>
                <a:ea typeface="+mn-ea"/>
              </a:rPr>
              <a:t>이하</a:t>
            </a:r>
            <a:r>
              <a:rPr lang="en-US" altLang="ko-KR" dirty="0">
                <a:latin typeface="+mn-ea"/>
                <a:ea typeface="+mn-ea"/>
              </a:rPr>
              <a:t>)</a:t>
            </a:r>
          </a:p>
          <a:p>
            <a:r>
              <a:rPr lang="en-US" altLang="ko-KR" dirty="0">
                <a:latin typeface="+mn-ea"/>
                <a:ea typeface="+mn-ea"/>
              </a:rPr>
              <a:t>Y(N) : N</a:t>
            </a:r>
            <a:r>
              <a:rPr lang="ko-KR" altLang="en-US" dirty="0">
                <a:latin typeface="+mn-ea"/>
                <a:ea typeface="+mn-ea"/>
              </a:rPr>
              <a:t>번째 계측된 </a:t>
            </a:r>
            <a:r>
              <a:rPr lang="en-US" altLang="ko-KR" dirty="0">
                <a:latin typeface="+mn-ea"/>
                <a:ea typeface="+mn-ea"/>
              </a:rPr>
              <a:t>Y</a:t>
            </a:r>
            <a:r>
              <a:rPr lang="ko-KR" altLang="en-US" dirty="0">
                <a:latin typeface="+mn-ea"/>
                <a:ea typeface="+mn-ea"/>
              </a:rPr>
              <a:t>좌표 </a:t>
            </a:r>
            <a:r>
              <a:rPr lang="en-US" altLang="ko-KR" dirty="0">
                <a:latin typeface="+mn-ea"/>
                <a:ea typeface="+mn-ea"/>
              </a:rPr>
              <a:t>(N</a:t>
            </a:r>
            <a:r>
              <a:rPr lang="ko-KR" altLang="en-US" dirty="0">
                <a:latin typeface="+mn-ea"/>
                <a:ea typeface="+mn-ea"/>
              </a:rPr>
              <a:t>은 </a:t>
            </a:r>
            <a:r>
              <a:rPr lang="en-US" altLang="ko-KR" dirty="0">
                <a:latin typeface="+mn-ea"/>
                <a:ea typeface="+mn-ea"/>
              </a:rPr>
              <a:t>1</a:t>
            </a:r>
            <a:r>
              <a:rPr lang="ko-KR" altLang="en-US" dirty="0">
                <a:latin typeface="+mn-ea"/>
                <a:ea typeface="+mn-ea"/>
              </a:rPr>
              <a:t>이상 </a:t>
            </a:r>
            <a:r>
              <a:rPr lang="en-US" altLang="ko-KR" dirty="0">
                <a:latin typeface="+mn-ea"/>
                <a:ea typeface="+mn-ea"/>
              </a:rPr>
              <a:t>6</a:t>
            </a:r>
            <a:r>
              <a:rPr lang="ko-KR" altLang="en-US" dirty="0">
                <a:latin typeface="+mn-ea"/>
                <a:ea typeface="+mn-ea"/>
              </a:rPr>
              <a:t>이하</a:t>
            </a:r>
            <a:r>
              <a:rPr lang="en-US" altLang="ko-KR" dirty="0">
                <a:latin typeface="+mn-ea"/>
                <a:ea typeface="+mn-ea"/>
              </a:rPr>
              <a:t>)</a:t>
            </a:r>
          </a:p>
          <a:p>
            <a:r>
              <a:rPr lang="en-US" altLang="ko-KR" dirty="0">
                <a:latin typeface="+mn-ea"/>
                <a:ea typeface="+mn-ea"/>
              </a:rPr>
              <a:t>σ(N) : N</a:t>
            </a:r>
            <a:r>
              <a:rPr lang="ko-KR" altLang="en-US" dirty="0">
                <a:latin typeface="+mn-ea"/>
                <a:ea typeface="+mn-ea"/>
              </a:rPr>
              <a:t>번째 계측에 대한 노이즈의 표준편차</a:t>
            </a:r>
            <a:endParaRPr lang="en-US" altLang="ko-KR" dirty="0">
              <a:latin typeface="+mn-ea"/>
              <a:ea typeface="+mn-ea"/>
            </a:endParaRPr>
          </a:p>
          <a:p>
            <a:r>
              <a:rPr lang="en-US" altLang="ko-KR" dirty="0">
                <a:latin typeface="+mn-ea"/>
                <a:ea typeface="+mn-ea"/>
              </a:rPr>
              <a:t>σ</a:t>
            </a:r>
            <a:r>
              <a:rPr lang="en-US" altLang="ko-KR" baseline="30000" dirty="0">
                <a:latin typeface="+mn-ea"/>
                <a:ea typeface="+mn-ea"/>
              </a:rPr>
              <a:t>2</a:t>
            </a:r>
            <a:r>
              <a:rPr lang="en-US" altLang="ko-KR" dirty="0">
                <a:latin typeface="+mn-ea"/>
                <a:ea typeface="+mn-ea"/>
              </a:rPr>
              <a:t>(N) : N</a:t>
            </a:r>
            <a:r>
              <a:rPr lang="ko-KR" altLang="en-US" dirty="0">
                <a:latin typeface="+mn-ea"/>
                <a:ea typeface="+mn-ea"/>
              </a:rPr>
              <a:t>번째 계측에 대한 노이즈의 분산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806077" y="5106867"/>
                <a:ext cx="2714846" cy="4149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ko-KR" altLang="en-US" sz="1200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ko-K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(1)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altLang="ko-K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ko-KR" alt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altLang="ko-K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(1)</m:t>
                              </m:r>
                            </m:den>
                          </m:f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ko-KR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(2)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altLang="ko-KR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ko-KR" alt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altLang="ko-KR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+⋯+</m:t>
                          </m:r>
                          <m:f>
                            <m:fPr>
                              <m:ctrlPr>
                                <a:rPr lang="en-US" altLang="ko-KR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altLang="ko-KR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ko-KR" alt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altLang="ko-KR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077" y="5106867"/>
                <a:ext cx="2714846" cy="414985"/>
              </a:xfrm>
              <a:prstGeom prst="rect">
                <a:avLst/>
              </a:prstGeom>
              <a:blipFill>
                <a:blip r:embed="rId3"/>
                <a:stretch>
                  <a:fillRect t="-1471" b="-147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806077" y="5683647"/>
                <a:ext cx="2717603" cy="4149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ko-KR" altLang="en-US" sz="1200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ko-K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(1)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altLang="ko-K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ko-KR" alt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altLang="ko-K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(1)</m:t>
                              </m:r>
                            </m:den>
                          </m:f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ko-KR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altLang="ko-KR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ko-KR" alt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altLang="ko-KR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+⋯+</m:t>
                          </m:r>
                          <m:f>
                            <m:fPr>
                              <m:ctrlPr>
                                <a:rPr lang="en-US" altLang="ko-KR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altLang="ko-KR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ko-KR" alt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altLang="ko-KR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077" y="5683647"/>
                <a:ext cx="2717603" cy="414985"/>
              </a:xfrm>
              <a:prstGeom prst="rect">
                <a:avLst/>
              </a:prstGeom>
              <a:blipFill>
                <a:blip r:embed="rId4"/>
                <a:stretch>
                  <a:fillRect l="-673" b="-1617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직사각형 7"/>
              <p:cNvSpPr/>
              <p:nvPr/>
            </p:nvSpPr>
            <p:spPr>
              <a:xfrm>
                <a:off x="3862187" y="5248485"/>
                <a:ext cx="2266518" cy="5870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11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ko-KR" altLang="en-US" sz="1100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altLang="ko-KR" sz="11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sz="11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1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1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f>
                            <m:fPr>
                              <m:ctrlP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altLang="ko-KR" sz="11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ko-KR" altLang="en-US" sz="11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altLang="ko-KR" sz="11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(1)</m:t>
                              </m:r>
                            </m:den>
                          </m:f>
                          <m:r>
                            <a:rPr lang="en-US" altLang="ko-KR" sz="110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altLang="ko-KR" sz="11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ko-KR" altLang="en-US" sz="11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altLang="ko-KR" sz="11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(2)</m:t>
                              </m:r>
                            </m:den>
                          </m:f>
                          <m:r>
                            <a:rPr lang="en-US" altLang="ko-KR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+⋯+</m:t>
                          </m:r>
                          <m:f>
                            <m:fPr>
                              <m:ctrlP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altLang="ko-KR" sz="11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ko-KR" altLang="en-US" sz="11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altLang="ko-KR" sz="11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</m:den>
                      </m:f>
                    </m:oMath>
                  </m:oMathPara>
                </a14:m>
                <a:endParaRPr lang="ko-KR" altLang="en-US" sz="1100" dirty="0"/>
              </a:p>
            </p:txBody>
          </p:sp>
        </mc:Choice>
        <mc:Fallback xmlns="">
          <p:sp>
            <p:nvSpPr>
              <p:cNvPr id="8" name="직사각형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2187" y="5248485"/>
                <a:ext cx="2266518" cy="587020"/>
              </a:xfrm>
              <a:prstGeom prst="rect">
                <a:avLst/>
              </a:prstGeom>
              <a:blipFill>
                <a:blip r:embed="rId5"/>
                <a:stretch>
                  <a:fillRect b="-104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직사각형 10"/>
          <p:cNvSpPr/>
          <p:nvPr/>
        </p:nvSpPr>
        <p:spPr>
          <a:xfrm>
            <a:off x="380999" y="2585085"/>
            <a:ext cx="9143999" cy="1286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5256" indent="-95256"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buFont typeface="Wingdings" panose="05000000000000000000" pitchFamily="2" charset="2"/>
              <a:buChar char="§"/>
              <a:defRPr/>
            </a:pPr>
            <a:r>
              <a:rPr lang="ko-KR" altLang="en-US" sz="1300" b="1" kern="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입력 변수 </a:t>
            </a:r>
            <a:endParaRPr lang="en-US" altLang="ko-KR" sz="1300" b="1" kern="0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융합할 객체 번호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: </a:t>
            </a:r>
            <a:r>
              <a:rPr lang="en-US" altLang="ko-KR" sz="1300" kern="0" dirty="0" err="1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L_counter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=0 or 1 (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지도상의 객체는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0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개나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1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개만 존재해야 함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), </a:t>
            </a:r>
            <a:r>
              <a:rPr lang="en-US" altLang="ko-KR" sz="1300" kern="0" dirty="0" err="1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L_number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= 0~255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중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1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개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                               </a:t>
            </a:r>
            <a:r>
              <a:rPr lang="en-US" altLang="ko-KR" sz="1300" kern="0" dirty="0" err="1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NM_counter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=0~5 (N=0~4, M=0~31,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차량내 중복은 없으므로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,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최대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5), </a:t>
            </a: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                               </a:t>
            </a:r>
            <a:r>
              <a:rPr lang="en-US" altLang="ko-KR" sz="1300" kern="0" dirty="0" err="1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N_number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/</a:t>
            </a:r>
            <a:r>
              <a:rPr lang="en-US" altLang="ko-KR" sz="1300" kern="0" dirty="0" err="1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M_number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짝을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지정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(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예시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) counter=2, N=1/M=15, N=4/M=3</a:t>
            </a:r>
            <a:endParaRPr lang="en-US" altLang="ko-KR" sz="1300" kern="0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15575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74846" y="213862"/>
            <a:ext cx="6720682" cy="384721"/>
          </a:xfrm>
        </p:spPr>
        <p:txBody>
          <a:bodyPr/>
          <a:lstStyle/>
          <a:p>
            <a:r>
              <a:rPr lang="en-US" altLang="ko-KR" dirty="0"/>
              <a:t>⑦ </a:t>
            </a:r>
            <a:r>
              <a:rPr lang="ko-KR" altLang="en-US" dirty="0"/>
              <a:t>장애물 위치</a:t>
            </a:r>
            <a:r>
              <a:rPr lang="en-US" altLang="ko-KR" dirty="0"/>
              <a:t>, </a:t>
            </a:r>
            <a:r>
              <a:rPr lang="ko-KR" altLang="en-US" dirty="0"/>
              <a:t>속도 데이터 융합 </a:t>
            </a:r>
            <a:r>
              <a:rPr lang="en-US" altLang="ko-KR" dirty="0"/>
              <a:t>(2/2)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F55F954-5E86-475A-837F-2B8CED6C7DF1}" type="slidenum">
              <a:rPr lang="ko-KR" altLang="en-US" smtClean="0"/>
              <a:pPr/>
              <a:t>22</a:t>
            </a:fld>
            <a:endParaRPr lang="ko-KR" altLang="en-US"/>
          </a:p>
        </p:txBody>
      </p:sp>
      <p:sp>
        <p:nvSpPr>
          <p:cNvPr id="15" name="직사각형 14"/>
          <p:cNvSpPr/>
          <p:nvPr/>
        </p:nvSpPr>
        <p:spPr>
          <a:xfrm>
            <a:off x="380999" y="873125"/>
            <a:ext cx="9143999" cy="1286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5256" indent="-95256"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buFont typeface="Wingdings" panose="05000000000000000000" pitchFamily="2" charset="2"/>
              <a:buChar char="§"/>
              <a:defRPr/>
            </a:pPr>
            <a:r>
              <a:rPr lang="ko-KR" altLang="en-US" sz="1300" b="1" kern="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위치 </a:t>
            </a:r>
            <a:r>
              <a:rPr lang="ko-KR" altLang="en-US" sz="1300" b="1" kern="0" dirty="0" err="1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계측값에</a:t>
            </a:r>
            <a:r>
              <a:rPr lang="ko-KR" altLang="en-US" sz="1300" b="1" kern="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대한 분산 계산 방안</a:t>
            </a:r>
            <a:endParaRPr lang="en-US" altLang="ko-KR" sz="1300" b="1" kern="0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오차 종류 및 특성에 대한 영향을 고려하여 다음과 같은 기준을 적용함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장애물 별 상대 거리에 비례한 오차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/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시간 지연에 비례한 오차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/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고정된 오차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알고리즘의 </a:t>
            </a:r>
            <a:r>
              <a:rPr lang="ko-KR" altLang="en-US" sz="1300" kern="0" dirty="0" err="1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실차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적용 이후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(3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차년도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)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세부 조정 필요</a:t>
            </a:r>
            <a:endParaRPr lang="en-US" altLang="ko-KR" sz="1300" kern="0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380999" y="2613825"/>
            <a:ext cx="9143999" cy="1597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5256" indent="-95256"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buFont typeface="Wingdings" panose="05000000000000000000" pitchFamily="2" charset="2"/>
              <a:buChar char="§"/>
              <a:defRPr/>
            </a:pPr>
            <a:r>
              <a:rPr lang="ko-KR" altLang="en-US" sz="1300" b="1" kern="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알고리즘 설명</a:t>
            </a:r>
            <a:endParaRPr lang="en-US" altLang="ko-KR" sz="1300" b="1" kern="0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(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측정 결과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)</a:t>
            </a: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N/M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장애물에 대하여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, </a:t>
            </a: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  ∆D =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장애물을 검출한 차량과 장애물까지의 상대 거리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  ∆T =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데이터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생성 시점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(time stamp)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과 현재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(T_L3fusion)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시간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차이 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475466" y="3320428"/>
                <a:ext cx="2702919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1200" i="1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=0.1+0.1+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×0.01+∆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×2 </m:t>
                      </m:r>
                      <m:d>
                        <m:d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5466" y="3320428"/>
                <a:ext cx="2702919" cy="184666"/>
              </a:xfrm>
              <a:prstGeom prst="rect">
                <a:avLst/>
              </a:prstGeom>
              <a:blipFill>
                <a:blip r:embed="rId3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직사각형 12"/>
          <p:cNvSpPr/>
          <p:nvPr/>
        </p:nvSpPr>
        <p:spPr>
          <a:xfrm>
            <a:off x="380999" y="4378027"/>
            <a:ext cx="9143999" cy="9751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(L3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지도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)</a:t>
            </a: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L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장애물에 대하여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, </a:t>
            </a: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이전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지도에서 </a:t>
            </a:r>
            <a:r>
              <a:rPr lang="ko-KR" altLang="en-US" sz="1300" kern="0" dirty="0" err="1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오차값과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시간 경과에 의한 </a:t>
            </a:r>
            <a:r>
              <a:rPr lang="ko-KR" altLang="en-US" sz="1300" kern="0" dirty="0" err="1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오차값을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추가하여 결정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2475466" y="4747029"/>
                <a:ext cx="2061077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1200" i="1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ko-KR" altLang="en-US" sz="1200" b="0" i="1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𝑝𝑟𝑒𝑣𝑖𝑜𝑢𝑠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+ ∆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×2 </m:t>
                      </m:r>
                      <m:d>
                        <m:d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5466" y="4747029"/>
                <a:ext cx="2061077" cy="184666"/>
              </a:xfrm>
              <a:prstGeom prst="rect">
                <a:avLst/>
              </a:prstGeom>
              <a:blipFill>
                <a:blip r:embed="rId4"/>
                <a:stretch>
                  <a:fillRect l="-296" b="-33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직사각형 17"/>
          <p:cNvSpPr/>
          <p:nvPr/>
        </p:nvSpPr>
        <p:spPr>
          <a:xfrm>
            <a:off x="380999" y="5519496"/>
            <a:ext cx="9143999" cy="9751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(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위치 융합 과정에서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)</a:t>
            </a: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검출 결과를 가진 경우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,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지도의 오차는 이번 측정 결과의 표준편차 융합 값을 반영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(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지도 표준편차는 배제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)</a:t>
            </a: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검출 결과가 없는 경우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(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미검출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),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지도의 오차는 이번에 업데이트된 표준편차를 반영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(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시간 경과에 따라 계속 증가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1271043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74846" y="213862"/>
            <a:ext cx="6720682" cy="384721"/>
          </a:xfrm>
        </p:spPr>
        <p:txBody>
          <a:bodyPr/>
          <a:lstStyle/>
          <a:p>
            <a:r>
              <a:rPr lang="en-US" altLang="ko-KR" dirty="0"/>
              <a:t>⑧ </a:t>
            </a:r>
            <a:r>
              <a:rPr lang="ko-KR" altLang="en-US" dirty="0"/>
              <a:t>신규 검출 장애물 추가 및 이력 관리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F55F954-5E86-475A-837F-2B8CED6C7DF1}" type="slidenum">
              <a:rPr lang="ko-KR" altLang="en-US" smtClean="0"/>
              <a:pPr/>
              <a:t>23</a:t>
            </a:fld>
            <a:endParaRPr lang="ko-KR" altLang="en-US"/>
          </a:p>
        </p:txBody>
      </p:sp>
      <p:sp>
        <p:nvSpPr>
          <p:cNvPr id="15" name="직사각형 14"/>
          <p:cNvSpPr/>
          <p:nvPr/>
        </p:nvSpPr>
        <p:spPr>
          <a:xfrm>
            <a:off x="381000" y="873125"/>
            <a:ext cx="9144000" cy="1286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5256" indent="-95256"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buFont typeface="Wingdings" panose="05000000000000000000" pitchFamily="2" charset="2"/>
              <a:buChar char="§"/>
              <a:defRPr/>
            </a:pPr>
            <a:r>
              <a:rPr lang="ko-KR" altLang="en-US" sz="1300" b="1" kern="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개요</a:t>
            </a:r>
            <a:endParaRPr lang="en-US" altLang="ko-KR" sz="1300" b="1" kern="0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데이터 정합 후 발견된 신규 장애물을 등록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신규 장애물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: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센서 검출 장애물 중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,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기존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L3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상의 장애물과 정합 되지 않은 객체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관리 방안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: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신규 장애물 등록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=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추적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ID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부여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, state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를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3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으로 변경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, history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를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1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로 설정</a:t>
            </a:r>
            <a:endParaRPr lang="en-US" altLang="ko-KR" sz="1300" kern="0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381000" y="2620672"/>
            <a:ext cx="4572000" cy="2795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5256" indent="-95256"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buFont typeface="Wingdings" panose="05000000000000000000" pitchFamily="2" charset="2"/>
              <a:buChar char="§"/>
              <a:defRPr/>
            </a:pPr>
            <a:r>
              <a:rPr lang="ko-KR" altLang="en-US" sz="1300" b="1" kern="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알고리즘 설명</a:t>
            </a:r>
            <a:endParaRPr lang="en-US" altLang="ko-KR" sz="1300" b="1" kern="0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en-US" altLang="ko-KR" sz="13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Obstacle(N)(M) </a:t>
            </a:r>
            <a:r>
              <a:rPr lang="ko-KR" altLang="en-US" sz="13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중</a:t>
            </a:r>
            <a:r>
              <a:rPr lang="en-US" altLang="ko-KR" sz="13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, L3obstacle(L)</a:t>
            </a:r>
            <a:r>
              <a:rPr lang="ko-KR" altLang="en-US" sz="13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에 매칭되지 않는 </a:t>
            </a:r>
            <a:br>
              <a:rPr lang="en-US" altLang="ko-KR" sz="13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</a:br>
            <a:r>
              <a:rPr lang="en-US" altLang="ko-KR" sz="13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    </a:t>
            </a:r>
            <a:r>
              <a:rPr lang="ko-KR" altLang="en-US" sz="13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장애물이 있는 경우</a:t>
            </a:r>
            <a:r>
              <a:rPr lang="en-US" altLang="ko-KR" sz="13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, 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신규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L3obstlacle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를 구성</a:t>
            </a:r>
            <a:b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</a:b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  ①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좌표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,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속도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,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종류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,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크기를 복사 </a:t>
            </a:r>
            <a:b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</a:b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  ②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장애물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ID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신규 부여</a:t>
            </a:r>
            <a:b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</a:b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  ③ obstacle(N)(M)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중 중복 검출 여부 확인하여 카운터 표시</a:t>
            </a:r>
            <a:b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</a:b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  ④ </a:t>
            </a:r>
            <a:r>
              <a:rPr lang="en-US" altLang="ko-KR" sz="1300" kern="0" dirty="0" err="1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obstacle_state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를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3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으로 설정</a:t>
            </a:r>
            <a:b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</a:b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  ⑤ </a:t>
            </a:r>
            <a:r>
              <a:rPr lang="en-US" altLang="ko-KR" sz="1300" kern="0" dirty="0" err="1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obstacle_history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를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1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로 설정 </a:t>
            </a:r>
            <a:b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</a:b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  ⑥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기준 시각을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T_L3fusion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설정</a:t>
            </a:r>
            <a:endParaRPr lang="en-US" altLang="ko-KR" sz="1300" kern="0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30592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74846" y="213862"/>
            <a:ext cx="6720682" cy="384721"/>
          </a:xfrm>
        </p:spPr>
        <p:txBody>
          <a:bodyPr/>
          <a:lstStyle/>
          <a:p>
            <a:r>
              <a:rPr lang="en-US" altLang="ko-KR" dirty="0"/>
              <a:t>⑨ </a:t>
            </a:r>
            <a:r>
              <a:rPr lang="ko-KR" altLang="en-US" dirty="0"/>
              <a:t>미검출 장애물 이력 관리 및 삭제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F55F954-5E86-475A-837F-2B8CED6C7DF1}" type="slidenum">
              <a:rPr lang="ko-KR" altLang="en-US" smtClean="0"/>
              <a:pPr/>
              <a:t>24</a:t>
            </a:fld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381000" y="873125"/>
            <a:ext cx="9144000" cy="1597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5256" indent="-95256"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buFont typeface="Wingdings" panose="05000000000000000000" pitchFamily="2" charset="2"/>
              <a:buChar char="§"/>
              <a:defRPr/>
            </a:pPr>
            <a:r>
              <a:rPr lang="ko-KR" altLang="en-US" sz="1300" b="1" kern="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개요</a:t>
            </a:r>
            <a:endParaRPr lang="en-US" altLang="ko-KR" sz="1300" b="1" kern="0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데이터 정합 후 발견된 미검출 장애물 이력 관리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미검출 장애물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: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기존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L3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상의 장애물 중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,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센서 검출 장애물과 정합 되지 않은 객체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관리 방안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: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미검출 장애물 등록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= state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변경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, history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에서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1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씩 감소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삭제 방안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: history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가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1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에서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0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으로 변경되는 시점에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,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장애물 정보 삭제 및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state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를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NULL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로 변경 </a:t>
            </a:r>
            <a:endParaRPr lang="en-US" altLang="ko-KR" sz="1300" kern="0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381000" y="3255672"/>
            <a:ext cx="4572000" cy="33670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5256" indent="-95256"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buFont typeface="Wingdings" panose="05000000000000000000" pitchFamily="2" charset="2"/>
              <a:buChar char="§"/>
              <a:defRPr/>
            </a:pPr>
            <a:r>
              <a:rPr lang="ko-KR" altLang="en-US" sz="1300" b="1" kern="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알고리즘 설명</a:t>
            </a:r>
            <a:endParaRPr lang="en-US" altLang="ko-KR" sz="1300" b="1" kern="0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en-US" altLang="ko-KR" sz="13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L3obstacle(L) </a:t>
            </a:r>
            <a:r>
              <a:rPr lang="ko-KR" altLang="en-US" sz="13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중</a:t>
            </a:r>
            <a:r>
              <a:rPr lang="en-US" altLang="ko-KR" sz="13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, Obstacle(N)(M)</a:t>
            </a:r>
            <a:r>
              <a:rPr lang="ko-KR" altLang="en-US" sz="13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에 매칭되지 않는 </a:t>
            </a:r>
            <a:br>
              <a:rPr lang="en-US" altLang="ko-KR" sz="13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</a:br>
            <a:r>
              <a:rPr lang="en-US" altLang="ko-KR" sz="13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    </a:t>
            </a:r>
            <a:r>
              <a:rPr lang="ko-KR" altLang="en-US" sz="13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장애물이 있는 경우</a:t>
            </a:r>
            <a:r>
              <a:rPr lang="en-US" altLang="ko-KR" sz="13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, 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L3obstlacle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정보 변경</a:t>
            </a:r>
            <a:b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</a:b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  ①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</a:t>
            </a:r>
            <a:r>
              <a:rPr lang="en-US" altLang="ko-KR" sz="1300" kern="0" dirty="0" err="1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vcounter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를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0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으로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변경</a:t>
            </a:r>
            <a:b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</a:b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  ② state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를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2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로 변경</a:t>
            </a:r>
            <a:b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</a:b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  ③ history=history-1</a:t>
            </a: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history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가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0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이 되었다면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, (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실제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실행은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ID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할당 후 일괄 처리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)</a:t>
            </a:r>
            <a:b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</a:b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  ①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ID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를 말소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</a:t>
            </a:r>
            <a:b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</a:b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  ② state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를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0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으로 변경</a:t>
            </a:r>
            <a:b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</a:b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  ③ history=0</a:t>
            </a:r>
            <a:b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</a:b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  ④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해당 장애물 정보를 초기화한다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.</a:t>
            </a:r>
            <a:endParaRPr lang="en-US" altLang="ko-KR" sz="1300" kern="0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82431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74846" y="213862"/>
            <a:ext cx="6720682" cy="384721"/>
          </a:xfrm>
        </p:spPr>
        <p:txBody>
          <a:bodyPr/>
          <a:lstStyle/>
          <a:p>
            <a:r>
              <a:rPr lang="en-US" altLang="ko-KR" dirty="0"/>
              <a:t>⑩ L3 </a:t>
            </a:r>
            <a:r>
              <a:rPr lang="ko-KR" altLang="en-US" dirty="0"/>
              <a:t>장애물 </a:t>
            </a:r>
            <a:r>
              <a:rPr lang="en-US" altLang="ko-KR" dirty="0"/>
              <a:t>ID </a:t>
            </a:r>
            <a:r>
              <a:rPr lang="ko-KR" altLang="en-US" dirty="0"/>
              <a:t>관리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F55F954-5E86-475A-837F-2B8CED6C7DF1}" type="slidenum">
              <a:rPr lang="ko-KR" altLang="en-US" smtClean="0"/>
              <a:pPr/>
              <a:t>25</a:t>
            </a:fld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381000" y="879523"/>
            <a:ext cx="9144000" cy="2378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5256" indent="-95256"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buFont typeface="Wingdings" panose="05000000000000000000" pitchFamily="2" charset="2"/>
              <a:buChar char="§"/>
              <a:defRPr/>
            </a:pPr>
            <a:r>
              <a:rPr lang="ko-KR" altLang="en-US" sz="1300" b="1" kern="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개요</a:t>
            </a:r>
            <a:endParaRPr lang="en-US" altLang="ko-KR" sz="1300" b="1" kern="0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장애물의 추적 및 관리를 위해 부여한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ID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의 연속성을 유지하고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,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신규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ID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부여로 인한 혼란 방지를 위한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ID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관리 로직 설계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관리 기준 </a:t>
            </a:r>
            <a:b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</a:b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  ①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동일 객체의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ID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는 연속적으로 유지되도록 한다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.</a:t>
            </a:r>
            <a:b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</a:b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  ②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신규 검출 객체에는 이용중이지 않은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ID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번호를 임의로 부여한다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.</a:t>
            </a:r>
            <a:b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</a:b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  ③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특정 동작 시점에서 삭제된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ID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가 해당 순간에 다른 신규 장애물에 재부여되지 않도록 한다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  (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예시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) T=3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에서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15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번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ID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장애물이 삭제된 경우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,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해당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ID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는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T≧4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에서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재 할당이 가능함 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            → T=2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에는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15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번 장애물 존재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, T=3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에는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15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번 없음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, T=4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에는 새로운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15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번 장애물이 발생</a:t>
            </a:r>
            <a:endParaRPr lang="en-US" altLang="ko-KR" sz="1300" kern="0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381000" y="3683050"/>
            <a:ext cx="5219700" cy="2689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5256" indent="-95256"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buFont typeface="Wingdings" panose="05000000000000000000" pitchFamily="2" charset="2"/>
              <a:buChar char="§"/>
              <a:defRPr/>
            </a:pPr>
            <a:r>
              <a:rPr lang="ko-KR" altLang="en-US" sz="1300" b="1" kern="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알고리즘 설명</a:t>
            </a:r>
            <a:endParaRPr lang="en-US" altLang="ko-KR" sz="1300" b="1" kern="0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SW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설계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및 이용 편의성을 고려하여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,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사용되지 않는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ID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를 관리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초기화 시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, </a:t>
            </a:r>
            <a:b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</a:b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  </a:t>
            </a:r>
            <a:r>
              <a:rPr lang="en-US" altLang="ko-KR" sz="1300" kern="0" dirty="0" err="1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ID_counter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=256 (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미사용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ID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는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0~255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의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256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개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)</a:t>
            </a:r>
            <a:b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</a:b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  </a:t>
            </a:r>
            <a:r>
              <a:rPr lang="en-US" altLang="ko-KR" sz="1300" kern="0" dirty="0" err="1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ID_notused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[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일련번호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] = 255-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일련번호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신규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ID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가 필요시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, </a:t>
            </a:r>
            <a:r>
              <a:rPr lang="en-US" altLang="ko-KR" sz="1300" kern="0" dirty="0" err="1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ID_notused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[ID_counter-1]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을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사용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장애물이 삭제된 경우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, </a:t>
            </a:r>
            <a:r>
              <a:rPr lang="en-US" altLang="ko-KR" sz="1300" kern="0" dirty="0" err="1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ID_notused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[</a:t>
            </a:r>
            <a:r>
              <a:rPr lang="en-US" altLang="ko-KR" sz="1300" kern="0" dirty="0" err="1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ID_counter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]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에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ID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를 반납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, </a:t>
            </a:r>
            <a:b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</a:b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  </a:t>
            </a:r>
            <a:r>
              <a:rPr lang="en-US" altLang="ko-KR" sz="1300" kern="0" dirty="0" err="1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ID_counter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=ID_counter+1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하여 처리한다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. </a:t>
            </a: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항상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신규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ID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를 먼저 할당한 후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,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반납 절차를 수행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(3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번 조건 만족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)</a:t>
            </a:r>
            <a:endParaRPr lang="en-US" altLang="ko-KR" sz="1300" kern="0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5912427" y="3487254"/>
            <a:ext cx="3612572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lnSpc>
                <a:spcPct val="150000"/>
              </a:lnSpc>
              <a:buAutoNum type="arabicParenBoth"/>
            </a:pPr>
            <a:r>
              <a:rPr lang="ko-KR" altLang="en-US" sz="105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계속 검출 중 </a:t>
            </a:r>
            <a:r>
              <a:rPr lang="en-US" altLang="ko-KR" sz="105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: state = 1, history</a:t>
            </a:r>
            <a:r>
              <a:rPr lang="ko-KR" altLang="en-US" sz="105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 </a:t>
            </a:r>
            <a:r>
              <a:rPr lang="en-US" altLang="ko-KR" sz="105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= 3</a:t>
            </a:r>
          </a:p>
          <a:p>
            <a:pPr marL="228600" indent="-228600">
              <a:lnSpc>
                <a:spcPct val="150000"/>
              </a:lnSpc>
              <a:buAutoNum type="arabicParenBoth"/>
            </a:pPr>
            <a:r>
              <a:rPr lang="ko-KR" altLang="en-US" sz="105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일시적인 미검출 후 </a:t>
            </a:r>
            <a:r>
              <a:rPr lang="ko-KR" altLang="en-US" sz="1050" dirty="0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재검출</a:t>
            </a:r>
            <a:r>
              <a:rPr lang="ko-KR" altLang="en-US" sz="105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 </a:t>
            </a:r>
            <a:r>
              <a:rPr lang="en-US" altLang="ko-KR" sz="105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: state = 1, history = 2~3</a:t>
            </a:r>
          </a:p>
          <a:p>
            <a:pPr marL="228600" indent="-228600">
              <a:lnSpc>
                <a:spcPct val="150000"/>
              </a:lnSpc>
              <a:buAutoNum type="arabicParenBoth"/>
            </a:pPr>
            <a:r>
              <a:rPr lang="ko-KR" altLang="en-US" sz="105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신규 </a:t>
            </a:r>
            <a:r>
              <a:rPr lang="en-US" altLang="ko-KR" sz="105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ID </a:t>
            </a:r>
            <a:r>
              <a:rPr lang="ko-KR" altLang="en-US" sz="105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할당 </a:t>
            </a:r>
            <a:r>
              <a:rPr lang="en-US" altLang="ko-KR" sz="105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: state</a:t>
            </a:r>
            <a:r>
              <a:rPr lang="ko-KR" altLang="en-US" sz="105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 </a:t>
            </a:r>
            <a:r>
              <a:rPr lang="en-US" altLang="ko-KR" sz="105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= 3, history = 1</a:t>
            </a:r>
          </a:p>
          <a:p>
            <a:pPr>
              <a:lnSpc>
                <a:spcPct val="150000"/>
              </a:lnSpc>
            </a:pPr>
            <a:r>
              <a:rPr lang="en-US" altLang="ko-KR" sz="105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→ </a:t>
            </a:r>
            <a:r>
              <a:rPr lang="ko-KR" altLang="en-US" sz="105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동일</a:t>
            </a:r>
            <a:r>
              <a:rPr lang="en-US" altLang="ko-KR" sz="105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 ID</a:t>
            </a:r>
            <a:r>
              <a:rPr lang="ko-KR" altLang="en-US" sz="105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에 대해서도 계속</a:t>
            </a:r>
            <a:r>
              <a:rPr lang="en-US" altLang="ko-KR" sz="105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/</a:t>
            </a:r>
            <a:r>
              <a:rPr lang="ko-KR" altLang="en-US" sz="105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신규 여부 확인은 가능함</a:t>
            </a:r>
            <a:endParaRPr lang="ko-KR" altLang="en-US" dirty="0">
              <a:latin typeface="+mn-ea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5912427" y="4756099"/>
            <a:ext cx="3612572" cy="1819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05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(</a:t>
            </a:r>
            <a:r>
              <a:rPr lang="ko-KR" altLang="en-US" sz="105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사용 변수</a:t>
            </a:r>
            <a:r>
              <a:rPr lang="en-US" altLang="ko-KR" sz="105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)</a:t>
            </a: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05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- </a:t>
            </a:r>
            <a:r>
              <a:rPr lang="en-US" altLang="ko-KR" sz="1050" kern="0" dirty="0" err="1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ID_notused</a:t>
            </a:r>
            <a:r>
              <a:rPr lang="en-US" altLang="ko-KR" sz="105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[255] : </a:t>
            </a:r>
            <a:r>
              <a:rPr lang="ko-KR" altLang="en-US" sz="105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현재 사용되지</a:t>
            </a:r>
            <a:r>
              <a:rPr lang="en-US" altLang="ko-KR" sz="105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</a:t>
            </a:r>
            <a:r>
              <a:rPr lang="ko-KR" altLang="en-US" sz="105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않는 </a:t>
            </a:r>
            <a:r>
              <a:rPr lang="en-US" altLang="ko-KR" sz="105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ID</a:t>
            </a:r>
            <a:r>
              <a:rPr lang="ko-KR" altLang="en-US" sz="105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를</a:t>
            </a:r>
            <a:r>
              <a:rPr lang="en-US" altLang="ko-KR" sz="105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</a:t>
            </a:r>
            <a:r>
              <a:rPr lang="ko-KR" altLang="en-US" sz="105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저장한 배열</a:t>
            </a:r>
            <a:endParaRPr lang="en-US" altLang="ko-KR" sz="105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05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* </a:t>
            </a:r>
            <a:r>
              <a:rPr lang="ko-KR" altLang="en-US" sz="105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저장 순서에 대한 지정 없음</a:t>
            </a:r>
            <a:r>
              <a:rPr lang="en-US" altLang="ko-KR" sz="105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</a:t>
            </a: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05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* </a:t>
            </a:r>
            <a:r>
              <a:rPr lang="ko-KR" altLang="en-US" sz="105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단</a:t>
            </a:r>
            <a:r>
              <a:rPr lang="en-US" altLang="ko-KR" sz="105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, </a:t>
            </a:r>
            <a:r>
              <a:rPr lang="ko-KR" altLang="en-US" sz="105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초기화 시점에서는 크기의 역순으로 정렬한다</a:t>
            </a:r>
            <a:r>
              <a:rPr lang="en-US" altLang="ko-KR" sz="105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.</a:t>
            </a: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05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- </a:t>
            </a:r>
            <a:r>
              <a:rPr lang="en-US" altLang="ko-KR" sz="1050" kern="0" dirty="0" err="1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ID_counter_notused</a:t>
            </a:r>
            <a:r>
              <a:rPr lang="en-US" altLang="ko-KR" sz="105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: </a:t>
            </a:r>
            <a:r>
              <a:rPr lang="ko-KR" altLang="en-US" sz="105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사용되지 않는 </a:t>
            </a:r>
            <a:r>
              <a:rPr lang="en-US" altLang="ko-KR" sz="105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ID</a:t>
            </a:r>
            <a:r>
              <a:rPr lang="ko-KR" altLang="en-US" sz="105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의 전체 개수</a:t>
            </a:r>
            <a:endParaRPr lang="en-US" altLang="ko-KR" sz="105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05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- (</a:t>
            </a:r>
            <a:r>
              <a:rPr lang="ko-KR" altLang="en-US" sz="105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예시</a:t>
            </a:r>
            <a:r>
              <a:rPr lang="en-US" altLang="ko-KR" sz="105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) </a:t>
            </a:r>
            <a:r>
              <a:rPr lang="en-US" altLang="ko-KR" sz="1050" kern="0" dirty="0" err="1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ID_counter</a:t>
            </a:r>
            <a:r>
              <a:rPr lang="ko-KR" altLang="en-US" sz="105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가 </a:t>
            </a:r>
            <a:r>
              <a:rPr lang="en-US" altLang="ko-KR" sz="105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7</a:t>
            </a:r>
            <a:r>
              <a:rPr lang="ko-KR" altLang="en-US" sz="105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이라면</a:t>
            </a:r>
            <a:r>
              <a:rPr lang="en-US" altLang="ko-KR" sz="105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, </a:t>
            </a:r>
            <a:br>
              <a:rPr lang="en-US" altLang="ko-KR" sz="105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</a:br>
            <a:r>
              <a:rPr lang="en-US" altLang="ko-KR" sz="105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         </a:t>
            </a:r>
            <a:r>
              <a:rPr lang="en-US" altLang="ko-KR" sz="1050" kern="0" dirty="0" err="1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ID_notused</a:t>
            </a:r>
            <a:r>
              <a:rPr lang="en-US" altLang="ko-KR" sz="105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[0]~[6]</a:t>
            </a:r>
            <a:r>
              <a:rPr lang="ko-KR" altLang="en-US" sz="105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에 사용되지 않은 </a:t>
            </a:r>
            <a:r>
              <a:rPr lang="en-US" altLang="ko-KR" sz="105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7</a:t>
            </a:r>
            <a:r>
              <a:rPr lang="ko-KR" altLang="en-US" sz="105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개 </a:t>
            </a:r>
            <a:r>
              <a:rPr lang="en-US" altLang="ko-KR" sz="105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ID</a:t>
            </a:r>
            <a:r>
              <a:rPr lang="ko-KR" altLang="en-US" sz="105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가 있음</a:t>
            </a:r>
            <a:endParaRPr lang="en-US" altLang="ko-KR" sz="105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79035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74846" y="213862"/>
            <a:ext cx="6720682" cy="384721"/>
          </a:xfrm>
        </p:spPr>
        <p:txBody>
          <a:bodyPr/>
          <a:lstStyle/>
          <a:p>
            <a:r>
              <a:rPr lang="en-US" altLang="ko-KR" dirty="0"/>
              <a:t>(2</a:t>
            </a:r>
            <a:r>
              <a:rPr lang="ko-KR" altLang="en-US" dirty="0"/>
              <a:t>차년도</a:t>
            </a:r>
            <a:r>
              <a:rPr lang="en-US" altLang="ko-KR" dirty="0"/>
              <a:t>) </a:t>
            </a:r>
            <a:r>
              <a:rPr lang="ko-KR" altLang="en-US" dirty="0"/>
              <a:t>오류 데이터 예외 처리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F55F954-5E86-475A-837F-2B8CED6C7DF1}" type="slidenum">
              <a:rPr lang="ko-KR" altLang="en-US" smtClean="0"/>
              <a:pPr/>
              <a:t>26</a:t>
            </a:fld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381000" y="873125"/>
            <a:ext cx="9144000" cy="9751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5256" indent="-95256"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buFont typeface="Wingdings" panose="05000000000000000000" pitchFamily="2" charset="2"/>
              <a:buChar char="§"/>
              <a:defRPr/>
            </a:pPr>
            <a:r>
              <a:rPr lang="ko-KR" altLang="en-US" sz="1300" b="1" kern="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Arial" panose="020B0604020202020204" pitchFamily="34" charset="0"/>
              </a:rPr>
              <a:t> 개요</a:t>
            </a:r>
            <a:endParaRPr lang="en-US" altLang="ko-KR" sz="1300" b="1" kern="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Arial" panose="020B0604020202020204" pitchFamily="34" charset="0"/>
              </a:rPr>
              <a:t>비정상적인 데이터 발생 상황에 대한 고장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Arial" panose="020B0604020202020204" pitchFamily="34" charset="0"/>
              </a:rPr>
              <a:t>/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Arial" panose="020B0604020202020204" pitchFamily="34" charset="0"/>
              </a:rPr>
              <a:t>오류 판단 및 예외 처리 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Arial" panose="020B0604020202020204" pitchFamily="34" charset="0"/>
              </a:rPr>
              <a:t>   - 3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Arial" panose="020B0604020202020204" pitchFamily="34" charset="0"/>
              </a:rPr>
              <a:t>차년도 시점에서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Arial" panose="020B0604020202020204" pitchFamily="34" charset="0"/>
              </a:rPr>
              <a:t>1/2</a:t>
            </a:r>
            <a:r>
              <a:rPr lang="ko-KR" altLang="en-US" sz="1300" kern="0" dirty="0" err="1">
                <a:ln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Arial" panose="020B0604020202020204" pitchFamily="34" charset="0"/>
              </a:rPr>
              <a:t>세부간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Arial" panose="020B0604020202020204" pitchFamily="34" charset="0"/>
              </a:rPr>
              <a:t> 논의를 통한 대응 전략 수립 </a:t>
            </a:r>
            <a:endParaRPr lang="en-US" altLang="ko-KR" sz="1300" kern="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81000" y="2065661"/>
            <a:ext cx="9144000" cy="1286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5256" indent="-95256"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buFont typeface="Wingdings" panose="05000000000000000000" pitchFamily="2" charset="2"/>
              <a:buChar char="§"/>
              <a:defRPr/>
            </a:pPr>
            <a:r>
              <a:rPr lang="ko-KR" altLang="en-US" sz="1300" b="1" kern="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Arial" panose="020B0604020202020204" pitchFamily="34" charset="0"/>
              </a:rPr>
              <a:t> 오류 상황 </a:t>
            </a:r>
            <a:endParaRPr lang="en-US" altLang="ko-KR" sz="1300" b="1" kern="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Arial" panose="020B0604020202020204" pitchFamily="34" charset="0"/>
              </a:rPr>
              <a:t>   (1)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Arial" panose="020B0604020202020204" pitchFamily="34" charset="0"/>
              </a:rPr>
              <a:t>통신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Arial" panose="020B0604020202020204" pitchFamily="34" charset="0"/>
              </a:rPr>
              <a:t>/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Arial" panose="020B0604020202020204" pitchFamily="34" charset="0"/>
              </a:rPr>
              <a:t>차량 고장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Arial" panose="020B0604020202020204" pitchFamily="34" charset="0"/>
              </a:rPr>
              <a:t>: 100msec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Arial" panose="020B0604020202020204" pitchFamily="34" charset="0"/>
              </a:rPr>
              <a:t>기간 중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Arial" panose="020B0604020202020204" pitchFamily="34" charset="0"/>
              </a:rPr>
              <a:t>, N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Arial" panose="020B0604020202020204" pitchFamily="34" charset="0"/>
              </a:rPr>
              <a:t>번 차량의 데이터 전송 내역 없음 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Arial" panose="020B0604020202020204" pitchFamily="34" charset="0"/>
              </a:rPr>
              <a:t>        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Arial" panose="020B0604020202020204" pitchFamily="34" charset="0"/>
              </a:rPr>
              <a:t>원인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Arial" panose="020B0604020202020204" pitchFamily="34" charset="0"/>
              </a:rPr>
              <a:t>: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Arial" panose="020B0604020202020204" pitchFamily="34" charset="0"/>
              </a:rPr>
              <a:t>차량 고장 및 시스템 중단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Arial" panose="020B0604020202020204" pitchFamily="34" charset="0"/>
              </a:rPr>
              <a:t>,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Arial" panose="020B0604020202020204" pitchFamily="34" charset="0"/>
              </a:rPr>
              <a:t>차폐물 등으로 인한 통신 실패 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Arial" panose="020B0604020202020204" pitchFamily="34" charset="0"/>
              </a:rPr>
              <a:t>        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Arial" panose="020B0604020202020204" pitchFamily="34" charset="0"/>
              </a:rPr>
              <a:t>대응 방안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Arial" panose="020B0604020202020204" pitchFamily="34" charset="0"/>
              </a:rPr>
              <a:t>:</a:t>
            </a:r>
            <a:endParaRPr lang="en-US" altLang="ko-KR" sz="1300" kern="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381000" y="3464934"/>
            <a:ext cx="9144000" cy="9751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Arial" panose="020B0604020202020204" pitchFamily="34" charset="0"/>
              </a:rPr>
              <a:t>   (2) </a:t>
            </a:r>
            <a:r>
              <a:rPr lang="ko-KR" altLang="en-US" sz="1300" kern="0" dirty="0" err="1">
                <a:ln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Arial" panose="020B0604020202020204" pitchFamily="34" charset="0"/>
              </a:rPr>
              <a:t>측위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Arial" panose="020B0604020202020204" pitchFamily="34" charset="0"/>
              </a:rPr>
              <a:t> 오류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Arial" panose="020B0604020202020204" pitchFamily="34" charset="0"/>
              </a:rPr>
              <a:t>/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Arial" panose="020B0604020202020204" pitchFamily="34" charset="0"/>
              </a:rPr>
              <a:t>작업 범위 이탈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Arial" panose="020B0604020202020204" pitchFamily="34" charset="0"/>
              </a:rPr>
              <a:t>: </a:t>
            </a:r>
            <a:r>
              <a:rPr lang="ko-KR" altLang="en-US" sz="1300" kern="0" dirty="0" err="1">
                <a:ln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Arial" panose="020B0604020202020204" pitchFamily="34" charset="0"/>
              </a:rPr>
              <a:t>자차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Arial" panose="020B0604020202020204" pitchFamily="34" charset="0"/>
              </a:rPr>
              <a:t> 좌표가 사전 정의된 좌표 범위를 이탈하여 계측됨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Arial" panose="020B0604020202020204" pitchFamily="34" charset="0"/>
              </a:rPr>
              <a:t>        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Arial" panose="020B0604020202020204" pitchFamily="34" charset="0"/>
              </a:rPr>
              <a:t>원인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Arial" panose="020B0604020202020204" pitchFamily="34" charset="0"/>
              </a:rPr>
              <a:t>: GPS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Arial" panose="020B0604020202020204" pitchFamily="34" charset="0"/>
              </a:rPr>
              <a:t>시스템 오류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Arial" panose="020B0604020202020204" pitchFamily="34" charset="0"/>
              </a:rPr>
              <a:t>,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Arial" panose="020B0604020202020204" pitchFamily="34" charset="0"/>
              </a:rPr>
              <a:t>위성 신호 오차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Arial" panose="020B0604020202020204" pitchFamily="34" charset="0"/>
              </a:rPr>
              <a:t>,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Arial" panose="020B0604020202020204" pitchFamily="34" charset="0"/>
              </a:rPr>
              <a:t>차량의 작업 영역 이탈 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Arial" panose="020B0604020202020204" pitchFamily="34" charset="0"/>
              </a:rPr>
              <a:t>        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Arial" panose="020B0604020202020204" pitchFamily="34" charset="0"/>
              </a:rPr>
              <a:t>대응 방안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Arial" panose="020B0604020202020204" pitchFamily="34" charset="0"/>
              </a:rPr>
              <a:t>: </a:t>
            </a:r>
            <a:endParaRPr lang="en-US" altLang="ko-KR" sz="1300" kern="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381000" y="4698564"/>
            <a:ext cx="9144000" cy="9751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Arial" panose="020B0604020202020204" pitchFamily="34" charset="0"/>
              </a:rPr>
              <a:t>   (3)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Arial" panose="020B0604020202020204" pitchFamily="34" charset="0"/>
              </a:rPr>
              <a:t>융합 데이터 오류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Arial" panose="020B0604020202020204" pitchFamily="34" charset="0"/>
              </a:rPr>
              <a:t>: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Arial" panose="020B0604020202020204" pitchFamily="34" charset="0"/>
              </a:rPr>
              <a:t>장애물의 위치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Arial" panose="020B0604020202020204" pitchFamily="34" charset="0"/>
              </a:rPr>
              <a:t>,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Arial" panose="020B0604020202020204" pitchFamily="34" charset="0"/>
              </a:rPr>
              <a:t>속도 결과가 정상 범위를 이탈하여 계측됨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Arial" panose="020B0604020202020204" pitchFamily="34" charset="0"/>
              </a:rPr>
              <a:t>        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Arial" panose="020B0604020202020204" pitchFamily="34" charset="0"/>
              </a:rPr>
              <a:t>원인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Arial" panose="020B0604020202020204" pitchFamily="34" charset="0"/>
              </a:rPr>
              <a:t>: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Arial" panose="020B0604020202020204" pitchFamily="34" charset="0"/>
              </a:rPr>
              <a:t>계측 결과가 비정상적으로 측정됨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Arial" panose="020B0604020202020204" pitchFamily="34" charset="0"/>
              </a:rPr>
              <a:t>,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Arial" panose="020B0604020202020204" pitchFamily="34" charset="0"/>
              </a:rPr>
              <a:t>보정 과정에서 </a:t>
            </a:r>
            <a:r>
              <a:rPr lang="ko-KR" altLang="en-US" sz="1300" kern="0" dirty="0" err="1">
                <a:ln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Arial" panose="020B0604020202020204" pitchFamily="34" charset="0"/>
              </a:rPr>
              <a:t>속도값이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Arial" panose="020B0604020202020204" pitchFamily="34" charset="0"/>
              </a:rPr>
              <a:t> 과대하게 추정됨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Arial" panose="020B0604020202020204" pitchFamily="34" charset="0"/>
              </a:rPr>
              <a:t>        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Arial" panose="020B0604020202020204" pitchFamily="34" charset="0"/>
              </a:rPr>
              <a:t>대응 방안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Arial" panose="020B0604020202020204" pitchFamily="34" charset="0"/>
              </a:rPr>
              <a:t>: </a:t>
            </a:r>
            <a:endParaRPr lang="en-US" altLang="ko-KR" sz="1300" kern="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21648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2.2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정지 장애물 인지 데이터 융합</a:t>
            </a:r>
            <a:br>
              <a:rPr lang="en-US" altLang="ko-KR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(3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차년도 예정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)</a:t>
            </a:r>
            <a:endParaRPr lang="ko-KR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294967295"/>
          </p:nvPr>
        </p:nvSpPr>
        <p:spPr>
          <a:xfrm>
            <a:off x="9358313" y="6650038"/>
            <a:ext cx="547687" cy="207962"/>
          </a:xfrm>
        </p:spPr>
        <p:txBody>
          <a:bodyPr/>
          <a:lstStyle/>
          <a:p>
            <a:fld id="{BF55F954-5E86-475A-837F-2B8CED6C7DF1}" type="slidenum">
              <a:rPr lang="ko-KR" altLang="en-US" smtClean="0"/>
              <a:pPr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56666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2.3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지도 생성</a:t>
            </a:r>
            <a:br>
              <a:rPr lang="en-US" altLang="ko-KR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(2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차년도 예정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)</a:t>
            </a:r>
            <a:endParaRPr lang="ko-KR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294967295"/>
          </p:nvPr>
        </p:nvSpPr>
        <p:spPr>
          <a:xfrm>
            <a:off x="9358313" y="6650038"/>
            <a:ext cx="547687" cy="207962"/>
          </a:xfrm>
        </p:spPr>
        <p:txBody>
          <a:bodyPr/>
          <a:lstStyle/>
          <a:p>
            <a:fld id="{BF55F954-5E86-475A-837F-2B8CED6C7DF1}" type="slidenum">
              <a:rPr lang="ko-KR" altLang="en-US" smtClean="0"/>
              <a:pPr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92489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74846" y="213862"/>
            <a:ext cx="6720682" cy="384721"/>
          </a:xfrm>
        </p:spPr>
        <p:txBody>
          <a:bodyPr/>
          <a:lstStyle/>
          <a:p>
            <a:r>
              <a:rPr lang="ko-KR" altLang="en-US" dirty="0"/>
              <a:t>알고리즘 개요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F55F954-5E86-475A-837F-2B8CED6C7DF1}" type="slidenum">
              <a:rPr lang="ko-KR" altLang="en-US" smtClean="0"/>
              <a:pPr/>
              <a:t>29</a:t>
            </a:fld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381000" y="873427"/>
            <a:ext cx="9144000" cy="663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5256" indent="-95256"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buFont typeface="Wingdings" panose="05000000000000000000" pitchFamily="2" charset="2"/>
              <a:buChar char="§"/>
              <a:defRPr/>
            </a:pPr>
            <a:r>
              <a:rPr lang="ko-KR" altLang="en-US" sz="1300" b="1" kern="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알고리즘 목표</a:t>
            </a:r>
            <a:endParaRPr lang="en-US" altLang="ko-KR" sz="1300" b="1" kern="0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보조차량들이 먼저 선행하여 인지한 장애물 및 노면 정보를 기반으로 작업공간 전역 지도 생성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81000" y="2332921"/>
            <a:ext cx="9144000" cy="1597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5256" indent="-95256"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buFont typeface="Wingdings" panose="05000000000000000000" pitchFamily="2" charset="2"/>
              <a:buChar char="§"/>
              <a:defRPr/>
            </a:pPr>
            <a:r>
              <a:rPr lang="ko-KR" altLang="en-US" sz="1300" b="1" kern="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알고리즘 개요</a:t>
            </a:r>
            <a:endParaRPr lang="en-US" altLang="ko-KR" sz="1300" b="1" kern="0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- 100msec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주기 동작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- 2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개의 장애물로 구성 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 (1)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정적 장애물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 (2)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동적 장애물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381000" y="4412729"/>
            <a:ext cx="9144000" cy="1597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5256" indent="-95256"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buFont typeface="Wingdings" panose="05000000000000000000" pitchFamily="2" charset="2"/>
              <a:buChar char="§"/>
              <a:defRPr/>
            </a:pPr>
            <a:r>
              <a:rPr lang="ko-KR" altLang="en-US" sz="1300" b="1" kern="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알고리즘 결과 </a:t>
            </a:r>
            <a:r>
              <a:rPr lang="en-US" altLang="ko-KR" sz="1300" b="1" kern="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(</a:t>
            </a:r>
            <a:r>
              <a:rPr lang="ko-KR" altLang="en-US" sz="1300" b="1" kern="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출력</a:t>
            </a:r>
            <a:r>
              <a:rPr lang="en-US" altLang="ko-KR" sz="1300" b="1" kern="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)</a:t>
            </a: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- 2D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전역 지도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(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가로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200m,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세로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100m)</a:t>
            </a: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장애물이 없는 경우 노면 정보 해당 배열에 기입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정적 장애물이 위치한 모든 배열들에 해당 장애물 정보 기입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동적 장애물이 위치한 모든 배열들에 해당 장애물 정보 기입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07873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알고리즘 구성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F55F954-5E86-475A-837F-2B8CED6C7DF1}" type="slidenum">
              <a:rPr lang="ko-KR" altLang="en-US" smtClean="0"/>
              <a:pPr/>
              <a:t>30</a:t>
            </a:fld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381000" y="875789"/>
            <a:ext cx="4572000" cy="28433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5256" indent="-95256"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buFont typeface="Wingdings" panose="05000000000000000000" pitchFamily="2" charset="2"/>
              <a:buChar char="§"/>
              <a:defRPr/>
            </a:pPr>
            <a:r>
              <a:rPr lang="ko-KR" altLang="en-US" sz="1300" b="1" kern="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입력 데이터</a:t>
            </a:r>
            <a:endParaRPr lang="en-US" altLang="ko-KR" sz="1300" b="1" kern="0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(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관제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)</a:t>
            </a: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메인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/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보조 차량에서 전송한 데이터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장애물 정보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,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노면 정보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,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차량 정보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</a:t>
            </a: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(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데이터 융합 모듈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)</a:t>
            </a: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전역 지도 데이터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장애물 정보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차량 정보</a:t>
            </a:r>
            <a:endParaRPr lang="en-US" altLang="ko-KR" sz="1300" kern="0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</p:txBody>
      </p:sp>
      <p:grpSp>
        <p:nvGrpSpPr>
          <p:cNvPr id="117" name="그룹 116"/>
          <p:cNvGrpSpPr/>
          <p:nvPr/>
        </p:nvGrpSpPr>
        <p:grpSpPr>
          <a:xfrm>
            <a:off x="3409234" y="1371404"/>
            <a:ext cx="6252096" cy="4357923"/>
            <a:chOff x="3409234" y="1371404"/>
            <a:chExt cx="6252096" cy="4357923"/>
          </a:xfrm>
        </p:grpSpPr>
        <p:sp>
          <p:nvSpPr>
            <p:cNvPr id="20" name="직사각형 19"/>
            <p:cNvSpPr/>
            <p:nvPr/>
          </p:nvSpPr>
          <p:spPr>
            <a:xfrm>
              <a:off x="5545282" y="1371404"/>
              <a:ext cx="1980000" cy="2340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5">
                  <a:lumMod val="75000"/>
                </a:schemeClr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전역 지도 </a:t>
              </a:r>
              <a:r>
                <a:rPr lang="en-US" altLang="ko-KR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2</a:t>
              </a:r>
              <a:r>
                <a:rPr lang="ko-KR" altLang="en-US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차원 배열 생성</a:t>
              </a:r>
            </a:p>
          </p:txBody>
        </p:sp>
        <p:sp>
          <p:nvSpPr>
            <p:cNvPr id="21" name="직사각형 20"/>
            <p:cNvSpPr/>
            <p:nvPr/>
          </p:nvSpPr>
          <p:spPr>
            <a:xfrm>
              <a:off x="5545282" y="2164108"/>
              <a:ext cx="1980000" cy="53394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5">
                  <a:lumMod val="75000"/>
                </a:schemeClr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각 차량에서 인지한</a:t>
              </a:r>
              <a:endPara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  <a:p>
              <a:pPr algn="ctr"/>
              <a:r>
                <a:rPr lang="ko-KR" altLang="en-US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노면 정보</a:t>
              </a:r>
              <a:r>
                <a:rPr lang="en-US" altLang="ko-KR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, </a:t>
              </a:r>
              <a:r>
                <a:rPr lang="ko-KR" altLang="en-US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장애물 정보</a:t>
              </a:r>
              <a:r>
                <a:rPr lang="en-US" altLang="ko-KR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, </a:t>
              </a:r>
              <a:r>
                <a:rPr lang="ko-KR" altLang="en-US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차량 정보</a:t>
              </a:r>
              <a:endPara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  <a:p>
              <a:pPr algn="ctr"/>
              <a:r>
                <a:rPr lang="ko-KR" altLang="en-US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데이터 수신</a:t>
              </a:r>
            </a:p>
          </p:txBody>
        </p:sp>
        <p:sp>
          <p:nvSpPr>
            <p:cNvPr id="22" name="직사각형 21"/>
            <p:cNvSpPr/>
            <p:nvPr/>
          </p:nvSpPr>
          <p:spPr>
            <a:xfrm>
              <a:off x="5545282" y="2861559"/>
              <a:ext cx="1980000" cy="2340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B0F0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데이터 융합 모듈</a:t>
              </a:r>
            </a:p>
          </p:txBody>
        </p:sp>
        <p:sp>
          <p:nvSpPr>
            <p:cNvPr id="23" name="직사각형 22"/>
            <p:cNvSpPr/>
            <p:nvPr/>
          </p:nvSpPr>
          <p:spPr>
            <a:xfrm>
              <a:off x="5545282" y="3890577"/>
              <a:ext cx="1980000" cy="39750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7A00"/>
              </a:solidFill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2</a:t>
              </a:r>
              <a:r>
                <a:rPr lang="ko-KR" altLang="en-US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차원 배열에 해당하는 장애물 정보</a:t>
              </a:r>
              <a:endPara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  <a:p>
              <a:pPr algn="ctr"/>
              <a:r>
                <a:rPr lang="ko-KR" altLang="en-US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차량 정보 데이터 </a:t>
              </a:r>
              <a:endPara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24" name="순서도: 판단 23"/>
            <p:cNvSpPr/>
            <p:nvPr/>
          </p:nvSpPr>
          <p:spPr>
            <a:xfrm>
              <a:off x="5545282" y="3259068"/>
              <a:ext cx="1980000" cy="468000"/>
            </a:xfrm>
            <a:prstGeom prst="flowChartDecision">
              <a:avLst/>
            </a:prstGeom>
            <a:solidFill>
              <a:schemeClr val="bg1"/>
            </a:solidFill>
            <a:ln w="19050">
              <a:solidFill>
                <a:srgbClr val="007A00"/>
              </a:solidFill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전역 지도 데이터 생성</a:t>
              </a:r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5545282" y="4451594"/>
              <a:ext cx="1980000" cy="73740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7A00"/>
              </a:solidFill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장애물 정보 업데이트</a:t>
              </a:r>
              <a:endPara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  <a:p>
              <a:pPr algn="ctr"/>
              <a:r>
                <a:rPr lang="ko-KR" altLang="en-US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장애물 </a:t>
              </a:r>
              <a:r>
                <a:rPr lang="en-US" altLang="ko-KR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ID </a:t>
              </a:r>
              <a:r>
                <a:rPr lang="ko-KR" altLang="en-US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등의 정보</a:t>
              </a:r>
              <a:endPara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  <a:p>
              <a:pPr algn="ctr"/>
              <a:r>
                <a:rPr lang="ko-KR" altLang="en-US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전역 지도 내의 </a:t>
              </a:r>
              <a:r>
                <a:rPr lang="en-US" altLang="ko-KR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2</a:t>
              </a:r>
              <a:r>
                <a:rPr lang="ko-KR" altLang="en-US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차원 위치 인덱스</a:t>
              </a:r>
              <a:endPara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  <a:p>
              <a:pPr algn="ctr"/>
              <a:r>
                <a:rPr lang="ko-KR" altLang="en-US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장애물 처리 방법에 대한 정보</a:t>
              </a:r>
            </a:p>
          </p:txBody>
        </p:sp>
        <p:cxnSp>
          <p:nvCxnSpPr>
            <p:cNvPr id="34" name="직선 화살표 연결선 33"/>
            <p:cNvCxnSpPr>
              <a:stCxn id="28" idx="2"/>
              <a:endCxn id="49" idx="0"/>
            </p:cNvCxnSpPr>
            <p:nvPr/>
          </p:nvCxnSpPr>
          <p:spPr>
            <a:xfrm>
              <a:off x="6535282" y="5188999"/>
              <a:ext cx="0" cy="16126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화살표 연결선 34"/>
            <p:cNvCxnSpPr>
              <a:stCxn id="24" idx="2"/>
              <a:endCxn id="23" idx="0"/>
            </p:cNvCxnSpPr>
            <p:nvPr/>
          </p:nvCxnSpPr>
          <p:spPr>
            <a:xfrm>
              <a:off x="6535282" y="3727068"/>
              <a:ext cx="0" cy="16350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직선 화살표 연결선 35"/>
            <p:cNvCxnSpPr>
              <a:stCxn id="22" idx="2"/>
              <a:endCxn id="24" idx="0"/>
            </p:cNvCxnSpPr>
            <p:nvPr/>
          </p:nvCxnSpPr>
          <p:spPr>
            <a:xfrm>
              <a:off x="6535282" y="3095559"/>
              <a:ext cx="0" cy="16350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직선 화살표 연결선 36"/>
            <p:cNvCxnSpPr>
              <a:stCxn id="21" idx="2"/>
              <a:endCxn id="22" idx="0"/>
            </p:cNvCxnSpPr>
            <p:nvPr/>
          </p:nvCxnSpPr>
          <p:spPr>
            <a:xfrm>
              <a:off x="6535282" y="2698050"/>
              <a:ext cx="0" cy="16350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직선 화살표 연결선 40"/>
            <p:cNvCxnSpPr>
              <a:stCxn id="62" idx="2"/>
              <a:endCxn id="21" idx="0"/>
            </p:cNvCxnSpPr>
            <p:nvPr/>
          </p:nvCxnSpPr>
          <p:spPr>
            <a:xfrm>
              <a:off x="6535282" y="2001756"/>
              <a:ext cx="0" cy="16235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직선 화살표 연결선 41"/>
            <p:cNvCxnSpPr>
              <a:stCxn id="23" idx="2"/>
              <a:endCxn id="28" idx="0"/>
            </p:cNvCxnSpPr>
            <p:nvPr/>
          </p:nvCxnSpPr>
          <p:spPr>
            <a:xfrm>
              <a:off x="6535282" y="4288085"/>
              <a:ext cx="0" cy="16350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꺾인 연결선 46"/>
            <p:cNvCxnSpPr>
              <a:stCxn id="106" idx="0"/>
              <a:endCxn id="62" idx="1"/>
            </p:cNvCxnSpPr>
            <p:nvPr/>
          </p:nvCxnSpPr>
          <p:spPr>
            <a:xfrm rot="5400000" flipH="1" flipV="1">
              <a:off x="4285102" y="1998888"/>
              <a:ext cx="1374312" cy="1146048"/>
            </a:xfrm>
            <a:prstGeom prst="bentConnector2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직사각형 48"/>
            <p:cNvSpPr/>
            <p:nvPr/>
          </p:nvSpPr>
          <p:spPr>
            <a:xfrm>
              <a:off x="5545282" y="5350260"/>
              <a:ext cx="1980000" cy="37906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B0F0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전역 지도 데이터</a:t>
              </a:r>
              <a:r>
                <a:rPr lang="en-US" altLang="ko-KR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 </a:t>
              </a:r>
              <a:r>
                <a:rPr lang="ko-KR" altLang="en-US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및 장애물 정보</a:t>
              </a:r>
              <a:endPara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  <a:p>
              <a:pPr algn="ctr"/>
              <a:r>
                <a:rPr lang="ko-KR" altLang="en-US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다른 모듈 전송</a:t>
              </a:r>
              <a:endPara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62" name="직사각형 61"/>
            <p:cNvSpPr/>
            <p:nvPr/>
          </p:nvSpPr>
          <p:spPr>
            <a:xfrm>
              <a:off x="5545282" y="1767756"/>
              <a:ext cx="1980000" cy="2340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B0F0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관제 모듈</a:t>
              </a:r>
            </a:p>
          </p:txBody>
        </p:sp>
        <p:cxnSp>
          <p:nvCxnSpPr>
            <p:cNvPr id="63" name="직선 화살표 연결선 62"/>
            <p:cNvCxnSpPr>
              <a:stCxn id="20" idx="2"/>
              <a:endCxn id="62" idx="0"/>
            </p:cNvCxnSpPr>
            <p:nvPr/>
          </p:nvCxnSpPr>
          <p:spPr>
            <a:xfrm>
              <a:off x="6535282" y="1605404"/>
              <a:ext cx="0" cy="16235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꺾인 연결선 80"/>
            <p:cNvCxnSpPr>
              <a:stCxn id="106" idx="2"/>
              <a:endCxn id="28" idx="1"/>
            </p:cNvCxnSpPr>
            <p:nvPr/>
          </p:nvCxnSpPr>
          <p:spPr>
            <a:xfrm rot="16200000" flipH="1">
              <a:off x="4425644" y="3700658"/>
              <a:ext cx="1093229" cy="1146048"/>
            </a:xfrm>
            <a:prstGeom prst="bentConnector2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" name="순서도: 판단 104"/>
            <p:cNvSpPr/>
            <p:nvPr/>
          </p:nvSpPr>
          <p:spPr>
            <a:xfrm>
              <a:off x="7681330" y="3259068"/>
              <a:ext cx="1980000" cy="468000"/>
            </a:xfrm>
            <a:prstGeom prst="flowChartDecision">
              <a:avLst/>
            </a:prstGeom>
            <a:solidFill>
              <a:schemeClr val="bg1"/>
            </a:solidFill>
            <a:ln w="19050">
              <a:solidFill>
                <a:srgbClr val="007A00"/>
              </a:solidFill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전역 지도 업데이트</a:t>
              </a:r>
            </a:p>
          </p:txBody>
        </p:sp>
        <p:sp>
          <p:nvSpPr>
            <p:cNvPr id="106" name="순서도: 판단 105"/>
            <p:cNvSpPr/>
            <p:nvPr/>
          </p:nvSpPr>
          <p:spPr>
            <a:xfrm>
              <a:off x="3409234" y="3259068"/>
              <a:ext cx="1980000" cy="468000"/>
            </a:xfrm>
            <a:prstGeom prst="flowChartDecision">
              <a:avLst/>
            </a:prstGeom>
            <a:solidFill>
              <a:schemeClr val="bg1"/>
            </a:solidFill>
            <a:ln w="19050">
              <a:solidFill>
                <a:srgbClr val="007A00"/>
              </a:solidFill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초기 전역 지도 생성</a:t>
              </a:r>
            </a:p>
          </p:txBody>
        </p:sp>
        <p:cxnSp>
          <p:nvCxnSpPr>
            <p:cNvPr id="109" name="꺾인 연결선 108"/>
            <p:cNvCxnSpPr>
              <a:stCxn id="105" idx="2"/>
              <a:endCxn id="49" idx="3"/>
            </p:cNvCxnSpPr>
            <p:nvPr/>
          </p:nvCxnSpPr>
          <p:spPr>
            <a:xfrm rot="5400000">
              <a:off x="7191943" y="4060407"/>
              <a:ext cx="1812726" cy="1146048"/>
            </a:xfrm>
            <a:prstGeom prst="bentConnector2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꺾인 연결선 113"/>
            <p:cNvCxnSpPr>
              <a:stCxn id="105" idx="0"/>
              <a:endCxn id="62" idx="3"/>
            </p:cNvCxnSpPr>
            <p:nvPr/>
          </p:nvCxnSpPr>
          <p:spPr>
            <a:xfrm rot="16200000" flipV="1">
              <a:off x="7411150" y="1998888"/>
              <a:ext cx="1374312" cy="1146048"/>
            </a:xfrm>
            <a:prstGeom prst="bentConnector2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574306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알고리즘 설명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F55F954-5E86-475A-837F-2B8CED6C7DF1}" type="slidenum">
              <a:rPr lang="ko-KR" altLang="en-US" smtClean="0"/>
              <a:pPr/>
              <a:t>31</a:t>
            </a:fld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381000" y="873125"/>
            <a:ext cx="9144000" cy="19092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5256" indent="-95256"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buFont typeface="Wingdings" panose="05000000000000000000" pitchFamily="2" charset="2"/>
              <a:buChar char="§"/>
              <a:defRPr/>
            </a:pPr>
            <a:r>
              <a:rPr lang="ko-KR" altLang="en-US" sz="1300" b="1" kern="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개요</a:t>
            </a:r>
            <a:endParaRPr lang="en-US" altLang="ko-KR" sz="1300" b="1" kern="0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동작 주기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(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現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100msec)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가 돌아오면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, </a:t>
            </a: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(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가로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1000 *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세로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2000) 2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차원 배열의 하나의 셀 범위 내에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정적 장애물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,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동적 장애물 데이터가 존재하는지 확인 후 장애물 정보 입력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장애물이 없는 경우 노면 정보 입력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이를 통해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, 2D map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전역 지도를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생성한다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374846" y="3039513"/>
            <a:ext cx="4784889" cy="3103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5256" indent="-95256"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buFont typeface="Wingdings" panose="05000000000000000000" pitchFamily="2" charset="2"/>
              <a:buChar char="§"/>
              <a:defRPr/>
            </a:pPr>
            <a:r>
              <a:rPr lang="ko-KR" altLang="en-US" sz="1300" b="1" kern="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알고리즘</a:t>
            </a:r>
            <a:r>
              <a:rPr lang="en-US" altLang="ko-KR" sz="1300" b="1" kern="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</a:t>
            </a:r>
            <a:r>
              <a:rPr lang="ko-KR" altLang="en-US" sz="1300" b="1" kern="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설명</a:t>
            </a:r>
            <a:endParaRPr lang="en-US" altLang="ko-KR" sz="1300" b="1" kern="0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row 1000, column 2000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의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2D map (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전역 지도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)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생성</a:t>
            </a:r>
            <a:b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</a:b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  (2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차원 배열의 하나의 셀은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10cm * 10cm grid)</a:t>
            </a: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현재는 장애물의 경우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,</a:t>
            </a: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  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정적 장애물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1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개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,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동적 장애물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1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개로 정의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정적 장애물이 위치한 배열의 모든 셀에 장애물 정보 입력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동적 장애물이 위치한 배열의 모든 셀에 장애물 정보 입력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장애물이 없는 경우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,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노면 데이터 정보 입력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en-US" altLang="ko-KR" sz="1300" kern="0" dirty="0" err="1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mapData_provider.send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(</a:t>
            </a:r>
            <a:r>
              <a:rPr lang="en-US" altLang="ko-KR" sz="1300" kern="0" dirty="0" err="1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map_data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)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함수를 통해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  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다른 모듈로 생성된 전역 지도 정보 전달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9735" y="2102940"/>
            <a:ext cx="4365265" cy="4614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39336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2.4 Adaptive AUTOSAR SW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구현</a:t>
            </a:r>
            <a:br>
              <a:rPr lang="en-US" altLang="ko-KR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(2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차년도 예정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)</a:t>
            </a:r>
            <a:endParaRPr lang="ko-KR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294967295"/>
          </p:nvPr>
        </p:nvSpPr>
        <p:spPr>
          <a:xfrm>
            <a:off x="9358313" y="6650038"/>
            <a:ext cx="547687" cy="207962"/>
          </a:xfrm>
        </p:spPr>
        <p:txBody>
          <a:bodyPr/>
          <a:lstStyle/>
          <a:p>
            <a:fld id="{BF55F954-5E86-475A-837F-2B8CED6C7DF1}" type="slidenum">
              <a:rPr lang="ko-KR" altLang="en-US" smtClean="0"/>
              <a:pPr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472585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위험 환경 판단 알고리즘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294967295"/>
          </p:nvPr>
        </p:nvSpPr>
        <p:spPr>
          <a:xfrm>
            <a:off x="9358313" y="6650038"/>
            <a:ext cx="547687" cy="207962"/>
          </a:xfrm>
        </p:spPr>
        <p:txBody>
          <a:bodyPr/>
          <a:lstStyle/>
          <a:p>
            <a:fld id="{BF55F954-5E86-475A-837F-2B8CED6C7DF1}" type="slidenum">
              <a:rPr lang="ko-KR" altLang="en-US" smtClean="0"/>
              <a:pPr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29920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위험환경 선정 배경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F55F954-5E86-475A-837F-2B8CED6C7DF1}" type="slidenum">
              <a:rPr lang="ko-KR" altLang="en-US" smtClean="0"/>
              <a:pPr/>
              <a:t>34</a:t>
            </a:fld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381000" y="683774"/>
            <a:ext cx="9144000" cy="896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5256" indent="-95256"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buFont typeface="Wingdings" panose="05000000000000000000" pitchFamily="2" charset="2"/>
              <a:buChar char="§"/>
              <a:defRPr/>
            </a:pPr>
            <a:r>
              <a:rPr lang="ko-KR" altLang="en-US" sz="1300" b="1" kern="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상용 특장차 사고 사례 조사</a:t>
            </a:r>
            <a:endParaRPr lang="en-US" altLang="ko-KR" sz="1300" b="1" kern="0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국내 상용 특장차 및 건설현장 사고사례 수집 및 사고 </a:t>
            </a:r>
            <a:r>
              <a:rPr lang="ko-KR" altLang="en-US" sz="1300" kern="0" dirty="0" err="1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원인별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분석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(48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종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,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별첨 첨부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)</a:t>
            </a:r>
            <a:b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</a:b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    *</a:t>
            </a:r>
            <a:r>
              <a:rPr lang="ko-KR" altLang="en-US" sz="1300" kern="0" dirty="0" err="1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한국산업안전보건공단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,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건설공사 안전관리 종합정보망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등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1A4A10D-8AD5-4B49-B637-E5396A03EA83}"/>
              </a:ext>
            </a:extLst>
          </p:cNvPr>
          <p:cNvSpPr/>
          <p:nvPr/>
        </p:nvSpPr>
        <p:spPr>
          <a:xfrm>
            <a:off x="381000" y="1580110"/>
            <a:ext cx="9144000" cy="636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5256" indent="-95256"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buFont typeface="Wingdings" panose="05000000000000000000" pitchFamily="2" charset="2"/>
              <a:buChar char="§"/>
              <a:defRPr/>
            </a:pPr>
            <a:r>
              <a:rPr lang="ko-KR" altLang="en-US" sz="1300" b="1" kern="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위험 시나리오 생성 및 판단을 위한 위험 상황 선정</a:t>
            </a:r>
            <a:endParaRPr lang="en-US" altLang="ko-KR" sz="1300" b="1" kern="0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사고 사례 및 안전 지침서 분석을 통한 극복 가능한 사고 상황 분석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(11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종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)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910B5DC3-FA6B-464A-9FFD-8B51C591A47D}"/>
              </a:ext>
            </a:extLst>
          </p:cNvPr>
          <p:cNvGraphicFramePr>
            <a:graphicFrameLocks noGrp="1"/>
          </p:cNvGraphicFramePr>
          <p:nvPr/>
        </p:nvGraphicFramePr>
        <p:xfrm>
          <a:off x="0" y="2302078"/>
          <a:ext cx="9906000" cy="42624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36732">
                  <a:extLst>
                    <a:ext uri="{9D8B030D-6E8A-4147-A177-3AD203B41FA5}">
                      <a16:colId xmlns:a16="http://schemas.microsoft.com/office/drawing/2014/main" val="3304118332"/>
                    </a:ext>
                  </a:extLst>
                </a:gridCol>
                <a:gridCol w="548639">
                  <a:extLst>
                    <a:ext uri="{9D8B030D-6E8A-4147-A177-3AD203B41FA5}">
                      <a16:colId xmlns:a16="http://schemas.microsoft.com/office/drawing/2014/main" val="3752876574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1723292968"/>
                    </a:ext>
                  </a:extLst>
                </a:gridCol>
                <a:gridCol w="678180">
                  <a:extLst>
                    <a:ext uri="{9D8B030D-6E8A-4147-A177-3AD203B41FA5}">
                      <a16:colId xmlns:a16="http://schemas.microsoft.com/office/drawing/2014/main" val="1448724238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35562517"/>
                    </a:ext>
                  </a:extLst>
                </a:gridCol>
                <a:gridCol w="3032760">
                  <a:extLst>
                    <a:ext uri="{9D8B030D-6E8A-4147-A177-3AD203B41FA5}">
                      <a16:colId xmlns:a16="http://schemas.microsoft.com/office/drawing/2014/main" val="58241336"/>
                    </a:ext>
                  </a:extLst>
                </a:gridCol>
                <a:gridCol w="2301241">
                  <a:extLst>
                    <a:ext uri="{9D8B030D-6E8A-4147-A177-3AD203B41FA5}">
                      <a16:colId xmlns:a16="http://schemas.microsoft.com/office/drawing/2014/main" val="2502048758"/>
                    </a:ext>
                  </a:extLst>
                </a:gridCol>
                <a:gridCol w="541019">
                  <a:extLst>
                    <a:ext uri="{9D8B030D-6E8A-4147-A177-3AD203B41FA5}">
                      <a16:colId xmlns:a16="http://schemas.microsoft.com/office/drawing/2014/main" val="691463035"/>
                    </a:ext>
                  </a:extLst>
                </a:gridCol>
                <a:gridCol w="951049">
                  <a:extLst>
                    <a:ext uri="{9D8B030D-6E8A-4147-A177-3AD203B41FA5}">
                      <a16:colId xmlns:a16="http://schemas.microsoft.com/office/drawing/2014/main" val="1240113306"/>
                    </a:ext>
                  </a:extLst>
                </a:gridCol>
              </a:tblGrid>
              <a:tr h="253581"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 spc="-100" baseline="0" dirty="0">
                        <a:solidFill>
                          <a:schemeClr val="bg1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spc="-100" baseline="0" dirty="0">
                          <a:solidFill>
                            <a:schemeClr val="bg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동작</a:t>
                      </a:r>
                      <a:endParaRPr lang="en-US" altLang="ko-KR" sz="1000" b="1" i="0" u="none" strike="noStrike" spc="-100" baseline="0" dirty="0">
                        <a:solidFill>
                          <a:schemeClr val="bg1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  <a:p>
                      <a:pPr algn="ctr" fontAlgn="ctr"/>
                      <a:r>
                        <a:rPr lang="ko-KR" altLang="en-US" sz="1000" b="1" i="0" u="none" strike="noStrike" spc="-100" baseline="0" dirty="0">
                          <a:solidFill>
                            <a:schemeClr val="bg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상태</a:t>
                      </a: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spc="-100" baseline="0" dirty="0">
                          <a:solidFill>
                            <a:schemeClr val="bg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위험 상황</a:t>
                      </a:r>
                      <a:endParaRPr lang="ko-KR" altLang="en-US" sz="1000" b="1" i="0" u="none" strike="noStrike" spc="-100" baseline="0" dirty="0">
                        <a:solidFill>
                          <a:schemeClr val="bg1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spc="-100" baseline="0" dirty="0">
                          <a:solidFill>
                            <a:schemeClr val="bg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위험 상황 </a:t>
                      </a:r>
                      <a:endParaRPr lang="en-US" altLang="ko-KR" sz="1000" b="1" i="0" u="none" strike="noStrike" spc="-100" baseline="0" dirty="0">
                        <a:solidFill>
                          <a:schemeClr val="bg1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  <a:p>
                      <a:pPr algn="ctr" fontAlgn="ctr"/>
                      <a:r>
                        <a:rPr lang="ko-KR" altLang="en-US" sz="1000" b="1" i="0" u="none" strike="noStrike" spc="-100" baseline="0" dirty="0">
                          <a:solidFill>
                            <a:schemeClr val="bg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원인</a:t>
                      </a: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spc="-100" baseline="0" dirty="0">
                          <a:solidFill>
                            <a:schemeClr val="bg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원인 객체</a:t>
                      </a:r>
                      <a:endParaRPr lang="en-US" altLang="ko-KR" sz="1000" b="1" i="0" u="none" strike="noStrike" spc="-100" baseline="0" dirty="0">
                        <a:solidFill>
                          <a:schemeClr val="bg1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spc="-100" baseline="0" dirty="0">
                          <a:solidFill>
                            <a:schemeClr val="bg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특장차 주행</a:t>
                      </a:r>
                      <a:r>
                        <a:rPr lang="en-US" altLang="ko-KR" sz="1000" b="1" u="none" strike="noStrike" spc="-100" baseline="0" dirty="0">
                          <a:solidFill>
                            <a:schemeClr val="bg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/</a:t>
                      </a:r>
                      <a:r>
                        <a:rPr lang="ko-KR" altLang="en-US" sz="1000" b="1" u="none" strike="noStrike" spc="-100" baseline="0" dirty="0">
                          <a:solidFill>
                            <a:schemeClr val="bg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작업 상황</a:t>
                      </a:r>
                      <a:endParaRPr lang="en-US" altLang="ko-KR" sz="1000" b="1" i="0" u="none" strike="noStrike" spc="-100" baseline="0" dirty="0">
                        <a:solidFill>
                          <a:schemeClr val="bg1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spc="-100" baseline="0" dirty="0">
                          <a:solidFill>
                            <a:schemeClr val="bg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출력 값</a:t>
                      </a:r>
                      <a:endParaRPr lang="ko-KR" altLang="en-US" sz="1000" b="1" i="0" u="none" strike="noStrike" spc="-100" baseline="0" dirty="0">
                        <a:solidFill>
                          <a:schemeClr val="bg1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spc="-100" baseline="0" dirty="0">
                          <a:solidFill>
                            <a:schemeClr val="bg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대응방안</a:t>
                      </a: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6790602"/>
                  </a:ext>
                </a:extLst>
              </a:tr>
              <a:tr h="25358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spc="-100" baseline="0" dirty="0"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1</a:t>
                      </a: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6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000" u="none" strike="noStrike" kern="1200" spc="0" baseline="0" dirty="0"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이동중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충돌 및 협착</a:t>
                      </a: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사각지대</a:t>
                      </a: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정지 장애물</a:t>
                      </a: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arenR"/>
                      </a:pPr>
                      <a:r>
                        <a:rPr lang="ko-KR" altLang="en-US" sz="1000" b="0" i="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특장차 이동 경로 근방 정지 장애물로 인한 사각지대</a:t>
                      </a:r>
                      <a:endParaRPr lang="en-US" altLang="ko-KR" sz="1000" b="0" i="0" u="none" strike="noStrike" spc="0" baseline="0" dirty="0">
                        <a:solidFill>
                          <a:schemeClr val="tx1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  <a:p>
                      <a:pPr marL="228600" indent="-228600" algn="l" fontAlgn="ctr">
                        <a:buAutoNum type="arabicParenR"/>
                      </a:pPr>
                      <a:r>
                        <a:rPr lang="ko-KR" altLang="en-US" sz="1000" b="0" i="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사각지대에서 갑작스런 객체</a:t>
                      </a:r>
                      <a:r>
                        <a:rPr lang="en-US" altLang="ko-KR" sz="1000" b="0" i="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(</a:t>
                      </a:r>
                      <a:r>
                        <a:rPr lang="ko-KR" altLang="en-US" sz="1000" b="0" i="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사람</a:t>
                      </a:r>
                      <a:r>
                        <a:rPr lang="en-US" altLang="ko-KR" sz="1000" b="0" i="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,</a:t>
                      </a:r>
                      <a:r>
                        <a:rPr lang="ko-KR" altLang="en-US" sz="1000" b="0" i="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차량</a:t>
                      </a:r>
                      <a:r>
                        <a:rPr lang="en-US" altLang="ko-KR" sz="1000" b="0" i="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) </a:t>
                      </a:r>
                      <a:r>
                        <a:rPr lang="ko-KR" altLang="en-US" sz="1000" b="0" i="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출현</a:t>
                      </a: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arenR"/>
                      </a:pPr>
                      <a:r>
                        <a:rPr lang="ko-KR" altLang="en-US" sz="1000" b="0" i="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주행경로 상 사각지대 존재 유무</a:t>
                      </a:r>
                      <a:endParaRPr lang="en-US" altLang="ko-KR" sz="1000" b="0" i="0" u="none" strike="noStrike" spc="0" baseline="0" dirty="0">
                        <a:solidFill>
                          <a:schemeClr val="tx1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  <a:p>
                      <a:pPr marL="228600" indent="-228600" algn="l" fontAlgn="ctr">
                        <a:buAutoNum type="arabicParenR"/>
                      </a:pPr>
                      <a:r>
                        <a:rPr lang="ko-KR" altLang="en-US" sz="1000" b="0" i="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사각지대 주행가능 여부</a:t>
                      </a: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flag</a:t>
                      </a:r>
                      <a:endParaRPr lang="ko-KR" altLang="en-US" sz="1000" b="0" i="0" u="none" strike="noStrike" spc="0" baseline="0" dirty="0">
                        <a:solidFill>
                          <a:schemeClr val="tx1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보조차량 선행</a:t>
                      </a:r>
                      <a:endParaRPr lang="en-US" altLang="ko-KR" sz="1000" b="0" i="0" u="none" strike="noStrike" spc="0" baseline="0" dirty="0">
                        <a:solidFill>
                          <a:schemeClr val="tx1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  <a:p>
                      <a:pPr algn="ctr" fontAlgn="ctr"/>
                      <a:r>
                        <a:rPr lang="ko-KR" altLang="en-US" sz="1000" b="0" i="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및 시야확보</a:t>
                      </a: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8869086"/>
                  </a:ext>
                </a:extLst>
              </a:tr>
              <a:tr h="25358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spc="-100" baseline="0" dirty="0"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2</a:t>
                      </a: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000" u="none" strike="noStrike" kern="1200" spc="0" baseline="0" dirty="0">
                        <a:solidFill>
                          <a:schemeClr val="tx1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spc="0" baseline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54000" marR="54000" marT="25200" marB="25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spc="0" baseline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54000" marR="54000" marT="25200" marB="25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spc="0" baseline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54000" marR="54000" marT="25200" marB="25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arenR"/>
                      </a:pPr>
                      <a:r>
                        <a:rPr lang="ko-KR" altLang="en-US" sz="1000" b="0" i="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특장차 이동 경로 근방 접근 불가능한 사각지대</a:t>
                      </a:r>
                      <a:endParaRPr lang="en-US" altLang="ko-KR" sz="1000" b="0" i="0" u="none" strike="noStrike" spc="0" baseline="0" dirty="0">
                        <a:solidFill>
                          <a:schemeClr val="tx1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  <a:p>
                      <a:pPr marL="228600" indent="-228600" algn="l" fontAlgn="ctr">
                        <a:buAutoNum type="arabicParenR"/>
                      </a:pPr>
                      <a:r>
                        <a:rPr lang="ko-KR" altLang="en-US" sz="1000" b="0" i="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사각지대에서 갑작스런 객체</a:t>
                      </a:r>
                      <a:r>
                        <a:rPr lang="en-US" altLang="ko-KR" sz="1000" b="0" i="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(</a:t>
                      </a:r>
                      <a:r>
                        <a:rPr lang="ko-KR" altLang="en-US" sz="1000" b="0" i="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사람</a:t>
                      </a:r>
                      <a:r>
                        <a:rPr lang="en-US" altLang="ko-KR" sz="1000" b="0" i="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,</a:t>
                      </a:r>
                      <a:r>
                        <a:rPr lang="ko-KR" altLang="en-US" sz="1000" b="0" i="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차량</a:t>
                      </a:r>
                      <a:r>
                        <a:rPr lang="en-US" altLang="ko-KR" sz="1000" b="0" i="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) </a:t>
                      </a:r>
                      <a:r>
                        <a:rPr lang="ko-KR" altLang="en-US" sz="1000" b="0" i="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출현</a:t>
                      </a: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arenR"/>
                      </a:pPr>
                      <a:r>
                        <a:rPr lang="ko-KR" altLang="en-US" sz="1000" b="0" i="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주행경로 상 사각지대 존재 유무</a:t>
                      </a:r>
                      <a:endParaRPr lang="en-US" altLang="ko-KR" sz="1000" b="0" i="0" u="none" strike="noStrike" spc="0" baseline="0" dirty="0">
                        <a:solidFill>
                          <a:schemeClr val="tx1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  <a:p>
                      <a:pPr marL="228600" indent="-228600" algn="l" fontAlgn="ctr">
                        <a:buAutoNum type="arabicParenR"/>
                      </a:pPr>
                      <a:r>
                        <a:rPr lang="ko-KR" altLang="en-US" sz="1000" b="0" i="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사각지대 주행가능 여부</a:t>
                      </a: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flag</a:t>
                      </a:r>
                      <a:endParaRPr lang="ko-KR" altLang="en-US" sz="1000" b="0" i="0" u="none" strike="noStrike" spc="0" baseline="0" dirty="0">
                        <a:solidFill>
                          <a:schemeClr val="tx1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특장차 감속</a:t>
                      </a:r>
                      <a:endParaRPr lang="en-US" altLang="ko-KR" sz="1000" b="0" i="0" u="none" strike="noStrike" spc="0" baseline="0" dirty="0">
                        <a:solidFill>
                          <a:schemeClr val="tx1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  <a:p>
                      <a:pPr algn="ctr" fontAlgn="ctr"/>
                      <a:r>
                        <a:rPr lang="ko-KR" altLang="en-US" sz="1000" b="0" i="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경로 재생성</a:t>
                      </a: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7181478"/>
                  </a:ext>
                </a:extLst>
              </a:tr>
              <a:tr h="36238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spc="-100" baseline="0" dirty="0"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3</a:t>
                      </a: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000" u="none" strike="noStrike" kern="1200" spc="0" baseline="0" dirty="0">
                        <a:solidFill>
                          <a:schemeClr val="tx1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spc="0" baseline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54000" marR="54000" marT="25200" marB="25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객체 접근</a:t>
                      </a: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사람</a:t>
                      </a:r>
                      <a:r>
                        <a:rPr lang="en-US" altLang="ko-KR" sz="1000" b="0" i="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/</a:t>
                      </a:r>
                      <a:r>
                        <a:rPr lang="ko-KR" altLang="en-US" sz="1000" b="0" i="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동물</a:t>
                      </a: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특장차 주행 경로와 객체의 예상주행 경로의 근접</a:t>
                      </a: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arenR"/>
                      </a:pPr>
                      <a:r>
                        <a:rPr lang="ko-KR" altLang="en-US" sz="100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객체와의 직선거리 감소에 따른 위험도</a:t>
                      </a:r>
                      <a:endParaRPr lang="en-US" altLang="ko-KR" sz="1000" u="none" strike="noStrike" spc="0" baseline="0" dirty="0">
                        <a:solidFill>
                          <a:schemeClr val="tx1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  <a:p>
                      <a:pPr marL="228600" indent="-228600" algn="l" fontAlgn="ctr">
                        <a:buAutoNum type="arabicParenR"/>
                      </a:pPr>
                      <a:r>
                        <a:rPr lang="ko-KR" altLang="en-US" sz="100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주행 경로와 객체 예상경로의 최소거리 감소에 따른 위험도</a:t>
                      </a:r>
                      <a:endParaRPr lang="en-US" altLang="ko-KR" sz="1000" u="none" strike="noStrike" spc="0" baseline="0" dirty="0">
                        <a:solidFill>
                          <a:schemeClr val="tx1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0~100</a:t>
                      </a:r>
                      <a:endParaRPr lang="ko-KR" altLang="en-US" sz="1000" b="0" i="0" u="none" strike="noStrike" spc="0" baseline="0" dirty="0">
                        <a:solidFill>
                          <a:schemeClr val="tx1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보조차량 선행</a:t>
                      </a:r>
                      <a:endParaRPr lang="en-US" altLang="ko-KR" sz="1000" b="0" i="0" u="none" strike="noStrike" spc="0" baseline="0" dirty="0">
                        <a:solidFill>
                          <a:schemeClr val="tx1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  <a:p>
                      <a:pPr algn="ctr" fontAlgn="ctr"/>
                      <a:r>
                        <a:rPr lang="ko-KR" altLang="en-US" sz="1000" b="0" i="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및 경고</a:t>
                      </a:r>
                      <a:r>
                        <a:rPr lang="en-US" altLang="ko-KR" sz="1000" b="0" i="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, </a:t>
                      </a:r>
                      <a:r>
                        <a:rPr lang="ko-KR" altLang="en-US" sz="1000" b="0" i="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방해</a:t>
                      </a: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44559477"/>
                  </a:ext>
                </a:extLst>
              </a:tr>
              <a:tr h="25358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spc="-100" baseline="0" dirty="0"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4</a:t>
                      </a: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spc="0" baseline="0" dirty="0">
                        <a:solidFill>
                          <a:schemeClr val="tx1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54000" marR="54000" marT="25200" marB="25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spc="0" baseline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54000" marR="54000" marT="25200" marB="25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spc="0" baseline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54000" marR="54000" marT="25200" marB="25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차량</a:t>
                      </a: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특장차의 주행 경로와 차량의 예상주행 경로의 근접</a:t>
                      </a: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None/>
                      </a:pPr>
                      <a:r>
                        <a:rPr lang="ko-KR" altLang="en-US" sz="100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주행 경로와 객체 예상경로의 최소거리</a:t>
                      </a:r>
                      <a:br>
                        <a:rPr lang="en-US" altLang="ko-KR" sz="100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</a:br>
                      <a:r>
                        <a:rPr lang="ko-KR" altLang="en-US" sz="100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감소에 따른 위험도</a:t>
                      </a:r>
                      <a:endParaRPr lang="en-US" altLang="ko-KR" sz="1000" u="none" strike="noStrike" spc="0" baseline="0" dirty="0">
                        <a:solidFill>
                          <a:schemeClr val="tx1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0~100</a:t>
                      </a:r>
                      <a:endParaRPr lang="en-US" altLang="ko-KR" sz="1000" u="none" strike="noStrike" spc="0" baseline="0" dirty="0">
                        <a:solidFill>
                          <a:schemeClr val="tx1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경로 재생성</a:t>
                      </a: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6180713"/>
                  </a:ext>
                </a:extLst>
              </a:tr>
              <a:tr h="18964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i="0" u="none" strike="noStrike" spc="-100" baseline="0" dirty="0"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5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54000" marR="54000" marT="25200" marB="25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전도</a:t>
                      </a: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노면 경사</a:t>
                      </a: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노면 경사</a:t>
                      </a: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종방향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경사 주행 환경에서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조향에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따른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횡방향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경사 발생</a:t>
                      </a: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Roll angle </a:t>
                      </a:r>
                      <a:r>
                        <a:rPr lang="ko-KR" altLang="en-US" sz="1000" b="0" i="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증가에 따른 위험도</a:t>
                      </a:r>
                      <a:endParaRPr lang="en-US" altLang="ko-KR" sz="1000" b="0" i="0" u="none" strike="noStrike" spc="0" baseline="0" dirty="0">
                        <a:solidFill>
                          <a:schemeClr val="tx1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0~100</a:t>
                      </a:r>
                      <a:endParaRPr lang="en-US" altLang="ko-KR" sz="1000" u="none" strike="noStrike" spc="0" baseline="0" dirty="0">
                        <a:solidFill>
                          <a:schemeClr val="tx1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경로 재생성</a:t>
                      </a: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6102877"/>
                  </a:ext>
                </a:extLst>
              </a:tr>
              <a:tr h="25358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spc="-100" baseline="0" dirty="0"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6</a:t>
                      </a: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54000" marR="54000" marT="25200" marB="25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pc="-100" baseline="0" dirty="0"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임무 수행 불가</a:t>
                      </a: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pc="-100" baseline="0" dirty="0"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객체 생성</a:t>
                      </a: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정지 장애물</a:t>
                      </a: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arenR"/>
                      </a:pPr>
                      <a:r>
                        <a:rPr lang="ko-KR" altLang="en-US" sz="1000" b="0" i="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특장차의 주행경로 내 새로운 정지 장애물 생성</a:t>
                      </a:r>
                      <a:endParaRPr lang="en-US" altLang="ko-KR" sz="1000" b="0" i="0" u="none" strike="noStrike" spc="0" baseline="0" dirty="0">
                        <a:solidFill>
                          <a:schemeClr val="tx1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  <a:p>
                      <a:pPr marL="228600" indent="-228600" algn="l" fontAlgn="ctr">
                        <a:buAutoNum type="arabicParenR"/>
                      </a:pPr>
                      <a:r>
                        <a:rPr lang="ko-KR" altLang="en-US" sz="1000" b="0" i="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차량의 실시간 회피로 극복이 불가능한 경우</a:t>
                      </a: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None/>
                      </a:pPr>
                      <a:r>
                        <a:rPr lang="ko-KR" altLang="en-US" sz="1000" b="0" i="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특장차의 자체 회피 불가능 신호</a:t>
                      </a:r>
                      <a:endParaRPr lang="en-US" altLang="ko-KR" sz="1000" b="0" i="0" u="none" strike="noStrike" spc="0" baseline="0" dirty="0">
                        <a:solidFill>
                          <a:schemeClr val="tx1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flag</a:t>
                      </a:r>
                      <a:endParaRPr lang="ko-KR" altLang="en-US" sz="1000" b="0" i="0" u="none" strike="noStrike" spc="0" baseline="0" dirty="0">
                        <a:solidFill>
                          <a:schemeClr val="tx1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경로 재생성</a:t>
                      </a: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3000099"/>
                  </a:ext>
                </a:extLst>
              </a:tr>
              <a:tr h="25358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spc="-100" baseline="0" dirty="0"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7</a:t>
                      </a: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정지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/</a:t>
                      </a:r>
                    </a:p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작업중</a:t>
                      </a: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pc="-100" baseline="0" dirty="0"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충돌  및  협착</a:t>
                      </a: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pc="-100" baseline="0" dirty="0"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사각 지대</a:t>
                      </a: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정지 장애물</a:t>
                      </a: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arenR"/>
                      </a:pPr>
                      <a:r>
                        <a:rPr lang="ko-KR" altLang="en-US" sz="1000" b="0" i="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작업반경 내 사각지대 존재</a:t>
                      </a:r>
                      <a:endParaRPr lang="en-US" altLang="ko-KR" sz="1000" b="0" i="0" u="none" strike="noStrike" spc="0" baseline="0" dirty="0">
                        <a:solidFill>
                          <a:schemeClr val="tx1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  <a:p>
                      <a:pPr marL="228600" indent="-228600" algn="l" fontAlgn="ctr">
                        <a:buAutoNum type="arabicParenR"/>
                      </a:pPr>
                      <a:r>
                        <a:rPr lang="ko-KR" altLang="en-US" sz="1000" b="0" i="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사각지대에서 갑작스런 객체</a:t>
                      </a:r>
                      <a:r>
                        <a:rPr lang="en-US" altLang="ko-KR" sz="1000" b="0" i="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(</a:t>
                      </a:r>
                      <a:r>
                        <a:rPr lang="ko-KR" altLang="en-US" sz="1000" b="0" i="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사람</a:t>
                      </a:r>
                      <a:r>
                        <a:rPr lang="en-US" altLang="ko-KR" sz="1000" b="0" i="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,</a:t>
                      </a:r>
                      <a:r>
                        <a:rPr lang="ko-KR" altLang="en-US" sz="1000" b="0" i="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차량</a:t>
                      </a:r>
                      <a:r>
                        <a:rPr lang="en-US" altLang="ko-KR" sz="1000" b="0" i="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) </a:t>
                      </a:r>
                      <a:r>
                        <a:rPr lang="ko-KR" altLang="en-US" sz="1000" b="0" i="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출현</a:t>
                      </a: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arenR"/>
                      </a:pPr>
                      <a:r>
                        <a:rPr lang="ko-KR" altLang="en-US" sz="1000" b="0" i="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작업반경 내 사각지대 존재 유무</a:t>
                      </a:r>
                      <a:endParaRPr lang="en-US" altLang="ko-KR" sz="1000" b="0" i="0" u="none" strike="noStrike" spc="0" baseline="0" dirty="0">
                        <a:solidFill>
                          <a:schemeClr val="tx1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  <a:p>
                      <a:pPr marL="228600" indent="-228600" algn="l" fontAlgn="ctr">
                        <a:buAutoNum type="arabicParenR"/>
                      </a:pPr>
                      <a:r>
                        <a:rPr lang="ko-KR" altLang="en-US" sz="1000" b="0" i="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사각지대 주행가능 여부</a:t>
                      </a: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flag</a:t>
                      </a:r>
                      <a:endParaRPr lang="ko-KR" altLang="en-US" sz="1000" b="0" i="0" u="none" strike="noStrike" spc="0" baseline="0" dirty="0">
                        <a:solidFill>
                          <a:schemeClr val="tx1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보조차량의</a:t>
                      </a:r>
                      <a:endParaRPr lang="en-US" altLang="ko-KR" sz="1000" b="0" i="0" u="none" strike="noStrike" spc="0" baseline="0" dirty="0">
                        <a:solidFill>
                          <a:schemeClr val="tx1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  <a:p>
                      <a:pPr algn="ctr" fontAlgn="ctr"/>
                      <a:r>
                        <a:rPr lang="ko-KR" altLang="en-US" sz="1000" b="0" i="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사각지대 이동</a:t>
                      </a: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9374711"/>
                  </a:ext>
                </a:extLst>
              </a:tr>
              <a:tr h="25358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spc="-100" baseline="0" dirty="0"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8</a:t>
                      </a: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54000" marR="54000" marT="25200" marB="25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54000" marR="54000" marT="25200" marB="25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11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54000" marR="54000" marT="25200" marB="25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spc="0" baseline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54000" marR="54000" marT="25200" marB="25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arenR"/>
                      </a:pPr>
                      <a:r>
                        <a:rPr lang="ko-KR" altLang="en-US" sz="1000" b="0" i="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작업반경 내 접근 불가능한 사각지대 존재</a:t>
                      </a:r>
                      <a:endParaRPr lang="en-US" altLang="ko-KR" sz="1000" b="0" i="0" u="none" strike="noStrike" spc="0" baseline="0" dirty="0">
                        <a:solidFill>
                          <a:schemeClr val="tx1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  <a:p>
                      <a:pPr marL="228600" indent="-228600" algn="l" fontAlgn="ctr">
                        <a:buAutoNum type="arabicParenR"/>
                      </a:pPr>
                      <a:r>
                        <a:rPr lang="ko-KR" altLang="en-US" sz="1000" b="0" i="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사각지대에서 갑작스런 객체</a:t>
                      </a:r>
                      <a:r>
                        <a:rPr lang="en-US" altLang="ko-KR" sz="1000" b="0" i="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(</a:t>
                      </a:r>
                      <a:r>
                        <a:rPr lang="ko-KR" altLang="en-US" sz="1000" b="0" i="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사람</a:t>
                      </a:r>
                      <a:r>
                        <a:rPr lang="en-US" altLang="ko-KR" sz="1000" b="0" i="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,</a:t>
                      </a:r>
                      <a:r>
                        <a:rPr lang="ko-KR" altLang="en-US" sz="1000" b="0" i="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차량</a:t>
                      </a:r>
                      <a:r>
                        <a:rPr lang="en-US" altLang="ko-KR" sz="1000" b="0" i="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) </a:t>
                      </a:r>
                      <a:r>
                        <a:rPr lang="ko-KR" altLang="en-US" sz="1000" b="0" i="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출현</a:t>
                      </a: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arenR"/>
                      </a:pPr>
                      <a:r>
                        <a:rPr lang="ko-KR" altLang="en-US" sz="1000" b="0" i="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작업반경 내 사각지대 존재 유무</a:t>
                      </a:r>
                      <a:endParaRPr lang="en-US" altLang="ko-KR" sz="1000" b="0" i="0" u="none" strike="noStrike" spc="0" baseline="0" dirty="0">
                        <a:solidFill>
                          <a:schemeClr val="tx1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  <a:p>
                      <a:pPr marL="228600" indent="-228600" algn="l" fontAlgn="ctr">
                        <a:buAutoNum type="arabicParenR"/>
                      </a:pPr>
                      <a:r>
                        <a:rPr lang="ko-KR" altLang="en-US" sz="1000" b="0" i="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사각지대 주행가능 여부</a:t>
                      </a: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flag</a:t>
                      </a:r>
                      <a:endParaRPr lang="ko-KR" altLang="en-US" sz="1000" b="0" i="0" u="none" strike="noStrike" spc="0" baseline="0" dirty="0">
                        <a:solidFill>
                          <a:schemeClr val="tx1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객체 </a:t>
                      </a:r>
                      <a:r>
                        <a:rPr lang="ko-KR" altLang="en-US" sz="1000" b="0" i="0" u="none" strike="noStrike" spc="0" baseline="0" dirty="0" err="1"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출현시</a:t>
                      </a:r>
                      <a:endParaRPr lang="en-US" altLang="ko-KR" sz="1000" b="0" i="0" u="none" strike="noStrike" spc="0" baseline="0" dirty="0">
                        <a:solidFill>
                          <a:schemeClr val="tx1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작업 </a:t>
                      </a:r>
                      <a:r>
                        <a:rPr lang="ko-KR" altLang="en-US" sz="1000" b="0" i="0" u="none" strike="noStrike" spc="0" baseline="0" dirty="0" err="1"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긴금</a:t>
                      </a:r>
                      <a:r>
                        <a:rPr lang="ko-KR" altLang="en-US" sz="1000" b="0" i="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정지</a:t>
                      </a: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2957096"/>
                  </a:ext>
                </a:extLst>
              </a:tr>
              <a:tr h="36238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9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54000" marR="54000" marT="25200" marB="25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54000" marR="54000" marT="25200" marB="25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객체 접근</a:t>
                      </a: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사람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/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동물</a:t>
                      </a: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정지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/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작업 중의 특장차로 객체의 접근</a:t>
                      </a: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arenR"/>
                      </a:pPr>
                      <a:r>
                        <a:rPr lang="ko-KR" altLang="en-US" sz="1000" b="0" i="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객체와의 직선거리 감소에 따른 위험도</a:t>
                      </a:r>
                      <a:endParaRPr lang="en-US" altLang="ko-KR" sz="1000" b="0" i="0" u="none" strike="noStrike" spc="0" baseline="0" dirty="0">
                        <a:solidFill>
                          <a:schemeClr val="tx1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  <a:p>
                      <a:pPr marL="228600" indent="-228600" algn="l" fontAlgn="ctr">
                        <a:buAutoNum type="arabicParenR"/>
                      </a:pPr>
                      <a:r>
                        <a:rPr lang="ko-KR" altLang="en-US" sz="1000" b="0" i="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객체 예상경로와 특장차 최소거리 감소에 따른 위험도</a:t>
                      </a: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0~100</a:t>
                      </a:r>
                      <a:endParaRPr lang="ko-KR" altLang="en-US" sz="1000" b="0" i="0" u="none" strike="noStrike" spc="0" baseline="0" dirty="0">
                        <a:solidFill>
                          <a:schemeClr val="tx1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보조차량 선행 및 경고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방해</a:t>
                      </a: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6404506"/>
                  </a:ext>
                </a:extLst>
              </a:tr>
              <a:tr h="25358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10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54000" marR="54000" marT="25200" marB="25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54000" marR="54000" marT="25200" marB="25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54000" marR="54000" marT="25200" marB="25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차량</a:t>
                      </a: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정지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/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작업 중의 특장차로 객체의 접근</a:t>
                      </a: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None/>
                      </a:pPr>
                      <a:r>
                        <a:rPr lang="ko-KR" altLang="en-US" sz="1000" b="0" i="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객체 예상경로와 특장차 최소거리 </a:t>
                      </a:r>
                      <a:br>
                        <a:rPr lang="en-US" altLang="ko-KR" sz="1000" b="0" i="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</a:br>
                      <a:r>
                        <a:rPr lang="ko-KR" altLang="en-US" sz="1000" b="0" i="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감소에 따른 위험도</a:t>
                      </a:r>
                      <a:endParaRPr lang="en-US" altLang="ko-KR" sz="1000" b="0" i="0" u="none" strike="noStrike" spc="0" baseline="0" dirty="0">
                        <a:solidFill>
                          <a:schemeClr val="tx1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0~100</a:t>
                      </a:r>
                      <a:endParaRPr lang="ko-KR" altLang="en-US" sz="1000" b="0" i="0" u="none" strike="noStrike" spc="0" baseline="0" dirty="0">
                        <a:solidFill>
                          <a:schemeClr val="tx1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보조차량 선행 및 경고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방해</a:t>
                      </a: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3710715"/>
                  </a:ext>
                </a:extLst>
              </a:tr>
              <a:tr h="18964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11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54000" marR="54000" marT="25200" marB="25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54000" marR="54000" marT="25200" marB="25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객체 생성</a:t>
                      </a: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정지 장애물</a:t>
                      </a: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작업 반경 내 정지 장애물 생성</a:t>
                      </a: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None/>
                      </a:pPr>
                      <a:r>
                        <a:rPr lang="ko-KR" altLang="en-US" sz="1000" b="0" i="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장애물 까지의 거리에 따른 위험도</a:t>
                      </a:r>
                      <a:endParaRPr lang="en-US" altLang="ko-KR" sz="1000" b="0" i="0" u="none" strike="noStrike" spc="0" baseline="0" dirty="0">
                        <a:solidFill>
                          <a:schemeClr val="tx1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0~100</a:t>
                      </a:r>
                      <a:endParaRPr lang="ko-KR" altLang="en-US" sz="1000" b="0" i="0" u="none" strike="noStrike" spc="0" baseline="0" dirty="0">
                        <a:solidFill>
                          <a:schemeClr val="tx1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작업 중지</a:t>
                      </a: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13691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999904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알고리즘 개요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F55F954-5E86-475A-837F-2B8CED6C7DF1}" type="slidenum">
              <a:rPr lang="ko-KR" altLang="en-US" smtClean="0"/>
              <a:pPr/>
              <a:t>35</a:t>
            </a:fld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381000" y="873427"/>
            <a:ext cx="9144000" cy="1259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5256" indent="-95256"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buFont typeface="Wingdings" panose="05000000000000000000" pitchFamily="2" charset="2"/>
              <a:buChar char="§"/>
              <a:defRPr/>
            </a:pPr>
            <a:r>
              <a:rPr lang="ko-KR" altLang="en-US" sz="1300" b="1" kern="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알고리즘 목표</a:t>
            </a:r>
            <a:endParaRPr lang="en-US" altLang="ko-KR" sz="1300" b="1" kern="0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선정된 위험 상황을 극복하기 위한 환경 판단 알고리즘 구성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작업공간 전역 지도 기반으로 주행 및 작업 환경에 대한 위험 상황 발생 가능성 출력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- 10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종 이상의 위험 환경 판단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(1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단계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7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종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)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381000" y="2217780"/>
            <a:ext cx="9144000" cy="3127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5256" indent="-95256"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buFont typeface="Wingdings" panose="05000000000000000000" pitchFamily="2" charset="2"/>
              <a:buChar char="§"/>
              <a:defRPr/>
            </a:pPr>
            <a:r>
              <a:rPr lang="ko-KR" altLang="en-US" sz="1300" b="1" kern="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알고리즘 개요</a:t>
            </a:r>
            <a:endParaRPr lang="en-US" altLang="ko-KR" sz="1300" b="1" kern="0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- 100msec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주기 동작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- 3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종의 위험 상황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(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주행 상황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,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작업 상황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,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미지 영역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)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분석용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7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종의 환경 판단 알고리즘 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 (1)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주행 중 전역 경로 근방 정지한 동적 장애물 존재 환경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 (2)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주행 중 사각 영역 존재 환경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 (3)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주행 중 경로 주변 동적 장애물 통행 환경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 (4)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작업 중 작업 반경 주변 동적 장애물 통행 환경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 (5)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주행 경로 상 장애물 통행량이 과다한 환경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(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사람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)</a:t>
            </a: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 (6)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주행 경로 상 장애물 통행량이 과다한 환경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(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차량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)</a:t>
            </a: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 (7)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미개척 지역 주행 환경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381000" y="5430337"/>
            <a:ext cx="9144000" cy="1258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5256" indent="-95256"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buFont typeface="Wingdings" panose="05000000000000000000" pitchFamily="2" charset="2"/>
              <a:buChar char="§"/>
              <a:defRPr/>
            </a:pPr>
            <a:r>
              <a:rPr lang="ko-KR" altLang="en-US" sz="1300" b="1" kern="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알고리즘 결과 </a:t>
            </a:r>
            <a:r>
              <a:rPr lang="en-US" altLang="ko-KR" sz="1300" b="1" kern="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(</a:t>
            </a:r>
            <a:r>
              <a:rPr lang="ko-KR" altLang="en-US" sz="1300" b="1" kern="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출력</a:t>
            </a:r>
            <a:r>
              <a:rPr lang="en-US" altLang="ko-KR" sz="1300" b="1" kern="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)</a:t>
            </a: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위험 상황 정보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위험 상황에 대한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confidence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값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위험 상황 판단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flag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값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447345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3.1 </a:t>
            </a:r>
            <a:r>
              <a:rPr lang="ko-KR" altLang="en-US" dirty="0"/>
              <a:t>위험판단 알고리즘 구성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294967295"/>
          </p:nvPr>
        </p:nvSpPr>
        <p:spPr>
          <a:xfrm>
            <a:off x="9358313" y="6650038"/>
            <a:ext cx="547687" cy="207962"/>
          </a:xfrm>
        </p:spPr>
        <p:txBody>
          <a:bodyPr/>
          <a:lstStyle/>
          <a:p>
            <a:fld id="{BF55F954-5E86-475A-837F-2B8CED6C7DF1}" type="slidenum">
              <a:rPr lang="ko-KR" altLang="en-US" smtClean="0"/>
              <a:pPr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462217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알고리즘 구성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F55F954-5E86-475A-837F-2B8CED6C7DF1}" type="slidenum">
              <a:rPr lang="ko-KR" altLang="en-US" smtClean="0"/>
              <a:pPr/>
              <a:t>37</a:t>
            </a:fld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195121" y="885831"/>
            <a:ext cx="3722829" cy="2489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5256" indent="-95256"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buFont typeface="Wingdings" panose="05000000000000000000" pitchFamily="2" charset="2"/>
              <a:buChar char="§"/>
              <a:defRPr/>
            </a:pPr>
            <a:r>
              <a:rPr lang="ko-KR" altLang="en-US" sz="1300" b="1" kern="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입력 데이터</a:t>
            </a:r>
            <a:endParaRPr lang="en-US" altLang="ko-KR" sz="1300" b="1" kern="0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(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데이터 융합 모듈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)</a:t>
            </a: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인지 융합 기반 전역 지도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marL="95256" indent="-95256"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buFont typeface="Wingdings" panose="05000000000000000000" pitchFamily="2" charset="2"/>
              <a:buChar char="§"/>
              <a:defRPr/>
            </a:pPr>
            <a:r>
              <a:rPr lang="en-US" altLang="ko-KR" sz="1300" b="1" kern="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</a:t>
            </a:r>
            <a:r>
              <a:rPr lang="ko-KR" altLang="en-US" sz="1300" b="1" kern="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출력 데이터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(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위험 판단 모듈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)</a:t>
            </a: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위험 상황 정보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(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장애물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ID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및 위험환경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#) </a:t>
            </a: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위험 상황 판단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confidence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값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위험상황 판단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flag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및 위험한 전역경로 </a:t>
            </a:r>
            <a:r>
              <a:rPr lang="ko-KR" altLang="en-US" sz="1300" kern="0" dirty="0" err="1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좌표값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199742" y="2206978"/>
            <a:ext cx="1348389" cy="533942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인지 융합 전역 지도 정보</a:t>
            </a:r>
            <a:r>
              <a:rPr lang="en-US" altLang="ko-KR" sz="8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ko-KR" altLang="en-US" sz="8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수신</a:t>
            </a:r>
            <a:br>
              <a:rPr lang="en-US" altLang="ko-KR" sz="8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</a:br>
            <a:r>
              <a:rPr lang="en-US" altLang="ko-KR" sz="8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</a:t>
            </a:r>
            <a:r>
              <a:rPr lang="ko-KR" altLang="en-US" sz="8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노면</a:t>
            </a:r>
            <a:r>
              <a:rPr lang="en-US" altLang="ko-KR" sz="8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lang="ko-KR" altLang="en-US" sz="8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장애물</a:t>
            </a:r>
            <a:r>
              <a:rPr lang="en-US" altLang="ko-KR" sz="8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lang="ko-KR" altLang="en-US" sz="8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차량</a:t>
            </a:r>
            <a:r>
              <a:rPr lang="en-US" altLang="ko-KR" sz="8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lang="en-US" altLang="ko-KR" sz="800" dirty="0" err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etc</a:t>
            </a:r>
            <a:r>
              <a:rPr lang="en-US" altLang="ko-KR" sz="8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)</a:t>
            </a:r>
            <a:endParaRPr lang="ko-KR" altLang="en-US" sz="80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24" name="순서도: 판단 23"/>
          <p:cNvSpPr/>
          <p:nvPr/>
        </p:nvSpPr>
        <p:spPr>
          <a:xfrm>
            <a:off x="4199742" y="2903599"/>
            <a:ext cx="1348389" cy="468000"/>
          </a:xfrm>
          <a:prstGeom prst="flowChartDecision">
            <a:avLst/>
          </a:prstGeom>
          <a:solidFill>
            <a:schemeClr val="bg1"/>
          </a:solidFill>
          <a:ln w="19050">
            <a:solidFill>
              <a:srgbClr val="007A00"/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위험 판단 모듈</a:t>
            </a:r>
          </a:p>
        </p:txBody>
      </p:sp>
      <p:cxnSp>
        <p:nvCxnSpPr>
          <p:cNvPr id="36" name="직선 화살표 연결선 35"/>
          <p:cNvCxnSpPr>
            <a:stCxn id="21" idx="2"/>
            <a:endCxn id="24" idx="0"/>
          </p:cNvCxnSpPr>
          <p:nvPr/>
        </p:nvCxnSpPr>
        <p:spPr>
          <a:xfrm>
            <a:off x="4873937" y="2740920"/>
            <a:ext cx="0" cy="1626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/>
          <p:cNvCxnSpPr>
            <a:stCxn id="62" idx="2"/>
            <a:endCxn id="21" idx="0"/>
          </p:cNvCxnSpPr>
          <p:nvPr/>
        </p:nvCxnSpPr>
        <p:spPr>
          <a:xfrm>
            <a:off x="4873937" y="2044626"/>
            <a:ext cx="0" cy="16235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직사각형 61"/>
          <p:cNvSpPr/>
          <p:nvPr/>
        </p:nvSpPr>
        <p:spPr>
          <a:xfrm>
            <a:off x="4199742" y="1810626"/>
            <a:ext cx="1348389" cy="234000"/>
          </a:xfrm>
          <a:prstGeom prst="rect">
            <a:avLst/>
          </a:prstGeom>
          <a:solidFill>
            <a:schemeClr val="bg1"/>
          </a:solidFill>
          <a:ln w="19050">
            <a:solidFill>
              <a:srgbClr val="00B0F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데이터 융합 모듈</a:t>
            </a:r>
          </a:p>
        </p:txBody>
      </p: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C784FC97-66AB-4857-8AFE-EB5572D2DEFB}"/>
              </a:ext>
            </a:extLst>
          </p:cNvPr>
          <p:cNvSpPr/>
          <p:nvPr/>
        </p:nvSpPr>
        <p:spPr>
          <a:xfrm>
            <a:off x="4199742" y="5702140"/>
            <a:ext cx="1348389" cy="24146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Confidence</a:t>
            </a:r>
            <a:r>
              <a:rPr lang="ko-KR" altLang="en-US" sz="8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en-US" altLang="ko-KR" sz="8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array</a:t>
            </a:r>
            <a:r>
              <a:rPr lang="ko-KR" altLang="en-US" sz="8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출력</a:t>
            </a:r>
          </a:p>
        </p:txBody>
      </p:sp>
      <p:sp>
        <p:nvSpPr>
          <p:cNvPr id="132" name="순서도: 판단 131">
            <a:extLst>
              <a:ext uri="{FF2B5EF4-FFF2-40B4-BE49-F238E27FC236}">
                <a16:creationId xmlns:a16="http://schemas.microsoft.com/office/drawing/2014/main" id="{A318E6E6-D5E6-41AF-A55F-546C4AF194F1}"/>
              </a:ext>
            </a:extLst>
          </p:cNvPr>
          <p:cNvSpPr/>
          <p:nvPr/>
        </p:nvSpPr>
        <p:spPr>
          <a:xfrm>
            <a:off x="4199742" y="6078530"/>
            <a:ext cx="1348389" cy="406858"/>
          </a:xfrm>
          <a:prstGeom prst="flowChartDecision">
            <a:avLst/>
          </a:prstGeom>
          <a:solidFill>
            <a:schemeClr val="bg1"/>
          </a:solidFill>
          <a:ln w="19050">
            <a:solidFill>
              <a:srgbClr val="007A00"/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Confidence &gt; Threshold ?</a:t>
            </a:r>
            <a:endParaRPr lang="ko-KR" altLang="en-US" sz="80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cxnSp>
        <p:nvCxnSpPr>
          <p:cNvPr id="134" name="직선 화살표 연결선 133">
            <a:extLst>
              <a:ext uri="{FF2B5EF4-FFF2-40B4-BE49-F238E27FC236}">
                <a16:creationId xmlns:a16="http://schemas.microsoft.com/office/drawing/2014/main" id="{3DED3B4F-93B8-48FB-9AB6-45F20F6D8C9A}"/>
              </a:ext>
            </a:extLst>
          </p:cNvPr>
          <p:cNvCxnSpPr>
            <a:cxnSpLocks/>
            <a:stCxn id="118" idx="2"/>
          </p:cNvCxnSpPr>
          <p:nvPr/>
        </p:nvCxnSpPr>
        <p:spPr>
          <a:xfrm>
            <a:off x="4873937" y="5943600"/>
            <a:ext cx="0" cy="13493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C451B10A-D8EA-47E3-B875-F2CD01813004}"/>
              </a:ext>
            </a:extLst>
          </p:cNvPr>
          <p:cNvSpPr/>
          <p:nvPr/>
        </p:nvSpPr>
        <p:spPr>
          <a:xfrm>
            <a:off x="175857" y="4772324"/>
            <a:ext cx="895062" cy="485475"/>
          </a:xfrm>
          <a:prstGeom prst="rect">
            <a:avLst/>
          </a:prstGeom>
          <a:solidFill>
            <a:schemeClr val="bg1"/>
          </a:solidFill>
          <a:ln w="19050">
            <a:solidFill>
              <a:srgbClr val="007A00"/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주행 중 전역 경로 </a:t>
            </a:r>
            <a:endParaRPr lang="en-US" altLang="ko-KR" sz="80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algn="ctr"/>
            <a:r>
              <a:rPr lang="ko-KR" altLang="en-US" sz="8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근방</a:t>
            </a:r>
            <a:r>
              <a:rPr lang="en-US" altLang="ko-KR" sz="8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ko-KR" altLang="en-US" sz="8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정지한</a:t>
            </a:r>
            <a:endParaRPr lang="en-US" altLang="ko-KR" sz="80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algn="ctr"/>
            <a:r>
              <a:rPr lang="ko-KR" altLang="en-US" sz="8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동적 장애물 존재</a:t>
            </a:r>
            <a:endParaRPr lang="en-US" altLang="ko-KR" sz="80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74DE8BDF-CB56-4E55-93B8-808F5AE1AC0F}"/>
              </a:ext>
            </a:extLst>
          </p:cNvPr>
          <p:cNvSpPr/>
          <p:nvPr/>
        </p:nvSpPr>
        <p:spPr>
          <a:xfrm>
            <a:off x="1144162" y="4772324"/>
            <a:ext cx="895062" cy="485475"/>
          </a:xfrm>
          <a:prstGeom prst="rect">
            <a:avLst/>
          </a:prstGeom>
          <a:solidFill>
            <a:schemeClr val="bg1"/>
          </a:solidFill>
          <a:ln w="19050">
            <a:solidFill>
              <a:srgbClr val="007A00"/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주행 중 </a:t>
            </a:r>
            <a:endParaRPr lang="en-US" altLang="ko-KR" sz="80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algn="ctr"/>
            <a:r>
              <a:rPr lang="ko-KR" altLang="en-US" sz="8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사각 영역 존재</a:t>
            </a:r>
            <a:endParaRPr lang="en-US" altLang="ko-KR" sz="80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34F7BD9F-E731-4118-BF1C-BA7CF762ACE0}"/>
              </a:ext>
            </a:extLst>
          </p:cNvPr>
          <p:cNvSpPr/>
          <p:nvPr/>
        </p:nvSpPr>
        <p:spPr>
          <a:xfrm>
            <a:off x="2112467" y="4772324"/>
            <a:ext cx="895062" cy="485475"/>
          </a:xfrm>
          <a:prstGeom prst="rect">
            <a:avLst/>
          </a:prstGeom>
          <a:solidFill>
            <a:schemeClr val="bg1"/>
          </a:solidFill>
          <a:ln w="19050">
            <a:solidFill>
              <a:srgbClr val="007A00"/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주행 중 경로 주변</a:t>
            </a:r>
            <a:endParaRPr lang="en-US" altLang="ko-KR" sz="80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algn="ctr"/>
            <a:r>
              <a:rPr lang="ko-KR" altLang="en-US" sz="8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동적 장애물 통행</a:t>
            </a:r>
            <a:endParaRPr lang="en-US" altLang="ko-KR" sz="80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D6F57E20-1404-41EF-B9DC-2528D0EBFE50}"/>
              </a:ext>
            </a:extLst>
          </p:cNvPr>
          <p:cNvSpPr/>
          <p:nvPr/>
        </p:nvSpPr>
        <p:spPr>
          <a:xfrm>
            <a:off x="5017382" y="4772324"/>
            <a:ext cx="895062" cy="485475"/>
          </a:xfrm>
          <a:prstGeom prst="rect">
            <a:avLst/>
          </a:prstGeom>
          <a:solidFill>
            <a:schemeClr val="bg1"/>
          </a:solidFill>
          <a:ln w="19050">
            <a:solidFill>
              <a:srgbClr val="007A00"/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작업 중 </a:t>
            </a:r>
            <a:endParaRPr lang="en-US" altLang="ko-KR" sz="80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algn="ctr"/>
            <a:r>
              <a:rPr lang="ko-KR" altLang="en-US" sz="8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작업 반경 주변</a:t>
            </a:r>
            <a:endParaRPr lang="en-US" altLang="ko-KR" sz="80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algn="ctr"/>
            <a:r>
              <a:rPr lang="ko-KR" altLang="en-US" sz="8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동적 장애물 통행</a:t>
            </a:r>
            <a:endParaRPr lang="en-US" altLang="ko-KR" sz="80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F66F4A73-1F13-472C-ABB6-4E07B920DE60}"/>
              </a:ext>
            </a:extLst>
          </p:cNvPr>
          <p:cNvSpPr/>
          <p:nvPr/>
        </p:nvSpPr>
        <p:spPr>
          <a:xfrm>
            <a:off x="3080772" y="4772324"/>
            <a:ext cx="895062" cy="485475"/>
          </a:xfrm>
          <a:prstGeom prst="rect">
            <a:avLst/>
          </a:prstGeom>
          <a:solidFill>
            <a:schemeClr val="bg1"/>
          </a:solidFill>
          <a:ln w="19050">
            <a:solidFill>
              <a:srgbClr val="007A00"/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주행 경로 상 장애물</a:t>
            </a:r>
            <a:endParaRPr lang="en-US" altLang="ko-KR" sz="80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algn="ctr"/>
            <a:r>
              <a:rPr lang="ko-KR" altLang="en-US" sz="8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통행량 과다</a:t>
            </a:r>
            <a:r>
              <a:rPr lang="en-US" altLang="ko-KR" sz="8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</a:t>
            </a:r>
            <a:r>
              <a:rPr lang="ko-KR" altLang="en-US" sz="8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사람</a:t>
            </a:r>
            <a:r>
              <a:rPr lang="en-US" altLang="ko-KR" sz="8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)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774220BB-47C4-44EA-8909-4617E4FFFBE5}"/>
              </a:ext>
            </a:extLst>
          </p:cNvPr>
          <p:cNvSpPr/>
          <p:nvPr/>
        </p:nvSpPr>
        <p:spPr>
          <a:xfrm>
            <a:off x="4049077" y="4772324"/>
            <a:ext cx="895062" cy="485475"/>
          </a:xfrm>
          <a:prstGeom prst="rect">
            <a:avLst/>
          </a:prstGeom>
          <a:solidFill>
            <a:schemeClr val="bg1"/>
          </a:solidFill>
          <a:ln w="19050">
            <a:solidFill>
              <a:srgbClr val="007A00"/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주행 경로 상 장애물</a:t>
            </a:r>
            <a:endParaRPr lang="en-US" altLang="ko-KR" sz="80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algn="ctr"/>
            <a:r>
              <a:rPr lang="ko-KR" altLang="en-US" sz="8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통행량 과다</a:t>
            </a:r>
            <a:r>
              <a:rPr lang="en-US" altLang="ko-KR" sz="8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</a:t>
            </a:r>
            <a:r>
              <a:rPr lang="ko-KR" altLang="en-US" sz="8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차량</a:t>
            </a:r>
            <a:r>
              <a:rPr lang="en-US" altLang="ko-KR" sz="8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)</a:t>
            </a: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EBA25821-6551-4BE0-816A-D89A2ED088E7}"/>
              </a:ext>
            </a:extLst>
          </p:cNvPr>
          <p:cNvSpPr/>
          <p:nvPr/>
        </p:nvSpPr>
        <p:spPr>
          <a:xfrm>
            <a:off x="7922297" y="4756312"/>
            <a:ext cx="895062" cy="485475"/>
          </a:xfrm>
          <a:prstGeom prst="rect">
            <a:avLst/>
          </a:prstGeom>
          <a:solidFill>
            <a:schemeClr val="bg1"/>
          </a:solidFill>
          <a:ln w="19050">
            <a:solidFill>
              <a:srgbClr val="007A00"/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미개척 지역 주행</a:t>
            </a:r>
            <a:endParaRPr lang="en-US" altLang="ko-KR" sz="80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4C482E68-E6AB-4D83-9216-106F720180E5}"/>
              </a:ext>
            </a:extLst>
          </p:cNvPr>
          <p:cNvSpPr/>
          <p:nvPr/>
        </p:nvSpPr>
        <p:spPr>
          <a:xfrm>
            <a:off x="5759490" y="3815940"/>
            <a:ext cx="1348389" cy="234000"/>
          </a:xfrm>
          <a:prstGeom prst="rect">
            <a:avLst/>
          </a:prstGeom>
          <a:solidFill>
            <a:schemeClr val="bg1"/>
          </a:solidFill>
          <a:ln w="19050">
            <a:solidFill>
              <a:srgbClr val="007A00"/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비정형 공간 자율 작업</a:t>
            </a:r>
            <a:endParaRPr lang="en-US" altLang="ko-KR" sz="80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E01AA03D-972D-4FBD-B519-61CC5BF474B2}"/>
              </a:ext>
            </a:extLst>
          </p:cNvPr>
          <p:cNvSpPr/>
          <p:nvPr/>
        </p:nvSpPr>
        <p:spPr>
          <a:xfrm>
            <a:off x="8143672" y="3815940"/>
            <a:ext cx="1348389" cy="234000"/>
          </a:xfrm>
          <a:prstGeom prst="rect">
            <a:avLst/>
          </a:prstGeom>
          <a:solidFill>
            <a:schemeClr val="bg1"/>
          </a:solidFill>
          <a:ln w="19050">
            <a:solidFill>
              <a:srgbClr val="007A00"/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노면으로 인한 위험</a:t>
            </a:r>
            <a:endParaRPr lang="en-US" altLang="ko-KR" sz="80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17AD6B16-31AD-4873-8D56-EBA1A17EA09B}"/>
              </a:ext>
            </a:extLst>
          </p:cNvPr>
          <p:cNvSpPr/>
          <p:nvPr/>
        </p:nvSpPr>
        <p:spPr>
          <a:xfrm>
            <a:off x="1885803" y="3815940"/>
            <a:ext cx="1348389" cy="234000"/>
          </a:xfrm>
          <a:prstGeom prst="rect">
            <a:avLst/>
          </a:prstGeom>
          <a:solidFill>
            <a:schemeClr val="bg1"/>
          </a:solidFill>
          <a:ln w="19050">
            <a:solidFill>
              <a:srgbClr val="007A00"/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비정형 공간 자율 주행</a:t>
            </a:r>
            <a:endParaRPr lang="en-US" altLang="ko-KR" sz="80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cxnSp>
        <p:nvCxnSpPr>
          <p:cNvPr id="68" name="직선 화살표 연결선 67">
            <a:extLst>
              <a:ext uri="{FF2B5EF4-FFF2-40B4-BE49-F238E27FC236}">
                <a16:creationId xmlns:a16="http://schemas.microsoft.com/office/drawing/2014/main" id="{AC441086-5AE2-4353-964C-B44391D40118}"/>
              </a:ext>
            </a:extLst>
          </p:cNvPr>
          <p:cNvCxnSpPr>
            <a:cxnSpLocks/>
            <a:endCxn id="84" idx="0"/>
          </p:cNvCxnSpPr>
          <p:nvPr/>
        </p:nvCxnSpPr>
        <p:spPr>
          <a:xfrm>
            <a:off x="6433685" y="3593769"/>
            <a:ext cx="0" cy="22217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연결선: 꺾임 15">
            <a:extLst>
              <a:ext uri="{FF2B5EF4-FFF2-40B4-BE49-F238E27FC236}">
                <a16:creationId xmlns:a16="http://schemas.microsoft.com/office/drawing/2014/main" id="{FBA749D9-4CBE-47B2-9652-72515F9ABA78}"/>
              </a:ext>
            </a:extLst>
          </p:cNvPr>
          <p:cNvCxnSpPr>
            <a:stCxn id="24" idx="2"/>
            <a:endCxn id="65" idx="0"/>
          </p:cNvCxnSpPr>
          <p:nvPr/>
        </p:nvCxnSpPr>
        <p:spPr>
          <a:xfrm rot="5400000">
            <a:off x="3494798" y="2436800"/>
            <a:ext cx="444341" cy="2313939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연결선: 꺾임 17">
            <a:extLst>
              <a:ext uri="{FF2B5EF4-FFF2-40B4-BE49-F238E27FC236}">
                <a16:creationId xmlns:a16="http://schemas.microsoft.com/office/drawing/2014/main" id="{DAFA1FA3-6978-432F-90C5-3776683E08C6}"/>
              </a:ext>
            </a:extLst>
          </p:cNvPr>
          <p:cNvCxnSpPr>
            <a:cxnSpLocks/>
            <a:stCxn id="24" idx="2"/>
            <a:endCxn id="64" idx="0"/>
          </p:cNvCxnSpPr>
          <p:nvPr/>
        </p:nvCxnSpPr>
        <p:spPr>
          <a:xfrm rot="16200000" flipH="1">
            <a:off x="6623732" y="1621804"/>
            <a:ext cx="444341" cy="3943930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연결선: 꺾임 21">
            <a:extLst>
              <a:ext uri="{FF2B5EF4-FFF2-40B4-BE49-F238E27FC236}">
                <a16:creationId xmlns:a16="http://schemas.microsoft.com/office/drawing/2014/main" id="{527A2CCB-0BBB-48A6-8AB6-230C8BAB764C}"/>
              </a:ext>
            </a:extLst>
          </p:cNvPr>
          <p:cNvCxnSpPr>
            <a:stCxn id="65" idx="2"/>
            <a:endCxn id="56" idx="0"/>
          </p:cNvCxnSpPr>
          <p:nvPr/>
        </p:nvCxnSpPr>
        <p:spPr>
          <a:xfrm rot="5400000">
            <a:off x="1230501" y="3442827"/>
            <a:ext cx="722384" cy="1936610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연결선: 꺾임 25">
            <a:extLst>
              <a:ext uri="{FF2B5EF4-FFF2-40B4-BE49-F238E27FC236}">
                <a16:creationId xmlns:a16="http://schemas.microsoft.com/office/drawing/2014/main" id="{28EF586D-E25A-4187-88E1-0AEF60FDBFF5}"/>
              </a:ext>
            </a:extLst>
          </p:cNvPr>
          <p:cNvCxnSpPr>
            <a:stCxn id="65" idx="2"/>
            <a:endCxn id="57" idx="0"/>
          </p:cNvCxnSpPr>
          <p:nvPr/>
        </p:nvCxnSpPr>
        <p:spPr>
          <a:xfrm rot="5400000">
            <a:off x="1714654" y="3926980"/>
            <a:ext cx="722384" cy="968305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연결선: 꺾임 27">
            <a:extLst>
              <a:ext uri="{FF2B5EF4-FFF2-40B4-BE49-F238E27FC236}">
                <a16:creationId xmlns:a16="http://schemas.microsoft.com/office/drawing/2014/main" id="{907C1AC1-F8E6-4BEE-9EAE-0FB8890944C9}"/>
              </a:ext>
            </a:extLst>
          </p:cNvPr>
          <p:cNvCxnSpPr>
            <a:stCxn id="65" idx="2"/>
            <a:endCxn id="58" idx="0"/>
          </p:cNvCxnSpPr>
          <p:nvPr/>
        </p:nvCxnSpPr>
        <p:spPr>
          <a:xfrm rot="5400000">
            <a:off x="2198806" y="4411132"/>
            <a:ext cx="722384" cy="12700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연결선: 꺾임 30">
            <a:extLst>
              <a:ext uri="{FF2B5EF4-FFF2-40B4-BE49-F238E27FC236}">
                <a16:creationId xmlns:a16="http://schemas.microsoft.com/office/drawing/2014/main" id="{E60F685B-E119-4A92-B400-CCF67D91C7F7}"/>
              </a:ext>
            </a:extLst>
          </p:cNvPr>
          <p:cNvCxnSpPr>
            <a:stCxn id="65" idx="2"/>
            <a:endCxn id="60" idx="0"/>
          </p:cNvCxnSpPr>
          <p:nvPr/>
        </p:nvCxnSpPr>
        <p:spPr>
          <a:xfrm rot="16200000" flipH="1">
            <a:off x="2682958" y="3926979"/>
            <a:ext cx="722384" cy="968305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연결선: 꺾임 33">
            <a:extLst>
              <a:ext uri="{FF2B5EF4-FFF2-40B4-BE49-F238E27FC236}">
                <a16:creationId xmlns:a16="http://schemas.microsoft.com/office/drawing/2014/main" id="{F93410DE-616A-403A-8D5F-E1D1A232323B}"/>
              </a:ext>
            </a:extLst>
          </p:cNvPr>
          <p:cNvCxnSpPr>
            <a:stCxn id="65" idx="2"/>
            <a:endCxn id="61" idx="0"/>
          </p:cNvCxnSpPr>
          <p:nvPr/>
        </p:nvCxnSpPr>
        <p:spPr>
          <a:xfrm rot="16200000" flipH="1">
            <a:off x="3167111" y="3442827"/>
            <a:ext cx="722384" cy="1936610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연결선: 꺾임 36">
            <a:extLst>
              <a:ext uri="{FF2B5EF4-FFF2-40B4-BE49-F238E27FC236}">
                <a16:creationId xmlns:a16="http://schemas.microsoft.com/office/drawing/2014/main" id="{E846B38A-D95F-438D-A561-C5A82C22FD9D}"/>
              </a:ext>
            </a:extLst>
          </p:cNvPr>
          <p:cNvCxnSpPr>
            <a:stCxn id="84" idx="2"/>
            <a:endCxn id="59" idx="0"/>
          </p:cNvCxnSpPr>
          <p:nvPr/>
        </p:nvCxnSpPr>
        <p:spPr>
          <a:xfrm rot="5400000">
            <a:off x="5588107" y="3926746"/>
            <a:ext cx="722384" cy="96877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연결선: 꺾임 39">
            <a:extLst>
              <a:ext uri="{FF2B5EF4-FFF2-40B4-BE49-F238E27FC236}">
                <a16:creationId xmlns:a16="http://schemas.microsoft.com/office/drawing/2014/main" id="{60BABACD-876D-44B8-A2C4-1C575B2C43CA}"/>
              </a:ext>
            </a:extLst>
          </p:cNvPr>
          <p:cNvCxnSpPr>
            <a:stCxn id="64" idx="2"/>
            <a:endCxn id="63" idx="0"/>
          </p:cNvCxnSpPr>
          <p:nvPr/>
        </p:nvCxnSpPr>
        <p:spPr>
          <a:xfrm rot="5400000">
            <a:off x="8240662" y="4179107"/>
            <a:ext cx="706372" cy="448039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연결선: 꺾임 42">
            <a:extLst>
              <a:ext uri="{FF2B5EF4-FFF2-40B4-BE49-F238E27FC236}">
                <a16:creationId xmlns:a16="http://schemas.microsoft.com/office/drawing/2014/main" id="{7CBA261E-E282-4963-8F91-E64CD5D437F8}"/>
              </a:ext>
            </a:extLst>
          </p:cNvPr>
          <p:cNvCxnSpPr>
            <a:cxnSpLocks/>
            <a:stCxn id="56" idx="2"/>
            <a:endCxn id="118" idx="0"/>
          </p:cNvCxnSpPr>
          <p:nvPr/>
        </p:nvCxnSpPr>
        <p:spPr>
          <a:xfrm rot="16200000" flipH="1">
            <a:off x="2526492" y="3354694"/>
            <a:ext cx="444341" cy="4250549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연결선: 꺾임 46">
            <a:extLst>
              <a:ext uri="{FF2B5EF4-FFF2-40B4-BE49-F238E27FC236}">
                <a16:creationId xmlns:a16="http://schemas.microsoft.com/office/drawing/2014/main" id="{DC386D45-DB0C-4DCB-9EDD-7FE4465F8E47}"/>
              </a:ext>
            </a:extLst>
          </p:cNvPr>
          <p:cNvCxnSpPr>
            <a:stCxn id="57" idx="2"/>
            <a:endCxn id="118" idx="0"/>
          </p:cNvCxnSpPr>
          <p:nvPr/>
        </p:nvCxnSpPr>
        <p:spPr>
          <a:xfrm rot="16200000" flipH="1">
            <a:off x="3010645" y="3838847"/>
            <a:ext cx="444341" cy="3282244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연결선: 꺾임 48">
            <a:extLst>
              <a:ext uri="{FF2B5EF4-FFF2-40B4-BE49-F238E27FC236}">
                <a16:creationId xmlns:a16="http://schemas.microsoft.com/office/drawing/2014/main" id="{61313F14-D9B9-4AEC-83F1-F31FA6AB4108}"/>
              </a:ext>
            </a:extLst>
          </p:cNvPr>
          <p:cNvCxnSpPr>
            <a:stCxn id="58" idx="2"/>
            <a:endCxn id="118" idx="0"/>
          </p:cNvCxnSpPr>
          <p:nvPr/>
        </p:nvCxnSpPr>
        <p:spPr>
          <a:xfrm rot="16200000" flipH="1">
            <a:off x="3494797" y="4322999"/>
            <a:ext cx="444341" cy="2313939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연결선: 꺾임 50">
            <a:extLst>
              <a:ext uri="{FF2B5EF4-FFF2-40B4-BE49-F238E27FC236}">
                <a16:creationId xmlns:a16="http://schemas.microsoft.com/office/drawing/2014/main" id="{4F9B34FB-BAFD-4FE4-8F07-328CBB869A47}"/>
              </a:ext>
            </a:extLst>
          </p:cNvPr>
          <p:cNvCxnSpPr>
            <a:stCxn id="60" idx="2"/>
            <a:endCxn id="118" idx="0"/>
          </p:cNvCxnSpPr>
          <p:nvPr/>
        </p:nvCxnSpPr>
        <p:spPr>
          <a:xfrm rot="16200000" flipH="1">
            <a:off x="3978950" y="4807152"/>
            <a:ext cx="444341" cy="1345634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연결선: 꺾임 52">
            <a:extLst>
              <a:ext uri="{FF2B5EF4-FFF2-40B4-BE49-F238E27FC236}">
                <a16:creationId xmlns:a16="http://schemas.microsoft.com/office/drawing/2014/main" id="{8C6E5BEE-490C-448D-8B29-E4135CDD2EBC}"/>
              </a:ext>
            </a:extLst>
          </p:cNvPr>
          <p:cNvCxnSpPr>
            <a:stCxn id="61" idx="2"/>
            <a:endCxn id="118" idx="0"/>
          </p:cNvCxnSpPr>
          <p:nvPr/>
        </p:nvCxnSpPr>
        <p:spPr>
          <a:xfrm rot="16200000" flipH="1">
            <a:off x="4463102" y="5291304"/>
            <a:ext cx="444341" cy="377329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연결선: 꺾임 54">
            <a:extLst>
              <a:ext uri="{FF2B5EF4-FFF2-40B4-BE49-F238E27FC236}">
                <a16:creationId xmlns:a16="http://schemas.microsoft.com/office/drawing/2014/main" id="{00B96D4F-9F72-4C99-95FC-99A5C65848CA}"/>
              </a:ext>
            </a:extLst>
          </p:cNvPr>
          <p:cNvCxnSpPr>
            <a:cxnSpLocks/>
            <a:stCxn id="59" idx="2"/>
            <a:endCxn id="118" idx="0"/>
          </p:cNvCxnSpPr>
          <p:nvPr/>
        </p:nvCxnSpPr>
        <p:spPr>
          <a:xfrm rot="5400000">
            <a:off x="4947255" y="5184481"/>
            <a:ext cx="444341" cy="590976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연결선: 꺾임 69">
            <a:extLst>
              <a:ext uri="{FF2B5EF4-FFF2-40B4-BE49-F238E27FC236}">
                <a16:creationId xmlns:a16="http://schemas.microsoft.com/office/drawing/2014/main" id="{CFCD813E-33D6-4365-A5A4-836EDC0A1A31}"/>
              </a:ext>
            </a:extLst>
          </p:cNvPr>
          <p:cNvCxnSpPr>
            <a:cxnSpLocks/>
            <a:stCxn id="63" idx="2"/>
            <a:endCxn id="4" idx="0"/>
          </p:cNvCxnSpPr>
          <p:nvPr/>
        </p:nvCxnSpPr>
        <p:spPr>
          <a:xfrm rot="16200000" flipH="1">
            <a:off x="8371589" y="5240025"/>
            <a:ext cx="517250" cy="520773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49B6D6C7-68B3-8D97-BD91-C8D146026CB9}"/>
              </a:ext>
            </a:extLst>
          </p:cNvPr>
          <p:cNvSpPr/>
          <p:nvPr/>
        </p:nvSpPr>
        <p:spPr>
          <a:xfrm>
            <a:off x="5985687" y="4772324"/>
            <a:ext cx="895062" cy="485475"/>
          </a:xfrm>
          <a:prstGeom prst="rect">
            <a:avLst/>
          </a:prstGeom>
          <a:solidFill>
            <a:schemeClr val="bg1"/>
          </a:solidFill>
          <a:ln w="19050">
            <a:solidFill>
              <a:srgbClr val="007A00"/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작업 반경 근방 정적</a:t>
            </a:r>
            <a:endParaRPr lang="en-US" altLang="ko-KR" sz="80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algn="ctr"/>
            <a:r>
              <a:rPr lang="ko-KR" altLang="en-US" sz="8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장애물에 의한 사각</a:t>
            </a:r>
            <a:endParaRPr lang="en-US" altLang="ko-KR" sz="80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14D0F729-3C15-A654-E0A9-82404A1496D3}"/>
              </a:ext>
            </a:extLst>
          </p:cNvPr>
          <p:cNvSpPr/>
          <p:nvPr/>
        </p:nvSpPr>
        <p:spPr>
          <a:xfrm>
            <a:off x="6953992" y="4772323"/>
            <a:ext cx="895062" cy="485475"/>
          </a:xfrm>
          <a:prstGeom prst="rect">
            <a:avLst/>
          </a:prstGeom>
          <a:solidFill>
            <a:schemeClr val="bg1"/>
          </a:solidFill>
          <a:ln w="19050">
            <a:solidFill>
              <a:srgbClr val="007A00"/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작업 반경 근방</a:t>
            </a:r>
            <a:endParaRPr lang="en-US" altLang="ko-KR" sz="80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algn="ctr"/>
            <a:r>
              <a:rPr lang="ko-KR" altLang="en-US" sz="8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정차 장애물</a:t>
            </a:r>
            <a:endParaRPr lang="en-US" altLang="ko-KR" sz="80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6591CB60-57B0-8669-3C30-113D614886A5}"/>
              </a:ext>
            </a:extLst>
          </p:cNvPr>
          <p:cNvSpPr/>
          <p:nvPr/>
        </p:nvSpPr>
        <p:spPr>
          <a:xfrm>
            <a:off x="8890601" y="4756311"/>
            <a:ext cx="895062" cy="485475"/>
          </a:xfrm>
          <a:prstGeom prst="rect">
            <a:avLst/>
          </a:prstGeom>
          <a:solidFill>
            <a:schemeClr val="bg1"/>
          </a:solidFill>
          <a:ln w="19050">
            <a:solidFill>
              <a:srgbClr val="007A00"/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단차가 있는 </a:t>
            </a:r>
            <a:endParaRPr lang="en-US" altLang="ko-KR" sz="80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algn="ctr"/>
            <a:r>
              <a:rPr lang="ko-KR" altLang="en-US" sz="8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주행 환경</a:t>
            </a:r>
            <a:endParaRPr lang="en-US" altLang="ko-KR" sz="80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cxnSp>
        <p:nvCxnSpPr>
          <p:cNvPr id="69" name="연결선: 꺾임 68">
            <a:extLst>
              <a:ext uri="{FF2B5EF4-FFF2-40B4-BE49-F238E27FC236}">
                <a16:creationId xmlns:a16="http://schemas.microsoft.com/office/drawing/2014/main" id="{6025F10B-99EE-7255-89F0-68880F69C982}"/>
              </a:ext>
            </a:extLst>
          </p:cNvPr>
          <p:cNvCxnSpPr>
            <a:cxnSpLocks/>
            <a:stCxn id="84" idx="2"/>
            <a:endCxn id="29" idx="0"/>
          </p:cNvCxnSpPr>
          <p:nvPr/>
        </p:nvCxnSpPr>
        <p:spPr>
          <a:xfrm rot="5400000">
            <a:off x="6072260" y="4410899"/>
            <a:ext cx="722384" cy="467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연결선: 꺾임 72">
            <a:extLst>
              <a:ext uri="{FF2B5EF4-FFF2-40B4-BE49-F238E27FC236}">
                <a16:creationId xmlns:a16="http://schemas.microsoft.com/office/drawing/2014/main" id="{E0CBA8A7-E6F9-2E00-3A2D-50C47FAEE68F}"/>
              </a:ext>
            </a:extLst>
          </p:cNvPr>
          <p:cNvCxnSpPr>
            <a:cxnSpLocks/>
            <a:stCxn id="84" idx="2"/>
            <a:endCxn id="30" idx="0"/>
          </p:cNvCxnSpPr>
          <p:nvPr/>
        </p:nvCxnSpPr>
        <p:spPr>
          <a:xfrm rot="16200000" flipH="1">
            <a:off x="6556413" y="3927212"/>
            <a:ext cx="722383" cy="967838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연결선: 꺾임 75">
            <a:extLst>
              <a:ext uri="{FF2B5EF4-FFF2-40B4-BE49-F238E27FC236}">
                <a16:creationId xmlns:a16="http://schemas.microsoft.com/office/drawing/2014/main" id="{7944F5FC-5C53-B58E-1018-A96EA7CB4369}"/>
              </a:ext>
            </a:extLst>
          </p:cNvPr>
          <p:cNvCxnSpPr>
            <a:cxnSpLocks/>
            <a:stCxn id="64" idx="2"/>
            <a:endCxn id="32" idx="0"/>
          </p:cNvCxnSpPr>
          <p:nvPr/>
        </p:nvCxnSpPr>
        <p:spPr>
          <a:xfrm rot="16200000" flipH="1">
            <a:off x="8724814" y="4142992"/>
            <a:ext cx="706371" cy="520265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연결선: 꺾임 86">
            <a:extLst>
              <a:ext uri="{FF2B5EF4-FFF2-40B4-BE49-F238E27FC236}">
                <a16:creationId xmlns:a16="http://schemas.microsoft.com/office/drawing/2014/main" id="{E36CE21B-CFC4-5002-443C-333749221432}"/>
              </a:ext>
            </a:extLst>
          </p:cNvPr>
          <p:cNvCxnSpPr>
            <a:cxnSpLocks/>
            <a:stCxn id="32" idx="2"/>
            <a:endCxn id="4" idx="0"/>
          </p:cNvCxnSpPr>
          <p:nvPr/>
        </p:nvCxnSpPr>
        <p:spPr>
          <a:xfrm rot="5400000">
            <a:off x="8855742" y="5276646"/>
            <a:ext cx="517251" cy="447531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연결선: 꺾임 89">
            <a:extLst>
              <a:ext uri="{FF2B5EF4-FFF2-40B4-BE49-F238E27FC236}">
                <a16:creationId xmlns:a16="http://schemas.microsoft.com/office/drawing/2014/main" id="{53264B81-7002-AA11-065D-434B6CA79CD5}"/>
              </a:ext>
            </a:extLst>
          </p:cNvPr>
          <p:cNvCxnSpPr>
            <a:cxnSpLocks/>
            <a:stCxn id="29" idx="2"/>
            <a:endCxn id="118" idx="0"/>
          </p:cNvCxnSpPr>
          <p:nvPr/>
        </p:nvCxnSpPr>
        <p:spPr>
          <a:xfrm rot="5400000">
            <a:off x="5431408" y="4700329"/>
            <a:ext cx="444341" cy="1559281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연결선: 꺾임 92">
            <a:extLst>
              <a:ext uri="{FF2B5EF4-FFF2-40B4-BE49-F238E27FC236}">
                <a16:creationId xmlns:a16="http://schemas.microsoft.com/office/drawing/2014/main" id="{8846DEC6-7D4A-A336-744B-CC8A1D3B6554}"/>
              </a:ext>
            </a:extLst>
          </p:cNvPr>
          <p:cNvCxnSpPr>
            <a:cxnSpLocks/>
            <a:stCxn id="30" idx="2"/>
            <a:endCxn id="118" idx="0"/>
          </p:cNvCxnSpPr>
          <p:nvPr/>
        </p:nvCxnSpPr>
        <p:spPr>
          <a:xfrm rot="5400000">
            <a:off x="5915559" y="4216176"/>
            <a:ext cx="444342" cy="2527586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3">
            <a:extLst>
              <a:ext uri="{FF2B5EF4-FFF2-40B4-BE49-F238E27FC236}">
                <a16:creationId xmlns:a16="http://schemas.microsoft.com/office/drawing/2014/main" id="{1482C569-C615-C6B8-CCA8-70A61487FBFC}"/>
              </a:ext>
            </a:extLst>
          </p:cNvPr>
          <p:cNvSpPr/>
          <p:nvPr/>
        </p:nvSpPr>
        <p:spPr>
          <a:xfrm>
            <a:off x="8216406" y="5759037"/>
            <a:ext cx="1348389" cy="406858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flag = true</a:t>
            </a:r>
            <a:r>
              <a:rPr lang="ko-KR" altLang="en-US" sz="8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및</a:t>
            </a:r>
            <a:endParaRPr lang="en-US" altLang="ko-KR" sz="80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algn="ctr"/>
            <a:r>
              <a:rPr lang="ko-KR" altLang="en-US" sz="8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위험한 전역경로 좌표</a:t>
            </a:r>
            <a:r>
              <a:rPr lang="en-US" altLang="ko-KR" sz="8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ko-KR" altLang="en-US" sz="8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출력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EAD3C1EE-4A13-C430-3946-088FC67A198B}"/>
              </a:ext>
            </a:extLst>
          </p:cNvPr>
          <p:cNvSpPr/>
          <p:nvPr/>
        </p:nvSpPr>
        <p:spPr>
          <a:xfrm>
            <a:off x="0" y="4555067"/>
            <a:ext cx="9906000" cy="958868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5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CC89356-445B-69D9-2035-166CAE5A702A}"/>
              </a:ext>
            </a:extLst>
          </p:cNvPr>
          <p:cNvSpPr txBox="1"/>
          <p:nvPr/>
        </p:nvSpPr>
        <p:spPr>
          <a:xfrm>
            <a:off x="-22934" y="5630076"/>
            <a:ext cx="19087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C00000"/>
                </a:solidFill>
              </a:rPr>
              <a:t>10</a:t>
            </a:r>
            <a:r>
              <a:rPr lang="ko-KR" altLang="en-US" b="1" dirty="0">
                <a:solidFill>
                  <a:srgbClr val="C00000"/>
                </a:solidFill>
              </a:rPr>
              <a:t>종 위험환경</a:t>
            </a:r>
          </a:p>
        </p:txBody>
      </p:sp>
    </p:spTree>
    <p:extLst>
      <p:ext uri="{BB962C8B-B14F-4D97-AF65-F5344CB8AC3E}">
        <p14:creationId xmlns:p14="http://schemas.microsoft.com/office/powerpoint/2010/main" val="275247655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74846" y="213862"/>
            <a:ext cx="8035624" cy="384721"/>
          </a:xfrm>
        </p:spPr>
        <p:txBody>
          <a:bodyPr/>
          <a:lstStyle/>
          <a:p>
            <a:r>
              <a:rPr lang="en-US" altLang="ko-KR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1</a:t>
            </a:r>
            <a:r>
              <a:rPr lang="ko-KR" altLang="en-US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lang="ko-KR" altLang="en-US" dirty="0" err="1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주행중</a:t>
            </a:r>
            <a:r>
              <a:rPr lang="ko-KR" altLang="en-US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전역 경로 근방 이동 가능한 정지 장애물이 존재하는 환경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F55F954-5E86-475A-837F-2B8CED6C7DF1}" type="slidenum">
              <a:rPr lang="ko-KR" altLang="en-US" smtClean="0"/>
              <a:pPr/>
              <a:t>38</a:t>
            </a:fld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381000" y="873125"/>
            <a:ext cx="9144000" cy="1570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5256" indent="-95256"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buFont typeface="Wingdings" panose="05000000000000000000" pitchFamily="2" charset="2"/>
              <a:buChar char="§"/>
              <a:defRPr/>
            </a:pPr>
            <a:r>
              <a:rPr lang="ko-KR" altLang="en-US" sz="1300" b="1" kern="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개요</a:t>
            </a:r>
            <a:endParaRPr lang="en-US" altLang="ko-KR" sz="1300" b="1" kern="0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데이터 융합 모듈로부터 전달받은 전역 지도 및 장애물 데이터를 통해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,</a:t>
            </a: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 err="1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정지되어있는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동적 장애물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(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정차중인 차량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)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에 의한 위험 환경 판단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장애물의 갑작스런 출발로 인한 충돌 위험 상황 발생 가능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작업 보조 차량이 </a:t>
            </a:r>
            <a:r>
              <a:rPr lang="ko-KR" altLang="en-US" sz="1300" kern="0" dirty="0" err="1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선진입하여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위험 상황 발생 가능성 소거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DF27A014-7D19-4051-BDAD-FF2EF26445E0}"/>
              </a:ext>
            </a:extLst>
          </p:cNvPr>
          <p:cNvSpPr/>
          <p:nvPr/>
        </p:nvSpPr>
        <p:spPr>
          <a:xfrm>
            <a:off x="381000" y="2795138"/>
            <a:ext cx="7683500" cy="1570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5256" indent="-95256"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buFont typeface="Wingdings" panose="05000000000000000000" pitchFamily="2" charset="2"/>
              <a:buChar char="§"/>
              <a:defRPr/>
            </a:pPr>
            <a:r>
              <a:rPr lang="ko-KR" altLang="en-US" sz="1300" b="1" kern="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알고리즘</a:t>
            </a:r>
            <a:endParaRPr lang="en-US" altLang="ko-KR" sz="1300" b="1" kern="0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예상 주행 경로 근방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이동 가능한 장애물이 존재하는 환경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  -&gt;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예상 주행 경로 반경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15m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이내 정지 장애물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(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정차중인 차량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)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존재 여부 판단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특장차로 부터 해당 장애물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30m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이내 </a:t>
            </a:r>
            <a:r>
              <a:rPr lang="ko-KR" altLang="en-US" sz="1300" kern="0" dirty="0" err="1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근접시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특장차 지속 주행 및 작업 보조 차량 가속으로 </a:t>
            </a:r>
            <a:r>
              <a:rPr lang="ko-KR" altLang="en-US" sz="1300" kern="0" dirty="0" err="1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선진입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이동 가능 장애물에 경고 신호를 통한 갑작스런 출발 억제 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910067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74846" y="213862"/>
            <a:ext cx="8275666" cy="384721"/>
          </a:xfrm>
        </p:spPr>
        <p:txBody>
          <a:bodyPr/>
          <a:lstStyle/>
          <a:p>
            <a:r>
              <a:rPr lang="en-US" altLang="ko-KR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1</a:t>
            </a:r>
            <a:r>
              <a:rPr lang="ko-KR" altLang="en-US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lang="ko-KR" altLang="en-US" dirty="0" err="1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주행중</a:t>
            </a:r>
            <a:r>
              <a:rPr lang="ko-KR" altLang="en-US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전역 경로 근방 이동 가능한 정지 장애물이 존재하는 환경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F55F954-5E86-475A-837F-2B8CED6C7DF1}" type="slidenum">
              <a:rPr lang="ko-KR" altLang="en-US" smtClean="0"/>
              <a:pPr/>
              <a:t>39</a:t>
            </a:fld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BF6D81D-E1D9-419F-B929-291CC94C1BAF}"/>
              </a:ext>
            </a:extLst>
          </p:cNvPr>
          <p:cNvSpPr/>
          <p:nvPr/>
        </p:nvSpPr>
        <p:spPr>
          <a:xfrm>
            <a:off x="284495" y="950861"/>
            <a:ext cx="3200971" cy="1148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정지되어 있는 동적 장애물</a:t>
            </a:r>
            <a:endParaRPr lang="en-US" altLang="ko-KR" sz="12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차량 및 보행자</a:t>
            </a:r>
            <a:endParaRPr lang="en-US" altLang="ko-KR" sz="120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동적 장애물로 분류되지만 현재 정지 상태</a:t>
            </a:r>
            <a:endParaRPr lang="en-US" altLang="ko-KR" sz="120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언제든 이동 가능한 장애물</a:t>
            </a:r>
            <a:endParaRPr lang="en-US" altLang="ko-KR" sz="120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D14F4D4-2DA7-43E5-A138-7BA0A8F7DE5D}"/>
              </a:ext>
            </a:extLst>
          </p:cNvPr>
          <p:cNvSpPr/>
          <p:nvPr/>
        </p:nvSpPr>
        <p:spPr>
          <a:xfrm>
            <a:off x="284494" y="2100846"/>
            <a:ext cx="3200971" cy="1148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주행 경로 근방</a:t>
            </a:r>
            <a:endParaRPr lang="en-US" altLang="ko-KR" sz="12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주행 예상 전역 경로 반경 </a:t>
            </a:r>
            <a:r>
              <a:rPr lang="en-US" altLang="ko-KR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15m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1B1DD8C-F42B-4C4A-B306-B5FD22B6C5A1}"/>
              </a:ext>
            </a:extLst>
          </p:cNvPr>
          <p:cNvSpPr/>
          <p:nvPr/>
        </p:nvSpPr>
        <p:spPr>
          <a:xfrm>
            <a:off x="284494" y="3170270"/>
            <a:ext cx="3200971" cy="1148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위험 환경 판단</a:t>
            </a:r>
            <a:endParaRPr lang="en-US" altLang="ko-KR" sz="12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충분한 회피 경로 생성이 불가능한 주행 경로 근방에 정지한 동적 장애물이 있는 환경에 특장차량이 </a:t>
            </a:r>
            <a:r>
              <a:rPr lang="en-US" altLang="ko-KR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30m </a:t>
            </a:r>
            <a:r>
              <a:rPr lang="ko-KR" altLang="en-US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이내로 접근 시</a:t>
            </a:r>
            <a:endParaRPr lang="en-US" altLang="ko-KR" sz="120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57D1FF3-8947-49A5-894D-5976DDDB1D03}"/>
              </a:ext>
            </a:extLst>
          </p:cNvPr>
          <p:cNvSpPr/>
          <p:nvPr/>
        </p:nvSpPr>
        <p:spPr>
          <a:xfrm>
            <a:off x="284494" y="4318670"/>
            <a:ext cx="3200971" cy="1148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대응 전략</a:t>
            </a:r>
            <a:endParaRPr lang="en-US" altLang="ko-KR" sz="12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위험 환경 판단 시 작업 </a:t>
            </a:r>
            <a:r>
              <a:rPr lang="ko-KR" altLang="en-US" sz="1200" dirty="0" err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보조차량이</a:t>
            </a:r>
            <a:r>
              <a:rPr lang="ko-KR" altLang="en-US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 사전 진입하여 경고음을 통해 동적 장애물의 출발을 억제</a:t>
            </a:r>
            <a:endParaRPr lang="en-US" altLang="ko-KR" sz="120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433EC8C2-4848-46A3-A7C1-6B989C2D8DF7}"/>
              </a:ext>
            </a:extLst>
          </p:cNvPr>
          <p:cNvGrpSpPr/>
          <p:nvPr/>
        </p:nvGrpSpPr>
        <p:grpSpPr>
          <a:xfrm>
            <a:off x="3409495" y="2099261"/>
            <a:ext cx="6329930" cy="3653936"/>
            <a:chOff x="3409495" y="2099261"/>
            <a:chExt cx="6329930" cy="3653936"/>
          </a:xfrm>
        </p:grpSpPr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B2E28E4F-96AB-4233-83DA-0D2E18D6C46E}"/>
                </a:ext>
              </a:extLst>
            </p:cNvPr>
            <p:cNvCxnSpPr/>
            <p:nvPr/>
          </p:nvCxnSpPr>
          <p:spPr>
            <a:xfrm flipV="1">
              <a:off x="5123296" y="3963349"/>
              <a:ext cx="2042275" cy="5313"/>
            </a:xfrm>
            <a:prstGeom prst="line">
              <a:avLst/>
            </a:prstGeom>
            <a:ln w="19050" cap="flat" cmpd="sng" algn="ctr">
              <a:solidFill>
                <a:schemeClr val="accent6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54C8F7D8-396C-436B-8CC7-7C19194D4C8E}"/>
                </a:ext>
              </a:extLst>
            </p:cNvPr>
            <p:cNvCxnSpPr/>
            <p:nvPr/>
          </p:nvCxnSpPr>
          <p:spPr>
            <a:xfrm flipV="1">
              <a:off x="5123296" y="2408762"/>
              <a:ext cx="2130151" cy="5314"/>
            </a:xfrm>
            <a:prstGeom prst="line">
              <a:avLst/>
            </a:prstGeom>
            <a:ln w="19050" cap="flat" cmpd="sng" algn="ctr">
              <a:solidFill>
                <a:schemeClr val="accent6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" name="직선 화살표 연결선 8">
              <a:extLst>
                <a:ext uri="{FF2B5EF4-FFF2-40B4-BE49-F238E27FC236}">
                  <a16:creationId xmlns:a16="http://schemas.microsoft.com/office/drawing/2014/main" id="{340F305D-C6E0-4B7F-BC24-11A54FEA8D2A}"/>
                </a:ext>
              </a:extLst>
            </p:cNvPr>
            <p:cNvCxnSpPr/>
            <p:nvPr/>
          </p:nvCxnSpPr>
          <p:spPr>
            <a:xfrm>
              <a:off x="4395506" y="3181533"/>
              <a:ext cx="2860692" cy="0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모서리가 둥근 직사각형 16">
              <a:extLst>
                <a:ext uri="{FF2B5EF4-FFF2-40B4-BE49-F238E27FC236}">
                  <a16:creationId xmlns:a16="http://schemas.microsoft.com/office/drawing/2014/main" id="{DFF60211-75E5-4624-9741-880B7001425E}"/>
                </a:ext>
              </a:extLst>
            </p:cNvPr>
            <p:cNvSpPr/>
            <p:nvPr/>
          </p:nvSpPr>
          <p:spPr>
            <a:xfrm>
              <a:off x="7200405" y="4622814"/>
              <a:ext cx="720000" cy="468000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/>
                <a:t>동적</a:t>
              </a:r>
              <a:endParaRPr lang="en-US" altLang="ko-KR" sz="1200" dirty="0"/>
            </a:p>
            <a:p>
              <a:pPr algn="ctr"/>
              <a:r>
                <a:rPr lang="ko-KR" altLang="en-US" sz="1200" dirty="0"/>
                <a:t>장애물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420650C-08B2-4389-87FD-8A73857EF1F9}"/>
                </a:ext>
              </a:extLst>
            </p:cNvPr>
            <p:cNvSpPr txBox="1"/>
            <p:nvPr/>
          </p:nvSpPr>
          <p:spPr>
            <a:xfrm>
              <a:off x="8102061" y="3715417"/>
              <a:ext cx="5484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latin typeface="+mn-ea"/>
                </a:rPr>
                <a:t>15m</a:t>
              </a:r>
              <a:endParaRPr lang="ko-KR" altLang="en-US" sz="1200" dirty="0">
                <a:latin typeface="+mn-ea"/>
              </a:endParaRPr>
            </a:p>
          </p:txBody>
        </p:sp>
        <p:cxnSp>
          <p:nvCxnSpPr>
            <p:cNvPr id="16" name="직선 화살표 연결선 15">
              <a:extLst>
                <a:ext uri="{FF2B5EF4-FFF2-40B4-BE49-F238E27FC236}">
                  <a16:creationId xmlns:a16="http://schemas.microsoft.com/office/drawing/2014/main" id="{6C65B034-20EB-4931-A576-69E6B41AD62E}"/>
                </a:ext>
              </a:extLst>
            </p:cNvPr>
            <p:cNvCxnSpPr>
              <a:stCxn id="19" idx="3"/>
              <a:endCxn id="14" idx="1"/>
            </p:cNvCxnSpPr>
            <p:nvPr/>
          </p:nvCxnSpPr>
          <p:spPr>
            <a:xfrm>
              <a:off x="4844357" y="3185915"/>
              <a:ext cx="2356048" cy="1670899"/>
            </a:xfrm>
            <a:prstGeom prst="straightConnector1">
              <a:avLst/>
            </a:prstGeom>
            <a:ln w="3175">
              <a:prstDash val="dash"/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5D5310D-3BAF-4D50-BADA-07F1C9ED0B08}"/>
                </a:ext>
              </a:extLst>
            </p:cNvPr>
            <p:cNvSpPr txBox="1"/>
            <p:nvPr/>
          </p:nvSpPr>
          <p:spPr>
            <a:xfrm>
              <a:off x="5772171" y="4097361"/>
              <a:ext cx="5484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latin typeface="+mn-ea"/>
                </a:rPr>
                <a:t>30m</a:t>
              </a:r>
              <a:endParaRPr lang="ko-KR" altLang="en-US" sz="1200" dirty="0">
                <a:latin typeface="+mn-ea"/>
              </a:endParaRPr>
            </a:p>
          </p:txBody>
        </p:sp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8C16D147-6FDB-4237-91C2-4705563EFBB6}"/>
                </a:ext>
              </a:extLst>
            </p:cNvPr>
            <p:cNvGrpSpPr/>
            <p:nvPr/>
          </p:nvGrpSpPr>
          <p:grpSpPr>
            <a:xfrm>
              <a:off x="3409495" y="2099261"/>
              <a:ext cx="1989829" cy="2173308"/>
              <a:chOff x="4234778" y="2962285"/>
              <a:chExt cx="1989829" cy="2173308"/>
            </a:xfrm>
          </p:grpSpPr>
          <p:sp>
            <p:nvSpPr>
              <p:cNvPr id="19" name="모서리가 둥근 직사각형 38">
                <a:extLst>
                  <a:ext uri="{FF2B5EF4-FFF2-40B4-BE49-F238E27FC236}">
                    <a16:creationId xmlns:a16="http://schemas.microsoft.com/office/drawing/2014/main" id="{A5974A69-505F-4CFE-BAB6-BAF6C9E28C22}"/>
                  </a:ext>
                </a:extLst>
              </p:cNvPr>
              <p:cNvSpPr/>
              <p:nvPr/>
            </p:nvSpPr>
            <p:spPr>
              <a:xfrm>
                <a:off x="4789745" y="3581287"/>
                <a:ext cx="879895" cy="935304"/>
              </a:xfrm>
              <a:prstGeom prst="roundRect">
                <a:avLst/>
              </a:prstGeom>
              <a:ln>
                <a:solidFill>
                  <a:schemeClr val="accent5"/>
                </a:solidFill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200" dirty="0" err="1"/>
                  <a:t>특장차량</a:t>
                </a:r>
                <a:endParaRPr lang="ko-KR" altLang="en-US" sz="1200" dirty="0"/>
              </a:p>
            </p:txBody>
          </p:sp>
          <p:sp>
            <p:nvSpPr>
              <p:cNvPr id="20" name="모서리가 둥근 직사각형 39">
                <a:extLst>
                  <a:ext uri="{FF2B5EF4-FFF2-40B4-BE49-F238E27FC236}">
                    <a16:creationId xmlns:a16="http://schemas.microsoft.com/office/drawing/2014/main" id="{951D5FA5-B29A-4BEC-8779-02F29DBBDFA2}"/>
                  </a:ext>
                </a:extLst>
              </p:cNvPr>
              <p:cNvSpPr/>
              <p:nvPr/>
            </p:nvSpPr>
            <p:spPr>
              <a:xfrm>
                <a:off x="4234778" y="2962285"/>
                <a:ext cx="554967" cy="619002"/>
              </a:xfrm>
              <a:prstGeom prst="round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200" dirty="0" err="1"/>
                  <a:t>보조차량</a:t>
                </a:r>
                <a:endParaRPr lang="ko-KR" altLang="en-US" sz="1200" dirty="0"/>
              </a:p>
            </p:txBody>
          </p:sp>
          <p:sp>
            <p:nvSpPr>
              <p:cNvPr id="21" name="모서리가 둥근 직사각형 41">
                <a:extLst>
                  <a:ext uri="{FF2B5EF4-FFF2-40B4-BE49-F238E27FC236}">
                    <a16:creationId xmlns:a16="http://schemas.microsoft.com/office/drawing/2014/main" id="{962516B4-146F-4409-BB76-BA2358C99FAC}"/>
                  </a:ext>
                </a:extLst>
              </p:cNvPr>
              <p:cNvSpPr/>
              <p:nvPr/>
            </p:nvSpPr>
            <p:spPr>
              <a:xfrm>
                <a:off x="5669640" y="2962285"/>
                <a:ext cx="554967" cy="619002"/>
              </a:xfrm>
              <a:prstGeom prst="round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200" dirty="0" err="1"/>
                  <a:t>보조차량</a:t>
                </a:r>
                <a:endParaRPr lang="ko-KR" altLang="en-US" sz="1200" dirty="0"/>
              </a:p>
            </p:txBody>
          </p:sp>
          <p:sp>
            <p:nvSpPr>
              <p:cNvPr id="22" name="모서리가 둥근 직사각형 42">
                <a:extLst>
                  <a:ext uri="{FF2B5EF4-FFF2-40B4-BE49-F238E27FC236}">
                    <a16:creationId xmlns:a16="http://schemas.microsoft.com/office/drawing/2014/main" id="{C974EE18-B8A2-47FC-ADE9-B276F8EC9FE7}"/>
                  </a:ext>
                </a:extLst>
              </p:cNvPr>
              <p:cNvSpPr/>
              <p:nvPr/>
            </p:nvSpPr>
            <p:spPr>
              <a:xfrm>
                <a:off x="4234778" y="4516591"/>
                <a:ext cx="554967" cy="619002"/>
              </a:xfrm>
              <a:prstGeom prst="round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200" dirty="0" err="1"/>
                  <a:t>보조차량</a:t>
                </a:r>
                <a:endParaRPr lang="ko-KR" altLang="en-US" sz="1200" dirty="0"/>
              </a:p>
            </p:txBody>
          </p:sp>
          <p:sp>
            <p:nvSpPr>
              <p:cNvPr id="23" name="모서리가 둥근 직사각형 43">
                <a:extLst>
                  <a:ext uri="{FF2B5EF4-FFF2-40B4-BE49-F238E27FC236}">
                    <a16:creationId xmlns:a16="http://schemas.microsoft.com/office/drawing/2014/main" id="{EDD8C986-7E06-4C06-8A8F-04A4DF9FDBAA}"/>
                  </a:ext>
                </a:extLst>
              </p:cNvPr>
              <p:cNvSpPr/>
              <p:nvPr/>
            </p:nvSpPr>
            <p:spPr>
              <a:xfrm>
                <a:off x="5669639" y="4516591"/>
                <a:ext cx="554967" cy="619002"/>
              </a:xfrm>
              <a:prstGeom prst="round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200" dirty="0" err="1"/>
                  <a:t>보조차량</a:t>
                </a:r>
                <a:endParaRPr lang="ko-KR" altLang="en-US" sz="1200" dirty="0"/>
              </a:p>
            </p:txBody>
          </p:sp>
        </p:grpSp>
        <p:cxnSp>
          <p:nvCxnSpPr>
            <p:cNvPr id="24" name="직선 화살표 연결선 23">
              <a:extLst>
                <a:ext uri="{FF2B5EF4-FFF2-40B4-BE49-F238E27FC236}">
                  <a16:creationId xmlns:a16="http://schemas.microsoft.com/office/drawing/2014/main" id="{7AD2251C-A4EC-4437-B8DB-FFA0C4A97E1C}"/>
                </a:ext>
              </a:extLst>
            </p:cNvPr>
            <p:cNvCxnSpPr/>
            <p:nvPr/>
          </p:nvCxnSpPr>
          <p:spPr>
            <a:xfrm>
              <a:off x="7253447" y="3181533"/>
              <a:ext cx="2256313" cy="2000003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F8A35D8B-113D-40EF-AF2B-6D3FF0FAB924}"/>
                </a:ext>
              </a:extLst>
            </p:cNvPr>
            <p:cNvCxnSpPr/>
            <p:nvPr/>
          </p:nvCxnSpPr>
          <p:spPr>
            <a:xfrm>
              <a:off x="7165571" y="3963068"/>
              <a:ext cx="2069869" cy="1790129"/>
            </a:xfrm>
            <a:prstGeom prst="line">
              <a:avLst/>
            </a:prstGeom>
            <a:ln w="19050" cap="flat" cmpd="sng" algn="ctr">
              <a:solidFill>
                <a:schemeClr val="accent6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922E20F5-F2E9-4BA0-997E-100C64300F48}"/>
                </a:ext>
              </a:extLst>
            </p:cNvPr>
            <p:cNvCxnSpPr/>
            <p:nvPr/>
          </p:nvCxnSpPr>
          <p:spPr>
            <a:xfrm>
              <a:off x="7258458" y="2408762"/>
              <a:ext cx="2480967" cy="2163540"/>
            </a:xfrm>
            <a:prstGeom prst="line">
              <a:avLst/>
            </a:prstGeom>
            <a:ln w="19050" cap="flat" cmpd="sng" algn="ctr">
              <a:solidFill>
                <a:schemeClr val="accent6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7" name="직선 화살표 연결선 26">
              <a:extLst>
                <a:ext uri="{FF2B5EF4-FFF2-40B4-BE49-F238E27FC236}">
                  <a16:creationId xmlns:a16="http://schemas.microsoft.com/office/drawing/2014/main" id="{16970F21-9A05-4472-8718-5D519971E767}"/>
                </a:ext>
              </a:extLst>
            </p:cNvPr>
            <p:cNvCxnSpPr/>
            <p:nvPr/>
          </p:nvCxnSpPr>
          <p:spPr>
            <a:xfrm flipV="1">
              <a:off x="7920405" y="4157153"/>
              <a:ext cx="408948" cy="441735"/>
            </a:xfrm>
            <a:prstGeom prst="straightConnector1">
              <a:avLst/>
            </a:prstGeom>
            <a:ln w="3175">
              <a:prstDash val="dash"/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직선 화살표 연결선 28">
              <a:extLst>
                <a:ext uri="{FF2B5EF4-FFF2-40B4-BE49-F238E27FC236}">
                  <a16:creationId xmlns:a16="http://schemas.microsoft.com/office/drawing/2014/main" id="{95A892C5-1F01-431E-A732-B0BCCB06C3D2}"/>
                </a:ext>
              </a:extLst>
            </p:cNvPr>
            <p:cNvCxnSpPr/>
            <p:nvPr/>
          </p:nvCxnSpPr>
          <p:spPr>
            <a:xfrm flipV="1">
              <a:off x="8354291" y="3715418"/>
              <a:ext cx="408948" cy="441735"/>
            </a:xfrm>
            <a:prstGeom prst="straightConnector1">
              <a:avLst/>
            </a:prstGeom>
            <a:ln w="3175">
              <a:prstDash val="dashDot"/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0955D1E1-DCF9-4071-851D-0D83FB84CFC1}"/>
                </a:ext>
              </a:extLst>
            </p:cNvPr>
            <p:cNvSpPr txBox="1"/>
            <p:nvPr/>
          </p:nvSpPr>
          <p:spPr>
            <a:xfrm>
              <a:off x="7714801" y="4132436"/>
              <a:ext cx="5484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latin typeface="+mn-ea"/>
                </a:rPr>
                <a:t>15m</a:t>
              </a:r>
              <a:endParaRPr lang="ko-KR" altLang="en-US" sz="1200" dirty="0"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9717694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74845" y="213862"/>
            <a:ext cx="8303487" cy="384721"/>
          </a:xfrm>
        </p:spPr>
        <p:txBody>
          <a:bodyPr/>
          <a:lstStyle/>
          <a:p>
            <a:r>
              <a:rPr lang="en-US" altLang="ko-KR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1</a:t>
            </a:r>
            <a:r>
              <a:rPr lang="ko-KR" altLang="en-US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lang="ko-KR" altLang="en-US" dirty="0" err="1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주행중</a:t>
            </a:r>
            <a:r>
              <a:rPr lang="ko-KR" altLang="en-US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전역 경로 근방 이동 가능한 정지 장애물이 존재하는 환경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F55F954-5E86-475A-837F-2B8CED6C7DF1}" type="slidenum">
              <a:rPr lang="ko-KR" altLang="en-US" smtClean="0"/>
              <a:pPr/>
              <a:t>40</a:t>
            </a:fld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018FCC3-03A6-43B4-A09A-25D9A5732E64}"/>
              </a:ext>
            </a:extLst>
          </p:cNvPr>
          <p:cNvSpPr/>
          <p:nvPr/>
        </p:nvSpPr>
        <p:spPr>
          <a:xfrm>
            <a:off x="381000" y="873125"/>
            <a:ext cx="9144000" cy="94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5256" indent="-95256"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buFont typeface="Wingdings" panose="05000000000000000000" pitchFamily="2" charset="2"/>
              <a:buChar char="§"/>
              <a:defRPr/>
            </a:pPr>
            <a:r>
              <a:rPr lang="ko-KR" altLang="en-US" sz="1300" b="1" kern="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동적 객체 데이터 입력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데이터 시점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: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최신 시각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t(T_L3fusion)</a:t>
            </a: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L3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데이터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: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이동 장애물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vector (L3obstacle(L), L=0~255)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5" name="직사각형 84">
                <a:extLst>
                  <a:ext uri="{FF2B5EF4-FFF2-40B4-BE49-F238E27FC236}">
                    <a16:creationId xmlns:a16="http://schemas.microsoft.com/office/drawing/2014/main" id="{92886E4C-7DBF-41DF-8A7C-2DA29ADD9754}"/>
                  </a:ext>
                </a:extLst>
              </p:cNvPr>
              <p:cNvSpPr/>
              <p:nvPr/>
            </p:nvSpPr>
            <p:spPr>
              <a:xfrm>
                <a:off x="381000" y="1899058"/>
                <a:ext cx="9144000" cy="21993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120000"/>
                  <a:buFont typeface="+mj-ea"/>
                  <a:buAutoNum type="circleNumDbPlain"/>
                  <a:defRPr/>
                </a:pPr>
                <a:r>
                  <a:rPr lang="ko-KR" altLang="en-US" sz="1300" b="1" kern="0" dirty="0">
                    <a:ln>
                      <a:solidFill>
                        <a:schemeClr val="tx1">
                          <a:alpha val="30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정지 상태 판정</a:t>
                </a:r>
                <a:endParaRPr lang="en-US" altLang="ko-KR" sz="130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90000"/>
                  <a:defRPr/>
                </a:pP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  -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데이터 시점 </a:t>
                </a: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: 5step ( t-4 ~ t )</a:t>
                </a: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90000"/>
                  <a:defRPr/>
                </a:pP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  -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이동객체 속력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𝑣</m:t>
                        </m:r>
                      </m:e>
                      <m:sub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𝑜𝑏𝑠</m:t>
                        </m:r>
                      </m:sub>
                    </m:sSub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)=</m:t>
                    </m:r>
                    <m:d>
                      <m:dPr>
                        <m:begChr m:val="|"/>
                        <m:endChr m:val="|"/>
                        <m:ctrlP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𝑜𝑏𝑠</m:t>
                            </m:r>
                          </m:sub>
                        </m:sSub>
                      </m:e>
                    </m:d>
                  </m:oMath>
                </a14:m>
                <a:endParaRPr lang="en-US" altLang="ko-KR" sz="130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90000"/>
                  <a:defRPr/>
                </a:pP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  -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객체 정지상태 판정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30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num>
                      <m:den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5</m:t>
                        </m:r>
                      </m:den>
                    </m:f>
                    <m:nary>
                      <m:naryPr>
                        <m:chr m:val="∑"/>
                        <m:ctrlPr>
                          <a:rPr lang="ko-KR" altLang="en-US" sz="130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−4</m:t>
                        </m:r>
                      </m:sub>
                      <m:sup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p>
                      <m:e>
                        <m:sSub>
                          <m:sSubPr>
                            <m:ctrlP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𝑜𝑏𝑠</m:t>
                            </m:r>
                          </m:sub>
                        </m:sSub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(</m:t>
                        </m:r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)</m:t>
                        </m:r>
                      </m:e>
                    </m:nary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&lt;0.1</m:t>
                    </m:r>
                    <m:f>
                      <m:fPr>
                        <m:ctrlP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𝑚</m:t>
                        </m:r>
                      </m:num>
                      <m:den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𝑠</m:t>
                        </m:r>
                      </m:den>
                    </m:f>
                  </m:oMath>
                </a14:m>
                <a:b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</a:b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    *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이슈 사항 </a:t>
                </a: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– noise injection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통한 정지 상태 판정 속도 튜닝</a:t>
                </a:r>
                <a:endParaRPr lang="en-US" altLang="ko-KR" sz="130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90000"/>
                  <a:defRPr/>
                </a:pP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  - Logical operation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기반 정지상태 이동객체 추출</a:t>
                </a:r>
                <a:b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</a:b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   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정지상태 이동객체 </a:t>
                </a: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=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이동객체</a:t>
                </a: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(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정지상태</a:t>
                </a: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)</a:t>
                </a:r>
              </a:p>
            </p:txBody>
          </p:sp>
        </mc:Choice>
        <mc:Fallback xmlns="">
          <p:sp>
            <p:nvSpPr>
              <p:cNvPr id="85" name="직사각형 84">
                <a:extLst>
                  <a:ext uri="{FF2B5EF4-FFF2-40B4-BE49-F238E27FC236}">
                    <a16:creationId xmlns:a16="http://schemas.microsoft.com/office/drawing/2014/main" id="{92886E4C-7DBF-41DF-8A7C-2DA29ADD97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1899058"/>
                <a:ext cx="9144000" cy="21993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직사각형 86">
                <a:extLst>
                  <a:ext uri="{FF2B5EF4-FFF2-40B4-BE49-F238E27FC236}">
                    <a16:creationId xmlns:a16="http://schemas.microsoft.com/office/drawing/2014/main" id="{A4F10072-B121-420D-ADA3-13AEE2D206C3}"/>
                  </a:ext>
                </a:extLst>
              </p:cNvPr>
              <p:cNvSpPr/>
              <p:nvPr/>
            </p:nvSpPr>
            <p:spPr>
              <a:xfrm>
                <a:off x="381000" y="4275841"/>
                <a:ext cx="9144000" cy="15251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120000"/>
                  <a:buFont typeface="+mj-ea"/>
                  <a:buAutoNum type="circleNumDbPlain" startAt="2"/>
                  <a:defRPr/>
                </a:pPr>
                <a:r>
                  <a:rPr lang="ko-KR" altLang="en-US" sz="1300" b="1" kern="0" dirty="0">
                    <a:ln>
                      <a:solidFill>
                        <a:schemeClr val="tx1">
                          <a:alpha val="30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특장차로부터의 거리 측정</a:t>
                </a:r>
                <a:endParaRPr lang="en-US" altLang="ko-KR" sz="130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90000"/>
                  <a:defRPr/>
                </a:pP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  -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데이터 시점 </a:t>
                </a: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: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최신시간 </a:t>
                </a: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t</a:t>
                </a: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90000"/>
                  <a:defRPr/>
                </a:pP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  -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정지상태 이동 객체와 특장차 사이 거리 추정</a:t>
                </a:r>
                <a:endParaRPr lang="en-US" altLang="ko-KR" sz="130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90000"/>
                  <a:defRPr/>
                </a:pP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𝐷</m:t>
                        </m:r>
                      </m:e>
                      <m:sub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𝑒𝑔𝑜</m:t>
                        </m:r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_</m:t>
                        </m:r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𝑜𝑏𝑠</m:t>
                        </m:r>
                      </m:sub>
                    </m:sSub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ko-KR" sz="1300" b="0" i="1" kern="0" smtClea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⃗"/>
                                    <m:ctrlPr>
                                      <a:rPr lang="en-US" altLang="ko-KR" sz="1300" b="0" i="1" kern="0" smtClean="0">
                                        <a:ln>
                                          <a:solidFill>
                                            <a:schemeClr val="tx1">
                                              <a:alpha val="5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altLang="ko-KR" sz="1300" b="0" i="1" kern="0" smtClean="0">
                                            <a:ln>
                                              <a:solidFill>
                                                <a:schemeClr val="tx1">
                                                  <a:alpha val="5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300" b="0" i="1" kern="0" smtClean="0">
                                            <a:ln>
                                              <a:solidFill>
                                                <a:schemeClr val="tx1">
                                                  <a:alpha val="5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𝑃</m:t>
                                        </m:r>
                                      </m:e>
                                      <m:sub>
                                        <m:r>
                                          <a:rPr lang="en-US" altLang="ko-KR" sz="1300" b="0" i="1" kern="0" smtClean="0">
                                            <a:ln>
                                              <a:solidFill>
                                                <a:schemeClr val="tx1">
                                                  <a:alpha val="5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𝑒𝑔𝑜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altLang="ko-KR" sz="1300" b="0" i="1" kern="0" smtClea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⃗"/>
                                    <m:ctrlPr>
                                      <a:rPr lang="en-US" altLang="ko-KR" sz="1300" i="1" kern="0">
                                        <a:ln>
                                          <a:solidFill>
                                            <a:schemeClr val="tx1">
                                              <a:alpha val="5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altLang="ko-KR" sz="1300" i="1" kern="0">
                                            <a:ln>
                                              <a:solidFill>
                                                <a:schemeClr val="tx1">
                                                  <a:alpha val="5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300" i="1" kern="0">
                                            <a:ln>
                                              <a:solidFill>
                                                <a:schemeClr val="tx1">
                                                  <a:alpha val="5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𝑃</m:t>
                                        </m:r>
                                      </m:e>
                                      <m:sub>
                                        <m:r>
                                          <a:rPr lang="en-US" altLang="ko-KR" sz="1300" b="0" i="1" kern="0" smtClean="0">
                                            <a:ln>
                                              <a:solidFill>
                                                <a:schemeClr val="tx1">
                                                  <a:alpha val="5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𝑜𝑏𝑠</m:t>
                                        </m:r>
                                      </m:sub>
                                    </m:sSub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endParaRPr lang="en-US" altLang="ko-KR" sz="130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7" name="직사각형 86">
                <a:extLst>
                  <a:ext uri="{FF2B5EF4-FFF2-40B4-BE49-F238E27FC236}">
                    <a16:creationId xmlns:a16="http://schemas.microsoft.com/office/drawing/2014/main" id="{A4F10072-B121-420D-ADA3-13AEE2D206C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4275841"/>
                <a:ext cx="9144000" cy="152516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그룹 3">
            <a:extLst>
              <a:ext uri="{FF2B5EF4-FFF2-40B4-BE49-F238E27FC236}">
                <a16:creationId xmlns:a16="http://schemas.microsoft.com/office/drawing/2014/main" id="{A7B71F31-4A18-4C3F-B4D7-D1EC4E5508AA}"/>
              </a:ext>
            </a:extLst>
          </p:cNvPr>
          <p:cNvGrpSpPr/>
          <p:nvPr/>
        </p:nvGrpSpPr>
        <p:grpSpPr>
          <a:xfrm>
            <a:off x="5112656" y="1803172"/>
            <a:ext cx="4137460" cy="3714055"/>
            <a:chOff x="5112656" y="1803172"/>
            <a:chExt cx="4137460" cy="3714055"/>
          </a:xfrm>
        </p:grpSpPr>
        <p:sp>
          <p:nvSpPr>
            <p:cNvPr id="10" name="순서도: 판단 9">
              <a:extLst>
                <a:ext uri="{FF2B5EF4-FFF2-40B4-BE49-F238E27FC236}">
                  <a16:creationId xmlns:a16="http://schemas.microsoft.com/office/drawing/2014/main" id="{0777342E-3E56-4559-8D72-41EE5CC49F08}"/>
                </a:ext>
              </a:extLst>
            </p:cNvPr>
            <p:cNvSpPr/>
            <p:nvPr/>
          </p:nvSpPr>
          <p:spPr>
            <a:xfrm>
              <a:off x="6340020" y="2214369"/>
              <a:ext cx="1980000" cy="468000"/>
            </a:xfrm>
            <a:prstGeom prst="flowChartDecision">
              <a:avLst/>
            </a:prstGeom>
            <a:solidFill>
              <a:schemeClr val="bg1"/>
            </a:solidFill>
            <a:ln w="19050">
              <a:solidFill>
                <a:schemeClr val="accent5">
                  <a:lumMod val="75000"/>
                </a:schemeClr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정지상태</a:t>
              </a:r>
              <a:r>
                <a:rPr lang="en-US" altLang="ko-KR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?</a:t>
              </a:r>
              <a:endPara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5D05F5AE-2FD4-462D-8099-7CA64E811C23}"/>
                </a:ext>
              </a:extLst>
            </p:cNvPr>
            <p:cNvSpPr/>
            <p:nvPr/>
          </p:nvSpPr>
          <p:spPr>
            <a:xfrm>
              <a:off x="6340020" y="1803172"/>
              <a:ext cx="1980000" cy="2340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5">
                  <a:lumMod val="75000"/>
                </a:schemeClr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동적 객체 데이터 입력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4C256C91-86CA-4837-8E9E-EADD96B3EDE0}"/>
                </a:ext>
              </a:extLst>
            </p:cNvPr>
            <p:cNvSpPr/>
            <p:nvPr/>
          </p:nvSpPr>
          <p:spPr>
            <a:xfrm>
              <a:off x="6340020" y="2902324"/>
              <a:ext cx="1980000" cy="2340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5">
                  <a:lumMod val="75000"/>
                </a:schemeClr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05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정지 상태의 동적 객체 데이터 입력</a:t>
              </a:r>
              <a:endPara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03620FBA-4712-443E-820E-8C8F77B20BE7}"/>
                </a:ext>
              </a:extLst>
            </p:cNvPr>
            <p:cNvSpPr/>
            <p:nvPr/>
          </p:nvSpPr>
          <p:spPr>
            <a:xfrm>
              <a:off x="5112656" y="3730045"/>
              <a:ext cx="1084971" cy="467999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5">
                  <a:lumMod val="75000"/>
                </a:schemeClr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특장차 전역 경로 </a:t>
              </a:r>
              <a:endPara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  <a:p>
              <a:pPr algn="ctr"/>
              <a:r>
                <a:rPr lang="en-US" altLang="ko-KR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point set </a:t>
              </a:r>
              <a:r>
                <a:rPr lang="ko-KR" altLang="en-US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입력</a:t>
              </a: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BDE0B8B9-0700-4D2D-AECB-B1C3FC139E3F}"/>
                </a:ext>
              </a:extLst>
            </p:cNvPr>
            <p:cNvSpPr/>
            <p:nvPr/>
          </p:nvSpPr>
          <p:spPr>
            <a:xfrm>
              <a:off x="6340020" y="4143940"/>
              <a:ext cx="1980000" cy="2340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5">
                  <a:lumMod val="75000"/>
                </a:schemeClr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객체 </a:t>
              </a:r>
              <a:r>
                <a:rPr lang="en-US" altLang="ko-KR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– </a:t>
              </a:r>
              <a:r>
                <a:rPr lang="ko-KR" altLang="en-US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전역경로간 거리 추정</a:t>
              </a: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97C23715-304A-4597-9F21-771E8444ACBD}"/>
                </a:ext>
              </a:extLst>
            </p:cNvPr>
            <p:cNvSpPr/>
            <p:nvPr/>
          </p:nvSpPr>
          <p:spPr>
            <a:xfrm>
              <a:off x="6352720" y="5283227"/>
              <a:ext cx="1980000" cy="2340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7A00"/>
              </a:solidFill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Confidence</a:t>
              </a:r>
              <a:r>
                <a:rPr lang="ko-KR" altLang="en-US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 </a:t>
              </a:r>
              <a:r>
                <a:rPr lang="en-US" altLang="ko-KR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value </a:t>
              </a:r>
              <a:r>
                <a:rPr lang="ko-KR" altLang="en-US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출력</a:t>
              </a: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D648BE96-63FC-4607-80D9-83C8A051E234}"/>
                </a:ext>
              </a:extLst>
            </p:cNvPr>
            <p:cNvSpPr/>
            <p:nvPr/>
          </p:nvSpPr>
          <p:spPr>
            <a:xfrm>
              <a:off x="8572757" y="4752904"/>
              <a:ext cx="677359" cy="234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bg1">
                      <a:lumMod val="50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terminate</a:t>
              </a:r>
              <a:endPara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cxnSp>
          <p:nvCxnSpPr>
            <p:cNvPr id="31" name="직선 화살표 연결선 30">
              <a:extLst>
                <a:ext uri="{FF2B5EF4-FFF2-40B4-BE49-F238E27FC236}">
                  <a16:creationId xmlns:a16="http://schemas.microsoft.com/office/drawing/2014/main" id="{2136188A-7EFE-4BC8-BA3F-94D5EC8CFD76}"/>
                </a:ext>
              </a:extLst>
            </p:cNvPr>
            <p:cNvCxnSpPr>
              <a:stCxn id="10" idx="2"/>
              <a:endCxn id="15" idx="0"/>
            </p:cNvCxnSpPr>
            <p:nvPr/>
          </p:nvCxnSpPr>
          <p:spPr>
            <a:xfrm>
              <a:off x="7330020" y="2682369"/>
              <a:ext cx="0" cy="21995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화살표 연결선 31">
              <a:extLst>
                <a:ext uri="{FF2B5EF4-FFF2-40B4-BE49-F238E27FC236}">
                  <a16:creationId xmlns:a16="http://schemas.microsoft.com/office/drawing/2014/main" id="{1DC6674A-FF75-4403-8495-2DF65B224A3B}"/>
                </a:ext>
              </a:extLst>
            </p:cNvPr>
            <p:cNvCxnSpPr>
              <a:cxnSpLocks/>
              <a:stCxn id="17" idx="3"/>
            </p:cNvCxnSpPr>
            <p:nvPr/>
          </p:nvCxnSpPr>
          <p:spPr>
            <a:xfrm>
              <a:off x="6197627" y="3964045"/>
              <a:ext cx="1132393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직선 화살표 연결선 35">
              <a:extLst>
                <a:ext uri="{FF2B5EF4-FFF2-40B4-BE49-F238E27FC236}">
                  <a16:creationId xmlns:a16="http://schemas.microsoft.com/office/drawing/2014/main" id="{A15EC9E0-9912-4B7A-9F00-B01B8919708C}"/>
                </a:ext>
              </a:extLst>
            </p:cNvPr>
            <p:cNvCxnSpPr>
              <a:cxnSpLocks/>
            </p:cNvCxnSpPr>
            <p:nvPr/>
          </p:nvCxnSpPr>
          <p:spPr>
            <a:xfrm>
              <a:off x="7330020" y="5132754"/>
              <a:ext cx="0" cy="16350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직선 화살표 연결선 36">
              <a:extLst>
                <a:ext uri="{FF2B5EF4-FFF2-40B4-BE49-F238E27FC236}">
                  <a16:creationId xmlns:a16="http://schemas.microsoft.com/office/drawing/2014/main" id="{5550F172-A2CE-466C-9036-E0AADEA8F3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35394" y="4869904"/>
              <a:ext cx="237363" cy="222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직선 화살표 연결선 37">
              <a:extLst>
                <a:ext uri="{FF2B5EF4-FFF2-40B4-BE49-F238E27FC236}">
                  <a16:creationId xmlns:a16="http://schemas.microsoft.com/office/drawing/2014/main" id="{4C5A5EEA-28F3-4C31-86C9-66279175D5E6}"/>
                </a:ext>
              </a:extLst>
            </p:cNvPr>
            <p:cNvCxnSpPr>
              <a:cxnSpLocks/>
              <a:stCxn id="13" idx="2"/>
            </p:cNvCxnSpPr>
            <p:nvPr/>
          </p:nvCxnSpPr>
          <p:spPr>
            <a:xfrm>
              <a:off x="7330020" y="2037172"/>
              <a:ext cx="0" cy="16350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직선 화살표 연결선 38">
              <a:extLst>
                <a:ext uri="{FF2B5EF4-FFF2-40B4-BE49-F238E27FC236}">
                  <a16:creationId xmlns:a16="http://schemas.microsoft.com/office/drawing/2014/main" id="{1453347C-D65E-4D52-85BE-77A851D87D92}"/>
                </a:ext>
              </a:extLst>
            </p:cNvPr>
            <p:cNvCxnSpPr>
              <a:cxnSpLocks/>
              <a:stCxn id="15" idx="2"/>
              <a:endCxn id="64" idx="0"/>
            </p:cNvCxnSpPr>
            <p:nvPr/>
          </p:nvCxnSpPr>
          <p:spPr>
            <a:xfrm>
              <a:off x="7330020" y="3136324"/>
              <a:ext cx="0" cy="22625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직선 화살표 연결선 39">
              <a:extLst>
                <a:ext uri="{FF2B5EF4-FFF2-40B4-BE49-F238E27FC236}">
                  <a16:creationId xmlns:a16="http://schemas.microsoft.com/office/drawing/2014/main" id="{77E93E66-E5B9-4339-B0F1-17189636A594}"/>
                </a:ext>
              </a:extLst>
            </p:cNvPr>
            <p:cNvCxnSpPr>
              <a:cxnSpLocks/>
              <a:stCxn id="18" idx="2"/>
            </p:cNvCxnSpPr>
            <p:nvPr/>
          </p:nvCxnSpPr>
          <p:spPr>
            <a:xfrm>
              <a:off x="7330020" y="4377940"/>
              <a:ext cx="0" cy="27232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꺾인 연결선 45">
              <a:extLst>
                <a:ext uri="{FF2B5EF4-FFF2-40B4-BE49-F238E27FC236}">
                  <a16:creationId xmlns:a16="http://schemas.microsoft.com/office/drawing/2014/main" id="{CC6CC64F-1D3E-4F70-8A50-D2BECCA6C920}"/>
                </a:ext>
              </a:extLst>
            </p:cNvPr>
            <p:cNvCxnSpPr>
              <a:cxnSpLocks/>
              <a:stCxn id="10" idx="3"/>
              <a:endCxn id="13" idx="3"/>
            </p:cNvCxnSpPr>
            <p:nvPr/>
          </p:nvCxnSpPr>
          <p:spPr>
            <a:xfrm flipV="1">
              <a:off x="8320020" y="1920172"/>
              <a:ext cx="12700" cy="528197"/>
            </a:xfrm>
            <a:prstGeom prst="bentConnector3">
              <a:avLst>
                <a:gd name="adj1" fmla="val 1800000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순서도: 판단 63">
              <a:extLst>
                <a:ext uri="{FF2B5EF4-FFF2-40B4-BE49-F238E27FC236}">
                  <a16:creationId xmlns:a16="http://schemas.microsoft.com/office/drawing/2014/main" id="{B10EAF2F-B824-4E7A-AD04-120D109AF8E6}"/>
                </a:ext>
              </a:extLst>
            </p:cNvPr>
            <p:cNvSpPr/>
            <p:nvPr/>
          </p:nvSpPr>
          <p:spPr>
            <a:xfrm>
              <a:off x="6340020" y="3362582"/>
              <a:ext cx="1980000" cy="458421"/>
            </a:xfrm>
            <a:prstGeom prst="flowChartDecision">
              <a:avLst/>
            </a:prstGeom>
            <a:solidFill>
              <a:schemeClr val="bg1"/>
            </a:solidFill>
            <a:ln w="19050">
              <a:solidFill>
                <a:schemeClr val="accent5">
                  <a:lumMod val="75000"/>
                </a:schemeClr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특장차로부터 거리</a:t>
              </a:r>
              <a:endPara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  <a:p>
              <a:pPr algn="ctr"/>
              <a:r>
                <a:rPr lang="en-US" altLang="ko-KR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&lt;30m ?</a:t>
              </a:r>
              <a:endPara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cxnSp>
          <p:nvCxnSpPr>
            <p:cNvPr id="66" name="꺾인 연결선 45">
              <a:extLst>
                <a:ext uri="{FF2B5EF4-FFF2-40B4-BE49-F238E27FC236}">
                  <a16:creationId xmlns:a16="http://schemas.microsoft.com/office/drawing/2014/main" id="{9D516527-3CA3-4F2A-83A5-B1AD13E3E8A7}"/>
                </a:ext>
              </a:extLst>
            </p:cNvPr>
            <p:cNvCxnSpPr>
              <a:cxnSpLocks/>
              <a:stCxn id="64" idx="3"/>
              <a:endCxn id="13" idx="3"/>
            </p:cNvCxnSpPr>
            <p:nvPr/>
          </p:nvCxnSpPr>
          <p:spPr>
            <a:xfrm flipV="1">
              <a:off x="8320020" y="1920172"/>
              <a:ext cx="12700" cy="1671621"/>
            </a:xfrm>
            <a:prstGeom prst="bentConnector3">
              <a:avLst>
                <a:gd name="adj1" fmla="val 1800000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직선 화살표 연결선 71">
              <a:extLst>
                <a:ext uri="{FF2B5EF4-FFF2-40B4-BE49-F238E27FC236}">
                  <a16:creationId xmlns:a16="http://schemas.microsoft.com/office/drawing/2014/main" id="{9A5BEA66-438C-42F4-AA0E-D8D137BA89CC}"/>
                </a:ext>
              </a:extLst>
            </p:cNvPr>
            <p:cNvCxnSpPr>
              <a:cxnSpLocks/>
              <a:stCxn id="64" idx="2"/>
            </p:cNvCxnSpPr>
            <p:nvPr/>
          </p:nvCxnSpPr>
          <p:spPr>
            <a:xfrm>
              <a:off x="7330020" y="3821003"/>
              <a:ext cx="0" cy="32972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순서도: 판단 79">
              <a:extLst>
                <a:ext uri="{FF2B5EF4-FFF2-40B4-BE49-F238E27FC236}">
                  <a16:creationId xmlns:a16="http://schemas.microsoft.com/office/drawing/2014/main" id="{AB71BC8F-C070-4ACE-9360-4603624D14EF}"/>
                </a:ext>
              </a:extLst>
            </p:cNvPr>
            <p:cNvSpPr/>
            <p:nvPr/>
          </p:nvSpPr>
          <p:spPr>
            <a:xfrm>
              <a:off x="6340020" y="4648262"/>
              <a:ext cx="1980000" cy="458421"/>
            </a:xfrm>
            <a:prstGeom prst="flowChartDecision">
              <a:avLst/>
            </a:prstGeom>
            <a:solidFill>
              <a:schemeClr val="bg1"/>
            </a:solidFill>
            <a:ln w="19050">
              <a:solidFill>
                <a:schemeClr val="accent5">
                  <a:lumMod val="75000"/>
                </a:schemeClr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경로간 거리 </a:t>
              </a:r>
              <a:r>
                <a:rPr lang="en-US" altLang="ko-KR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&lt; 15m?</a:t>
              </a:r>
              <a:endPara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83" name="왼쪽 중괄호 82">
              <a:extLst>
                <a:ext uri="{FF2B5EF4-FFF2-40B4-BE49-F238E27FC236}">
                  <a16:creationId xmlns:a16="http://schemas.microsoft.com/office/drawing/2014/main" id="{E1755B1F-E8DF-4726-957C-9AE0448441BE}"/>
                </a:ext>
              </a:extLst>
            </p:cNvPr>
            <p:cNvSpPr/>
            <p:nvPr/>
          </p:nvSpPr>
          <p:spPr>
            <a:xfrm>
              <a:off x="6069466" y="2467027"/>
              <a:ext cx="145996" cy="608205"/>
            </a:xfrm>
            <a:prstGeom prst="leftBrace">
              <a:avLst>
                <a:gd name="adj1" fmla="val 250081"/>
                <a:gd name="adj2" fmla="val 50000"/>
              </a:avLst>
            </a:prstGeom>
            <a:ln w="1905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" name="타원 83">
              <a:extLst>
                <a:ext uri="{FF2B5EF4-FFF2-40B4-BE49-F238E27FC236}">
                  <a16:creationId xmlns:a16="http://schemas.microsoft.com/office/drawing/2014/main" id="{47102FE6-B77E-4F96-9A9B-8C2DE236638D}"/>
                </a:ext>
              </a:extLst>
            </p:cNvPr>
            <p:cNvSpPr/>
            <p:nvPr/>
          </p:nvSpPr>
          <p:spPr>
            <a:xfrm>
              <a:off x="5755187" y="2643116"/>
              <a:ext cx="252000" cy="252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9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Arial" panose="020B0604020202020204" pitchFamily="34" charset="0"/>
                  <a:ea typeface="KoPub돋움체 Bold" panose="02020603020101020101" pitchFamily="18" charset="-127"/>
                  <a:cs typeface="Arial" panose="020B0604020202020204" pitchFamily="34" charset="0"/>
                </a:rPr>
                <a:t>1</a:t>
              </a:r>
              <a:endParaRPr lang="ko-KR" altLang="en-US" sz="9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86" name="타원 85">
              <a:extLst>
                <a:ext uri="{FF2B5EF4-FFF2-40B4-BE49-F238E27FC236}">
                  <a16:creationId xmlns:a16="http://schemas.microsoft.com/office/drawing/2014/main" id="{57352AF7-C4FF-4FC6-AAAD-86DCE364D08B}"/>
                </a:ext>
              </a:extLst>
            </p:cNvPr>
            <p:cNvSpPr/>
            <p:nvPr/>
          </p:nvSpPr>
          <p:spPr>
            <a:xfrm>
              <a:off x="5756495" y="3429000"/>
              <a:ext cx="252000" cy="252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9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Arial" panose="020B0604020202020204" pitchFamily="34" charset="0"/>
                  <a:ea typeface="KoPub돋움체 Bold" panose="02020603020101020101" pitchFamily="18" charset="-127"/>
                  <a:cs typeface="Arial" panose="020B0604020202020204" pitchFamily="34" charset="0"/>
                </a:rPr>
                <a:t>2</a:t>
              </a:r>
              <a:endParaRPr lang="ko-KR" altLang="en-US" sz="9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88" name="타원 87">
              <a:extLst>
                <a:ext uri="{FF2B5EF4-FFF2-40B4-BE49-F238E27FC236}">
                  <a16:creationId xmlns:a16="http://schemas.microsoft.com/office/drawing/2014/main" id="{25460F0C-873D-4E2C-A02C-67F4C74C784E}"/>
                </a:ext>
              </a:extLst>
            </p:cNvPr>
            <p:cNvSpPr/>
            <p:nvPr/>
          </p:nvSpPr>
          <p:spPr>
            <a:xfrm>
              <a:off x="5756495" y="4246876"/>
              <a:ext cx="252000" cy="252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9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Arial" panose="020B0604020202020204" pitchFamily="34" charset="0"/>
                  <a:ea typeface="KoPub돋움체 Bold" panose="02020603020101020101" pitchFamily="18" charset="-127"/>
                  <a:cs typeface="Arial" panose="020B0604020202020204" pitchFamily="34" charset="0"/>
                </a:rPr>
                <a:t>3</a:t>
              </a:r>
              <a:endParaRPr lang="ko-KR" altLang="en-US" sz="9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3587029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74845" y="213862"/>
            <a:ext cx="8659087" cy="384721"/>
          </a:xfrm>
        </p:spPr>
        <p:txBody>
          <a:bodyPr/>
          <a:lstStyle/>
          <a:p>
            <a:r>
              <a:rPr lang="en-US" altLang="ko-KR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1</a:t>
            </a:r>
            <a:r>
              <a:rPr lang="ko-KR" altLang="en-US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lang="ko-KR" altLang="en-US" dirty="0" err="1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주행중</a:t>
            </a:r>
            <a:r>
              <a:rPr lang="ko-KR" altLang="en-US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전역 경로 근방 이동 가능한 정지 장애물이 존재하는 환경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F55F954-5E86-475A-837F-2B8CED6C7DF1}" type="slidenum">
              <a:rPr lang="ko-KR" altLang="en-US" smtClean="0"/>
              <a:pPr/>
              <a:t>41</a:t>
            </a:fld>
            <a:endParaRPr lang="ko-KR" altLang="en-US"/>
          </a:p>
        </p:txBody>
      </p:sp>
      <p:sp>
        <p:nvSpPr>
          <p:cNvPr id="10" name="순서도: 판단 9">
            <a:extLst>
              <a:ext uri="{FF2B5EF4-FFF2-40B4-BE49-F238E27FC236}">
                <a16:creationId xmlns:a16="http://schemas.microsoft.com/office/drawing/2014/main" id="{0777342E-3E56-4559-8D72-41EE5CC49F08}"/>
              </a:ext>
            </a:extLst>
          </p:cNvPr>
          <p:cNvSpPr/>
          <p:nvPr/>
        </p:nvSpPr>
        <p:spPr>
          <a:xfrm>
            <a:off x="6340020" y="2214369"/>
            <a:ext cx="1980000" cy="468000"/>
          </a:xfrm>
          <a:prstGeom prst="flowChartDecision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정지상태</a:t>
            </a:r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?</a:t>
            </a:r>
            <a:endParaRPr lang="ko-KR" altLang="en-US" sz="105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D05F5AE-2FD4-462D-8099-7CA64E811C23}"/>
              </a:ext>
            </a:extLst>
          </p:cNvPr>
          <p:cNvSpPr/>
          <p:nvPr/>
        </p:nvSpPr>
        <p:spPr>
          <a:xfrm>
            <a:off x="6340020" y="1803172"/>
            <a:ext cx="1980000" cy="234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동적 객체 데이터 입력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C256C91-86CA-4837-8E9E-EADD96B3EDE0}"/>
              </a:ext>
            </a:extLst>
          </p:cNvPr>
          <p:cNvSpPr/>
          <p:nvPr/>
        </p:nvSpPr>
        <p:spPr>
          <a:xfrm>
            <a:off x="6340020" y="2902324"/>
            <a:ext cx="1980000" cy="234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5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정지 상태의 동적 객체 데이터 입력</a:t>
            </a:r>
            <a:endParaRPr lang="ko-KR" altLang="en-US" sz="105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3620FBA-4712-443E-820E-8C8F77B20BE7}"/>
              </a:ext>
            </a:extLst>
          </p:cNvPr>
          <p:cNvSpPr/>
          <p:nvPr/>
        </p:nvSpPr>
        <p:spPr>
          <a:xfrm>
            <a:off x="8500033" y="3730045"/>
            <a:ext cx="1084971" cy="467999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특장차 전역 경로 </a:t>
            </a:r>
            <a:endParaRPr lang="en-US" altLang="ko-KR" sz="105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algn="ctr"/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point set </a:t>
            </a:r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입력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DE0B8B9-0700-4D2D-AECB-B1C3FC139E3F}"/>
              </a:ext>
            </a:extLst>
          </p:cNvPr>
          <p:cNvSpPr/>
          <p:nvPr/>
        </p:nvSpPr>
        <p:spPr>
          <a:xfrm>
            <a:off x="6340020" y="4143940"/>
            <a:ext cx="1980000" cy="234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객체 </a:t>
            </a:r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– </a:t>
            </a:r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전역경로간 거리 추정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7C23715-304A-4597-9F21-771E8444ACBD}"/>
              </a:ext>
            </a:extLst>
          </p:cNvPr>
          <p:cNvSpPr/>
          <p:nvPr/>
        </p:nvSpPr>
        <p:spPr>
          <a:xfrm>
            <a:off x="6352720" y="5283227"/>
            <a:ext cx="1980000" cy="234000"/>
          </a:xfrm>
          <a:prstGeom prst="rect">
            <a:avLst/>
          </a:prstGeom>
          <a:solidFill>
            <a:schemeClr val="bg1"/>
          </a:solidFill>
          <a:ln w="19050">
            <a:solidFill>
              <a:srgbClr val="007A00"/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Confidence</a:t>
            </a:r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value </a:t>
            </a:r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출력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D648BE96-63FC-4607-80D9-83C8A051E234}"/>
              </a:ext>
            </a:extLst>
          </p:cNvPr>
          <p:cNvSpPr/>
          <p:nvPr/>
        </p:nvSpPr>
        <p:spPr>
          <a:xfrm>
            <a:off x="8572757" y="4752904"/>
            <a:ext cx="677359" cy="234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terminate</a:t>
            </a:r>
            <a:endParaRPr lang="ko-KR" altLang="en-US" sz="105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bg1">
                  <a:lumMod val="50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2136188A-7EFE-4BC8-BA3F-94D5EC8CFD76}"/>
              </a:ext>
            </a:extLst>
          </p:cNvPr>
          <p:cNvCxnSpPr>
            <a:stCxn id="10" idx="2"/>
            <a:endCxn id="15" idx="0"/>
          </p:cNvCxnSpPr>
          <p:nvPr/>
        </p:nvCxnSpPr>
        <p:spPr>
          <a:xfrm>
            <a:off x="7330020" y="2682369"/>
            <a:ext cx="0" cy="21995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1DC6674A-FF75-4403-8495-2DF65B224A3B}"/>
              </a:ext>
            </a:extLst>
          </p:cNvPr>
          <p:cNvCxnSpPr>
            <a:cxnSpLocks/>
            <a:stCxn id="17" idx="1"/>
          </p:cNvCxnSpPr>
          <p:nvPr/>
        </p:nvCxnSpPr>
        <p:spPr>
          <a:xfrm flipH="1">
            <a:off x="7330020" y="3964045"/>
            <a:ext cx="117001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A15EC9E0-9912-4B7A-9F00-B01B8919708C}"/>
              </a:ext>
            </a:extLst>
          </p:cNvPr>
          <p:cNvCxnSpPr>
            <a:cxnSpLocks/>
          </p:cNvCxnSpPr>
          <p:nvPr/>
        </p:nvCxnSpPr>
        <p:spPr>
          <a:xfrm>
            <a:off x="7330020" y="5132754"/>
            <a:ext cx="0" cy="16350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5550F172-A2CE-466C-9036-E0AADEA8F340}"/>
              </a:ext>
            </a:extLst>
          </p:cNvPr>
          <p:cNvCxnSpPr>
            <a:cxnSpLocks/>
          </p:cNvCxnSpPr>
          <p:nvPr/>
        </p:nvCxnSpPr>
        <p:spPr>
          <a:xfrm flipV="1">
            <a:off x="8335394" y="4869904"/>
            <a:ext cx="237363" cy="22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4C5A5EEA-28F3-4C31-86C9-66279175D5E6}"/>
              </a:ext>
            </a:extLst>
          </p:cNvPr>
          <p:cNvCxnSpPr>
            <a:cxnSpLocks/>
            <a:stCxn id="13" idx="2"/>
          </p:cNvCxnSpPr>
          <p:nvPr/>
        </p:nvCxnSpPr>
        <p:spPr>
          <a:xfrm>
            <a:off x="7330020" y="2037172"/>
            <a:ext cx="0" cy="16350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1453347C-D65E-4D52-85BE-77A851D87D92}"/>
              </a:ext>
            </a:extLst>
          </p:cNvPr>
          <p:cNvCxnSpPr>
            <a:cxnSpLocks/>
            <a:stCxn id="15" idx="2"/>
            <a:endCxn id="64" idx="0"/>
          </p:cNvCxnSpPr>
          <p:nvPr/>
        </p:nvCxnSpPr>
        <p:spPr>
          <a:xfrm>
            <a:off x="7330020" y="3136324"/>
            <a:ext cx="0" cy="22625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77E93E66-E5B9-4339-B0F1-17189636A594}"/>
              </a:ext>
            </a:extLst>
          </p:cNvPr>
          <p:cNvCxnSpPr>
            <a:cxnSpLocks/>
            <a:stCxn id="18" idx="2"/>
          </p:cNvCxnSpPr>
          <p:nvPr/>
        </p:nvCxnSpPr>
        <p:spPr>
          <a:xfrm>
            <a:off x="7330020" y="4377940"/>
            <a:ext cx="0" cy="27232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꺾인 연결선 45">
            <a:extLst>
              <a:ext uri="{FF2B5EF4-FFF2-40B4-BE49-F238E27FC236}">
                <a16:creationId xmlns:a16="http://schemas.microsoft.com/office/drawing/2014/main" id="{CC6CC64F-1D3E-4F70-8A50-D2BECCA6C920}"/>
              </a:ext>
            </a:extLst>
          </p:cNvPr>
          <p:cNvCxnSpPr>
            <a:cxnSpLocks/>
            <a:stCxn id="10" idx="3"/>
            <a:endCxn id="13" idx="3"/>
          </p:cNvCxnSpPr>
          <p:nvPr/>
        </p:nvCxnSpPr>
        <p:spPr>
          <a:xfrm flipV="1">
            <a:off x="8320020" y="1920172"/>
            <a:ext cx="12700" cy="528197"/>
          </a:xfrm>
          <a:prstGeom prst="bentConnector3">
            <a:avLst>
              <a:gd name="adj1" fmla="val 180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순서도: 판단 63">
            <a:extLst>
              <a:ext uri="{FF2B5EF4-FFF2-40B4-BE49-F238E27FC236}">
                <a16:creationId xmlns:a16="http://schemas.microsoft.com/office/drawing/2014/main" id="{B10EAF2F-B824-4E7A-AD04-120D109AF8E6}"/>
              </a:ext>
            </a:extLst>
          </p:cNvPr>
          <p:cNvSpPr/>
          <p:nvPr/>
        </p:nvSpPr>
        <p:spPr>
          <a:xfrm>
            <a:off x="6340020" y="3362582"/>
            <a:ext cx="1980000" cy="458421"/>
          </a:xfrm>
          <a:prstGeom prst="flowChartDecision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특장차로부터 거리</a:t>
            </a:r>
            <a:endParaRPr lang="en-US" altLang="ko-KR" sz="105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algn="ctr"/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&lt;30m ?</a:t>
            </a:r>
            <a:endParaRPr lang="ko-KR" altLang="en-US" sz="105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cxnSp>
        <p:nvCxnSpPr>
          <p:cNvPr id="66" name="꺾인 연결선 45">
            <a:extLst>
              <a:ext uri="{FF2B5EF4-FFF2-40B4-BE49-F238E27FC236}">
                <a16:creationId xmlns:a16="http://schemas.microsoft.com/office/drawing/2014/main" id="{9D516527-3CA3-4F2A-83A5-B1AD13E3E8A7}"/>
              </a:ext>
            </a:extLst>
          </p:cNvPr>
          <p:cNvCxnSpPr>
            <a:cxnSpLocks/>
            <a:stCxn id="64" idx="3"/>
            <a:endCxn id="13" idx="3"/>
          </p:cNvCxnSpPr>
          <p:nvPr/>
        </p:nvCxnSpPr>
        <p:spPr>
          <a:xfrm flipV="1">
            <a:off x="8320020" y="1920172"/>
            <a:ext cx="12700" cy="1671621"/>
          </a:xfrm>
          <a:prstGeom prst="bentConnector3">
            <a:avLst>
              <a:gd name="adj1" fmla="val 180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화살표 연결선 71">
            <a:extLst>
              <a:ext uri="{FF2B5EF4-FFF2-40B4-BE49-F238E27FC236}">
                <a16:creationId xmlns:a16="http://schemas.microsoft.com/office/drawing/2014/main" id="{9A5BEA66-438C-42F4-AA0E-D8D137BA89CC}"/>
              </a:ext>
            </a:extLst>
          </p:cNvPr>
          <p:cNvCxnSpPr>
            <a:cxnSpLocks/>
            <a:stCxn id="64" idx="2"/>
          </p:cNvCxnSpPr>
          <p:nvPr/>
        </p:nvCxnSpPr>
        <p:spPr>
          <a:xfrm>
            <a:off x="7330020" y="3821003"/>
            <a:ext cx="0" cy="3297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순서도: 판단 79">
            <a:extLst>
              <a:ext uri="{FF2B5EF4-FFF2-40B4-BE49-F238E27FC236}">
                <a16:creationId xmlns:a16="http://schemas.microsoft.com/office/drawing/2014/main" id="{AB71BC8F-C070-4ACE-9360-4603624D14EF}"/>
              </a:ext>
            </a:extLst>
          </p:cNvPr>
          <p:cNvSpPr/>
          <p:nvPr/>
        </p:nvSpPr>
        <p:spPr>
          <a:xfrm>
            <a:off x="6340020" y="4648262"/>
            <a:ext cx="1980000" cy="458421"/>
          </a:xfrm>
          <a:prstGeom prst="flowChartDecision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경로간 거리 </a:t>
            </a:r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&lt; 15m?</a:t>
            </a:r>
            <a:endParaRPr lang="ko-KR" altLang="en-US" sz="105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83" name="왼쪽 중괄호 82">
            <a:extLst>
              <a:ext uri="{FF2B5EF4-FFF2-40B4-BE49-F238E27FC236}">
                <a16:creationId xmlns:a16="http://schemas.microsoft.com/office/drawing/2014/main" id="{E1755B1F-E8DF-4726-957C-9AE0448441BE}"/>
              </a:ext>
            </a:extLst>
          </p:cNvPr>
          <p:cNvSpPr/>
          <p:nvPr/>
        </p:nvSpPr>
        <p:spPr>
          <a:xfrm>
            <a:off x="6173544" y="2467027"/>
            <a:ext cx="145996" cy="608205"/>
          </a:xfrm>
          <a:prstGeom prst="leftBrace">
            <a:avLst>
              <a:gd name="adj1" fmla="val 250081"/>
              <a:gd name="adj2" fmla="val 50000"/>
            </a:avLst>
          </a:prstGeom>
          <a:ln w="190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4" name="타원 83">
            <a:extLst>
              <a:ext uri="{FF2B5EF4-FFF2-40B4-BE49-F238E27FC236}">
                <a16:creationId xmlns:a16="http://schemas.microsoft.com/office/drawing/2014/main" id="{47102FE6-B77E-4F96-9A9B-8C2DE236638D}"/>
              </a:ext>
            </a:extLst>
          </p:cNvPr>
          <p:cNvSpPr/>
          <p:nvPr/>
        </p:nvSpPr>
        <p:spPr>
          <a:xfrm>
            <a:off x="5859265" y="2643116"/>
            <a:ext cx="252000" cy="252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rPr>
              <a:t>1</a:t>
            </a:r>
            <a:endParaRPr lang="ko-KR" altLang="en-US" sz="9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Arial" panose="020B0604020202020204" pitchFamily="34" charset="0"/>
              <a:ea typeface="KoPub돋움체 Bold" panose="02020603020101020101" pitchFamily="18" charset="-127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5" name="직사각형 84">
                <a:extLst>
                  <a:ext uri="{FF2B5EF4-FFF2-40B4-BE49-F238E27FC236}">
                    <a16:creationId xmlns:a16="http://schemas.microsoft.com/office/drawing/2014/main" id="{92886E4C-7DBF-41DF-8A7C-2DA29ADD9754}"/>
                  </a:ext>
                </a:extLst>
              </p:cNvPr>
              <p:cNvSpPr/>
              <p:nvPr/>
            </p:nvSpPr>
            <p:spPr>
              <a:xfrm>
                <a:off x="381000" y="792750"/>
                <a:ext cx="9144000" cy="46336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120000"/>
                  <a:buFont typeface="+mj-ea"/>
                  <a:buAutoNum type="circleNumDbPlain" startAt="3"/>
                  <a:defRPr/>
                </a:pPr>
                <a:r>
                  <a:rPr lang="ko-KR" altLang="en-US" sz="1300" b="1" kern="0" dirty="0">
                    <a:ln>
                      <a:solidFill>
                        <a:schemeClr val="tx1">
                          <a:alpha val="30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장애물 </a:t>
                </a:r>
                <a:r>
                  <a:rPr lang="en-US" altLang="ko-KR" sz="1300" b="1" kern="0" dirty="0">
                    <a:ln>
                      <a:solidFill>
                        <a:schemeClr val="tx1">
                          <a:alpha val="30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– </a:t>
                </a:r>
                <a:r>
                  <a:rPr lang="ko-KR" altLang="en-US" sz="1300" b="1" kern="0" dirty="0">
                    <a:ln>
                      <a:solidFill>
                        <a:schemeClr val="tx1">
                          <a:alpha val="30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전역경로간 거리 추정</a:t>
                </a:r>
                <a:endParaRPr lang="en-US" altLang="ko-KR" sz="130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90000"/>
                  <a:defRPr/>
                </a:pP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  -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데이터 시점 </a:t>
                </a: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: t</a:t>
                </a: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90000"/>
                  <a:defRPr/>
                </a:pP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  -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특장차 전역 경로 </a:t>
                </a: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point set </a:t>
                </a:r>
                <a:b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</a:b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  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d>
                      <m:dPr>
                        <m:ctrlP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⋯,(</m:t>
                    </m:r>
                    <m:sSub>
                      <m:sSubPr>
                        <m:ctrlP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𝑛</m:t>
                        </m:r>
                      </m:sub>
                    </m:sSub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sSub>
                      <m:sSubPr>
                        <m:ctrlP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𝑛</m:t>
                        </m:r>
                      </m:sub>
                    </m:sSub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sSub>
                      <m:sSubPr>
                        <m:ctrlP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𝑧</m:t>
                        </m:r>
                      </m:e>
                      <m:sub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𝑛</m:t>
                        </m:r>
                      </m:sub>
                    </m:sSub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endParaRPr lang="en-US" altLang="ko-KR" sz="130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90000"/>
                  <a:defRPr/>
                </a:pP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  - (n-1)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세트의 직선 경로 영역 분할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𝑍</m:t>
                        </m:r>
                      </m:e>
                      <m:sub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~ </m:t>
                    </m:r>
                    <m:sSub>
                      <m:sSubPr>
                        <m:ctrlP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𝑍</m:t>
                        </m:r>
                      </m:e>
                      <m:sub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𝑛</m:t>
                        </m:r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−1</m:t>
                        </m:r>
                      </m:sub>
                    </m:sSub>
                  </m:oMath>
                </a14:m>
                <a:endParaRPr lang="en-US" altLang="ko-KR" sz="130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90000"/>
                  <a:defRPr/>
                </a:pP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 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𝑍</m:t>
                        </m:r>
                      </m:e>
                      <m:sub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영역과 장애물 사이의 거리 추정</a:t>
                </a:r>
                <a:b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</a:b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    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시작점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300" b="0" i="0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Z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300" b="0" i="0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k</m:t>
                        </m:r>
                        <m:r>
                          <a:rPr lang="en-US" altLang="ko-KR" sz="1300" b="0" i="0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ko-KR" sz="1300" b="0" i="0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start</m:t>
                        </m:r>
                      </m:sub>
                    </m:sSub>
                    <m:d>
                      <m:dPr>
                        <m:ctrlP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종점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300" b="0" i="0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Z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300" b="0" i="0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k</m:t>
                        </m:r>
                        <m:r>
                          <a:rPr lang="en-US" altLang="ko-KR" sz="1300" b="0" i="0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ko-KR" sz="1300" b="0" i="0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end</m:t>
                        </m:r>
                      </m:sub>
                    </m:sSub>
                    <m:d>
                      <m:dPr>
                        <m:ctrlP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𝑘</m:t>
                            </m:r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+1</m:t>
                            </m:r>
                          </m:sub>
                        </m:sSub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𝑘</m:t>
                            </m:r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+1</m:t>
                            </m:r>
                          </m:sub>
                        </m:sSub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𝑘</m:t>
                            </m:r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+1</m:t>
                            </m:r>
                          </m:sub>
                        </m:sSub>
                      </m:e>
                    </m:d>
                  </m:oMath>
                </a14:m>
                <a:b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</a:b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    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장애물 위치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𝑜𝑏𝑠</m:t>
                        </m:r>
                      </m:sub>
                    </m:sSub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𝑦</m:t>
                    </m:r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𝑧</m:t>
                    </m:r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endParaRPr lang="en-US" altLang="ko-KR" sz="130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90000"/>
                  <a:defRPr/>
                </a:pP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cs typeface="Arial" panose="020B0604020202020204" pitchFamily="34" charset="0"/>
                  </a:rPr>
                  <a:t>      </a:t>
                </a:r>
                <a14:m>
                  <m:oMath xmlns:m="http://schemas.openxmlformats.org/officeDocument/2006/math">
                    <m:r>
                      <a:rPr lang="en-US" altLang="ko-KR" sz="1300" b="0" i="0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0&lt;</m:t>
                    </m:r>
                    <m:f>
                      <m:fPr>
                        <m:ctrlPr>
                          <a:rPr lang="en-US" altLang="ko-KR" sz="130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acc>
                          <m:accPr>
                            <m:chr m:val="⃗"/>
                            <m:ctrlP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𝑍</m:t>
                                </m:r>
                              </m:e>
                              <m:sub>
                                <m: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𝑘</m:t>
                                </m:r>
                                <m: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,</m:t>
                                </m:r>
                                <m: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𝑠𝑡𝑎𝑟𝑡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𝑍</m:t>
                                </m:r>
                              </m:e>
                              <m:sub>
                                <m: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𝑘</m:t>
                                </m:r>
                                <m: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,</m:t>
                                </m:r>
                                <m: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𝑒𝑛𝑑</m:t>
                                </m:r>
                              </m:sub>
                            </m:sSub>
                          </m:e>
                        </m:acc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∙ </m:t>
                        </m:r>
                        <m:acc>
                          <m:accPr>
                            <m:chr m:val="⃗"/>
                            <m:ctrlP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𝑍</m:t>
                                </m:r>
                              </m:e>
                              <m:sub>
                                <m: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𝑘</m:t>
                                </m:r>
                                <m: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,</m:t>
                                </m:r>
                                <m: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𝑠𝑡𝑎𝑟𝑡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𝑜𝑏𝑠</m:t>
                                </m:r>
                              </m:sub>
                            </m:sSub>
                          </m:e>
                        </m:acc>
                      </m:num>
                      <m:den>
                        <m:sSup>
                          <m:sSupPr>
                            <m:ctrlP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ko-KR" sz="1300" b="0" i="1" kern="0" smtClea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⃗"/>
                                    <m:ctrlPr>
                                      <a:rPr lang="en-US" altLang="ko-KR" sz="1300" i="1" kern="0">
                                        <a:ln>
                                          <a:solidFill>
                                            <a:schemeClr val="tx1">
                                              <a:alpha val="5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altLang="ko-KR" sz="1300" i="1" kern="0">
                                            <a:ln>
                                              <a:solidFill>
                                                <a:schemeClr val="tx1">
                                                  <a:alpha val="5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300" i="1" kern="0">
                                            <a:ln>
                                              <a:solidFill>
                                                <a:schemeClr val="tx1">
                                                  <a:alpha val="5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𝑍</m:t>
                                        </m:r>
                                      </m:e>
                                      <m:sub>
                                        <m:r>
                                          <a:rPr lang="en-US" altLang="ko-KR" sz="1300" i="1" kern="0">
                                            <a:ln>
                                              <a:solidFill>
                                                <a:schemeClr val="tx1">
                                                  <a:alpha val="5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𝑘</m:t>
                                        </m:r>
                                        <m:r>
                                          <a:rPr lang="en-US" altLang="ko-KR" sz="1300" i="1" kern="0">
                                            <a:ln>
                                              <a:solidFill>
                                                <a:schemeClr val="tx1">
                                                  <a:alpha val="5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,</m:t>
                                        </m:r>
                                        <m:r>
                                          <a:rPr lang="en-US" altLang="ko-KR" sz="1300" i="1" kern="0">
                                            <a:ln>
                                              <a:solidFill>
                                                <a:schemeClr val="tx1">
                                                  <a:alpha val="5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𝑠𝑡𝑎𝑟𝑡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300" i="1" kern="0">
                                            <a:ln>
                                              <a:solidFill>
                                                <a:schemeClr val="tx1">
                                                  <a:alpha val="5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300" i="1" kern="0">
                                            <a:ln>
                                              <a:solidFill>
                                                <a:schemeClr val="tx1">
                                                  <a:alpha val="5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𝑍</m:t>
                                        </m:r>
                                      </m:e>
                                      <m:sub>
                                        <m:r>
                                          <a:rPr lang="en-US" altLang="ko-KR" sz="1300" i="1" kern="0">
                                            <a:ln>
                                              <a:solidFill>
                                                <a:schemeClr val="tx1">
                                                  <a:alpha val="5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𝑘</m:t>
                                        </m:r>
                                        <m:r>
                                          <a:rPr lang="en-US" altLang="ko-KR" sz="1300" i="1" kern="0">
                                            <a:ln>
                                              <a:solidFill>
                                                <a:schemeClr val="tx1">
                                                  <a:alpha val="5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,</m:t>
                                        </m:r>
                                        <m:r>
                                          <a:rPr lang="en-US" altLang="ko-KR" sz="1300" i="1" kern="0">
                                            <a:ln>
                                              <a:solidFill>
                                                <a:schemeClr val="tx1">
                                                  <a:alpha val="5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𝑒𝑛𝑑</m:t>
                                        </m:r>
                                      </m:sub>
                                    </m:sSub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&lt;1</m:t>
                    </m:r>
                  </m:oMath>
                </a14:m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의 조건을 만족하는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𝑍</m:t>
                        </m:r>
                      </m:e>
                      <m:sub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𝑘</m:t>
                        </m:r>
                      </m:sub>
                    </m:sSub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</m:t>
                    </m:r>
                    <m:sSub>
                      <m:sSubPr>
                        <m:ctrlP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𝑜𝑏𝑠</m:t>
                        </m:r>
                      </m:sub>
                    </m:sSub>
                    <m:r>
                      <a:rPr lang="ko-KR" altLang="en-US" sz="1300" i="1" ker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에</m:t>
                    </m:r>
                  </m:oMath>
                </a14:m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대해</a:t>
                </a:r>
                <a:endParaRPr lang="en-US" altLang="ko-KR" sz="130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90000"/>
                  <a:defRPr/>
                </a:pP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    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장애물 </a:t>
                </a: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–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전역경로간 거리 </a:t>
                </a:r>
                <a:b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</a:b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300" b="0" i="0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D</m:t>
                        </m:r>
                      </m:e>
                      <m:sub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𝑡𝑟𝑎</m:t>
                        </m:r>
                        <m:r>
                          <a:rPr lang="en-US" altLang="ko-KR" sz="1300" b="0" i="0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_</m:t>
                        </m:r>
                        <m:r>
                          <m:rPr>
                            <m:sty m:val="p"/>
                          </m:rPr>
                          <a:rPr lang="en-US" altLang="ko-KR" sz="1300" b="0" i="0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obs</m:t>
                        </m:r>
                      </m:sub>
                    </m:sSub>
                    <m:r>
                      <a:rPr lang="en-US" altLang="ko-KR" sz="1300" b="0" i="0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altLang="ko-KR" sz="130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𝑍</m:t>
                                </m:r>
                              </m:e>
                              <m:sub>
                                <m: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𝑘</m:t>
                                </m:r>
                                <m: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,</m:t>
                                </m:r>
                                <m: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𝑠𝑡𝑎𝑟𝑡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𝑜𝑏𝑠</m:t>
                                </m:r>
                              </m:sub>
                            </m:sSub>
                          </m:e>
                        </m:acc>
                      </m:e>
                    </m:d>
                    <m:rad>
                      <m:radPr>
                        <m:degHide m:val="on"/>
                        <m:ctrlP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radPr>
                      <m:deg/>
                      <m:e>
                        <m:r>
                          <a:rPr lang="en-US" altLang="ko-KR" sz="1300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1−</m:t>
                        </m:r>
                        <m:sSup>
                          <m:sSupPr>
                            <m:ctrlP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ko-KR" sz="1300" i="1" kern="0">
                                        <a:ln>
                                          <a:solidFill>
                                            <a:schemeClr val="tx1">
                                              <a:alpha val="5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fPr>
                                  <m:num>
                                    <m:acc>
                                      <m:accPr>
                                        <m:chr m:val="⃗"/>
                                        <m:ctrlPr>
                                          <a:rPr lang="en-US" altLang="ko-KR" sz="1300" i="1" kern="0">
                                            <a:ln>
                                              <a:solidFill>
                                                <a:schemeClr val="tx1">
                                                  <a:alpha val="5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acc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ko-KR" sz="1300" i="1" kern="0">
                                                <a:ln>
                                                  <a:solidFill>
                                                    <a:schemeClr val="tx1">
                                                      <a:alpha val="5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cs typeface="Arial" panose="020B0604020202020204" pitchFamily="34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300" i="1" kern="0">
                                                <a:ln>
                                                  <a:solidFill>
                                                    <a:schemeClr val="tx1">
                                                      <a:alpha val="5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cs typeface="Arial" panose="020B0604020202020204" pitchFamily="34" charset="0"/>
                                              </a:rPr>
                                              <m:t>𝑍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300" i="1" kern="0">
                                                <a:ln>
                                                  <a:solidFill>
                                                    <a:schemeClr val="tx1">
                                                      <a:alpha val="5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cs typeface="Arial" panose="020B0604020202020204" pitchFamily="34" charset="0"/>
                                              </a:rPr>
                                              <m:t>𝑘</m:t>
                                            </m:r>
                                            <m:r>
                                              <a:rPr lang="en-US" altLang="ko-KR" sz="1300" i="1" kern="0">
                                                <a:ln>
                                                  <a:solidFill>
                                                    <a:schemeClr val="tx1">
                                                      <a:alpha val="5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cs typeface="Arial" panose="020B0604020202020204" pitchFamily="34" charset="0"/>
                                              </a:rPr>
                                              <m:t>,</m:t>
                                            </m:r>
                                            <m:r>
                                              <a:rPr lang="en-US" altLang="ko-KR" sz="1300" i="1" kern="0">
                                                <a:ln>
                                                  <a:solidFill>
                                                    <a:schemeClr val="tx1">
                                                      <a:alpha val="5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cs typeface="Arial" panose="020B0604020202020204" pitchFamily="34" charset="0"/>
                                              </a:rPr>
                                              <m:t>𝑠𝑡𝑎𝑟𝑡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lang="en-US" altLang="ko-KR" sz="1300" i="1" kern="0">
                                                <a:ln>
                                                  <a:solidFill>
                                                    <a:schemeClr val="tx1">
                                                      <a:alpha val="5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cs typeface="Arial" panose="020B0604020202020204" pitchFamily="34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300" i="1" kern="0">
                                                <a:ln>
                                                  <a:solidFill>
                                                    <a:schemeClr val="tx1">
                                                      <a:alpha val="5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cs typeface="Arial" panose="020B0604020202020204" pitchFamily="34" charset="0"/>
                                              </a:rPr>
                                              <m:t>𝑍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300" i="1" kern="0">
                                                <a:ln>
                                                  <a:solidFill>
                                                    <a:schemeClr val="tx1">
                                                      <a:alpha val="5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cs typeface="Arial" panose="020B0604020202020204" pitchFamily="34" charset="0"/>
                                              </a:rPr>
                                              <m:t>𝑘</m:t>
                                            </m:r>
                                            <m:r>
                                              <a:rPr lang="en-US" altLang="ko-KR" sz="1300" i="1" kern="0">
                                                <a:ln>
                                                  <a:solidFill>
                                                    <a:schemeClr val="tx1">
                                                      <a:alpha val="5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cs typeface="Arial" panose="020B0604020202020204" pitchFamily="34" charset="0"/>
                                              </a:rPr>
                                              <m:t>,</m:t>
                                            </m:r>
                                            <m:r>
                                              <a:rPr lang="en-US" altLang="ko-KR" sz="1300" i="1" kern="0">
                                                <a:ln>
                                                  <a:solidFill>
                                                    <a:schemeClr val="tx1">
                                                      <a:alpha val="5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cs typeface="Arial" panose="020B0604020202020204" pitchFamily="34" charset="0"/>
                                              </a:rPr>
                                              <m:t>𝑒𝑛𝑑</m:t>
                                            </m:r>
                                          </m:sub>
                                        </m:sSub>
                                      </m:e>
                                    </m:acc>
                                    <m:r>
                                      <a:rPr lang="en-US" altLang="ko-KR" sz="1300" i="1" kern="0">
                                        <a:ln>
                                          <a:solidFill>
                                            <a:schemeClr val="tx1">
                                              <a:alpha val="5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 ∙ </m:t>
                                    </m:r>
                                    <m:acc>
                                      <m:accPr>
                                        <m:chr m:val="⃗"/>
                                        <m:ctrlPr>
                                          <a:rPr lang="en-US" altLang="ko-KR" sz="1300" i="1" kern="0">
                                            <a:ln>
                                              <a:solidFill>
                                                <a:schemeClr val="tx1">
                                                  <a:alpha val="5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acc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ko-KR" sz="1300" i="1" kern="0">
                                                <a:ln>
                                                  <a:solidFill>
                                                    <a:schemeClr val="tx1">
                                                      <a:alpha val="5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cs typeface="Arial" panose="020B0604020202020204" pitchFamily="34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300" i="1" kern="0">
                                                <a:ln>
                                                  <a:solidFill>
                                                    <a:schemeClr val="tx1">
                                                      <a:alpha val="5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cs typeface="Arial" panose="020B0604020202020204" pitchFamily="34" charset="0"/>
                                              </a:rPr>
                                              <m:t>𝑍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300" i="1" kern="0">
                                                <a:ln>
                                                  <a:solidFill>
                                                    <a:schemeClr val="tx1">
                                                      <a:alpha val="5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cs typeface="Arial" panose="020B0604020202020204" pitchFamily="34" charset="0"/>
                                              </a:rPr>
                                              <m:t>𝑘</m:t>
                                            </m:r>
                                            <m:r>
                                              <a:rPr lang="en-US" altLang="ko-KR" sz="1300" i="1" kern="0">
                                                <a:ln>
                                                  <a:solidFill>
                                                    <a:schemeClr val="tx1">
                                                      <a:alpha val="5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cs typeface="Arial" panose="020B0604020202020204" pitchFamily="34" charset="0"/>
                                              </a:rPr>
                                              <m:t>,</m:t>
                                            </m:r>
                                            <m:r>
                                              <a:rPr lang="en-US" altLang="ko-KR" sz="1300" i="1" kern="0">
                                                <a:ln>
                                                  <a:solidFill>
                                                    <a:schemeClr val="tx1">
                                                      <a:alpha val="5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cs typeface="Arial" panose="020B0604020202020204" pitchFamily="34" charset="0"/>
                                              </a:rPr>
                                              <m:t>𝑠𝑡𝑎𝑟𝑡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lang="en-US" altLang="ko-KR" sz="1300" i="1" kern="0">
                                                <a:ln>
                                                  <a:solidFill>
                                                    <a:schemeClr val="tx1">
                                                      <a:alpha val="5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cs typeface="Arial" panose="020B0604020202020204" pitchFamily="34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300" i="1" kern="0">
                                                <a:ln>
                                                  <a:solidFill>
                                                    <a:schemeClr val="tx1">
                                                      <a:alpha val="5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cs typeface="Arial" panose="020B0604020202020204" pitchFamily="34" charset="0"/>
                                              </a:rPr>
                                              <m:t>𝑃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300" i="1" kern="0">
                                                <a:ln>
                                                  <a:solidFill>
                                                    <a:schemeClr val="tx1">
                                                      <a:alpha val="5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cs typeface="Arial" panose="020B0604020202020204" pitchFamily="34" charset="0"/>
                                              </a:rPr>
                                              <m:t>𝑜𝑏𝑠</m:t>
                                            </m:r>
                                          </m:sub>
                                        </m:sSub>
                                      </m:e>
                                    </m:acc>
                                  </m:num>
                                  <m:den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altLang="ko-KR" sz="1300" i="1" kern="0">
                                            <a:ln>
                                              <a:solidFill>
                                                <a:schemeClr val="tx1">
                                                  <a:alpha val="5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dPr>
                                      <m:e>
                                        <m:acc>
                                          <m:accPr>
                                            <m:chr m:val="⃗"/>
                                            <m:ctrlPr>
                                              <a:rPr lang="en-US" altLang="ko-KR" sz="1300" i="1" kern="0">
                                                <a:ln>
                                                  <a:solidFill>
                                                    <a:schemeClr val="tx1">
                                                      <a:alpha val="5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cs typeface="Arial" panose="020B0604020202020204" pitchFamily="34" charset="0"/>
                                              </a:rPr>
                                            </m:ctrlPr>
                                          </m:acc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ko-KR" sz="1300" i="1" kern="0">
                                                    <a:ln>
                                                      <a:solidFill>
                                                        <a:schemeClr val="tx1">
                                                          <a:alpha val="5000"/>
                                                        </a:schemeClr>
                                                      </a:solidFill>
                                                    </a:ln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ko-KR" sz="1300" i="1" kern="0">
                                                    <a:ln>
                                                      <a:solidFill>
                                                        <a:schemeClr val="tx1">
                                                          <a:alpha val="5000"/>
                                                        </a:schemeClr>
                                                      </a:solidFill>
                                                    </a:ln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𝑍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ko-KR" sz="1300" i="1" kern="0">
                                                    <a:ln>
                                                      <a:solidFill>
                                                        <a:schemeClr val="tx1">
                                                          <a:alpha val="5000"/>
                                                        </a:schemeClr>
                                                      </a:solidFill>
                                                    </a:ln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𝑘</m:t>
                                                </m:r>
                                                <m:r>
                                                  <a:rPr lang="en-US" altLang="ko-KR" sz="1300" i="1" kern="0">
                                                    <a:ln>
                                                      <a:solidFill>
                                                        <a:schemeClr val="tx1">
                                                          <a:alpha val="5000"/>
                                                        </a:schemeClr>
                                                      </a:solidFill>
                                                    </a:ln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,</m:t>
                                                </m:r>
                                                <m:r>
                                                  <a:rPr lang="en-US" altLang="ko-KR" sz="1300" i="1" kern="0">
                                                    <a:ln>
                                                      <a:solidFill>
                                                        <a:schemeClr val="tx1">
                                                          <a:alpha val="5000"/>
                                                        </a:schemeClr>
                                                      </a:solidFill>
                                                    </a:ln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𝑠𝑡𝑎𝑟𝑡</m:t>
                                                </m:r>
                                              </m:sub>
                                            </m:sSub>
                                            <m:sSub>
                                              <m:sSubPr>
                                                <m:ctrlPr>
                                                  <a:rPr lang="en-US" altLang="ko-KR" sz="1300" i="1" kern="0">
                                                    <a:ln>
                                                      <a:solidFill>
                                                        <a:schemeClr val="tx1">
                                                          <a:alpha val="5000"/>
                                                        </a:schemeClr>
                                                      </a:solidFill>
                                                    </a:ln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ko-KR" sz="1300" i="1" kern="0">
                                                    <a:ln>
                                                      <a:solidFill>
                                                        <a:schemeClr val="tx1">
                                                          <a:alpha val="5000"/>
                                                        </a:schemeClr>
                                                      </a:solidFill>
                                                    </a:ln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𝑍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ko-KR" sz="1300" i="1" kern="0">
                                                    <a:ln>
                                                      <a:solidFill>
                                                        <a:schemeClr val="tx1">
                                                          <a:alpha val="5000"/>
                                                        </a:schemeClr>
                                                      </a:solidFill>
                                                    </a:ln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𝑘</m:t>
                                                </m:r>
                                                <m:r>
                                                  <a:rPr lang="en-US" altLang="ko-KR" sz="1300" i="1" kern="0">
                                                    <a:ln>
                                                      <a:solidFill>
                                                        <a:schemeClr val="tx1">
                                                          <a:alpha val="5000"/>
                                                        </a:schemeClr>
                                                      </a:solidFill>
                                                    </a:ln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,</m:t>
                                                </m:r>
                                                <m:r>
                                                  <a:rPr lang="en-US" altLang="ko-KR" sz="1300" i="1" kern="0">
                                                    <a:ln>
                                                      <a:solidFill>
                                                        <a:schemeClr val="tx1">
                                                          <a:alpha val="5000"/>
                                                        </a:schemeClr>
                                                      </a:solidFill>
                                                    </a:ln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𝑒𝑛𝑑</m:t>
                                                </m:r>
                                              </m:sub>
                                            </m:sSub>
                                          </m:e>
                                        </m:acc>
                                      </m:e>
                                    </m:d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altLang="ko-KR" sz="1300" i="1" kern="0">
                                            <a:ln>
                                              <a:solidFill>
                                                <a:schemeClr val="tx1">
                                                  <a:alpha val="5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dPr>
                                      <m:e>
                                        <m:acc>
                                          <m:accPr>
                                            <m:chr m:val="⃗"/>
                                            <m:ctrlPr>
                                              <a:rPr lang="en-US" altLang="ko-KR" sz="1300" i="1" kern="0">
                                                <a:ln>
                                                  <a:solidFill>
                                                    <a:schemeClr val="tx1">
                                                      <a:alpha val="5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cs typeface="Arial" panose="020B0604020202020204" pitchFamily="34" charset="0"/>
                                              </a:rPr>
                                            </m:ctrlPr>
                                          </m:acc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ko-KR" sz="1300" i="1" kern="0">
                                                    <a:ln>
                                                      <a:solidFill>
                                                        <a:schemeClr val="tx1">
                                                          <a:alpha val="5000"/>
                                                        </a:schemeClr>
                                                      </a:solidFill>
                                                    </a:ln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ko-KR" sz="1300" i="1" kern="0">
                                                    <a:ln>
                                                      <a:solidFill>
                                                        <a:schemeClr val="tx1">
                                                          <a:alpha val="5000"/>
                                                        </a:schemeClr>
                                                      </a:solidFill>
                                                    </a:ln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𝑍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ko-KR" sz="1300" i="1" kern="0">
                                                    <a:ln>
                                                      <a:solidFill>
                                                        <a:schemeClr val="tx1">
                                                          <a:alpha val="5000"/>
                                                        </a:schemeClr>
                                                      </a:solidFill>
                                                    </a:ln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𝑘</m:t>
                                                </m:r>
                                                <m:r>
                                                  <a:rPr lang="en-US" altLang="ko-KR" sz="1300" i="1" kern="0">
                                                    <a:ln>
                                                      <a:solidFill>
                                                        <a:schemeClr val="tx1">
                                                          <a:alpha val="5000"/>
                                                        </a:schemeClr>
                                                      </a:solidFill>
                                                    </a:ln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,</m:t>
                                                </m:r>
                                                <m:r>
                                                  <a:rPr lang="en-US" altLang="ko-KR" sz="1300" i="1" kern="0">
                                                    <a:ln>
                                                      <a:solidFill>
                                                        <a:schemeClr val="tx1">
                                                          <a:alpha val="5000"/>
                                                        </a:schemeClr>
                                                      </a:solidFill>
                                                    </a:ln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𝑠𝑡𝑎𝑟𝑡</m:t>
                                                </m:r>
                                              </m:sub>
                                            </m:sSub>
                                            <m:sSub>
                                              <m:sSubPr>
                                                <m:ctrlPr>
                                                  <a:rPr lang="en-US" altLang="ko-KR" sz="1300" i="1" kern="0">
                                                    <a:ln>
                                                      <a:solidFill>
                                                        <a:schemeClr val="tx1">
                                                          <a:alpha val="5000"/>
                                                        </a:schemeClr>
                                                      </a:solidFill>
                                                    </a:ln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ko-KR" sz="1300" i="1" kern="0">
                                                    <a:ln>
                                                      <a:solidFill>
                                                        <a:schemeClr val="tx1">
                                                          <a:alpha val="5000"/>
                                                        </a:schemeClr>
                                                      </a:solidFill>
                                                    </a:ln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𝑃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ko-KR" sz="1300" i="1" kern="0">
                                                    <a:ln>
                                                      <a:solidFill>
                                                        <a:schemeClr val="tx1">
                                                          <a:alpha val="5000"/>
                                                        </a:schemeClr>
                                                      </a:solidFill>
                                                    </a:ln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𝑜𝑏𝑠</m:t>
                                                </m:r>
                                              </m:sub>
                                            </m:sSub>
                                          </m:e>
                                        </m:acc>
                                      </m:e>
                                    </m:d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endParaRPr lang="en-US" altLang="ko-KR" sz="130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90000"/>
                  <a:defRPr/>
                </a:pP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     </a:t>
                </a: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90000"/>
                  <a:defRPr/>
                </a:pPr>
                <a:endParaRPr lang="en-US" altLang="ko-KR" sz="130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5" name="직사각형 84">
                <a:extLst>
                  <a:ext uri="{FF2B5EF4-FFF2-40B4-BE49-F238E27FC236}">
                    <a16:creationId xmlns:a16="http://schemas.microsoft.com/office/drawing/2014/main" id="{92886E4C-7DBF-41DF-8A7C-2DA29ADD97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792750"/>
                <a:ext cx="9144000" cy="463364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6" name="타원 85">
            <a:extLst>
              <a:ext uri="{FF2B5EF4-FFF2-40B4-BE49-F238E27FC236}">
                <a16:creationId xmlns:a16="http://schemas.microsoft.com/office/drawing/2014/main" id="{57352AF7-C4FF-4FC6-AAAD-86DCE364D08B}"/>
              </a:ext>
            </a:extLst>
          </p:cNvPr>
          <p:cNvSpPr/>
          <p:nvPr/>
        </p:nvSpPr>
        <p:spPr>
          <a:xfrm>
            <a:off x="6132183" y="3429000"/>
            <a:ext cx="252000" cy="252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rPr>
              <a:t>2</a:t>
            </a:r>
            <a:endParaRPr lang="ko-KR" altLang="en-US" sz="9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Arial" panose="020B0604020202020204" pitchFamily="34" charset="0"/>
              <a:ea typeface="KoPub돋움체 Bold" panose="02020603020101020101" pitchFamily="18" charset="-127"/>
              <a:cs typeface="Arial" panose="020B0604020202020204" pitchFamily="34" charset="0"/>
            </a:endParaRPr>
          </a:p>
        </p:txBody>
      </p:sp>
      <p:sp>
        <p:nvSpPr>
          <p:cNvPr id="88" name="타원 87">
            <a:extLst>
              <a:ext uri="{FF2B5EF4-FFF2-40B4-BE49-F238E27FC236}">
                <a16:creationId xmlns:a16="http://schemas.microsoft.com/office/drawing/2014/main" id="{25460F0C-873D-4E2C-A02C-67F4C74C784E}"/>
              </a:ext>
            </a:extLst>
          </p:cNvPr>
          <p:cNvSpPr/>
          <p:nvPr/>
        </p:nvSpPr>
        <p:spPr>
          <a:xfrm>
            <a:off x="5946086" y="4427631"/>
            <a:ext cx="252000" cy="252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rPr>
              <a:t>3</a:t>
            </a:r>
            <a:endParaRPr lang="ko-KR" altLang="en-US" sz="9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Arial" panose="020B0604020202020204" pitchFamily="34" charset="0"/>
              <a:ea typeface="KoPub돋움체 Bold" panose="02020603020101020101" pitchFamily="18" charset="-127"/>
              <a:cs typeface="Arial" panose="020B0604020202020204" pitchFamily="34" charset="0"/>
            </a:endParaRPr>
          </a:p>
        </p:txBody>
      </p:sp>
      <p:sp>
        <p:nvSpPr>
          <p:cNvPr id="33" name="왼쪽 중괄호 32">
            <a:extLst>
              <a:ext uri="{FF2B5EF4-FFF2-40B4-BE49-F238E27FC236}">
                <a16:creationId xmlns:a16="http://schemas.microsoft.com/office/drawing/2014/main" id="{C6E55103-DFF2-487D-AFCF-B85A88574652}"/>
              </a:ext>
            </a:extLst>
          </p:cNvPr>
          <p:cNvSpPr/>
          <p:nvPr/>
        </p:nvSpPr>
        <p:spPr>
          <a:xfrm>
            <a:off x="6173544" y="4269267"/>
            <a:ext cx="145996" cy="608205"/>
          </a:xfrm>
          <a:prstGeom prst="leftBrace">
            <a:avLst>
              <a:gd name="adj1" fmla="val 250081"/>
              <a:gd name="adj2" fmla="val 50000"/>
            </a:avLst>
          </a:prstGeom>
          <a:ln w="190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직사각형 34">
                <a:extLst>
                  <a:ext uri="{FF2B5EF4-FFF2-40B4-BE49-F238E27FC236}">
                    <a16:creationId xmlns:a16="http://schemas.microsoft.com/office/drawing/2014/main" id="{CFE86029-731B-417A-A12A-878C6304AC3A}"/>
                  </a:ext>
                </a:extLst>
              </p:cNvPr>
              <p:cNvSpPr/>
              <p:nvPr/>
            </p:nvSpPr>
            <p:spPr>
              <a:xfrm>
                <a:off x="381000" y="4981769"/>
                <a:ext cx="9144000" cy="15027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120000"/>
                  <a:buFont typeface="+mj-ea"/>
                  <a:buAutoNum type="circleNumDbPlain" startAt="4"/>
                  <a:defRPr/>
                </a:pPr>
                <a:r>
                  <a:rPr lang="en-US" altLang="ko-KR" sz="1300" b="1" kern="0" dirty="0">
                    <a:ln>
                      <a:solidFill>
                        <a:schemeClr val="tx1">
                          <a:alpha val="30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Confidence value</a:t>
                </a:r>
                <a14:m>
                  <m:oMath xmlns:m="http://schemas.openxmlformats.org/officeDocument/2006/math">
                    <m:r>
                      <a:rPr lang="en-US" altLang="ko-KR" sz="1300" b="1" i="1" kern="0" smtClean="0">
                        <a:ln>
                          <a:solidFill>
                            <a:schemeClr val="tx1"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sSub>
                      <m:sSubPr>
                        <m:ctrlPr>
                          <a:rPr lang="en-US" altLang="ko-KR" sz="1300" b="1" i="1" kern="0" smtClean="0">
                            <a:ln>
                              <a:solidFill>
                                <a:schemeClr val="tx1"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300" b="1" i="1" kern="0" smtClean="0">
                            <a:ln>
                              <a:solidFill>
                                <a:schemeClr val="tx1"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𝑪</m:t>
                        </m:r>
                      </m:e>
                      <m:sub>
                        <m:r>
                          <a:rPr lang="en-US" altLang="ko-KR" sz="1300" b="1" i="1" kern="0" smtClean="0">
                            <a:ln>
                              <a:solidFill>
                                <a:schemeClr val="tx1"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</m:t>
                        </m:r>
                      </m:sub>
                    </m:sSub>
                    <m:r>
                      <a:rPr lang="en-US" altLang="ko-KR" sz="1300" b="1" i="1" kern="0" smtClean="0">
                        <a:ln>
                          <a:solidFill>
                            <a:schemeClr val="tx1"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n-US" altLang="ko-KR" sz="1300" b="1" kern="0" dirty="0">
                    <a:ln>
                      <a:solidFill>
                        <a:schemeClr val="tx1">
                          <a:alpha val="30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</a:t>
                </a:r>
                <a:r>
                  <a:rPr lang="ko-KR" altLang="en-US" sz="1300" b="1" kern="0" dirty="0">
                    <a:ln>
                      <a:solidFill>
                        <a:schemeClr val="tx1">
                          <a:alpha val="30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추출</a:t>
                </a:r>
                <a:endParaRPr lang="en-US" altLang="ko-KR" sz="130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90000"/>
                  <a:defRPr/>
                </a:pP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  -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데이터 시점 </a:t>
                </a: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: t</a:t>
                </a: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90000"/>
                  <a:defRPr/>
                </a:pP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 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𝐷</m:t>
                        </m:r>
                      </m:e>
                      <m:sub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𝑡𝑎𝑟</m:t>
                        </m:r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_</m:t>
                        </m:r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𝑜𝑏𝑠</m:t>
                        </m:r>
                      </m:sub>
                    </m:sSub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&lt;10</m:t>
                    </m:r>
                  </m:oMath>
                </a14:m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인 경우</a:t>
                </a:r>
                <a:endParaRPr lang="en-US" altLang="ko-KR" sz="130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90000"/>
                  <a:defRPr/>
                </a:pP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 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𝐶</m:t>
                        </m:r>
                      </m:e>
                      <m:sub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f>
                      <m:fPr>
                        <m:ctrlP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20</m:t>
                        </m:r>
                      </m:num>
                      <m:den>
                        <m:sSub>
                          <m:sSubPr>
                            <m:ctrlP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𝑒𝑔</m:t>
                            </m:r>
                            <m:sSub>
                              <m:sSubPr>
                                <m:ctrlP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𝑜</m:t>
                                </m:r>
                              </m:e>
                              <m:sub>
                                <m: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𝑜𝑏𝑠</m:t>
                                </m:r>
                              </m:sub>
                            </m:sSub>
                          </m:sub>
                        </m:sSub>
                      </m:den>
                    </m:f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∗0.7</m:t>
                    </m:r>
                  </m:oMath>
                </a14:m>
                <a:endParaRPr lang="en-US" altLang="ko-KR" sz="130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5" name="직사각형 34">
                <a:extLst>
                  <a:ext uri="{FF2B5EF4-FFF2-40B4-BE49-F238E27FC236}">
                    <a16:creationId xmlns:a16="http://schemas.microsoft.com/office/drawing/2014/main" id="{CFE86029-731B-417A-A12A-878C6304AC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4981769"/>
                <a:ext cx="9144000" cy="150278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5121752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2</a:t>
            </a:r>
            <a:r>
              <a:rPr lang="ko-KR" altLang="en-US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주행 중 사각영역 존재 환경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F55F954-5E86-475A-837F-2B8CED6C7DF1}" type="slidenum">
              <a:rPr lang="ko-KR" altLang="en-US" smtClean="0"/>
              <a:pPr/>
              <a:t>42</a:t>
            </a:fld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381000" y="617684"/>
            <a:ext cx="9144000" cy="18817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5256" indent="-95256"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buFont typeface="Wingdings" panose="05000000000000000000" pitchFamily="2" charset="2"/>
              <a:buChar char="§"/>
              <a:defRPr/>
            </a:pPr>
            <a:r>
              <a:rPr lang="ko-KR" altLang="en-US" sz="1300" b="1" kern="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개요</a:t>
            </a:r>
            <a:endParaRPr lang="en-US" altLang="ko-KR" sz="1300" b="1" kern="0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데이터 융합 모듈로부터 전달받은 전역 지도 및 장애물 데이터를 통해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,</a:t>
            </a: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 err="1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정지되어있는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장애물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(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정적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,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동적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)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에 의한 위험 환경 판단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고정된 사각 영역에서 장애물의 돌발 출현으로 인한 충돌 등 위험 상황 발생 가능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건축물 또는 건설 자재를 끼고 선회하는 등 주행 불가능 영역이나 장애물이 존재하는 환경에서 주행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작업 보조 차량이 </a:t>
            </a:r>
            <a:r>
              <a:rPr lang="ko-KR" altLang="en-US" sz="1300" kern="0" dirty="0" err="1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선진입하여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위험 상황 발생 가능성 소거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BA1F61E1-FEB8-4095-81ED-FC920060E0FF}"/>
              </a:ext>
            </a:extLst>
          </p:cNvPr>
          <p:cNvSpPr/>
          <p:nvPr/>
        </p:nvSpPr>
        <p:spPr>
          <a:xfrm>
            <a:off x="381000" y="2603833"/>
            <a:ext cx="9144000" cy="1258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5256" indent="-95256"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buFont typeface="Wingdings" panose="05000000000000000000" pitchFamily="2" charset="2"/>
              <a:buChar char="§"/>
              <a:defRPr/>
            </a:pPr>
            <a:r>
              <a:rPr lang="ko-KR" altLang="en-US" sz="1300" b="1" kern="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알고리즘</a:t>
            </a:r>
            <a:endParaRPr lang="en-US" altLang="ko-KR" sz="1300" b="1" kern="0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예상 주행 경로 상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,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차량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,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건축물 등 사각지대가 존재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예상 주행 경로 반경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15m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이내 주행 불가능 영역 및 정적 장애물 존재 여부 판단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특장차로 부터 해당 장애물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40m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이내 </a:t>
            </a:r>
            <a:r>
              <a:rPr lang="ko-KR" altLang="en-US" sz="1300" kern="0" dirty="0" err="1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근접시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특장차 주행 유지 및 작업 보조 차량 가속으로 </a:t>
            </a:r>
            <a:r>
              <a:rPr lang="ko-KR" altLang="en-US" sz="1300" kern="0" dirty="0" err="1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선진입하여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사각지대 소거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181253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2</a:t>
            </a:r>
            <a:r>
              <a:rPr lang="ko-KR" altLang="en-US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주행 중 사각영역 존재 환경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F55F954-5E86-475A-837F-2B8CED6C7DF1}" type="slidenum">
              <a:rPr lang="ko-KR" altLang="en-US" smtClean="0"/>
              <a:pPr/>
              <a:t>43</a:t>
            </a:fld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8C567CDA-B547-46E7-9770-2A1D043421C2}"/>
              </a:ext>
            </a:extLst>
          </p:cNvPr>
          <p:cNvSpPr/>
          <p:nvPr/>
        </p:nvSpPr>
        <p:spPr>
          <a:xfrm>
            <a:off x="284495" y="950861"/>
            <a:ext cx="3200971" cy="14571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사각 영역 존재</a:t>
            </a:r>
            <a:endParaRPr lang="en-US" altLang="ko-KR" sz="12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예상 주행경로 반경 </a:t>
            </a:r>
            <a:r>
              <a:rPr lang="en-US" altLang="ko-KR" sz="1200" kern="0" dirty="0">
                <a:ln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/>
                </a:solidFill>
                <a:latin typeface="+mn-ea"/>
                <a:cs typeface="Arial" panose="020B0604020202020204" pitchFamily="34" charset="0"/>
              </a:rPr>
              <a:t>15m</a:t>
            </a:r>
            <a:r>
              <a:rPr lang="en-US" altLang="ko-KR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 </a:t>
            </a:r>
            <a:r>
              <a:rPr lang="ko-KR" altLang="en-US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이내 높이 </a:t>
            </a:r>
            <a:r>
              <a:rPr lang="en-US" altLang="ko-KR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2m </a:t>
            </a:r>
            <a:r>
              <a:rPr lang="ko-KR" altLang="en-US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이상의 정적 장애물로 인한 사각 영역</a:t>
            </a:r>
            <a:endParaRPr lang="en-US" altLang="ko-KR" sz="120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</a:endParaRPr>
          </a:p>
          <a:p>
            <a:r>
              <a:rPr lang="en-US" altLang="ko-KR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   - </a:t>
            </a:r>
            <a:r>
              <a:rPr lang="ko-KR" altLang="en-US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건축 자재</a:t>
            </a:r>
            <a:r>
              <a:rPr lang="en-US" altLang="ko-KR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, </a:t>
            </a:r>
            <a:r>
              <a:rPr lang="ko-KR" altLang="en-US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펜스</a:t>
            </a:r>
            <a:r>
              <a:rPr lang="en-US" altLang="ko-KR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, </a:t>
            </a:r>
            <a:r>
              <a:rPr lang="ko-KR" altLang="en-US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건물 등</a:t>
            </a:r>
            <a:endParaRPr lang="en-US" altLang="ko-KR" sz="120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예상 주행경로 반경 </a:t>
            </a:r>
            <a:r>
              <a:rPr lang="en-US" altLang="ko-KR" sz="1200" kern="0" dirty="0">
                <a:ln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/>
                </a:solidFill>
                <a:latin typeface="+mn-ea"/>
                <a:cs typeface="Arial" panose="020B0604020202020204" pitchFamily="34" charset="0"/>
              </a:rPr>
              <a:t>15m</a:t>
            </a:r>
            <a:r>
              <a:rPr lang="en-US" altLang="ko-KR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 </a:t>
            </a:r>
            <a:r>
              <a:rPr lang="ko-KR" altLang="en-US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이내 정지한 동적 장애물로 인한 사각 영역</a:t>
            </a:r>
            <a:endParaRPr lang="en-US" altLang="ko-KR" sz="120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</a:endParaRPr>
          </a:p>
          <a:p>
            <a:r>
              <a:rPr lang="en-US" altLang="ko-KR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   - </a:t>
            </a:r>
            <a:r>
              <a:rPr lang="ko-KR" altLang="en-US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차량</a:t>
            </a:r>
            <a:endParaRPr lang="en-US" altLang="ko-KR" sz="120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0CE59364-35EE-4D75-AC77-9508D9D9197B}"/>
              </a:ext>
            </a:extLst>
          </p:cNvPr>
          <p:cNvSpPr/>
          <p:nvPr/>
        </p:nvSpPr>
        <p:spPr>
          <a:xfrm>
            <a:off x="284494" y="2408041"/>
            <a:ext cx="3200971" cy="7143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주행 경로 근방</a:t>
            </a:r>
            <a:endParaRPr lang="en-US" altLang="ko-KR" sz="12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주행 예상 전역 경로 반경 </a:t>
            </a:r>
            <a:r>
              <a:rPr lang="en-US" altLang="ko-KR" sz="1200" kern="0" dirty="0">
                <a:ln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/>
                </a:solidFill>
                <a:latin typeface="+mn-ea"/>
                <a:cs typeface="Arial" panose="020B0604020202020204" pitchFamily="34" charset="0"/>
              </a:rPr>
              <a:t>15m</a:t>
            </a:r>
            <a:endParaRPr lang="en-US" altLang="ko-KR" sz="120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5DD1BB1B-DA90-4C33-9945-1C447FD28546}"/>
              </a:ext>
            </a:extLst>
          </p:cNvPr>
          <p:cNvSpPr/>
          <p:nvPr/>
        </p:nvSpPr>
        <p:spPr>
          <a:xfrm>
            <a:off x="284494" y="4276224"/>
            <a:ext cx="3200971" cy="6065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 err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위험환경</a:t>
            </a:r>
            <a:r>
              <a:rPr lang="ko-KR" altLang="en-US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 </a:t>
            </a:r>
            <a:r>
              <a:rPr lang="ko-KR" altLang="en-US" sz="1200" dirty="0" err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판단시</a:t>
            </a:r>
            <a:r>
              <a:rPr lang="ko-KR" altLang="en-US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 작업 </a:t>
            </a:r>
            <a:r>
              <a:rPr lang="ko-KR" altLang="en-US" sz="1200" dirty="0" err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보조차량에</a:t>
            </a:r>
            <a:r>
              <a:rPr lang="ko-KR" altLang="en-US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 사각 영역에 사전 진입하여 사각지대 소거</a:t>
            </a:r>
            <a:endParaRPr lang="en-US" altLang="ko-KR" sz="120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CE40440C-0AA8-46BF-BCBF-5D48D6ECC0A9}"/>
              </a:ext>
            </a:extLst>
          </p:cNvPr>
          <p:cNvSpPr/>
          <p:nvPr/>
        </p:nvSpPr>
        <p:spPr>
          <a:xfrm>
            <a:off x="284494" y="3122341"/>
            <a:ext cx="3200971" cy="9228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위험 환경 판단</a:t>
            </a:r>
            <a:endParaRPr lang="en-US" altLang="ko-KR" sz="12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사각 영역이 존재하는 정적 및 동적 장애물에 특장차 기준 반경 </a:t>
            </a:r>
            <a:r>
              <a:rPr lang="en-US" altLang="ko-KR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40m </a:t>
            </a:r>
            <a:r>
              <a:rPr lang="ko-KR" altLang="en-US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이내로 접근</a:t>
            </a:r>
            <a:endParaRPr lang="en-US" altLang="ko-KR" sz="120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9BB9FBD5-A31A-42AC-A158-67288BFCEBA8}"/>
              </a:ext>
            </a:extLst>
          </p:cNvPr>
          <p:cNvGrpSpPr/>
          <p:nvPr/>
        </p:nvGrpSpPr>
        <p:grpSpPr>
          <a:xfrm>
            <a:off x="3485465" y="1030595"/>
            <a:ext cx="6221045" cy="5512296"/>
            <a:chOff x="3485465" y="1030595"/>
            <a:chExt cx="6221045" cy="5512296"/>
          </a:xfrm>
        </p:grpSpPr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DDCAD615-E5E3-491F-9F1E-26894B50B2B9}"/>
                </a:ext>
              </a:extLst>
            </p:cNvPr>
            <p:cNvCxnSpPr/>
            <p:nvPr/>
          </p:nvCxnSpPr>
          <p:spPr>
            <a:xfrm flipV="1">
              <a:off x="5368054" y="6041438"/>
              <a:ext cx="2880000" cy="0"/>
            </a:xfrm>
            <a:prstGeom prst="line">
              <a:avLst/>
            </a:prstGeom>
            <a:ln w="19050" cap="flat" cmpd="sng" algn="ctr">
              <a:solidFill>
                <a:schemeClr val="accent6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26C8A544-F3E6-4AFB-A6B9-E8825481168A}"/>
                </a:ext>
              </a:extLst>
            </p:cNvPr>
            <p:cNvCxnSpPr/>
            <p:nvPr/>
          </p:nvCxnSpPr>
          <p:spPr>
            <a:xfrm flipV="1">
              <a:off x="5368054" y="4510651"/>
              <a:ext cx="2880000" cy="0"/>
            </a:xfrm>
            <a:prstGeom prst="line">
              <a:avLst/>
            </a:prstGeom>
            <a:ln w="19050" cap="flat" cmpd="sng" algn="ctr">
              <a:solidFill>
                <a:schemeClr val="accent6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" name="직선 화살표 연결선 8">
              <a:extLst>
                <a:ext uri="{FF2B5EF4-FFF2-40B4-BE49-F238E27FC236}">
                  <a16:creationId xmlns:a16="http://schemas.microsoft.com/office/drawing/2014/main" id="{2B876932-4339-4A19-A192-392B7A7DFD89}"/>
                </a:ext>
              </a:extLst>
            </p:cNvPr>
            <p:cNvCxnSpPr/>
            <p:nvPr/>
          </p:nvCxnSpPr>
          <p:spPr>
            <a:xfrm>
              <a:off x="4654814" y="5284979"/>
              <a:ext cx="3600000" cy="0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화살표 연결선 9">
              <a:extLst>
                <a:ext uri="{FF2B5EF4-FFF2-40B4-BE49-F238E27FC236}">
                  <a16:creationId xmlns:a16="http://schemas.microsoft.com/office/drawing/2014/main" id="{55C05C15-8E0A-4F10-9749-47A710E53F05}"/>
                </a:ext>
              </a:extLst>
            </p:cNvPr>
            <p:cNvCxnSpPr/>
            <p:nvPr/>
          </p:nvCxnSpPr>
          <p:spPr>
            <a:xfrm flipV="1">
              <a:off x="7473406" y="5309640"/>
              <a:ext cx="0" cy="707139"/>
            </a:xfrm>
            <a:prstGeom prst="straightConnector1">
              <a:avLst/>
            </a:prstGeom>
            <a:ln w="3175">
              <a:prstDash val="dash"/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4A90879-0C25-4741-BE01-E460BE06FDE0}"/>
                </a:ext>
              </a:extLst>
            </p:cNvPr>
            <p:cNvSpPr txBox="1"/>
            <p:nvPr/>
          </p:nvSpPr>
          <p:spPr>
            <a:xfrm>
              <a:off x="6919413" y="4783271"/>
              <a:ext cx="5484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+mn-ea"/>
                  <a:cs typeface="Arial" panose="020B0604020202020204" pitchFamily="34" charset="0"/>
                </a:rPr>
                <a:t>15m</a:t>
              </a:r>
              <a:endParaRPr lang="ko-KR" altLang="en-US" sz="1200" dirty="0">
                <a:latin typeface="+mn-ea"/>
              </a:endParaRPr>
            </a:p>
          </p:txBody>
        </p:sp>
        <p:cxnSp>
          <p:nvCxnSpPr>
            <p:cNvPr id="12" name="직선 화살표 연결선 11">
              <a:extLst>
                <a:ext uri="{FF2B5EF4-FFF2-40B4-BE49-F238E27FC236}">
                  <a16:creationId xmlns:a16="http://schemas.microsoft.com/office/drawing/2014/main" id="{5706A7D5-3FF9-49D4-952B-3F19CF7DD307}"/>
                </a:ext>
              </a:extLst>
            </p:cNvPr>
            <p:cNvCxnSpPr/>
            <p:nvPr/>
          </p:nvCxnSpPr>
          <p:spPr>
            <a:xfrm flipV="1">
              <a:off x="7467864" y="4539328"/>
              <a:ext cx="0" cy="707139"/>
            </a:xfrm>
            <a:prstGeom prst="straightConnector1">
              <a:avLst/>
            </a:prstGeom>
            <a:ln w="3175">
              <a:prstDash val="dash"/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E66B261-C0A3-4636-9616-14E60E1FD224}"/>
                </a:ext>
              </a:extLst>
            </p:cNvPr>
            <p:cNvSpPr txBox="1"/>
            <p:nvPr/>
          </p:nvSpPr>
          <p:spPr>
            <a:xfrm>
              <a:off x="6919413" y="5525925"/>
              <a:ext cx="5484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+mn-ea"/>
                  <a:cs typeface="Arial" panose="020B0604020202020204" pitchFamily="34" charset="0"/>
                </a:rPr>
                <a:t>15m</a:t>
              </a:r>
              <a:endParaRPr lang="ko-KR" altLang="en-US" sz="1200" dirty="0">
                <a:latin typeface="+mn-ea"/>
              </a:endParaRPr>
            </a:p>
          </p:txBody>
        </p: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739F4BD9-FCB8-4F2B-94BD-81DF7FCD7260}"/>
                </a:ext>
              </a:extLst>
            </p:cNvPr>
            <p:cNvCxnSpPr/>
            <p:nvPr/>
          </p:nvCxnSpPr>
          <p:spPr>
            <a:xfrm flipV="1">
              <a:off x="5368054" y="2887837"/>
              <a:ext cx="2880000" cy="0"/>
            </a:xfrm>
            <a:prstGeom prst="line">
              <a:avLst/>
            </a:prstGeom>
            <a:ln w="19050" cap="flat" cmpd="sng" algn="ctr">
              <a:solidFill>
                <a:schemeClr val="accent6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F7FA472F-6895-4E95-AEFF-6397BC2F1D08}"/>
                </a:ext>
              </a:extLst>
            </p:cNvPr>
            <p:cNvCxnSpPr/>
            <p:nvPr/>
          </p:nvCxnSpPr>
          <p:spPr>
            <a:xfrm flipV="1">
              <a:off x="5368054" y="1357050"/>
              <a:ext cx="2880000" cy="0"/>
            </a:xfrm>
            <a:prstGeom prst="line">
              <a:avLst/>
            </a:prstGeom>
            <a:ln w="19050" cap="flat" cmpd="sng" algn="ctr">
              <a:solidFill>
                <a:schemeClr val="accent6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6" name="직선 화살표 연결선 15">
              <a:extLst>
                <a:ext uri="{FF2B5EF4-FFF2-40B4-BE49-F238E27FC236}">
                  <a16:creationId xmlns:a16="http://schemas.microsoft.com/office/drawing/2014/main" id="{AF1D2834-B454-4DC6-BFE8-51A98309FFFD}"/>
                </a:ext>
              </a:extLst>
            </p:cNvPr>
            <p:cNvCxnSpPr/>
            <p:nvPr/>
          </p:nvCxnSpPr>
          <p:spPr>
            <a:xfrm>
              <a:off x="4654814" y="2131378"/>
              <a:ext cx="3600000" cy="0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0892323B-132B-439C-8FB6-6C68A0F75E56}"/>
                </a:ext>
              </a:extLst>
            </p:cNvPr>
            <p:cNvGrpSpPr/>
            <p:nvPr/>
          </p:nvGrpSpPr>
          <p:grpSpPr>
            <a:xfrm>
              <a:off x="8375851" y="5934889"/>
              <a:ext cx="1123746" cy="608002"/>
              <a:chOff x="8564532" y="6183907"/>
              <a:chExt cx="1123746" cy="608002"/>
            </a:xfrm>
          </p:grpSpPr>
          <p:sp>
            <p:nvSpPr>
              <p:cNvPr id="18" name="이등변 삼각형 17">
                <a:extLst>
                  <a:ext uri="{FF2B5EF4-FFF2-40B4-BE49-F238E27FC236}">
                    <a16:creationId xmlns:a16="http://schemas.microsoft.com/office/drawing/2014/main" id="{D5BC440E-C00C-49BC-B32B-F6A345419E5A}"/>
                  </a:ext>
                </a:extLst>
              </p:cNvPr>
              <p:cNvSpPr/>
              <p:nvPr/>
            </p:nvSpPr>
            <p:spPr>
              <a:xfrm rot="5400000">
                <a:off x="8822404" y="5926035"/>
                <a:ext cx="608002" cy="1123746"/>
              </a:xfrm>
              <a:prstGeom prst="triangle">
                <a:avLst/>
              </a:prstGeom>
              <a:solidFill>
                <a:srgbClr val="7030A0">
                  <a:tint val="66000"/>
                  <a:satMod val="160000"/>
                </a:srgbClr>
              </a:solidFill>
              <a:ln>
                <a:solidFill>
                  <a:srgbClr val="B196D2"/>
                </a:solidFill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1200" dirty="0"/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D0D2ABF-08C7-4BD9-8523-5318829E8EEF}"/>
                  </a:ext>
                </a:extLst>
              </p:cNvPr>
              <p:cNvSpPr txBox="1"/>
              <p:nvPr/>
            </p:nvSpPr>
            <p:spPr>
              <a:xfrm>
                <a:off x="8581156" y="6355203"/>
                <a:ext cx="86812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200" dirty="0">
                    <a:solidFill>
                      <a:schemeClr val="bg1"/>
                    </a:solidFill>
                  </a:rPr>
                  <a:t>사각 영역</a:t>
                </a:r>
              </a:p>
            </p:txBody>
          </p:sp>
        </p:grp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5345E994-B4DA-4F85-892B-30660088FE82}"/>
                </a:ext>
              </a:extLst>
            </p:cNvPr>
            <p:cNvGrpSpPr/>
            <p:nvPr/>
          </p:nvGrpSpPr>
          <p:grpSpPr>
            <a:xfrm>
              <a:off x="8854687" y="2825344"/>
              <a:ext cx="851823" cy="1002952"/>
              <a:chOff x="8087485" y="2873361"/>
              <a:chExt cx="1123746" cy="1002952"/>
            </a:xfrm>
          </p:grpSpPr>
          <p:sp>
            <p:nvSpPr>
              <p:cNvPr id="21" name="이등변 삼각형 20">
                <a:extLst>
                  <a:ext uri="{FF2B5EF4-FFF2-40B4-BE49-F238E27FC236}">
                    <a16:creationId xmlns:a16="http://schemas.microsoft.com/office/drawing/2014/main" id="{BB53915A-9C07-44C6-8B70-17880E58FD48}"/>
                  </a:ext>
                </a:extLst>
              </p:cNvPr>
              <p:cNvSpPr/>
              <p:nvPr/>
            </p:nvSpPr>
            <p:spPr>
              <a:xfrm rot="5400000">
                <a:off x="8147882" y="2812964"/>
                <a:ext cx="1002952" cy="1123746"/>
              </a:xfrm>
              <a:prstGeom prst="triangle">
                <a:avLst/>
              </a:prstGeom>
              <a:solidFill>
                <a:srgbClr val="7030A0">
                  <a:tint val="66000"/>
                  <a:satMod val="160000"/>
                </a:srgbClr>
              </a:solidFill>
              <a:ln>
                <a:solidFill>
                  <a:srgbClr val="B196D2"/>
                </a:solidFill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1200" dirty="0"/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0326BD1-F128-4659-8789-641B631BF8F7}"/>
                  </a:ext>
                </a:extLst>
              </p:cNvPr>
              <p:cNvSpPr txBox="1"/>
              <p:nvPr/>
            </p:nvSpPr>
            <p:spPr>
              <a:xfrm>
                <a:off x="8123346" y="3142848"/>
                <a:ext cx="86812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200" dirty="0">
                    <a:solidFill>
                      <a:schemeClr val="bg1"/>
                    </a:solidFill>
                  </a:rPr>
                  <a:t>사각 영역</a:t>
                </a:r>
              </a:p>
            </p:txBody>
          </p:sp>
        </p:grpSp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40DA0F3F-86EB-42A0-82B2-7879FE69ECD6}"/>
                </a:ext>
              </a:extLst>
            </p:cNvPr>
            <p:cNvGrpSpPr/>
            <p:nvPr/>
          </p:nvGrpSpPr>
          <p:grpSpPr>
            <a:xfrm>
              <a:off x="3639903" y="4193277"/>
              <a:ext cx="1989829" cy="2173308"/>
              <a:chOff x="4234778" y="2962285"/>
              <a:chExt cx="1989829" cy="2173308"/>
            </a:xfrm>
          </p:grpSpPr>
          <p:sp>
            <p:nvSpPr>
              <p:cNvPr id="28" name="모서리가 둥근 직사각형 7">
                <a:extLst>
                  <a:ext uri="{FF2B5EF4-FFF2-40B4-BE49-F238E27FC236}">
                    <a16:creationId xmlns:a16="http://schemas.microsoft.com/office/drawing/2014/main" id="{FF6CECAE-1A3A-41C6-9B1D-492C7B094638}"/>
                  </a:ext>
                </a:extLst>
              </p:cNvPr>
              <p:cNvSpPr/>
              <p:nvPr/>
            </p:nvSpPr>
            <p:spPr>
              <a:xfrm>
                <a:off x="4789745" y="3581287"/>
                <a:ext cx="879895" cy="935304"/>
              </a:xfrm>
              <a:prstGeom prst="roundRect">
                <a:avLst/>
              </a:prstGeom>
              <a:ln>
                <a:solidFill>
                  <a:schemeClr val="accent5"/>
                </a:solidFill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200" dirty="0" err="1"/>
                  <a:t>특장차량</a:t>
                </a:r>
                <a:endParaRPr lang="ko-KR" altLang="en-US" sz="1200" dirty="0"/>
              </a:p>
            </p:txBody>
          </p:sp>
          <p:sp>
            <p:nvSpPr>
              <p:cNvPr id="29" name="모서리가 둥근 직사각형 8">
                <a:extLst>
                  <a:ext uri="{FF2B5EF4-FFF2-40B4-BE49-F238E27FC236}">
                    <a16:creationId xmlns:a16="http://schemas.microsoft.com/office/drawing/2014/main" id="{41731A76-CE74-4D89-9A9E-5DB642C01CAD}"/>
                  </a:ext>
                </a:extLst>
              </p:cNvPr>
              <p:cNvSpPr/>
              <p:nvPr/>
            </p:nvSpPr>
            <p:spPr>
              <a:xfrm>
                <a:off x="4234778" y="2962285"/>
                <a:ext cx="554967" cy="619002"/>
              </a:xfrm>
              <a:prstGeom prst="round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200" dirty="0" err="1"/>
                  <a:t>보조차량</a:t>
                </a:r>
                <a:endParaRPr lang="ko-KR" altLang="en-US" sz="1200" dirty="0"/>
              </a:p>
            </p:txBody>
          </p:sp>
          <p:sp>
            <p:nvSpPr>
              <p:cNvPr id="31" name="모서리가 둥근 직사각형 9">
                <a:extLst>
                  <a:ext uri="{FF2B5EF4-FFF2-40B4-BE49-F238E27FC236}">
                    <a16:creationId xmlns:a16="http://schemas.microsoft.com/office/drawing/2014/main" id="{A187F01B-0F88-4EE0-8E59-F2E554121428}"/>
                  </a:ext>
                </a:extLst>
              </p:cNvPr>
              <p:cNvSpPr/>
              <p:nvPr/>
            </p:nvSpPr>
            <p:spPr>
              <a:xfrm>
                <a:off x="5669640" y="2962285"/>
                <a:ext cx="554967" cy="619002"/>
              </a:xfrm>
              <a:prstGeom prst="round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200" dirty="0" err="1"/>
                  <a:t>보조차량</a:t>
                </a:r>
                <a:endParaRPr lang="ko-KR" altLang="en-US" sz="1200" dirty="0"/>
              </a:p>
            </p:txBody>
          </p:sp>
          <p:sp>
            <p:nvSpPr>
              <p:cNvPr id="32" name="모서리가 둥근 직사각형 10">
                <a:extLst>
                  <a:ext uri="{FF2B5EF4-FFF2-40B4-BE49-F238E27FC236}">
                    <a16:creationId xmlns:a16="http://schemas.microsoft.com/office/drawing/2014/main" id="{B6B72010-CE31-4D2F-AAC6-68A9273FD2B3}"/>
                  </a:ext>
                </a:extLst>
              </p:cNvPr>
              <p:cNvSpPr/>
              <p:nvPr/>
            </p:nvSpPr>
            <p:spPr>
              <a:xfrm>
                <a:off x="4234778" y="4516591"/>
                <a:ext cx="554967" cy="619002"/>
              </a:xfrm>
              <a:prstGeom prst="round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200" dirty="0" err="1"/>
                  <a:t>보조차량</a:t>
                </a:r>
                <a:endParaRPr lang="ko-KR" altLang="en-US" sz="1200" dirty="0"/>
              </a:p>
            </p:txBody>
          </p:sp>
          <p:sp>
            <p:nvSpPr>
              <p:cNvPr id="33" name="모서리가 둥근 직사각형 11">
                <a:extLst>
                  <a:ext uri="{FF2B5EF4-FFF2-40B4-BE49-F238E27FC236}">
                    <a16:creationId xmlns:a16="http://schemas.microsoft.com/office/drawing/2014/main" id="{51ECBA37-3822-4D0B-B650-E369D2828398}"/>
                  </a:ext>
                </a:extLst>
              </p:cNvPr>
              <p:cNvSpPr/>
              <p:nvPr/>
            </p:nvSpPr>
            <p:spPr>
              <a:xfrm>
                <a:off x="5669639" y="4516591"/>
                <a:ext cx="554967" cy="619002"/>
              </a:xfrm>
              <a:prstGeom prst="round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200" dirty="0" err="1"/>
                  <a:t>보조차량</a:t>
                </a:r>
                <a:endParaRPr lang="ko-KR" altLang="en-US" sz="1200" dirty="0"/>
              </a:p>
            </p:txBody>
          </p:sp>
        </p:grpSp>
        <p:sp>
          <p:nvSpPr>
            <p:cNvPr id="34" name="모서리가 둥근 직사각형 12">
              <a:extLst>
                <a:ext uri="{FF2B5EF4-FFF2-40B4-BE49-F238E27FC236}">
                  <a16:creationId xmlns:a16="http://schemas.microsoft.com/office/drawing/2014/main" id="{86D4CD78-30F6-4F8B-8AD9-9C689778D893}"/>
                </a:ext>
              </a:extLst>
            </p:cNvPr>
            <p:cNvSpPr/>
            <p:nvPr/>
          </p:nvSpPr>
          <p:spPr>
            <a:xfrm>
              <a:off x="7726540" y="5933318"/>
              <a:ext cx="715813" cy="608001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/>
                <a:t>동적</a:t>
              </a:r>
              <a:endParaRPr lang="en-US" altLang="ko-KR" sz="1200" dirty="0"/>
            </a:p>
            <a:p>
              <a:pPr algn="ctr"/>
              <a:r>
                <a:rPr lang="ko-KR" altLang="en-US" sz="1200" dirty="0"/>
                <a:t>장애물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869E62F3-3878-4BC4-97F9-2D61282AE914}"/>
                </a:ext>
              </a:extLst>
            </p:cNvPr>
            <p:cNvSpPr txBox="1"/>
            <p:nvPr/>
          </p:nvSpPr>
          <p:spPr>
            <a:xfrm>
              <a:off x="6364446" y="5558824"/>
              <a:ext cx="5484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latin typeface="+mn-ea"/>
                </a:rPr>
                <a:t>40m</a:t>
              </a:r>
              <a:endParaRPr lang="ko-KR" altLang="en-US" sz="1200" dirty="0">
                <a:latin typeface="+mn-ea"/>
              </a:endParaRPr>
            </a:p>
          </p:txBody>
        </p:sp>
        <p:cxnSp>
          <p:nvCxnSpPr>
            <p:cNvPr id="36" name="직선 연결선 35">
              <a:extLst>
                <a:ext uri="{FF2B5EF4-FFF2-40B4-BE49-F238E27FC236}">
                  <a16:creationId xmlns:a16="http://schemas.microsoft.com/office/drawing/2014/main" id="{845A71E4-263D-4C3E-8CC9-A385B85DA6C0}"/>
                </a:ext>
              </a:extLst>
            </p:cNvPr>
            <p:cNvCxnSpPr/>
            <p:nvPr/>
          </p:nvCxnSpPr>
          <p:spPr>
            <a:xfrm>
              <a:off x="3485465" y="4058620"/>
              <a:ext cx="6120000" cy="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grpSp>
          <p:nvGrpSpPr>
            <p:cNvPr id="37" name="그룹 36">
              <a:extLst>
                <a:ext uri="{FF2B5EF4-FFF2-40B4-BE49-F238E27FC236}">
                  <a16:creationId xmlns:a16="http://schemas.microsoft.com/office/drawing/2014/main" id="{B49D9DAD-97F9-4E17-A7C1-5FEB20E9A23C}"/>
                </a:ext>
              </a:extLst>
            </p:cNvPr>
            <p:cNvGrpSpPr/>
            <p:nvPr/>
          </p:nvGrpSpPr>
          <p:grpSpPr>
            <a:xfrm>
              <a:off x="3639903" y="1030595"/>
              <a:ext cx="1989829" cy="2173308"/>
              <a:chOff x="4234778" y="2962285"/>
              <a:chExt cx="1989829" cy="2173308"/>
            </a:xfrm>
          </p:grpSpPr>
          <p:sp>
            <p:nvSpPr>
              <p:cNvPr id="38" name="모서리가 둥근 직사각형 28">
                <a:extLst>
                  <a:ext uri="{FF2B5EF4-FFF2-40B4-BE49-F238E27FC236}">
                    <a16:creationId xmlns:a16="http://schemas.microsoft.com/office/drawing/2014/main" id="{301C09A6-CAD4-4F41-93DF-7B88FD49FDBB}"/>
                  </a:ext>
                </a:extLst>
              </p:cNvPr>
              <p:cNvSpPr/>
              <p:nvPr/>
            </p:nvSpPr>
            <p:spPr>
              <a:xfrm>
                <a:off x="4789745" y="3581287"/>
                <a:ext cx="879895" cy="935304"/>
              </a:xfrm>
              <a:prstGeom prst="roundRect">
                <a:avLst/>
              </a:prstGeom>
              <a:ln>
                <a:solidFill>
                  <a:schemeClr val="accent5"/>
                </a:solidFill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200" dirty="0" err="1"/>
                  <a:t>특장차량</a:t>
                </a:r>
                <a:endParaRPr lang="ko-KR" altLang="en-US" sz="1200" dirty="0"/>
              </a:p>
            </p:txBody>
          </p:sp>
          <p:sp>
            <p:nvSpPr>
              <p:cNvPr id="39" name="모서리가 둥근 직사각형 29">
                <a:extLst>
                  <a:ext uri="{FF2B5EF4-FFF2-40B4-BE49-F238E27FC236}">
                    <a16:creationId xmlns:a16="http://schemas.microsoft.com/office/drawing/2014/main" id="{596B91D1-A410-4750-9AD2-4BF57391D0B3}"/>
                  </a:ext>
                </a:extLst>
              </p:cNvPr>
              <p:cNvSpPr/>
              <p:nvPr/>
            </p:nvSpPr>
            <p:spPr>
              <a:xfrm>
                <a:off x="4234778" y="2962285"/>
                <a:ext cx="554967" cy="619002"/>
              </a:xfrm>
              <a:prstGeom prst="round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200" dirty="0" err="1"/>
                  <a:t>보조차량</a:t>
                </a:r>
                <a:endParaRPr lang="ko-KR" altLang="en-US" sz="1200" dirty="0"/>
              </a:p>
            </p:txBody>
          </p:sp>
          <p:sp>
            <p:nvSpPr>
              <p:cNvPr id="40" name="모서리가 둥근 직사각형 30">
                <a:extLst>
                  <a:ext uri="{FF2B5EF4-FFF2-40B4-BE49-F238E27FC236}">
                    <a16:creationId xmlns:a16="http://schemas.microsoft.com/office/drawing/2014/main" id="{C9339618-F176-4D79-A9BA-D4C15499B3B7}"/>
                  </a:ext>
                </a:extLst>
              </p:cNvPr>
              <p:cNvSpPr/>
              <p:nvPr/>
            </p:nvSpPr>
            <p:spPr>
              <a:xfrm>
                <a:off x="5669640" y="2962285"/>
                <a:ext cx="554967" cy="619002"/>
              </a:xfrm>
              <a:prstGeom prst="round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200" dirty="0" err="1"/>
                  <a:t>보조차량</a:t>
                </a:r>
                <a:endParaRPr lang="ko-KR" altLang="en-US" sz="1200" dirty="0"/>
              </a:p>
            </p:txBody>
          </p:sp>
          <p:sp>
            <p:nvSpPr>
              <p:cNvPr id="41" name="모서리가 둥근 직사각형 31">
                <a:extLst>
                  <a:ext uri="{FF2B5EF4-FFF2-40B4-BE49-F238E27FC236}">
                    <a16:creationId xmlns:a16="http://schemas.microsoft.com/office/drawing/2014/main" id="{3BBA927A-A037-46A9-BD4F-F61F8D5369BE}"/>
                  </a:ext>
                </a:extLst>
              </p:cNvPr>
              <p:cNvSpPr/>
              <p:nvPr/>
            </p:nvSpPr>
            <p:spPr>
              <a:xfrm>
                <a:off x="4234778" y="4516591"/>
                <a:ext cx="554967" cy="619002"/>
              </a:xfrm>
              <a:prstGeom prst="round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200" dirty="0" err="1"/>
                  <a:t>보조차량</a:t>
                </a:r>
                <a:endParaRPr lang="ko-KR" altLang="en-US" sz="1200" dirty="0"/>
              </a:p>
            </p:txBody>
          </p:sp>
          <p:sp>
            <p:nvSpPr>
              <p:cNvPr id="42" name="모서리가 둥근 직사각형 32">
                <a:extLst>
                  <a:ext uri="{FF2B5EF4-FFF2-40B4-BE49-F238E27FC236}">
                    <a16:creationId xmlns:a16="http://schemas.microsoft.com/office/drawing/2014/main" id="{8C676B5E-0492-45A2-B965-5C7FCF719D3F}"/>
                  </a:ext>
                </a:extLst>
              </p:cNvPr>
              <p:cNvSpPr/>
              <p:nvPr/>
            </p:nvSpPr>
            <p:spPr>
              <a:xfrm>
                <a:off x="5669639" y="4516591"/>
                <a:ext cx="554967" cy="619002"/>
              </a:xfrm>
              <a:prstGeom prst="round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200" dirty="0" err="1"/>
                  <a:t>보조차량</a:t>
                </a:r>
                <a:endParaRPr lang="ko-KR" altLang="en-US" sz="1200" dirty="0"/>
              </a:p>
            </p:txBody>
          </p:sp>
        </p:grpSp>
        <p:cxnSp>
          <p:nvCxnSpPr>
            <p:cNvPr id="43" name="직선 화살표 연결선 42">
              <a:extLst>
                <a:ext uri="{FF2B5EF4-FFF2-40B4-BE49-F238E27FC236}">
                  <a16:creationId xmlns:a16="http://schemas.microsoft.com/office/drawing/2014/main" id="{1AF28A68-1FD1-4A83-8306-F3CF7A2153ED}"/>
                </a:ext>
              </a:extLst>
            </p:cNvPr>
            <p:cNvCxnSpPr>
              <a:cxnSpLocks/>
              <a:stCxn id="38" idx="3"/>
              <a:endCxn id="45" idx="1"/>
            </p:cNvCxnSpPr>
            <p:nvPr/>
          </p:nvCxnSpPr>
          <p:spPr>
            <a:xfrm>
              <a:off x="5074765" y="2117249"/>
              <a:ext cx="2900027" cy="1209573"/>
            </a:xfrm>
            <a:prstGeom prst="straightConnector1">
              <a:avLst/>
            </a:prstGeom>
            <a:ln w="3175">
              <a:prstDash val="dash"/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798512E3-A70A-44D7-A2FC-B4C71A0C5B72}"/>
                </a:ext>
              </a:extLst>
            </p:cNvPr>
            <p:cNvSpPr txBox="1"/>
            <p:nvPr/>
          </p:nvSpPr>
          <p:spPr>
            <a:xfrm>
              <a:off x="6364447" y="2476182"/>
              <a:ext cx="5484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latin typeface="+mn-ea"/>
                </a:rPr>
                <a:t>40m</a:t>
              </a:r>
              <a:endParaRPr lang="ko-KR" altLang="en-US" sz="1200" dirty="0">
                <a:latin typeface="+mn-ea"/>
              </a:endParaRPr>
            </a:p>
          </p:txBody>
        </p:sp>
        <p:sp>
          <p:nvSpPr>
            <p:cNvPr id="45" name="모서리가 둥근 직사각형 33">
              <a:extLst>
                <a:ext uri="{FF2B5EF4-FFF2-40B4-BE49-F238E27FC236}">
                  <a16:creationId xmlns:a16="http://schemas.microsoft.com/office/drawing/2014/main" id="{7808EA19-7353-4104-AC1F-F92453924158}"/>
                </a:ext>
              </a:extLst>
            </p:cNvPr>
            <p:cNvSpPr/>
            <p:nvPr/>
          </p:nvSpPr>
          <p:spPr>
            <a:xfrm>
              <a:off x="7974792" y="2825347"/>
              <a:ext cx="965320" cy="1002949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>
                  <a:latin typeface="+mn-ea"/>
                </a:rPr>
                <a:t>정적</a:t>
              </a:r>
              <a:endParaRPr lang="en-US" altLang="ko-KR" sz="1200" dirty="0">
                <a:latin typeface="+mn-ea"/>
              </a:endParaRPr>
            </a:p>
            <a:p>
              <a:pPr algn="ctr"/>
              <a:r>
                <a:rPr lang="ko-KR" altLang="en-US" sz="1200" dirty="0">
                  <a:latin typeface="+mn-ea"/>
                </a:rPr>
                <a:t>장애물</a:t>
              </a:r>
              <a:endParaRPr lang="en-US" altLang="ko-KR" sz="1200" dirty="0">
                <a:latin typeface="+mn-ea"/>
              </a:endParaRPr>
            </a:p>
            <a:p>
              <a:pPr algn="ctr"/>
              <a:endParaRPr lang="en-US" altLang="ko-KR" sz="1200" dirty="0">
                <a:latin typeface="+mn-ea"/>
              </a:endParaRPr>
            </a:p>
            <a:p>
              <a:pPr algn="ctr"/>
              <a:r>
                <a:rPr lang="en-US" altLang="ko-KR" sz="1200" dirty="0">
                  <a:latin typeface="+mn-ea"/>
                </a:rPr>
                <a:t>(</a:t>
              </a:r>
              <a:r>
                <a:rPr lang="ko-KR" altLang="en-US" sz="1200" dirty="0">
                  <a:latin typeface="+mn-ea"/>
                </a:rPr>
                <a:t>높이</a:t>
              </a:r>
              <a:r>
                <a:rPr lang="en-US" altLang="ko-KR" sz="1200" dirty="0">
                  <a:latin typeface="+mn-ea"/>
                </a:rPr>
                <a:t>&gt;2m)</a:t>
              </a:r>
              <a:endParaRPr lang="ko-KR" altLang="en-US" sz="1200" dirty="0">
                <a:latin typeface="+mn-ea"/>
              </a:endParaRPr>
            </a:p>
          </p:txBody>
        </p:sp>
        <p:cxnSp>
          <p:nvCxnSpPr>
            <p:cNvPr id="46" name="직선 화살표 연결선 45">
              <a:extLst>
                <a:ext uri="{FF2B5EF4-FFF2-40B4-BE49-F238E27FC236}">
                  <a16:creationId xmlns:a16="http://schemas.microsoft.com/office/drawing/2014/main" id="{C31D719E-03AD-451B-B72F-C834AD679B83}"/>
                </a:ext>
              </a:extLst>
            </p:cNvPr>
            <p:cNvCxnSpPr/>
            <p:nvPr/>
          </p:nvCxnSpPr>
          <p:spPr>
            <a:xfrm flipV="1">
              <a:off x="7473406" y="2156039"/>
              <a:ext cx="0" cy="707139"/>
            </a:xfrm>
            <a:prstGeom prst="straightConnector1">
              <a:avLst/>
            </a:prstGeom>
            <a:ln w="3175">
              <a:prstDash val="dash"/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7EBD22F6-2C79-4138-9FAF-8C223E87AC35}"/>
                </a:ext>
              </a:extLst>
            </p:cNvPr>
            <p:cNvSpPr txBox="1"/>
            <p:nvPr/>
          </p:nvSpPr>
          <p:spPr>
            <a:xfrm>
              <a:off x="6919413" y="1629670"/>
              <a:ext cx="5484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+mn-ea"/>
                  <a:cs typeface="Arial" panose="020B0604020202020204" pitchFamily="34" charset="0"/>
                </a:rPr>
                <a:t>15m</a:t>
              </a:r>
              <a:endParaRPr lang="ko-KR" altLang="en-US" sz="1200" dirty="0">
                <a:latin typeface="+mn-ea"/>
              </a:endParaRPr>
            </a:p>
          </p:txBody>
        </p:sp>
        <p:cxnSp>
          <p:nvCxnSpPr>
            <p:cNvPr id="48" name="직선 화살표 연결선 47">
              <a:extLst>
                <a:ext uri="{FF2B5EF4-FFF2-40B4-BE49-F238E27FC236}">
                  <a16:creationId xmlns:a16="http://schemas.microsoft.com/office/drawing/2014/main" id="{97222A07-C21C-425B-A2CD-5A690E129A22}"/>
                </a:ext>
              </a:extLst>
            </p:cNvPr>
            <p:cNvCxnSpPr/>
            <p:nvPr/>
          </p:nvCxnSpPr>
          <p:spPr>
            <a:xfrm flipV="1">
              <a:off x="7467864" y="1385727"/>
              <a:ext cx="0" cy="707139"/>
            </a:xfrm>
            <a:prstGeom prst="straightConnector1">
              <a:avLst/>
            </a:prstGeom>
            <a:ln w="3175">
              <a:prstDash val="dash"/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B26A1C16-4D08-49FC-A491-C3E2301145FD}"/>
                </a:ext>
              </a:extLst>
            </p:cNvPr>
            <p:cNvSpPr txBox="1"/>
            <p:nvPr/>
          </p:nvSpPr>
          <p:spPr>
            <a:xfrm>
              <a:off x="6919413" y="2372324"/>
              <a:ext cx="5484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+mn-ea"/>
                  <a:cs typeface="Arial" panose="020B0604020202020204" pitchFamily="34" charset="0"/>
                </a:rPr>
                <a:t>15m</a:t>
              </a:r>
              <a:endParaRPr lang="ko-KR" altLang="en-US" sz="1200" dirty="0">
                <a:latin typeface="+mn-ea"/>
              </a:endParaRPr>
            </a:p>
          </p:txBody>
        </p:sp>
        <p:cxnSp>
          <p:nvCxnSpPr>
            <p:cNvPr id="50" name="직선 화살표 연결선 49">
              <a:extLst>
                <a:ext uri="{FF2B5EF4-FFF2-40B4-BE49-F238E27FC236}">
                  <a16:creationId xmlns:a16="http://schemas.microsoft.com/office/drawing/2014/main" id="{82DB7073-8B86-47B3-A8C3-6CF73725ACFA}"/>
                </a:ext>
              </a:extLst>
            </p:cNvPr>
            <p:cNvCxnSpPr>
              <a:stCxn id="28" idx="3"/>
              <a:endCxn id="34" idx="1"/>
            </p:cNvCxnSpPr>
            <p:nvPr/>
          </p:nvCxnSpPr>
          <p:spPr>
            <a:xfrm>
              <a:off x="5074765" y="5279931"/>
              <a:ext cx="2651775" cy="957388"/>
            </a:xfrm>
            <a:prstGeom prst="straightConnector1">
              <a:avLst/>
            </a:prstGeom>
            <a:ln w="3175">
              <a:prstDash val="dash"/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2986735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2</a:t>
            </a:r>
            <a:r>
              <a:rPr lang="ko-KR" altLang="en-US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주행 중 사각영역 존재 환경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F55F954-5E86-475A-837F-2B8CED6C7DF1}" type="slidenum">
              <a:rPr lang="ko-KR" altLang="en-US" smtClean="0"/>
              <a:pPr/>
              <a:t>44</a:t>
            </a:fld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C4CD35D-52BE-409D-9D2A-5C571A41099F}"/>
              </a:ext>
            </a:extLst>
          </p:cNvPr>
          <p:cNvSpPr/>
          <p:nvPr/>
        </p:nvSpPr>
        <p:spPr>
          <a:xfrm>
            <a:off x="381000" y="873125"/>
            <a:ext cx="9144000" cy="1258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5256" indent="-95256"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buFont typeface="Wingdings" panose="05000000000000000000" pitchFamily="2" charset="2"/>
              <a:buChar char="§"/>
              <a:defRPr/>
            </a:pPr>
            <a:r>
              <a:rPr lang="ko-KR" altLang="en-US" sz="1300" b="1" kern="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동적 객체 데이터 입력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데이터 시점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: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최신 시각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t(T_L3fusion)</a:t>
            </a: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L2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데이터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: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정지 장애물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vector (L2obstacle(L), L=0~255)</a:t>
            </a: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L3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데이터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: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이동 장애물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vector (L3obstacle(L), L=0~255)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직사각형 28">
                <a:extLst>
                  <a:ext uri="{FF2B5EF4-FFF2-40B4-BE49-F238E27FC236}">
                    <a16:creationId xmlns:a16="http://schemas.microsoft.com/office/drawing/2014/main" id="{666D1495-0DFE-44BC-8FDA-AE631EF20A56}"/>
                  </a:ext>
                </a:extLst>
              </p:cNvPr>
              <p:cNvSpPr/>
              <p:nvPr/>
            </p:nvSpPr>
            <p:spPr>
              <a:xfrm>
                <a:off x="381000" y="2172108"/>
                <a:ext cx="9144000" cy="21993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120000"/>
                  <a:buFont typeface="+mj-ea"/>
                  <a:buAutoNum type="circleNumDbPlain"/>
                  <a:defRPr/>
                </a:pPr>
                <a:r>
                  <a:rPr lang="ko-KR" altLang="en-US" sz="1300" b="1" kern="0" dirty="0">
                    <a:ln>
                      <a:solidFill>
                        <a:schemeClr val="tx1">
                          <a:alpha val="30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정지 상태 판정</a:t>
                </a:r>
                <a:endParaRPr lang="en-US" altLang="ko-KR" sz="130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90000"/>
                  <a:defRPr/>
                </a:pP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  -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데이터 시점 </a:t>
                </a: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: 5step ( t-4 ~ t )</a:t>
                </a: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90000"/>
                  <a:defRPr/>
                </a:pP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  -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이동객체 속력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𝑣</m:t>
                        </m:r>
                      </m:e>
                      <m:sub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𝑜𝑏𝑠</m:t>
                        </m:r>
                      </m:sub>
                    </m:sSub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)=</m:t>
                    </m:r>
                    <m:d>
                      <m:dPr>
                        <m:begChr m:val="|"/>
                        <m:endChr m:val="|"/>
                        <m:ctrlP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𝑜𝑏𝑠</m:t>
                            </m:r>
                          </m:sub>
                        </m:sSub>
                      </m:e>
                    </m:d>
                  </m:oMath>
                </a14:m>
                <a:endParaRPr lang="en-US" altLang="ko-KR" sz="130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90000"/>
                  <a:defRPr/>
                </a:pP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  -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객체 정지상태 판정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30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num>
                      <m:den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5</m:t>
                        </m:r>
                      </m:den>
                    </m:f>
                    <m:nary>
                      <m:naryPr>
                        <m:chr m:val="∑"/>
                        <m:ctrlPr>
                          <a:rPr lang="ko-KR" altLang="en-US" sz="130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−4</m:t>
                        </m:r>
                      </m:sub>
                      <m:sup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p>
                      <m:e>
                        <m:sSub>
                          <m:sSubPr>
                            <m:ctrlP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𝑜𝑏𝑠</m:t>
                            </m:r>
                          </m:sub>
                        </m:sSub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(</m:t>
                        </m:r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)</m:t>
                        </m:r>
                      </m:e>
                    </m:nary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&lt;0.1</m:t>
                    </m:r>
                    <m:f>
                      <m:fPr>
                        <m:ctrlP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𝑚</m:t>
                        </m:r>
                      </m:num>
                      <m:den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𝑠</m:t>
                        </m:r>
                      </m:den>
                    </m:f>
                  </m:oMath>
                </a14:m>
                <a:b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</a:b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    *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이슈 사항 </a:t>
                </a: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– noise injection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통한 정지 상태 판정 속도 튜닝</a:t>
                </a:r>
                <a:endParaRPr lang="en-US" altLang="ko-KR" sz="130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90000"/>
                  <a:defRPr/>
                </a:pP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  - Bit operation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기반 정지상태 이동객체 </a:t>
                </a: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indexing</a:t>
                </a:r>
                <a:b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</a:b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   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정지상태 이동객체 </a:t>
                </a: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=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이동객체</a:t>
                </a: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(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정지상태</a:t>
                </a: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9" name="직사각형 28">
                <a:extLst>
                  <a:ext uri="{FF2B5EF4-FFF2-40B4-BE49-F238E27FC236}">
                    <a16:creationId xmlns:a16="http://schemas.microsoft.com/office/drawing/2014/main" id="{666D1495-0DFE-44BC-8FDA-AE631EF20A5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2172108"/>
                <a:ext cx="9144000" cy="21993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직사각형 31">
                <a:extLst>
                  <a:ext uri="{FF2B5EF4-FFF2-40B4-BE49-F238E27FC236}">
                    <a16:creationId xmlns:a16="http://schemas.microsoft.com/office/drawing/2014/main" id="{463EA663-D911-4372-BE6F-BDE721210FD7}"/>
                  </a:ext>
                </a:extLst>
              </p:cNvPr>
              <p:cNvSpPr/>
              <p:nvPr/>
            </p:nvSpPr>
            <p:spPr>
              <a:xfrm>
                <a:off x="381000" y="4548891"/>
                <a:ext cx="9144000" cy="18621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120000"/>
                  <a:buFont typeface="+mj-ea"/>
                  <a:buAutoNum type="circleNumDbPlain" startAt="2"/>
                  <a:defRPr/>
                </a:pPr>
                <a:r>
                  <a:rPr lang="ko-KR" altLang="en-US" sz="1300" b="1" kern="0" dirty="0">
                    <a:ln>
                      <a:solidFill>
                        <a:schemeClr val="tx1">
                          <a:alpha val="30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정적 객체 높이 추정</a:t>
                </a:r>
                <a:endParaRPr lang="en-US" altLang="ko-KR" sz="1300" b="1" kern="0" dirty="0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120000"/>
                  <a:defRPr/>
                </a:pP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  -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데이터 시점 </a:t>
                </a: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: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최신시간 </a:t>
                </a: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t</a:t>
                </a: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90000"/>
                  <a:defRPr/>
                </a:pP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  -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정지상태 객체 </a:t>
                </a: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Cuboid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추정</a:t>
                </a:r>
                <a:endParaRPr lang="en-US" altLang="ko-KR" sz="130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90000"/>
                  <a:defRPr/>
                </a:pP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h</m:t>
                        </m:r>
                      </m:e>
                      <m:sub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𝑜𝑏𝑠</m:t>
                        </m:r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𝑠𝑡𝑎𝑡𝑖𝑐</m:t>
                        </m:r>
                      </m:sub>
                    </m:sSub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&lt;1</m:t>
                    </m:r>
                  </m:oMath>
                </a14:m>
                <a:endParaRPr lang="en-US" altLang="ko-KR" sz="130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90000"/>
                  <a:defRPr/>
                </a:pP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  - Bit operation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기반 정지상태 이동객체 </a:t>
                </a: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indexing</a:t>
                </a:r>
                <a:b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</a:b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   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정적 객체 </a:t>
                </a: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=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정적 객체</a:t>
                </a: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h</m:t>
                        </m:r>
                      </m:e>
                      <m:sub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𝑜𝑏𝑠</m:t>
                        </m:r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𝑠𝑡𝑎𝑡𝑖𝑐</m:t>
                        </m:r>
                      </m:sub>
                    </m:sSub>
                    <m:r>
                      <a:rPr lang="en-US" altLang="ko-KR" sz="1300" i="1" ker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&lt;1</m:t>
                    </m:r>
                  </m:oMath>
                </a14:m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)</a:t>
                </a:r>
              </a:p>
            </p:txBody>
          </p:sp>
        </mc:Choice>
        <mc:Fallback xmlns="">
          <p:sp>
            <p:nvSpPr>
              <p:cNvPr id="32" name="직사각형 31">
                <a:extLst>
                  <a:ext uri="{FF2B5EF4-FFF2-40B4-BE49-F238E27FC236}">
                    <a16:creationId xmlns:a16="http://schemas.microsoft.com/office/drawing/2014/main" id="{463EA663-D911-4372-BE6F-BDE721210FD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4548891"/>
                <a:ext cx="9144000" cy="186211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그룹 3">
            <a:extLst>
              <a:ext uri="{FF2B5EF4-FFF2-40B4-BE49-F238E27FC236}">
                <a16:creationId xmlns:a16="http://schemas.microsoft.com/office/drawing/2014/main" id="{770A593C-8D87-4537-AC19-90957D43113C}"/>
              </a:ext>
            </a:extLst>
          </p:cNvPr>
          <p:cNvGrpSpPr/>
          <p:nvPr/>
        </p:nvGrpSpPr>
        <p:grpSpPr>
          <a:xfrm>
            <a:off x="5640574" y="1803172"/>
            <a:ext cx="4161171" cy="3741836"/>
            <a:chOff x="5640574" y="1803172"/>
            <a:chExt cx="4161171" cy="3741836"/>
          </a:xfrm>
        </p:grpSpPr>
        <p:sp>
          <p:nvSpPr>
            <p:cNvPr id="8" name="순서도: 판단 7">
              <a:extLst>
                <a:ext uri="{FF2B5EF4-FFF2-40B4-BE49-F238E27FC236}">
                  <a16:creationId xmlns:a16="http://schemas.microsoft.com/office/drawing/2014/main" id="{AAC1BEA4-AEF9-4525-8E68-9848027F8AC0}"/>
                </a:ext>
              </a:extLst>
            </p:cNvPr>
            <p:cNvSpPr/>
            <p:nvPr/>
          </p:nvSpPr>
          <p:spPr>
            <a:xfrm>
              <a:off x="6536870" y="2214369"/>
              <a:ext cx="1260930" cy="468000"/>
            </a:xfrm>
            <a:prstGeom prst="flowChartDecision">
              <a:avLst/>
            </a:prstGeom>
            <a:solidFill>
              <a:schemeClr val="bg1"/>
            </a:solidFill>
            <a:ln w="19050">
              <a:solidFill>
                <a:schemeClr val="accent5">
                  <a:lumMod val="75000"/>
                </a:schemeClr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정지상태</a:t>
              </a:r>
              <a:r>
                <a:rPr lang="en-US" altLang="ko-KR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?</a:t>
              </a:r>
              <a:endPara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1819ADA8-08E7-4408-B0D1-21D3973C5573}"/>
                </a:ext>
              </a:extLst>
            </p:cNvPr>
            <p:cNvSpPr/>
            <p:nvPr/>
          </p:nvSpPr>
          <p:spPr>
            <a:xfrm>
              <a:off x="6536870" y="1803172"/>
              <a:ext cx="1260930" cy="2340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5">
                  <a:lumMod val="75000"/>
                </a:schemeClr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동적</a:t>
              </a:r>
              <a:r>
                <a:rPr lang="en-US" altLang="ko-KR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 </a:t>
              </a:r>
              <a:r>
                <a:rPr lang="ko-KR" altLang="en-US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객체 데이터 입력</a:t>
              </a: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37DD5EAD-80C8-46CA-B850-1A29E5C5880E}"/>
                </a:ext>
              </a:extLst>
            </p:cNvPr>
            <p:cNvSpPr/>
            <p:nvPr/>
          </p:nvSpPr>
          <p:spPr>
            <a:xfrm>
              <a:off x="6551565" y="2907370"/>
              <a:ext cx="2685568" cy="22187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5">
                  <a:lumMod val="75000"/>
                </a:schemeClr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해당 객체 데이터 </a:t>
              </a:r>
              <a:r>
                <a:rPr lang="en-US" altLang="ko-KR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array </a:t>
              </a:r>
              <a:r>
                <a:rPr lang="ko-KR" altLang="en-US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생성</a:t>
              </a:r>
              <a:endPara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C0510211-1F49-4B3F-8E3D-7CE25E2DEF9A}"/>
                </a:ext>
              </a:extLst>
            </p:cNvPr>
            <p:cNvSpPr/>
            <p:nvPr/>
          </p:nvSpPr>
          <p:spPr>
            <a:xfrm>
              <a:off x="5640574" y="3782769"/>
              <a:ext cx="1084971" cy="467999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5">
                  <a:lumMod val="75000"/>
                </a:schemeClr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특장차 전역 경로 </a:t>
              </a:r>
              <a:endPara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  <a:p>
              <a:pPr algn="ctr"/>
              <a:r>
                <a:rPr lang="en-US" altLang="ko-KR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point set </a:t>
              </a:r>
              <a:r>
                <a:rPr lang="ko-KR" altLang="en-US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입력</a:t>
              </a: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301C1300-87C1-4972-B7E8-330A885C8921}"/>
                </a:ext>
              </a:extLst>
            </p:cNvPr>
            <p:cNvSpPr/>
            <p:nvPr/>
          </p:nvSpPr>
          <p:spPr>
            <a:xfrm>
              <a:off x="6891649" y="4171721"/>
              <a:ext cx="1980000" cy="2340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5">
                  <a:lumMod val="75000"/>
                </a:schemeClr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객체 </a:t>
              </a:r>
              <a:r>
                <a:rPr lang="en-US" altLang="ko-KR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– </a:t>
              </a:r>
              <a:r>
                <a:rPr lang="ko-KR" altLang="en-US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전역경로간 거리 추정</a:t>
              </a: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07DFC804-F4D6-44D2-A85F-5EC65BE3F54D}"/>
                </a:ext>
              </a:extLst>
            </p:cNvPr>
            <p:cNvSpPr/>
            <p:nvPr/>
          </p:nvSpPr>
          <p:spPr>
            <a:xfrm>
              <a:off x="6904349" y="5311008"/>
              <a:ext cx="1980000" cy="2340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7A00"/>
              </a:solidFill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Confidence</a:t>
              </a:r>
              <a:r>
                <a:rPr lang="ko-KR" altLang="en-US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 </a:t>
              </a:r>
              <a:r>
                <a:rPr lang="en-US" altLang="ko-KR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value </a:t>
              </a:r>
              <a:r>
                <a:rPr lang="ko-KR" altLang="en-US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출력</a:t>
              </a: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C4CD8E17-4CC0-4CE2-B907-9CD3F3BBD061}"/>
                </a:ext>
              </a:extLst>
            </p:cNvPr>
            <p:cNvSpPr/>
            <p:nvPr/>
          </p:nvSpPr>
          <p:spPr>
            <a:xfrm>
              <a:off x="9124386" y="4780685"/>
              <a:ext cx="677359" cy="234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bg1">
                      <a:lumMod val="50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terminate</a:t>
              </a:r>
              <a:endPara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cxnSp>
          <p:nvCxnSpPr>
            <p:cNvPr id="15" name="직선 화살표 연결선 14">
              <a:extLst>
                <a:ext uri="{FF2B5EF4-FFF2-40B4-BE49-F238E27FC236}">
                  <a16:creationId xmlns:a16="http://schemas.microsoft.com/office/drawing/2014/main" id="{2D8A5F0C-0FBC-41E3-BA6F-DA387F8A5625}"/>
                </a:ext>
              </a:extLst>
            </p:cNvPr>
            <p:cNvCxnSpPr>
              <a:cxnSpLocks/>
              <a:stCxn id="8" idx="2"/>
            </p:cNvCxnSpPr>
            <p:nvPr/>
          </p:nvCxnSpPr>
          <p:spPr>
            <a:xfrm>
              <a:off x="7167335" y="2682369"/>
              <a:ext cx="0" cy="2340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화살표 연결선 15">
              <a:extLst>
                <a:ext uri="{FF2B5EF4-FFF2-40B4-BE49-F238E27FC236}">
                  <a16:creationId xmlns:a16="http://schemas.microsoft.com/office/drawing/2014/main" id="{B398FBBD-5D26-429F-AAAB-B1DD493CC0DE}"/>
                </a:ext>
              </a:extLst>
            </p:cNvPr>
            <p:cNvCxnSpPr>
              <a:cxnSpLocks/>
            </p:cNvCxnSpPr>
            <p:nvPr/>
          </p:nvCxnSpPr>
          <p:spPr>
            <a:xfrm>
              <a:off x="6749256" y="3991826"/>
              <a:ext cx="1132393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화살표 연결선 16">
              <a:extLst>
                <a:ext uri="{FF2B5EF4-FFF2-40B4-BE49-F238E27FC236}">
                  <a16:creationId xmlns:a16="http://schemas.microsoft.com/office/drawing/2014/main" id="{C24F9AC0-6142-44BD-8BEF-247E138E2BD8}"/>
                </a:ext>
              </a:extLst>
            </p:cNvPr>
            <p:cNvCxnSpPr>
              <a:cxnSpLocks/>
            </p:cNvCxnSpPr>
            <p:nvPr/>
          </p:nvCxnSpPr>
          <p:spPr>
            <a:xfrm>
              <a:off x="7881649" y="5160535"/>
              <a:ext cx="0" cy="16350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화살표 연결선 17">
              <a:extLst>
                <a:ext uri="{FF2B5EF4-FFF2-40B4-BE49-F238E27FC236}">
                  <a16:creationId xmlns:a16="http://schemas.microsoft.com/office/drawing/2014/main" id="{0B2AD404-5ED3-40CD-BC0A-6A8837FA04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87023" y="4897685"/>
              <a:ext cx="237363" cy="222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화살표 연결선 18">
              <a:extLst>
                <a:ext uri="{FF2B5EF4-FFF2-40B4-BE49-F238E27FC236}">
                  <a16:creationId xmlns:a16="http://schemas.microsoft.com/office/drawing/2014/main" id="{78FC7011-52EB-4A4B-95BE-6444C63C62C2}"/>
                </a:ext>
              </a:extLst>
            </p:cNvPr>
            <p:cNvCxnSpPr>
              <a:cxnSpLocks/>
              <a:stCxn id="9" idx="2"/>
              <a:endCxn id="8" idx="0"/>
            </p:cNvCxnSpPr>
            <p:nvPr/>
          </p:nvCxnSpPr>
          <p:spPr>
            <a:xfrm>
              <a:off x="7167335" y="2037172"/>
              <a:ext cx="0" cy="17719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화살표 연결선 20">
              <a:extLst>
                <a:ext uri="{FF2B5EF4-FFF2-40B4-BE49-F238E27FC236}">
                  <a16:creationId xmlns:a16="http://schemas.microsoft.com/office/drawing/2014/main" id="{C1011A9B-31D2-46B3-96F1-140AA1BD445C}"/>
                </a:ext>
              </a:extLst>
            </p:cNvPr>
            <p:cNvCxnSpPr>
              <a:cxnSpLocks/>
              <a:stCxn id="12" idx="2"/>
            </p:cNvCxnSpPr>
            <p:nvPr/>
          </p:nvCxnSpPr>
          <p:spPr>
            <a:xfrm>
              <a:off x="7881649" y="4405721"/>
              <a:ext cx="0" cy="27232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순서도: 판단 22">
              <a:extLst>
                <a:ext uri="{FF2B5EF4-FFF2-40B4-BE49-F238E27FC236}">
                  <a16:creationId xmlns:a16="http://schemas.microsoft.com/office/drawing/2014/main" id="{69F75A3B-B912-4D7D-975F-C9DE7FE7CE7B}"/>
                </a:ext>
              </a:extLst>
            </p:cNvPr>
            <p:cNvSpPr/>
            <p:nvPr/>
          </p:nvSpPr>
          <p:spPr>
            <a:xfrm>
              <a:off x="6904349" y="3315510"/>
              <a:ext cx="1980000" cy="458421"/>
            </a:xfrm>
            <a:prstGeom prst="flowChartDecision">
              <a:avLst/>
            </a:prstGeom>
            <a:solidFill>
              <a:schemeClr val="bg1"/>
            </a:solidFill>
            <a:ln w="19050">
              <a:solidFill>
                <a:schemeClr val="accent5">
                  <a:lumMod val="75000"/>
                </a:schemeClr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특장차로부터 거리</a:t>
              </a:r>
              <a:endPara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  <a:p>
              <a:pPr algn="ctr"/>
              <a:r>
                <a:rPr lang="en-US" altLang="ko-KR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&lt;40m ?</a:t>
              </a:r>
              <a:endPara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cxnSp>
          <p:nvCxnSpPr>
            <p:cNvPr id="25" name="직선 화살표 연결선 24">
              <a:extLst>
                <a:ext uri="{FF2B5EF4-FFF2-40B4-BE49-F238E27FC236}">
                  <a16:creationId xmlns:a16="http://schemas.microsoft.com/office/drawing/2014/main" id="{527F000E-DA7B-4437-BBF6-F69C86DFDEFB}"/>
                </a:ext>
              </a:extLst>
            </p:cNvPr>
            <p:cNvCxnSpPr>
              <a:cxnSpLocks/>
              <a:stCxn id="10" idx="2"/>
              <a:endCxn id="23" idx="0"/>
            </p:cNvCxnSpPr>
            <p:nvPr/>
          </p:nvCxnSpPr>
          <p:spPr>
            <a:xfrm>
              <a:off x="7894349" y="3129246"/>
              <a:ext cx="0" cy="18626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순서도: 판단 25">
              <a:extLst>
                <a:ext uri="{FF2B5EF4-FFF2-40B4-BE49-F238E27FC236}">
                  <a16:creationId xmlns:a16="http://schemas.microsoft.com/office/drawing/2014/main" id="{06498353-7AAE-4A0A-B401-0275885770AF}"/>
                </a:ext>
              </a:extLst>
            </p:cNvPr>
            <p:cNvSpPr/>
            <p:nvPr/>
          </p:nvSpPr>
          <p:spPr>
            <a:xfrm>
              <a:off x="6891649" y="4676043"/>
              <a:ext cx="1980000" cy="458421"/>
            </a:xfrm>
            <a:prstGeom prst="flowChartDecision">
              <a:avLst/>
            </a:prstGeom>
            <a:solidFill>
              <a:schemeClr val="bg1"/>
            </a:solidFill>
            <a:ln w="19050">
              <a:solidFill>
                <a:schemeClr val="accent5">
                  <a:lumMod val="75000"/>
                </a:schemeClr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경로간 거리 </a:t>
              </a:r>
              <a:r>
                <a:rPr lang="en-US" altLang="ko-KR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&lt; </a:t>
              </a:r>
              <a:r>
                <a:rPr lang="en-US" altLang="ko-KR" sz="105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/>
                  </a:solidFill>
                  <a:latin typeface="+mn-ea"/>
                  <a:cs typeface="Arial" panose="020B0604020202020204" pitchFamily="34" charset="0"/>
                </a:rPr>
                <a:t>15m</a:t>
              </a:r>
              <a:r>
                <a:rPr lang="en-US" altLang="ko-KR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?</a:t>
              </a:r>
              <a:endPara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27" name="왼쪽 중괄호 26">
              <a:extLst>
                <a:ext uri="{FF2B5EF4-FFF2-40B4-BE49-F238E27FC236}">
                  <a16:creationId xmlns:a16="http://schemas.microsoft.com/office/drawing/2014/main" id="{F342B8AD-12ED-4FED-A306-29F0842AECA0}"/>
                </a:ext>
              </a:extLst>
            </p:cNvPr>
            <p:cNvSpPr/>
            <p:nvPr/>
          </p:nvSpPr>
          <p:spPr>
            <a:xfrm>
              <a:off x="6266316" y="2467027"/>
              <a:ext cx="145996" cy="608205"/>
            </a:xfrm>
            <a:prstGeom prst="leftBrace">
              <a:avLst>
                <a:gd name="adj1" fmla="val 250081"/>
                <a:gd name="adj2" fmla="val 50000"/>
              </a:avLst>
            </a:prstGeom>
            <a:ln w="1905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3862AECD-4373-41EF-B211-A60DE07AE934}"/>
                </a:ext>
              </a:extLst>
            </p:cNvPr>
            <p:cNvSpPr/>
            <p:nvPr/>
          </p:nvSpPr>
          <p:spPr>
            <a:xfrm>
              <a:off x="5952037" y="2643116"/>
              <a:ext cx="252000" cy="252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9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Arial" panose="020B0604020202020204" pitchFamily="34" charset="0"/>
                  <a:ea typeface="KoPub돋움체 Bold" panose="02020603020101020101" pitchFamily="18" charset="-127"/>
                  <a:cs typeface="Arial" panose="020B0604020202020204" pitchFamily="34" charset="0"/>
                </a:rPr>
                <a:t>1</a:t>
              </a:r>
              <a:endParaRPr lang="ko-KR" altLang="en-US" sz="9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BBC5B75E-82BC-4E3D-BD9E-32A37F674A27}"/>
                </a:ext>
              </a:extLst>
            </p:cNvPr>
            <p:cNvSpPr/>
            <p:nvPr/>
          </p:nvSpPr>
          <p:spPr>
            <a:xfrm>
              <a:off x="6284413" y="3481724"/>
              <a:ext cx="252000" cy="252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9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Arial" panose="020B0604020202020204" pitchFamily="34" charset="0"/>
                  <a:ea typeface="KoPub돋움체 Bold" panose="02020603020101020101" pitchFamily="18" charset="-127"/>
                  <a:cs typeface="Arial" panose="020B0604020202020204" pitchFamily="34" charset="0"/>
                </a:rPr>
                <a:t>2</a:t>
              </a:r>
              <a:endParaRPr lang="ko-KR" altLang="en-US" sz="9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33" name="타원 32">
              <a:extLst>
                <a:ext uri="{FF2B5EF4-FFF2-40B4-BE49-F238E27FC236}">
                  <a16:creationId xmlns:a16="http://schemas.microsoft.com/office/drawing/2014/main" id="{544CEEE7-8C40-4250-8715-F5042A310DDA}"/>
                </a:ext>
              </a:extLst>
            </p:cNvPr>
            <p:cNvSpPr/>
            <p:nvPr/>
          </p:nvSpPr>
          <p:spPr>
            <a:xfrm>
              <a:off x="6284413" y="4299600"/>
              <a:ext cx="252000" cy="252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9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Arial" panose="020B0604020202020204" pitchFamily="34" charset="0"/>
                  <a:ea typeface="KoPub돋움체 Bold" panose="02020603020101020101" pitchFamily="18" charset="-127"/>
                  <a:cs typeface="Arial" panose="020B0604020202020204" pitchFamily="34" charset="0"/>
                </a:rPr>
                <a:t>3</a:t>
              </a:r>
              <a:endParaRPr lang="ko-KR" altLang="en-US" sz="9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D8CBC439-DEF7-4246-9BDE-F64F90C4F049}"/>
                </a:ext>
              </a:extLst>
            </p:cNvPr>
            <p:cNvSpPr/>
            <p:nvPr/>
          </p:nvSpPr>
          <p:spPr>
            <a:xfrm>
              <a:off x="7976203" y="1803172"/>
              <a:ext cx="1260930" cy="2340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5">
                  <a:lumMod val="75000"/>
                </a:schemeClr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정적 객체 데이터 입력</a:t>
              </a:r>
            </a:p>
          </p:txBody>
        </p:sp>
        <p:sp>
          <p:nvSpPr>
            <p:cNvPr id="38" name="순서도: 판단 37">
              <a:extLst>
                <a:ext uri="{FF2B5EF4-FFF2-40B4-BE49-F238E27FC236}">
                  <a16:creationId xmlns:a16="http://schemas.microsoft.com/office/drawing/2014/main" id="{51E44CA5-FF4B-4D04-B43A-4C4244EC17E1}"/>
                </a:ext>
              </a:extLst>
            </p:cNvPr>
            <p:cNvSpPr/>
            <p:nvPr/>
          </p:nvSpPr>
          <p:spPr>
            <a:xfrm>
              <a:off x="8030935" y="2214369"/>
              <a:ext cx="1260930" cy="468000"/>
            </a:xfrm>
            <a:prstGeom prst="flowChartDecision">
              <a:avLst/>
            </a:prstGeom>
            <a:solidFill>
              <a:schemeClr val="bg1"/>
            </a:solidFill>
            <a:ln w="19050">
              <a:solidFill>
                <a:schemeClr val="accent5">
                  <a:lumMod val="75000"/>
                </a:schemeClr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높이 </a:t>
              </a:r>
              <a:r>
                <a:rPr lang="en-US" altLang="ko-KR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&gt;2m?</a:t>
              </a:r>
              <a:endPara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cxnSp>
          <p:nvCxnSpPr>
            <p:cNvPr id="40" name="직선 화살표 연결선 39">
              <a:extLst>
                <a:ext uri="{FF2B5EF4-FFF2-40B4-BE49-F238E27FC236}">
                  <a16:creationId xmlns:a16="http://schemas.microsoft.com/office/drawing/2014/main" id="{236228B0-EFC7-454D-A825-49E45C2BB127}"/>
                </a:ext>
              </a:extLst>
            </p:cNvPr>
            <p:cNvCxnSpPr>
              <a:cxnSpLocks/>
            </p:cNvCxnSpPr>
            <p:nvPr/>
          </p:nvCxnSpPr>
          <p:spPr>
            <a:xfrm>
              <a:off x="8665935" y="2037172"/>
              <a:ext cx="0" cy="17719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직선 화살표 연결선 45">
              <a:extLst>
                <a:ext uri="{FF2B5EF4-FFF2-40B4-BE49-F238E27FC236}">
                  <a16:creationId xmlns:a16="http://schemas.microsoft.com/office/drawing/2014/main" id="{B68E60C0-99C5-458E-B5F9-9D81573FCF7B}"/>
                </a:ext>
              </a:extLst>
            </p:cNvPr>
            <p:cNvCxnSpPr>
              <a:cxnSpLocks/>
            </p:cNvCxnSpPr>
            <p:nvPr/>
          </p:nvCxnSpPr>
          <p:spPr>
            <a:xfrm>
              <a:off x="8665935" y="2682369"/>
              <a:ext cx="0" cy="2340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직선 화살표 연결선 51">
              <a:extLst>
                <a:ext uri="{FF2B5EF4-FFF2-40B4-BE49-F238E27FC236}">
                  <a16:creationId xmlns:a16="http://schemas.microsoft.com/office/drawing/2014/main" id="{B9C46E3D-0C9B-40B9-88BD-AAA00F59BAFA}"/>
                </a:ext>
              </a:extLst>
            </p:cNvPr>
            <p:cNvCxnSpPr>
              <a:cxnSpLocks/>
              <a:endCxn id="12" idx="0"/>
            </p:cNvCxnSpPr>
            <p:nvPr/>
          </p:nvCxnSpPr>
          <p:spPr>
            <a:xfrm flipH="1">
              <a:off x="7881649" y="3773931"/>
              <a:ext cx="12700" cy="39779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타원 53">
              <a:extLst>
                <a:ext uri="{FF2B5EF4-FFF2-40B4-BE49-F238E27FC236}">
                  <a16:creationId xmlns:a16="http://schemas.microsoft.com/office/drawing/2014/main" id="{2DF670D2-CD54-4DF5-B014-C88184074A50}"/>
                </a:ext>
              </a:extLst>
            </p:cNvPr>
            <p:cNvSpPr/>
            <p:nvPr/>
          </p:nvSpPr>
          <p:spPr>
            <a:xfrm>
              <a:off x="7944973" y="2328727"/>
              <a:ext cx="252000" cy="252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9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Arial" panose="020B0604020202020204" pitchFamily="34" charset="0"/>
                  <a:ea typeface="KoPub돋움체 Bold" panose="02020603020101020101" pitchFamily="18" charset="-127"/>
                  <a:cs typeface="Arial" panose="020B0604020202020204" pitchFamily="34" charset="0"/>
                </a:rPr>
                <a:t>2</a:t>
              </a:r>
              <a:endParaRPr lang="ko-KR" altLang="en-US" sz="9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9409622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2</a:t>
            </a:r>
            <a:r>
              <a:rPr lang="ko-KR" altLang="en-US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주행 중 사각영역 존재 환경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F55F954-5E86-475A-837F-2B8CED6C7DF1}" type="slidenum">
              <a:rPr lang="ko-KR" altLang="en-US" smtClean="0"/>
              <a:pPr/>
              <a:t>45</a:t>
            </a:fld>
            <a:endParaRPr lang="ko-KR" altLang="en-US"/>
          </a:p>
        </p:txBody>
      </p:sp>
      <p:sp>
        <p:nvSpPr>
          <p:cNvPr id="8" name="순서도: 판단 7">
            <a:extLst>
              <a:ext uri="{FF2B5EF4-FFF2-40B4-BE49-F238E27FC236}">
                <a16:creationId xmlns:a16="http://schemas.microsoft.com/office/drawing/2014/main" id="{AAC1BEA4-AEF9-4525-8E68-9848027F8AC0}"/>
              </a:ext>
            </a:extLst>
          </p:cNvPr>
          <p:cNvSpPr/>
          <p:nvPr/>
        </p:nvSpPr>
        <p:spPr>
          <a:xfrm>
            <a:off x="6536870" y="2214369"/>
            <a:ext cx="1260930" cy="468000"/>
          </a:xfrm>
          <a:prstGeom prst="flowChartDecision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정지상태</a:t>
            </a:r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?</a:t>
            </a:r>
            <a:endParaRPr lang="ko-KR" altLang="en-US" sz="105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819ADA8-08E7-4408-B0D1-21D3973C5573}"/>
              </a:ext>
            </a:extLst>
          </p:cNvPr>
          <p:cNvSpPr/>
          <p:nvPr/>
        </p:nvSpPr>
        <p:spPr>
          <a:xfrm>
            <a:off x="6536870" y="1803172"/>
            <a:ext cx="1260930" cy="234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동적</a:t>
            </a:r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객체 데이터 입력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7DD5EAD-80C8-46CA-B850-1A29E5C5880E}"/>
              </a:ext>
            </a:extLst>
          </p:cNvPr>
          <p:cNvSpPr/>
          <p:nvPr/>
        </p:nvSpPr>
        <p:spPr>
          <a:xfrm>
            <a:off x="6551565" y="2907370"/>
            <a:ext cx="2685568" cy="221876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해당 객체 데이터 </a:t>
            </a:r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array </a:t>
            </a:r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생성</a:t>
            </a:r>
            <a:endParaRPr lang="en-US" altLang="ko-KR" sz="105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0510211-1F49-4B3F-8E3D-7CE25E2DEF9A}"/>
              </a:ext>
            </a:extLst>
          </p:cNvPr>
          <p:cNvSpPr/>
          <p:nvPr/>
        </p:nvSpPr>
        <p:spPr>
          <a:xfrm>
            <a:off x="5640574" y="3782769"/>
            <a:ext cx="1084971" cy="467999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특장차 전역 경로 </a:t>
            </a:r>
            <a:endParaRPr lang="en-US" altLang="ko-KR" sz="105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algn="ctr"/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point set </a:t>
            </a:r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입력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01C1300-87C1-4972-B7E8-330A885C8921}"/>
              </a:ext>
            </a:extLst>
          </p:cNvPr>
          <p:cNvSpPr/>
          <p:nvPr/>
        </p:nvSpPr>
        <p:spPr>
          <a:xfrm>
            <a:off x="6891649" y="4171721"/>
            <a:ext cx="1980000" cy="234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객체 </a:t>
            </a:r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– </a:t>
            </a:r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전역경로간 거리 추정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7DFC804-F4D6-44D2-A85F-5EC65BE3F54D}"/>
              </a:ext>
            </a:extLst>
          </p:cNvPr>
          <p:cNvSpPr/>
          <p:nvPr/>
        </p:nvSpPr>
        <p:spPr>
          <a:xfrm>
            <a:off x="6904349" y="5311008"/>
            <a:ext cx="1980000" cy="234000"/>
          </a:xfrm>
          <a:prstGeom prst="rect">
            <a:avLst/>
          </a:prstGeom>
          <a:solidFill>
            <a:schemeClr val="bg1"/>
          </a:solidFill>
          <a:ln w="19050">
            <a:solidFill>
              <a:srgbClr val="007A00"/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Confidence</a:t>
            </a:r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value </a:t>
            </a:r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출력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4CD8E17-4CC0-4CE2-B907-9CD3F3BBD061}"/>
              </a:ext>
            </a:extLst>
          </p:cNvPr>
          <p:cNvSpPr/>
          <p:nvPr/>
        </p:nvSpPr>
        <p:spPr>
          <a:xfrm>
            <a:off x="9124386" y="4780685"/>
            <a:ext cx="677359" cy="234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terminate</a:t>
            </a:r>
            <a:endParaRPr lang="ko-KR" altLang="en-US" sz="105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bg1">
                  <a:lumMod val="50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2D8A5F0C-0FBC-41E3-BA6F-DA387F8A5625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7167335" y="2682369"/>
            <a:ext cx="0" cy="2340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B398FBBD-5D26-429F-AAAB-B1DD493CC0DE}"/>
              </a:ext>
            </a:extLst>
          </p:cNvPr>
          <p:cNvCxnSpPr>
            <a:cxnSpLocks/>
          </p:cNvCxnSpPr>
          <p:nvPr/>
        </p:nvCxnSpPr>
        <p:spPr>
          <a:xfrm>
            <a:off x="6749256" y="3991826"/>
            <a:ext cx="113239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C24F9AC0-6142-44BD-8BEF-247E138E2BD8}"/>
              </a:ext>
            </a:extLst>
          </p:cNvPr>
          <p:cNvCxnSpPr>
            <a:cxnSpLocks/>
          </p:cNvCxnSpPr>
          <p:nvPr/>
        </p:nvCxnSpPr>
        <p:spPr>
          <a:xfrm>
            <a:off x="7881649" y="5160535"/>
            <a:ext cx="0" cy="16350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0B2AD404-5ED3-40CD-BC0A-6A8837FA0451}"/>
              </a:ext>
            </a:extLst>
          </p:cNvPr>
          <p:cNvCxnSpPr>
            <a:cxnSpLocks/>
          </p:cNvCxnSpPr>
          <p:nvPr/>
        </p:nvCxnSpPr>
        <p:spPr>
          <a:xfrm flipV="1">
            <a:off x="8887023" y="4897685"/>
            <a:ext cx="237363" cy="22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78FC7011-52EB-4A4B-95BE-6444C63C62C2}"/>
              </a:ext>
            </a:extLst>
          </p:cNvPr>
          <p:cNvCxnSpPr>
            <a:cxnSpLocks/>
            <a:stCxn id="9" idx="2"/>
            <a:endCxn id="8" idx="0"/>
          </p:cNvCxnSpPr>
          <p:nvPr/>
        </p:nvCxnSpPr>
        <p:spPr>
          <a:xfrm>
            <a:off x="7167335" y="2037172"/>
            <a:ext cx="0" cy="17719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C1011A9B-31D2-46B3-96F1-140AA1BD445C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7881649" y="4405721"/>
            <a:ext cx="0" cy="27232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순서도: 판단 22">
            <a:extLst>
              <a:ext uri="{FF2B5EF4-FFF2-40B4-BE49-F238E27FC236}">
                <a16:creationId xmlns:a16="http://schemas.microsoft.com/office/drawing/2014/main" id="{69F75A3B-B912-4D7D-975F-C9DE7FE7CE7B}"/>
              </a:ext>
            </a:extLst>
          </p:cNvPr>
          <p:cNvSpPr/>
          <p:nvPr/>
        </p:nvSpPr>
        <p:spPr>
          <a:xfrm>
            <a:off x="6904349" y="3315510"/>
            <a:ext cx="1980000" cy="458421"/>
          </a:xfrm>
          <a:prstGeom prst="flowChartDecision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특장차로부터 거리</a:t>
            </a:r>
            <a:endParaRPr lang="en-US" altLang="ko-KR" sz="105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algn="ctr"/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&lt;40m ?</a:t>
            </a:r>
            <a:endParaRPr lang="ko-KR" altLang="en-US" sz="105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527F000E-DA7B-4437-BBF6-F69C86DFDEFB}"/>
              </a:ext>
            </a:extLst>
          </p:cNvPr>
          <p:cNvCxnSpPr>
            <a:cxnSpLocks/>
            <a:stCxn id="10" idx="2"/>
            <a:endCxn id="23" idx="0"/>
          </p:cNvCxnSpPr>
          <p:nvPr/>
        </p:nvCxnSpPr>
        <p:spPr>
          <a:xfrm>
            <a:off x="7894349" y="3129246"/>
            <a:ext cx="0" cy="18626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순서도: 판단 25">
            <a:extLst>
              <a:ext uri="{FF2B5EF4-FFF2-40B4-BE49-F238E27FC236}">
                <a16:creationId xmlns:a16="http://schemas.microsoft.com/office/drawing/2014/main" id="{06498353-7AAE-4A0A-B401-0275885770AF}"/>
              </a:ext>
            </a:extLst>
          </p:cNvPr>
          <p:cNvSpPr/>
          <p:nvPr/>
        </p:nvSpPr>
        <p:spPr>
          <a:xfrm>
            <a:off x="6891649" y="4676043"/>
            <a:ext cx="1980000" cy="458421"/>
          </a:xfrm>
          <a:prstGeom prst="flowChartDecision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경로간 거리 </a:t>
            </a:r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&lt; </a:t>
            </a:r>
            <a:r>
              <a:rPr lang="en-US" altLang="ko-KR" sz="1050" kern="0" dirty="0">
                <a:ln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/>
                </a:solidFill>
                <a:latin typeface="+mn-ea"/>
                <a:cs typeface="Arial" panose="020B0604020202020204" pitchFamily="34" charset="0"/>
              </a:rPr>
              <a:t>15m</a:t>
            </a:r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?</a:t>
            </a:r>
            <a:endParaRPr lang="ko-KR" altLang="en-US" sz="105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27" name="왼쪽 중괄호 26">
            <a:extLst>
              <a:ext uri="{FF2B5EF4-FFF2-40B4-BE49-F238E27FC236}">
                <a16:creationId xmlns:a16="http://schemas.microsoft.com/office/drawing/2014/main" id="{F342B8AD-12ED-4FED-A306-29F0842AECA0}"/>
              </a:ext>
            </a:extLst>
          </p:cNvPr>
          <p:cNvSpPr/>
          <p:nvPr/>
        </p:nvSpPr>
        <p:spPr>
          <a:xfrm>
            <a:off x="6266316" y="2467027"/>
            <a:ext cx="145996" cy="608205"/>
          </a:xfrm>
          <a:prstGeom prst="leftBrace">
            <a:avLst>
              <a:gd name="adj1" fmla="val 250081"/>
              <a:gd name="adj2" fmla="val 50000"/>
            </a:avLst>
          </a:prstGeom>
          <a:ln w="190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3862AECD-4373-41EF-B211-A60DE07AE934}"/>
              </a:ext>
            </a:extLst>
          </p:cNvPr>
          <p:cNvSpPr/>
          <p:nvPr/>
        </p:nvSpPr>
        <p:spPr>
          <a:xfrm>
            <a:off x="5952037" y="2643116"/>
            <a:ext cx="252000" cy="252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rPr>
              <a:t>1</a:t>
            </a:r>
            <a:endParaRPr lang="ko-KR" altLang="en-US" sz="9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Arial" panose="020B0604020202020204" pitchFamily="34" charset="0"/>
              <a:ea typeface="KoPub돋움체 Bold" panose="02020603020101020101" pitchFamily="18" charset="-127"/>
              <a:cs typeface="Arial" panose="020B0604020202020204" pitchFamily="34" charset="0"/>
            </a:endParaRP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BBC5B75E-82BC-4E3D-BD9E-32A37F674A27}"/>
              </a:ext>
            </a:extLst>
          </p:cNvPr>
          <p:cNvSpPr/>
          <p:nvPr/>
        </p:nvSpPr>
        <p:spPr>
          <a:xfrm>
            <a:off x="6284413" y="3481724"/>
            <a:ext cx="252000" cy="252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rPr>
              <a:t>2</a:t>
            </a:r>
            <a:endParaRPr lang="ko-KR" altLang="en-US" sz="9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Arial" panose="020B0604020202020204" pitchFamily="34" charset="0"/>
              <a:ea typeface="KoPub돋움체 Bold" panose="02020603020101020101" pitchFamily="18" charset="-127"/>
              <a:cs typeface="Arial" panose="020B0604020202020204" pitchFamily="34" charset="0"/>
            </a:endParaRPr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544CEEE7-8C40-4250-8715-F5042A310DDA}"/>
              </a:ext>
            </a:extLst>
          </p:cNvPr>
          <p:cNvSpPr/>
          <p:nvPr/>
        </p:nvSpPr>
        <p:spPr>
          <a:xfrm>
            <a:off x="6284413" y="4299600"/>
            <a:ext cx="252000" cy="252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rPr>
              <a:t>3</a:t>
            </a:r>
            <a:endParaRPr lang="ko-KR" altLang="en-US" sz="9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Arial" panose="020B0604020202020204" pitchFamily="34" charset="0"/>
              <a:ea typeface="KoPub돋움체 Bold" panose="02020603020101020101" pitchFamily="18" charset="-127"/>
              <a:cs typeface="Arial" panose="020B0604020202020204" pitchFamily="34" charset="0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D8CBC439-DEF7-4246-9BDE-F64F90C4F049}"/>
              </a:ext>
            </a:extLst>
          </p:cNvPr>
          <p:cNvSpPr/>
          <p:nvPr/>
        </p:nvSpPr>
        <p:spPr>
          <a:xfrm>
            <a:off x="7976203" y="1803172"/>
            <a:ext cx="1260930" cy="234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정적 객체 데이터 입력</a:t>
            </a:r>
          </a:p>
        </p:txBody>
      </p:sp>
      <p:sp>
        <p:nvSpPr>
          <p:cNvPr id="38" name="순서도: 판단 37">
            <a:extLst>
              <a:ext uri="{FF2B5EF4-FFF2-40B4-BE49-F238E27FC236}">
                <a16:creationId xmlns:a16="http://schemas.microsoft.com/office/drawing/2014/main" id="{51E44CA5-FF4B-4D04-B43A-4C4244EC17E1}"/>
              </a:ext>
            </a:extLst>
          </p:cNvPr>
          <p:cNvSpPr/>
          <p:nvPr/>
        </p:nvSpPr>
        <p:spPr>
          <a:xfrm>
            <a:off x="8030935" y="2214369"/>
            <a:ext cx="1260930" cy="468000"/>
          </a:xfrm>
          <a:prstGeom prst="flowChartDecision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높이 </a:t>
            </a:r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&gt;2m?</a:t>
            </a:r>
            <a:endParaRPr lang="ko-KR" altLang="en-US" sz="105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236228B0-EFC7-454D-A825-49E45C2BB127}"/>
              </a:ext>
            </a:extLst>
          </p:cNvPr>
          <p:cNvCxnSpPr>
            <a:cxnSpLocks/>
          </p:cNvCxnSpPr>
          <p:nvPr/>
        </p:nvCxnSpPr>
        <p:spPr>
          <a:xfrm>
            <a:off x="8665935" y="2037172"/>
            <a:ext cx="0" cy="17719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B68E60C0-99C5-458E-B5F9-9D81573FCF7B}"/>
              </a:ext>
            </a:extLst>
          </p:cNvPr>
          <p:cNvCxnSpPr>
            <a:cxnSpLocks/>
          </p:cNvCxnSpPr>
          <p:nvPr/>
        </p:nvCxnSpPr>
        <p:spPr>
          <a:xfrm>
            <a:off x="8665935" y="2682369"/>
            <a:ext cx="0" cy="2340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B9C46E3D-0C9B-40B9-88BD-AAA00F59BAFA}"/>
              </a:ext>
            </a:extLst>
          </p:cNvPr>
          <p:cNvCxnSpPr>
            <a:cxnSpLocks/>
            <a:endCxn id="12" idx="0"/>
          </p:cNvCxnSpPr>
          <p:nvPr/>
        </p:nvCxnSpPr>
        <p:spPr>
          <a:xfrm flipH="1">
            <a:off x="7881649" y="3773931"/>
            <a:ext cx="12700" cy="39779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타원 53">
            <a:extLst>
              <a:ext uri="{FF2B5EF4-FFF2-40B4-BE49-F238E27FC236}">
                <a16:creationId xmlns:a16="http://schemas.microsoft.com/office/drawing/2014/main" id="{2DF670D2-CD54-4DF5-B014-C88184074A50}"/>
              </a:ext>
            </a:extLst>
          </p:cNvPr>
          <p:cNvSpPr/>
          <p:nvPr/>
        </p:nvSpPr>
        <p:spPr>
          <a:xfrm>
            <a:off x="7944973" y="2328727"/>
            <a:ext cx="252000" cy="252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rPr>
              <a:t>2</a:t>
            </a:r>
            <a:endParaRPr lang="ko-KR" altLang="en-US" sz="9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Arial" panose="020B0604020202020204" pitchFamily="34" charset="0"/>
              <a:ea typeface="KoPub돋움체 Bold" panose="02020603020101020101" pitchFamily="18" charset="-127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직사각형 33">
                <a:extLst>
                  <a:ext uri="{FF2B5EF4-FFF2-40B4-BE49-F238E27FC236}">
                    <a16:creationId xmlns:a16="http://schemas.microsoft.com/office/drawing/2014/main" id="{82AEC04B-8111-4B54-8962-E18094D8B527}"/>
                  </a:ext>
                </a:extLst>
              </p:cNvPr>
              <p:cNvSpPr/>
              <p:nvPr/>
            </p:nvSpPr>
            <p:spPr>
              <a:xfrm>
                <a:off x="381000" y="792750"/>
                <a:ext cx="9144000" cy="46336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120000"/>
                  <a:buFont typeface="+mj-ea"/>
                  <a:buAutoNum type="circleNumDbPlain" startAt="3"/>
                  <a:defRPr/>
                </a:pPr>
                <a:r>
                  <a:rPr lang="ko-KR" altLang="en-US" sz="1300" b="1" kern="0" dirty="0">
                    <a:ln>
                      <a:solidFill>
                        <a:schemeClr val="tx1">
                          <a:alpha val="30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장애물 </a:t>
                </a:r>
                <a:r>
                  <a:rPr lang="en-US" altLang="ko-KR" sz="1300" b="1" kern="0" dirty="0">
                    <a:ln>
                      <a:solidFill>
                        <a:schemeClr val="tx1">
                          <a:alpha val="30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– </a:t>
                </a:r>
                <a:r>
                  <a:rPr lang="ko-KR" altLang="en-US" sz="1300" b="1" kern="0" dirty="0">
                    <a:ln>
                      <a:solidFill>
                        <a:schemeClr val="tx1">
                          <a:alpha val="30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전역경로간 거리 추정</a:t>
                </a:r>
                <a:endParaRPr lang="en-US" altLang="ko-KR" sz="130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90000"/>
                  <a:defRPr/>
                </a:pP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  -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데이터 시점 </a:t>
                </a: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: t</a:t>
                </a: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90000"/>
                  <a:defRPr/>
                </a:pP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  -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특장차 전역 경로 </a:t>
                </a: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point set </a:t>
                </a:r>
                <a:b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</a:b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  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d>
                      <m:dPr>
                        <m:ctrlP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⋯,(</m:t>
                    </m:r>
                    <m:sSub>
                      <m:sSubPr>
                        <m:ctrlP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𝑛</m:t>
                        </m:r>
                      </m:sub>
                    </m:sSub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sSub>
                      <m:sSubPr>
                        <m:ctrlP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𝑛</m:t>
                        </m:r>
                      </m:sub>
                    </m:sSub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sSub>
                      <m:sSubPr>
                        <m:ctrlP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𝑧</m:t>
                        </m:r>
                      </m:e>
                      <m:sub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𝑛</m:t>
                        </m:r>
                      </m:sub>
                    </m:sSub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endParaRPr lang="en-US" altLang="ko-KR" sz="130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90000"/>
                  <a:defRPr/>
                </a:pP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  - (n-1)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세트의 직선 경로 영역 분할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𝑍</m:t>
                        </m:r>
                      </m:e>
                      <m:sub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~ </m:t>
                    </m:r>
                    <m:sSub>
                      <m:sSubPr>
                        <m:ctrlP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𝑍</m:t>
                        </m:r>
                      </m:e>
                      <m:sub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𝑛</m:t>
                        </m:r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−1</m:t>
                        </m:r>
                      </m:sub>
                    </m:sSub>
                  </m:oMath>
                </a14:m>
                <a:endParaRPr lang="en-US" altLang="ko-KR" sz="130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90000"/>
                  <a:defRPr/>
                </a:pP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 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𝑍</m:t>
                        </m:r>
                      </m:e>
                      <m:sub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영역과 장애물 사이의 거리 추정</a:t>
                </a:r>
                <a:b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</a:b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    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시작점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300" b="0" i="0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Z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300" b="0" i="0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k</m:t>
                        </m:r>
                        <m:r>
                          <a:rPr lang="en-US" altLang="ko-KR" sz="1300" b="0" i="0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ko-KR" sz="1300" b="0" i="0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start</m:t>
                        </m:r>
                      </m:sub>
                    </m:sSub>
                    <m:d>
                      <m:dPr>
                        <m:ctrlP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종점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300" b="0" i="0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Z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300" b="0" i="0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k</m:t>
                        </m:r>
                        <m:r>
                          <a:rPr lang="en-US" altLang="ko-KR" sz="1300" b="0" i="0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ko-KR" sz="1300" b="0" i="0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end</m:t>
                        </m:r>
                      </m:sub>
                    </m:sSub>
                    <m:d>
                      <m:dPr>
                        <m:ctrlP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𝑘</m:t>
                            </m:r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+1</m:t>
                            </m:r>
                          </m:sub>
                        </m:sSub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𝑘</m:t>
                            </m:r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+1</m:t>
                            </m:r>
                          </m:sub>
                        </m:sSub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𝑘</m:t>
                            </m:r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+1</m:t>
                            </m:r>
                          </m:sub>
                        </m:sSub>
                      </m:e>
                    </m:d>
                  </m:oMath>
                </a14:m>
                <a:b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</a:b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    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장애물 위치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𝑜𝑏𝑠</m:t>
                        </m:r>
                      </m:sub>
                    </m:sSub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𝑦</m:t>
                    </m:r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𝑧</m:t>
                    </m:r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endParaRPr lang="en-US" altLang="ko-KR" sz="130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90000"/>
                  <a:defRPr/>
                </a:pP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cs typeface="Arial" panose="020B0604020202020204" pitchFamily="34" charset="0"/>
                  </a:rPr>
                  <a:t>      </a:t>
                </a:r>
                <a14:m>
                  <m:oMath xmlns:m="http://schemas.openxmlformats.org/officeDocument/2006/math">
                    <m:r>
                      <a:rPr lang="en-US" altLang="ko-KR" sz="1300" b="0" i="0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0&lt;</m:t>
                    </m:r>
                    <m:f>
                      <m:fPr>
                        <m:ctrlPr>
                          <a:rPr lang="en-US" altLang="ko-KR" sz="130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acc>
                          <m:accPr>
                            <m:chr m:val="⃗"/>
                            <m:ctrlP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𝑍</m:t>
                                </m:r>
                              </m:e>
                              <m:sub>
                                <m: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𝑘</m:t>
                                </m:r>
                                <m: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,</m:t>
                                </m:r>
                                <m: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𝑠𝑡𝑎𝑟𝑡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𝑍</m:t>
                                </m:r>
                              </m:e>
                              <m:sub>
                                <m: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𝑘</m:t>
                                </m:r>
                                <m: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,</m:t>
                                </m:r>
                                <m: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𝑒𝑛𝑑</m:t>
                                </m:r>
                              </m:sub>
                            </m:sSub>
                          </m:e>
                        </m:acc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∙ </m:t>
                        </m:r>
                        <m:acc>
                          <m:accPr>
                            <m:chr m:val="⃗"/>
                            <m:ctrlP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𝑍</m:t>
                                </m:r>
                              </m:e>
                              <m:sub>
                                <m: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𝑘</m:t>
                                </m:r>
                                <m: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,</m:t>
                                </m:r>
                                <m: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𝑠𝑡𝑎𝑟𝑡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𝑜𝑏𝑠</m:t>
                                </m:r>
                              </m:sub>
                            </m:sSub>
                          </m:e>
                        </m:acc>
                      </m:num>
                      <m:den>
                        <m:sSup>
                          <m:sSupPr>
                            <m:ctrlP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ko-KR" sz="1300" b="0" i="1" kern="0" smtClea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⃗"/>
                                    <m:ctrlPr>
                                      <a:rPr lang="en-US" altLang="ko-KR" sz="1300" i="1" kern="0">
                                        <a:ln>
                                          <a:solidFill>
                                            <a:schemeClr val="tx1">
                                              <a:alpha val="5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altLang="ko-KR" sz="1300" i="1" kern="0">
                                            <a:ln>
                                              <a:solidFill>
                                                <a:schemeClr val="tx1">
                                                  <a:alpha val="5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300" i="1" kern="0">
                                            <a:ln>
                                              <a:solidFill>
                                                <a:schemeClr val="tx1">
                                                  <a:alpha val="5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𝑍</m:t>
                                        </m:r>
                                      </m:e>
                                      <m:sub>
                                        <m:r>
                                          <a:rPr lang="en-US" altLang="ko-KR" sz="1300" i="1" kern="0">
                                            <a:ln>
                                              <a:solidFill>
                                                <a:schemeClr val="tx1">
                                                  <a:alpha val="5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𝑘</m:t>
                                        </m:r>
                                        <m:r>
                                          <a:rPr lang="en-US" altLang="ko-KR" sz="1300" i="1" kern="0">
                                            <a:ln>
                                              <a:solidFill>
                                                <a:schemeClr val="tx1">
                                                  <a:alpha val="5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,</m:t>
                                        </m:r>
                                        <m:r>
                                          <a:rPr lang="en-US" altLang="ko-KR" sz="1300" i="1" kern="0">
                                            <a:ln>
                                              <a:solidFill>
                                                <a:schemeClr val="tx1">
                                                  <a:alpha val="5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𝑠𝑡𝑎𝑟𝑡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300" i="1" kern="0">
                                            <a:ln>
                                              <a:solidFill>
                                                <a:schemeClr val="tx1">
                                                  <a:alpha val="5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300" i="1" kern="0">
                                            <a:ln>
                                              <a:solidFill>
                                                <a:schemeClr val="tx1">
                                                  <a:alpha val="5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𝑍</m:t>
                                        </m:r>
                                      </m:e>
                                      <m:sub>
                                        <m:r>
                                          <a:rPr lang="en-US" altLang="ko-KR" sz="1300" i="1" kern="0">
                                            <a:ln>
                                              <a:solidFill>
                                                <a:schemeClr val="tx1">
                                                  <a:alpha val="5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𝑘</m:t>
                                        </m:r>
                                        <m:r>
                                          <a:rPr lang="en-US" altLang="ko-KR" sz="1300" i="1" kern="0">
                                            <a:ln>
                                              <a:solidFill>
                                                <a:schemeClr val="tx1">
                                                  <a:alpha val="5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,</m:t>
                                        </m:r>
                                        <m:r>
                                          <a:rPr lang="en-US" altLang="ko-KR" sz="1300" i="1" kern="0">
                                            <a:ln>
                                              <a:solidFill>
                                                <a:schemeClr val="tx1">
                                                  <a:alpha val="5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𝑒𝑛𝑑</m:t>
                                        </m:r>
                                      </m:sub>
                                    </m:sSub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&lt;1</m:t>
                    </m:r>
                  </m:oMath>
                </a14:m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의 조건을 만족하는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𝑍</m:t>
                        </m:r>
                      </m:e>
                      <m:sub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𝑘</m:t>
                        </m:r>
                      </m:sub>
                    </m:sSub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</m:t>
                    </m:r>
                    <m:sSub>
                      <m:sSubPr>
                        <m:ctrlP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𝑜𝑏𝑠</m:t>
                        </m:r>
                      </m:sub>
                    </m:sSub>
                    <m:r>
                      <a:rPr lang="ko-KR" altLang="en-US" sz="1300" i="1" ker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에</m:t>
                    </m:r>
                  </m:oMath>
                </a14:m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대해</a:t>
                </a:r>
                <a:endParaRPr lang="en-US" altLang="ko-KR" sz="130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90000"/>
                  <a:defRPr/>
                </a:pP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    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장애물 </a:t>
                </a: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–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전역경로간 거리 </a:t>
                </a:r>
                <a:b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</a:b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300" b="0" i="0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D</m:t>
                        </m:r>
                      </m:e>
                      <m:sub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𝑡𝑟𝑎</m:t>
                        </m:r>
                        <m:r>
                          <a:rPr lang="en-US" altLang="ko-KR" sz="1300" b="0" i="0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_</m:t>
                        </m:r>
                        <m:r>
                          <m:rPr>
                            <m:sty m:val="p"/>
                          </m:rPr>
                          <a:rPr lang="en-US" altLang="ko-KR" sz="1300" b="0" i="0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obs</m:t>
                        </m:r>
                      </m:sub>
                    </m:sSub>
                    <m:r>
                      <a:rPr lang="en-US" altLang="ko-KR" sz="1300" b="0" i="0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altLang="ko-KR" sz="130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𝑍</m:t>
                                </m:r>
                              </m:e>
                              <m:sub>
                                <m: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𝑘</m:t>
                                </m:r>
                                <m: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,</m:t>
                                </m:r>
                                <m: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𝑠𝑡𝑎𝑟𝑡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𝑜𝑏𝑠</m:t>
                                </m:r>
                              </m:sub>
                            </m:sSub>
                          </m:e>
                        </m:acc>
                      </m:e>
                    </m:d>
                    <m:rad>
                      <m:radPr>
                        <m:degHide m:val="on"/>
                        <m:ctrlP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radPr>
                      <m:deg/>
                      <m:e>
                        <m:r>
                          <a:rPr lang="en-US" altLang="ko-KR" sz="1300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1−</m:t>
                        </m:r>
                        <m:sSup>
                          <m:sSupPr>
                            <m:ctrlP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ko-KR" sz="1300" i="1" kern="0">
                                        <a:ln>
                                          <a:solidFill>
                                            <a:schemeClr val="tx1">
                                              <a:alpha val="5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fPr>
                                  <m:num>
                                    <m:acc>
                                      <m:accPr>
                                        <m:chr m:val="⃗"/>
                                        <m:ctrlPr>
                                          <a:rPr lang="en-US" altLang="ko-KR" sz="1300" i="1" kern="0">
                                            <a:ln>
                                              <a:solidFill>
                                                <a:schemeClr val="tx1">
                                                  <a:alpha val="5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acc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ko-KR" sz="1300" i="1" kern="0">
                                                <a:ln>
                                                  <a:solidFill>
                                                    <a:schemeClr val="tx1">
                                                      <a:alpha val="5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cs typeface="Arial" panose="020B0604020202020204" pitchFamily="34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300" i="1" kern="0">
                                                <a:ln>
                                                  <a:solidFill>
                                                    <a:schemeClr val="tx1">
                                                      <a:alpha val="5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cs typeface="Arial" panose="020B0604020202020204" pitchFamily="34" charset="0"/>
                                              </a:rPr>
                                              <m:t>𝑍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300" i="1" kern="0">
                                                <a:ln>
                                                  <a:solidFill>
                                                    <a:schemeClr val="tx1">
                                                      <a:alpha val="5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cs typeface="Arial" panose="020B0604020202020204" pitchFamily="34" charset="0"/>
                                              </a:rPr>
                                              <m:t>𝑘</m:t>
                                            </m:r>
                                            <m:r>
                                              <a:rPr lang="en-US" altLang="ko-KR" sz="1300" i="1" kern="0">
                                                <a:ln>
                                                  <a:solidFill>
                                                    <a:schemeClr val="tx1">
                                                      <a:alpha val="5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cs typeface="Arial" panose="020B0604020202020204" pitchFamily="34" charset="0"/>
                                              </a:rPr>
                                              <m:t>,</m:t>
                                            </m:r>
                                            <m:r>
                                              <a:rPr lang="en-US" altLang="ko-KR" sz="1300" i="1" kern="0">
                                                <a:ln>
                                                  <a:solidFill>
                                                    <a:schemeClr val="tx1">
                                                      <a:alpha val="5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cs typeface="Arial" panose="020B0604020202020204" pitchFamily="34" charset="0"/>
                                              </a:rPr>
                                              <m:t>𝑠𝑡𝑎𝑟𝑡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lang="en-US" altLang="ko-KR" sz="1300" i="1" kern="0">
                                                <a:ln>
                                                  <a:solidFill>
                                                    <a:schemeClr val="tx1">
                                                      <a:alpha val="5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cs typeface="Arial" panose="020B0604020202020204" pitchFamily="34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300" i="1" kern="0">
                                                <a:ln>
                                                  <a:solidFill>
                                                    <a:schemeClr val="tx1">
                                                      <a:alpha val="5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cs typeface="Arial" panose="020B0604020202020204" pitchFamily="34" charset="0"/>
                                              </a:rPr>
                                              <m:t>𝑍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300" i="1" kern="0">
                                                <a:ln>
                                                  <a:solidFill>
                                                    <a:schemeClr val="tx1">
                                                      <a:alpha val="5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cs typeface="Arial" panose="020B0604020202020204" pitchFamily="34" charset="0"/>
                                              </a:rPr>
                                              <m:t>𝑘</m:t>
                                            </m:r>
                                            <m:r>
                                              <a:rPr lang="en-US" altLang="ko-KR" sz="1300" i="1" kern="0">
                                                <a:ln>
                                                  <a:solidFill>
                                                    <a:schemeClr val="tx1">
                                                      <a:alpha val="5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cs typeface="Arial" panose="020B0604020202020204" pitchFamily="34" charset="0"/>
                                              </a:rPr>
                                              <m:t>,</m:t>
                                            </m:r>
                                            <m:r>
                                              <a:rPr lang="en-US" altLang="ko-KR" sz="1300" i="1" kern="0">
                                                <a:ln>
                                                  <a:solidFill>
                                                    <a:schemeClr val="tx1">
                                                      <a:alpha val="5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cs typeface="Arial" panose="020B0604020202020204" pitchFamily="34" charset="0"/>
                                              </a:rPr>
                                              <m:t>𝑒𝑛𝑑</m:t>
                                            </m:r>
                                          </m:sub>
                                        </m:sSub>
                                      </m:e>
                                    </m:acc>
                                    <m:r>
                                      <a:rPr lang="en-US" altLang="ko-KR" sz="1300" i="1" kern="0">
                                        <a:ln>
                                          <a:solidFill>
                                            <a:schemeClr val="tx1">
                                              <a:alpha val="5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 ∙ </m:t>
                                    </m:r>
                                    <m:acc>
                                      <m:accPr>
                                        <m:chr m:val="⃗"/>
                                        <m:ctrlPr>
                                          <a:rPr lang="en-US" altLang="ko-KR" sz="1300" i="1" kern="0">
                                            <a:ln>
                                              <a:solidFill>
                                                <a:schemeClr val="tx1">
                                                  <a:alpha val="5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acc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ko-KR" sz="1300" i="1" kern="0">
                                                <a:ln>
                                                  <a:solidFill>
                                                    <a:schemeClr val="tx1">
                                                      <a:alpha val="5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cs typeface="Arial" panose="020B0604020202020204" pitchFamily="34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300" i="1" kern="0">
                                                <a:ln>
                                                  <a:solidFill>
                                                    <a:schemeClr val="tx1">
                                                      <a:alpha val="5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cs typeface="Arial" panose="020B0604020202020204" pitchFamily="34" charset="0"/>
                                              </a:rPr>
                                              <m:t>𝑍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300" i="1" kern="0">
                                                <a:ln>
                                                  <a:solidFill>
                                                    <a:schemeClr val="tx1">
                                                      <a:alpha val="5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cs typeface="Arial" panose="020B0604020202020204" pitchFamily="34" charset="0"/>
                                              </a:rPr>
                                              <m:t>𝑘</m:t>
                                            </m:r>
                                            <m:r>
                                              <a:rPr lang="en-US" altLang="ko-KR" sz="1300" i="1" kern="0">
                                                <a:ln>
                                                  <a:solidFill>
                                                    <a:schemeClr val="tx1">
                                                      <a:alpha val="5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cs typeface="Arial" panose="020B0604020202020204" pitchFamily="34" charset="0"/>
                                              </a:rPr>
                                              <m:t>,</m:t>
                                            </m:r>
                                            <m:r>
                                              <a:rPr lang="en-US" altLang="ko-KR" sz="1300" i="1" kern="0">
                                                <a:ln>
                                                  <a:solidFill>
                                                    <a:schemeClr val="tx1">
                                                      <a:alpha val="5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cs typeface="Arial" panose="020B0604020202020204" pitchFamily="34" charset="0"/>
                                              </a:rPr>
                                              <m:t>𝑠𝑡𝑎𝑟𝑡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lang="en-US" altLang="ko-KR" sz="1300" i="1" kern="0">
                                                <a:ln>
                                                  <a:solidFill>
                                                    <a:schemeClr val="tx1">
                                                      <a:alpha val="5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cs typeface="Arial" panose="020B0604020202020204" pitchFamily="34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300" i="1" kern="0">
                                                <a:ln>
                                                  <a:solidFill>
                                                    <a:schemeClr val="tx1">
                                                      <a:alpha val="5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cs typeface="Arial" panose="020B0604020202020204" pitchFamily="34" charset="0"/>
                                              </a:rPr>
                                              <m:t>𝑃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300" i="1" kern="0">
                                                <a:ln>
                                                  <a:solidFill>
                                                    <a:schemeClr val="tx1">
                                                      <a:alpha val="5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cs typeface="Arial" panose="020B0604020202020204" pitchFamily="34" charset="0"/>
                                              </a:rPr>
                                              <m:t>𝑜𝑏𝑠</m:t>
                                            </m:r>
                                          </m:sub>
                                        </m:sSub>
                                      </m:e>
                                    </m:acc>
                                  </m:num>
                                  <m:den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altLang="ko-KR" sz="1300" i="1" kern="0">
                                            <a:ln>
                                              <a:solidFill>
                                                <a:schemeClr val="tx1">
                                                  <a:alpha val="5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dPr>
                                      <m:e>
                                        <m:acc>
                                          <m:accPr>
                                            <m:chr m:val="⃗"/>
                                            <m:ctrlPr>
                                              <a:rPr lang="en-US" altLang="ko-KR" sz="1300" i="1" kern="0">
                                                <a:ln>
                                                  <a:solidFill>
                                                    <a:schemeClr val="tx1">
                                                      <a:alpha val="5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cs typeface="Arial" panose="020B0604020202020204" pitchFamily="34" charset="0"/>
                                              </a:rPr>
                                            </m:ctrlPr>
                                          </m:acc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ko-KR" sz="1300" i="1" kern="0">
                                                    <a:ln>
                                                      <a:solidFill>
                                                        <a:schemeClr val="tx1">
                                                          <a:alpha val="5000"/>
                                                        </a:schemeClr>
                                                      </a:solidFill>
                                                    </a:ln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ko-KR" sz="1300" i="1" kern="0">
                                                    <a:ln>
                                                      <a:solidFill>
                                                        <a:schemeClr val="tx1">
                                                          <a:alpha val="5000"/>
                                                        </a:schemeClr>
                                                      </a:solidFill>
                                                    </a:ln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𝑍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ko-KR" sz="1300" i="1" kern="0">
                                                    <a:ln>
                                                      <a:solidFill>
                                                        <a:schemeClr val="tx1">
                                                          <a:alpha val="5000"/>
                                                        </a:schemeClr>
                                                      </a:solidFill>
                                                    </a:ln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𝑘</m:t>
                                                </m:r>
                                                <m:r>
                                                  <a:rPr lang="en-US" altLang="ko-KR" sz="1300" i="1" kern="0">
                                                    <a:ln>
                                                      <a:solidFill>
                                                        <a:schemeClr val="tx1">
                                                          <a:alpha val="5000"/>
                                                        </a:schemeClr>
                                                      </a:solidFill>
                                                    </a:ln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,</m:t>
                                                </m:r>
                                                <m:r>
                                                  <a:rPr lang="en-US" altLang="ko-KR" sz="1300" i="1" kern="0">
                                                    <a:ln>
                                                      <a:solidFill>
                                                        <a:schemeClr val="tx1">
                                                          <a:alpha val="5000"/>
                                                        </a:schemeClr>
                                                      </a:solidFill>
                                                    </a:ln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𝑠𝑡𝑎𝑟𝑡</m:t>
                                                </m:r>
                                              </m:sub>
                                            </m:sSub>
                                            <m:sSub>
                                              <m:sSubPr>
                                                <m:ctrlPr>
                                                  <a:rPr lang="en-US" altLang="ko-KR" sz="1300" i="1" kern="0">
                                                    <a:ln>
                                                      <a:solidFill>
                                                        <a:schemeClr val="tx1">
                                                          <a:alpha val="5000"/>
                                                        </a:schemeClr>
                                                      </a:solidFill>
                                                    </a:ln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ko-KR" sz="1300" i="1" kern="0">
                                                    <a:ln>
                                                      <a:solidFill>
                                                        <a:schemeClr val="tx1">
                                                          <a:alpha val="5000"/>
                                                        </a:schemeClr>
                                                      </a:solidFill>
                                                    </a:ln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𝑍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ko-KR" sz="1300" i="1" kern="0">
                                                    <a:ln>
                                                      <a:solidFill>
                                                        <a:schemeClr val="tx1">
                                                          <a:alpha val="5000"/>
                                                        </a:schemeClr>
                                                      </a:solidFill>
                                                    </a:ln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𝑘</m:t>
                                                </m:r>
                                                <m:r>
                                                  <a:rPr lang="en-US" altLang="ko-KR" sz="1300" i="1" kern="0">
                                                    <a:ln>
                                                      <a:solidFill>
                                                        <a:schemeClr val="tx1">
                                                          <a:alpha val="5000"/>
                                                        </a:schemeClr>
                                                      </a:solidFill>
                                                    </a:ln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,</m:t>
                                                </m:r>
                                                <m:r>
                                                  <a:rPr lang="en-US" altLang="ko-KR" sz="1300" i="1" kern="0">
                                                    <a:ln>
                                                      <a:solidFill>
                                                        <a:schemeClr val="tx1">
                                                          <a:alpha val="5000"/>
                                                        </a:schemeClr>
                                                      </a:solidFill>
                                                    </a:ln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𝑒𝑛𝑑</m:t>
                                                </m:r>
                                              </m:sub>
                                            </m:sSub>
                                          </m:e>
                                        </m:acc>
                                      </m:e>
                                    </m:d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altLang="ko-KR" sz="1300" i="1" kern="0">
                                            <a:ln>
                                              <a:solidFill>
                                                <a:schemeClr val="tx1">
                                                  <a:alpha val="5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dPr>
                                      <m:e>
                                        <m:acc>
                                          <m:accPr>
                                            <m:chr m:val="⃗"/>
                                            <m:ctrlPr>
                                              <a:rPr lang="en-US" altLang="ko-KR" sz="1300" i="1" kern="0">
                                                <a:ln>
                                                  <a:solidFill>
                                                    <a:schemeClr val="tx1">
                                                      <a:alpha val="5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cs typeface="Arial" panose="020B0604020202020204" pitchFamily="34" charset="0"/>
                                              </a:rPr>
                                            </m:ctrlPr>
                                          </m:acc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ko-KR" sz="1300" i="1" kern="0">
                                                    <a:ln>
                                                      <a:solidFill>
                                                        <a:schemeClr val="tx1">
                                                          <a:alpha val="5000"/>
                                                        </a:schemeClr>
                                                      </a:solidFill>
                                                    </a:ln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ko-KR" sz="1300" i="1" kern="0">
                                                    <a:ln>
                                                      <a:solidFill>
                                                        <a:schemeClr val="tx1">
                                                          <a:alpha val="5000"/>
                                                        </a:schemeClr>
                                                      </a:solidFill>
                                                    </a:ln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𝑍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ko-KR" sz="1300" i="1" kern="0">
                                                    <a:ln>
                                                      <a:solidFill>
                                                        <a:schemeClr val="tx1">
                                                          <a:alpha val="5000"/>
                                                        </a:schemeClr>
                                                      </a:solidFill>
                                                    </a:ln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𝑘</m:t>
                                                </m:r>
                                                <m:r>
                                                  <a:rPr lang="en-US" altLang="ko-KR" sz="1300" i="1" kern="0">
                                                    <a:ln>
                                                      <a:solidFill>
                                                        <a:schemeClr val="tx1">
                                                          <a:alpha val="5000"/>
                                                        </a:schemeClr>
                                                      </a:solidFill>
                                                    </a:ln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,</m:t>
                                                </m:r>
                                                <m:r>
                                                  <a:rPr lang="en-US" altLang="ko-KR" sz="1300" i="1" kern="0">
                                                    <a:ln>
                                                      <a:solidFill>
                                                        <a:schemeClr val="tx1">
                                                          <a:alpha val="5000"/>
                                                        </a:schemeClr>
                                                      </a:solidFill>
                                                    </a:ln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𝑠𝑡𝑎𝑟𝑡</m:t>
                                                </m:r>
                                              </m:sub>
                                            </m:sSub>
                                            <m:sSub>
                                              <m:sSubPr>
                                                <m:ctrlPr>
                                                  <a:rPr lang="en-US" altLang="ko-KR" sz="1300" i="1" kern="0">
                                                    <a:ln>
                                                      <a:solidFill>
                                                        <a:schemeClr val="tx1">
                                                          <a:alpha val="5000"/>
                                                        </a:schemeClr>
                                                      </a:solidFill>
                                                    </a:ln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ko-KR" sz="1300" i="1" kern="0">
                                                    <a:ln>
                                                      <a:solidFill>
                                                        <a:schemeClr val="tx1">
                                                          <a:alpha val="5000"/>
                                                        </a:schemeClr>
                                                      </a:solidFill>
                                                    </a:ln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𝑃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ko-KR" sz="1300" i="1" kern="0">
                                                    <a:ln>
                                                      <a:solidFill>
                                                        <a:schemeClr val="tx1">
                                                          <a:alpha val="5000"/>
                                                        </a:schemeClr>
                                                      </a:solidFill>
                                                    </a:ln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𝑜𝑏𝑠</m:t>
                                                </m:r>
                                              </m:sub>
                                            </m:sSub>
                                          </m:e>
                                        </m:acc>
                                      </m:e>
                                    </m:d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endParaRPr lang="en-US" altLang="ko-KR" sz="130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90000"/>
                  <a:defRPr/>
                </a:pP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     </a:t>
                </a: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90000"/>
                  <a:defRPr/>
                </a:pPr>
                <a:endParaRPr lang="en-US" altLang="ko-KR" sz="130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4" name="직사각형 33">
                <a:extLst>
                  <a:ext uri="{FF2B5EF4-FFF2-40B4-BE49-F238E27FC236}">
                    <a16:creationId xmlns:a16="http://schemas.microsoft.com/office/drawing/2014/main" id="{82AEC04B-8111-4B54-8962-E18094D8B5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792750"/>
                <a:ext cx="9144000" cy="463364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직사각형 35">
                <a:extLst>
                  <a:ext uri="{FF2B5EF4-FFF2-40B4-BE49-F238E27FC236}">
                    <a16:creationId xmlns:a16="http://schemas.microsoft.com/office/drawing/2014/main" id="{29EA5E7C-5ECC-4CB3-80BF-79F675E280D5}"/>
                  </a:ext>
                </a:extLst>
              </p:cNvPr>
              <p:cNvSpPr/>
              <p:nvPr/>
            </p:nvSpPr>
            <p:spPr>
              <a:xfrm>
                <a:off x="381000" y="4981769"/>
                <a:ext cx="9144000" cy="15027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120000"/>
                  <a:buFont typeface="+mj-ea"/>
                  <a:buAutoNum type="circleNumDbPlain" startAt="4"/>
                  <a:defRPr/>
                </a:pPr>
                <a:r>
                  <a:rPr lang="en-US" altLang="ko-KR" sz="1300" b="1" kern="0" dirty="0">
                    <a:ln>
                      <a:solidFill>
                        <a:schemeClr val="tx1">
                          <a:alpha val="30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Confidence value</a:t>
                </a:r>
                <a14:m>
                  <m:oMath xmlns:m="http://schemas.openxmlformats.org/officeDocument/2006/math">
                    <m:r>
                      <a:rPr lang="en-US" altLang="ko-KR" sz="1300" b="1" i="1" kern="0" smtClean="0">
                        <a:ln>
                          <a:solidFill>
                            <a:schemeClr val="tx1"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sSub>
                      <m:sSubPr>
                        <m:ctrlPr>
                          <a:rPr lang="en-US" altLang="ko-KR" sz="1300" b="1" i="1" kern="0" smtClean="0">
                            <a:ln>
                              <a:solidFill>
                                <a:schemeClr val="tx1"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300" b="1" i="1" kern="0" smtClean="0">
                            <a:ln>
                              <a:solidFill>
                                <a:schemeClr val="tx1"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𝑪</m:t>
                        </m:r>
                      </m:e>
                      <m:sub>
                        <m:r>
                          <a:rPr lang="en-US" altLang="ko-KR" sz="1300" b="1" i="1" kern="0" smtClean="0">
                            <a:ln>
                              <a:solidFill>
                                <a:schemeClr val="tx1"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𝟐</m:t>
                        </m:r>
                      </m:sub>
                    </m:sSub>
                    <m:r>
                      <a:rPr lang="en-US" altLang="ko-KR" sz="1300" b="1" i="1" kern="0" smtClean="0">
                        <a:ln>
                          <a:solidFill>
                            <a:schemeClr val="tx1"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n-US" altLang="ko-KR" sz="1300" b="1" kern="0" dirty="0">
                    <a:ln>
                      <a:solidFill>
                        <a:schemeClr val="tx1">
                          <a:alpha val="30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</a:t>
                </a:r>
                <a:r>
                  <a:rPr lang="ko-KR" altLang="en-US" sz="1300" b="1" kern="0" dirty="0">
                    <a:ln>
                      <a:solidFill>
                        <a:schemeClr val="tx1">
                          <a:alpha val="30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추출</a:t>
                </a:r>
                <a:endParaRPr lang="en-US" altLang="ko-KR" sz="130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90000"/>
                  <a:defRPr/>
                </a:pP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  -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데이터 시점 </a:t>
                </a: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: t</a:t>
                </a: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90000"/>
                  <a:defRPr/>
                </a:pP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 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𝐷</m:t>
                        </m:r>
                      </m:e>
                      <m:sub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𝑡𝑎𝑟</m:t>
                        </m:r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_</m:t>
                        </m:r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𝑜𝑏𝑠</m:t>
                        </m:r>
                      </m:sub>
                    </m:sSub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&lt;10</m:t>
                    </m:r>
                  </m:oMath>
                </a14:m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인 경우</a:t>
                </a:r>
                <a:endParaRPr lang="en-US" altLang="ko-KR" sz="130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90000"/>
                  <a:defRPr/>
                </a:pP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 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𝐶</m:t>
                        </m:r>
                      </m:e>
                      <m:sub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f>
                      <m:fPr>
                        <m:ctrlP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40</m:t>
                        </m:r>
                      </m:num>
                      <m:den>
                        <m:sSub>
                          <m:sSubPr>
                            <m:ctrlP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𝑒𝑔</m:t>
                            </m:r>
                            <m:sSub>
                              <m:sSubPr>
                                <m:ctrlP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𝑜</m:t>
                                </m:r>
                              </m:e>
                              <m:sub>
                                <m: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𝑜𝑏𝑠</m:t>
                                </m:r>
                              </m:sub>
                            </m:sSub>
                          </m:sub>
                        </m:sSub>
                      </m:den>
                    </m:f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∗0.7</m:t>
                    </m:r>
                  </m:oMath>
                </a14:m>
                <a:endParaRPr lang="en-US" altLang="ko-KR" sz="130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6" name="직사각형 35">
                <a:extLst>
                  <a:ext uri="{FF2B5EF4-FFF2-40B4-BE49-F238E27FC236}">
                    <a16:creationId xmlns:a16="http://schemas.microsoft.com/office/drawing/2014/main" id="{29EA5E7C-5ECC-4CB3-80BF-79F675E280D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4981769"/>
                <a:ext cx="9144000" cy="150278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9715364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3</a:t>
            </a:r>
            <a:r>
              <a:rPr lang="ko-KR" altLang="en-US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주행 중</a:t>
            </a:r>
            <a:r>
              <a:rPr lang="en-US" altLang="ko-KR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, </a:t>
            </a:r>
            <a:r>
              <a:rPr lang="ko-KR" altLang="en-US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경로 주변 동적 장애물 통행 환경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F55F954-5E86-475A-837F-2B8CED6C7DF1}" type="slidenum">
              <a:rPr lang="ko-KR" altLang="en-US" smtClean="0"/>
              <a:pPr/>
              <a:t>46</a:t>
            </a:fld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6EB9BC6-D7CB-4677-BBA3-54AABC15EF84}"/>
              </a:ext>
            </a:extLst>
          </p:cNvPr>
          <p:cNvSpPr/>
          <p:nvPr/>
        </p:nvSpPr>
        <p:spPr>
          <a:xfrm>
            <a:off x="381000" y="617684"/>
            <a:ext cx="9144000" cy="94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5256" indent="-95256"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buFont typeface="Wingdings" panose="05000000000000000000" pitchFamily="2" charset="2"/>
              <a:buChar char="§"/>
              <a:defRPr/>
            </a:pPr>
            <a:r>
              <a:rPr lang="ko-KR" altLang="en-US" sz="1300" b="1" kern="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개요</a:t>
            </a:r>
            <a:endParaRPr lang="en-US" altLang="ko-KR" sz="1300" b="1" kern="0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특장차의 주행 경로 주변 안전 영역 확보 필요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안전 영역 외부의 차량 또는 사람의 통행은 가능하나 안전 영역으로의 침범으로 위험 상황 발생 가능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F6D8215-33CD-4738-89E9-A326B0961459}"/>
              </a:ext>
            </a:extLst>
          </p:cNvPr>
          <p:cNvSpPr/>
          <p:nvPr/>
        </p:nvSpPr>
        <p:spPr>
          <a:xfrm>
            <a:off x="381000" y="1747527"/>
            <a:ext cx="9144000" cy="1885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5256" indent="-95256"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buFont typeface="Wingdings" panose="05000000000000000000" pitchFamily="2" charset="2"/>
              <a:buChar char="§"/>
              <a:defRPr/>
            </a:pPr>
            <a:r>
              <a:rPr lang="ko-KR" altLang="en-US" sz="1300" b="1" kern="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알고리즘</a:t>
            </a:r>
            <a:endParaRPr lang="en-US" altLang="ko-KR" sz="1300" b="1" kern="0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특장차 </a:t>
            </a:r>
            <a:r>
              <a:rPr lang="ko-KR" altLang="en-US" sz="1300" kern="0" dirty="0" err="1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주행시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영역 지정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특장차 반경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10m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이내 영역을 위험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영역으로 지정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(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자율주행 대응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)</a:t>
            </a: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특장차 반경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10~20m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영역을 안전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영역으로 지정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특장차 반경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20~30m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영역을 판단 영역으로 지정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ea typeface="KoPub돋움체 Medium" panose="02020603020101020101" pitchFamily="18" charset="-127"/>
                <a:cs typeface="Arial" panose="020B0604020202020204" pitchFamily="34" charset="0"/>
              </a:rPr>
              <a:t>  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판단 영역에 동적 장애물 진입 시 예상 이동 경로가 안전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영역 침범 시 작업 보조 차량이 경고 및 경로 방해</a:t>
            </a:r>
          </a:p>
        </p:txBody>
      </p:sp>
    </p:spTree>
    <p:extLst>
      <p:ext uri="{BB962C8B-B14F-4D97-AF65-F5344CB8AC3E}">
        <p14:creationId xmlns:p14="http://schemas.microsoft.com/office/powerpoint/2010/main" val="401051157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B5D762-FAC4-8EC3-EB45-D75B2112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4AB610-38A2-39C2-6AAB-F53ECB911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3</a:t>
            </a:r>
            <a:r>
              <a:rPr lang="ko-KR" altLang="en-US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주행 중</a:t>
            </a:r>
            <a:r>
              <a:rPr lang="en-US" altLang="ko-KR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, </a:t>
            </a:r>
            <a:r>
              <a:rPr lang="ko-KR" altLang="en-US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경로 주변 동적 장애물 통행 환경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7E7BA57-353C-6E02-BA3F-8EF5BF83CE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71438" y="6650182"/>
            <a:ext cx="548244" cy="207818"/>
          </a:xfrm>
        </p:spPr>
        <p:txBody>
          <a:bodyPr/>
          <a:lstStyle/>
          <a:p>
            <a:fld id="{BF55F954-5E86-475A-837F-2B8CED6C7DF1}" type="slidenum">
              <a:rPr lang="ko-KR" altLang="en-US" smtClean="0"/>
              <a:pPr/>
              <a:t>47</a:t>
            </a:fld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6EAC970-88DB-9972-E970-128803B0D855}"/>
              </a:ext>
            </a:extLst>
          </p:cNvPr>
          <p:cNvSpPr/>
          <p:nvPr/>
        </p:nvSpPr>
        <p:spPr>
          <a:xfrm>
            <a:off x="284495" y="950862"/>
            <a:ext cx="3752767" cy="8240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위험 영역</a:t>
            </a:r>
            <a:endParaRPr lang="en-US" altLang="ko-KR" sz="12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특장차 </a:t>
            </a:r>
            <a:r>
              <a:rPr lang="ko-KR" altLang="en-US" sz="1200" dirty="0" err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주행시</a:t>
            </a:r>
            <a:r>
              <a:rPr lang="ko-KR" altLang="en-US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 특장차가 위험 상황 발생으로 직접 대응 가능한 영역</a:t>
            </a:r>
            <a:r>
              <a:rPr lang="en-US" altLang="ko-KR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즉시 정지</a:t>
            </a:r>
            <a:r>
              <a:rPr lang="en-US" altLang="ko-KR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)</a:t>
            </a:r>
          </a:p>
          <a:p>
            <a:r>
              <a:rPr lang="en-US" altLang="ko-KR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   - </a:t>
            </a:r>
            <a:r>
              <a:rPr lang="ko-KR" altLang="en-US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특장차 반경 </a:t>
            </a:r>
            <a:r>
              <a:rPr lang="en-US" altLang="ko-KR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10m (</a:t>
            </a:r>
            <a:r>
              <a:rPr lang="ko-KR" altLang="en-US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특장차 </a:t>
            </a:r>
            <a:r>
              <a:rPr lang="en-US" altLang="ko-KR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spec</a:t>
            </a:r>
            <a:r>
              <a:rPr lang="ko-KR" altLang="en-US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에 따라 변경 가능</a:t>
            </a:r>
            <a:r>
              <a:rPr lang="en-US" altLang="ko-KR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C414028-1209-82DC-5CD0-4882FBC95D71}"/>
              </a:ext>
            </a:extLst>
          </p:cNvPr>
          <p:cNvSpPr/>
          <p:nvPr/>
        </p:nvSpPr>
        <p:spPr>
          <a:xfrm>
            <a:off x="284495" y="1775590"/>
            <a:ext cx="3752767" cy="11658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안전 영역</a:t>
            </a:r>
            <a:endParaRPr lang="en-US" altLang="ko-KR" sz="12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특장차의 직접 대응으로 인한 정차를 방지하기 </a:t>
            </a:r>
            <a:br>
              <a:rPr lang="en-US" altLang="ko-KR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</a:br>
            <a:r>
              <a:rPr lang="ko-KR" altLang="en-US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위하여 사전에 작업 보조차량이 동적 장애물이 </a:t>
            </a:r>
            <a:br>
              <a:rPr lang="en-US" altLang="ko-KR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</a:br>
            <a:r>
              <a:rPr lang="ko-KR" altLang="en-US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접근하지 않도록 보호하는 영역</a:t>
            </a:r>
            <a:endParaRPr lang="en-US" altLang="ko-KR" sz="120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</a:endParaRPr>
          </a:p>
          <a:p>
            <a:r>
              <a:rPr lang="en-US" altLang="ko-KR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   - </a:t>
            </a:r>
            <a:r>
              <a:rPr lang="ko-KR" altLang="en-US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특장차 반경 </a:t>
            </a:r>
            <a:r>
              <a:rPr lang="en-US" altLang="ko-KR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10~20m</a:t>
            </a:r>
            <a:br>
              <a:rPr lang="en-US" altLang="ko-KR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</a:br>
            <a:r>
              <a:rPr lang="en-US" altLang="ko-KR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     (</a:t>
            </a:r>
            <a:r>
              <a:rPr lang="ko-KR" altLang="en-US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특장차 </a:t>
            </a:r>
            <a:r>
              <a:rPr lang="en-US" altLang="ko-KR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spec</a:t>
            </a:r>
            <a:r>
              <a:rPr lang="ko-KR" altLang="en-US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에 따라 변경 가능</a:t>
            </a:r>
            <a:r>
              <a:rPr lang="en-US" altLang="ko-KR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36D5463-A95D-7A9F-5F10-1D31FA77402A}"/>
              </a:ext>
            </a:extLst>
          </p:cNvPr>
          <p:cNvSpPr/>
          <p:nvPr/>
        </p:nvSpPr>
        <p:spPr>
          <a:xfrm>
            <a:off x="284495" y="2941449"/>
            <a:ext cx="3752767" cy="10325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판단 영역</a:t>
            </a:r>
            <a:endParaRPr lang="en-US" altLang="ko-KR" sz="12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특장차 주변 동적 장애물이 안전영역에 침범할 </a:t>
            </a:r>
            <a:br>
              <a:rPr lang="en-US" altLang="ko-KR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</a:br>
            <a:r>
              <a:rPr lang="ko-KR" altLang="en-US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가능성이 있는지 판단하는 범위</a:t>
            </a:r>
            <a:endParaRPr lang="en-US" altLang="ko-KR" sz="120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</a:endParaRPr>
          </a:p>
          <a:p>
            <a:r>
              <a:rPr lang="en-US" altLang="ko-KR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   - </a:t>
            </a:r>
            <a:r>
              <a:rPr lang="ko-KR" altLang="en-US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특장차 반경 </a:t>
            </a:r>
            <a:r>
              <a:rPr lang="en-US" altLang="ko-KR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20~30m</a:t>
            </a:r>
            <a:br>
              <a:rPr lang="en-US" altLang="ko-KR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</a:br>
            <a:r>
              <a:rPr lang="en-US" altLang="ko-KR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    (</a:t>
            </a:r>
            <a:r>
              <a:rPr lang="ko-KR" altLang="en-US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특장차 </a:t>
            </a:r>
            <a:r>
              <a:rPr lang="en-US" altLang="ko-KR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spec</a:t>
            </a:r>
            <a:r>
              <a:rPr lang="ko-KR" altLang="en-US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에 따라 변경 가능</a:t>
            </a:r>
            <a:r>
              <a:rPr lang="en-US" altLang="ko-KR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FEF01D4-758C-BE25-C139-38797B710CA0}"/>
              </a:ext>
            </a:extLst>
          </p:cNvPr>
          <p:cNvSpPr/>
          <p:nvPr/>
        </p:nvSpPr>
        <p:spPr>
          <a:xfrm>
            <a:off x="284494" y="4729685"/>
            <a:ext cx="3944605" cy="132474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위험 환경 판단</a:t>
            </a:r>
            <a:endParaRPr lang="en-US" altLang="ko-KR" sz="12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특장차 주변 </a:t>
            </a:r>
            <a:r>
              <a:rPr lang="ko-KR" altLang="en-US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판단 영역에 </a:t>
            </a:r>
            <a:r>
              <a:rPr lang="ko-KR" altLang="en-US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포함된 동적 장애물의 </a:t>
            </a:r>
            <a:br>
              <a:rPr lang="en-US" altLang="ko-KR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</a:br>
            <a:r>
              <a:rPr lang="ko-KR" altLang="en-US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예상 경로가 </a:t>
            </a:r>
            <a:r>
              <a:rPr lang="en-US" altLang="ko-KR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5</a:t>
            </a:r>
            <a:r>
              <a:rPr lang="ko-KR" altLang="en-US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초 이내로 </a:t>
            </a:r>
            <a:r>
              <a:rPr lang="ko-KR" altLang="en-US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안전 영역에 </a:t>
            </a:r>
            <a:r>
              <a:rPr lang="ko-KR" altLang="en-US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들어오는 경우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또는 </a:t>
            </a:r>
            <a:r>
              <a:rPr lang="en-US" altLang="ko-KR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TTC</a:t>
            </a:r>
            <a:r>
              <a:rPr lang="ko-KR" altLang="en-US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가 </a:t>
            </a:r>
            <a:r>
              <a:rPr lang="en-US" altLang="ko-KR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10</a:t>
            </a:r>
            <a:r>
              <a:rPr lang="ko-KR" altLang="en-US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초 이내인 경우</a:t>
            </a:r>
            <a:endParaRPr lang="en-US" altLang="ko-KR" sz="120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6BE7136-1BB2-3DF1-A270-EA05C70488A7}"/>
              </a:ext>
            </a:extLst>
          </p:cNvPr>
          <p:cNvSpPr/>
          <p:nvPr/>
        </p:nvSpPr>
        <p:spPr>
          <a:xfrm>
            <a:off x="284495" y="3974039"/>
            <a:ext cx="3752767" cy="7592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TTC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Time to Collision</a:t>
            </a:r>
          </a:p>
          <a:p>
            <a:r>
              <a:rPr lang="en-US" altLang="ko-KR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   - </a:t>
            </a:r>
            <a:r>
              <a:rPr lang="ko-KR" altLang="en-US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판단 영역 밖의 동적 장애물 기준</a:t>
            </a:r>
          </a:p>
          <a:p>
            <a:r>
              <a:rPr lang="en-US" altLang="ko-KR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   - </a:t>
            </a:r>
            <a:r>
              <a:rPr lang="ko-KR" altLang="en-US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기준 </a:t>
            </a:r>
            <a:r>
              <a:rPr lang="en-US" altLang="ko-KR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TTC = 10</a:t>
            </a:r>
            <a:r>
              <a:rPr lang="ko-KR" altLang="en-US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초</a:t>
            </a:r>
            <a:endParaRPr lang="en-US" altLang="ko-KR" sz="120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D54E2D6-D95B-7850-F45F-57AD8265E595}"/>
              </a:ext>
            </a:extLst>
          </p:cNvPr>
          <p:cNvSpPr/>
          <p:nvPr/>
        </p:nvSpPr>
        <p:spPr>
          <a:xfrm>
            <a:off x="284495" y="5893947"/>
            <a:ext cx="4065255" cy="5890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위험 환경 </a:t>
            </a:r>
            <a:r>
              <a:rPr lang="ko-KR" altLang="en-US" sz="1200" dirty="0" err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판단시</a:t>
            </a:r>
            <a:r>
              <a:rPr lang="ko-KR" altLang="en-US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 장애물에 최 근접한 작업 보조 차량이 장애물의 예상 이동 경로에 사전 진입하여 장애물의 </a:t>
            </a:r>
            <a:br>
              <a:rPr lang="en-US" altLang="ko-KR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</a:br>
            <a:r>
              <a:rPr lang="ko-KR" altLang="en-US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진입 저지</a:t>
            </a:r>
            <a:endParaRPr lang="en-US" altLang="ko-KR" sz="120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</a:endParaRPr>
          </a:p>
        </p:txBody>
      </p: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34791D34-E002-36C3-CBAE-207A517AD61F}"/>
              </a:ext>
            </a:extLst>
          </p:cNvPr>
          <p:cNvGrpSpPr/>
          <p:nvPr/>
        </p:nvGrpSpPr>
        <p:grpSpPr>
          <a:xfrm>
            <a:off x="3858065" y="866183"/>
            <a:ext cx="6047935" cy="5125633"/>
            <a:chOff x="3518717" y="811646"/>
            <a:chExt cx="6047935" cy="5125633"/>
          </a:xfrm>
        </p:grpSpPr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0C7818CC-FA94-B59F-44B8-DAEBE3576824}"/>
                </a:ext>
              </a:extLst>
            </p:cNvPr>
            <p:cNvSpPr/>
            <p:nvPr/>
          </p:nvSpPr>
          <p:spPr>
            <a:xfrm>
              <a:off x="3518717" y="1287821"/>
              <a:ext cx="4841100" cy="4649458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86DF3C6D-1A9D-4DF4-C89A-04BA1DC58FD0}"/>
                </a:ext>
              </a:extLst>
            </p:cNvPr>
            <p:cNvSpPr/>
            <p:nvPr/>
          </p:nvSpPr>
          <p:spPr>
            <a:xfrm>
              <a:off x="4191147" y="1902550"/>
              <a:ext cx="3494905" cy="34200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DB7F21A2-EBD4-C924-DF46-E67ED97B86B5}"/>
                </a:ext>
              </a:extLst>
            </p:cNvPr>
            <p:cNvCxnSpPr/>
            <p:nvPr/>
          </p:nvCxnSpPr>
          <p:spPr>
            <a:xfrm flipV="1">
              <a:off x="6633067" y="2050683"/>
              <a:ext cx="2313376" cy="2304597"/>
            </a:xfrm>
            <a:prstGeom prst="line">
              <a:avLst/>
            </a:prstGeom>
            <a:ln w="19050" cap="flat" cmpd="sng" algn="ctr">
              <a:solidFill>
                <a:schemeClr val="accent6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C223B22D-DB3E-0DF4-55F6-19B1373ADD53}"/>
                </a:ext>
              </a:extLst>
            </p:cNvPr>
            <p:cNvCxnSpPr/>
            <p:nvPr/>
          </p:nvCxnSpPr>
          <p:spPr>
            <a:xfrm flipV="1">
              <a:off x="5174467" y="811646"/>
              <a:ext cx="2177934" cy="2060301"/>
            </a:xfrm>
            <a:prstGeom prst="line">
              <a:avLst/>
            </a:prstGeom>
            <a:ln w="19050" cap="flat" cmpd="sng" algn="ctr">
              <a:solidFill>
                <a:schemeClr val="accent6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0" name="직선 화살표 연결선 9">
              <a:extLst>
                <a:ext uri="{FF2B5EF4-FFF2-40B4-BE49-F238E27FC236}">
                  <a16:creationId xmlns:a16="http://schemas.microsoft.com/office/drawing/2014/main" id="{184661B7-D0E1-56EB-6A23-FEC492E33FAA}"/>
                </a:ext>
              </a:extLst>
            </p:cNvPr>
            <p:cNvCxnSpPr/>
            <p:nvPr/>
          </p:nvCxnSpPr>
          <p:spPr>
            <a:xfrm flipV="1">
              <a:off x="5901292" y="1378941"/>
              <a:ext cx="2282649" cy="2233613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모서리가 둥근 직사각형 14">
              <a:extLst>
                <a:ext uri="{FF2B5EF4-FFF2-40B4-BE49-F238E27FC236}">
                  <a16:creationId xmlns:a16="http://schemas.microsoft.com/office/drawing/2014/main" id="{DFFA7BA7-AD8D-3E2F-AD45-B5A981E88095}"/>
                </a:ext>
              </a:extLst>
            </p:cNvPr>
            <p:cNvSpPr/>
            <p:nvPr/>
          </p:nvSpPr>
          <p:spPr>
            <a:xfrm>
              <a:off x="7941318" y="3268139"/>
              <a:ext cx="715813" cy="608001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/>
                <a:t>동적</a:t>
              </a:r>
              <a:endParaRPr lang="en-US" altLang="ko-KR" sz="1200" dirty="0"/>
            </a:p>
            <a:p>
              <a:pPr algn="ctr"/>
              <a:r>
                <a:rPr lang="ko-KR" altLang="en-US" sz="1200" dirty="0"/>
                <a:t>장애물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2E39596-80D1-0CCB-B57F-3AFE251E1942}"/>
                </a:ext>
              </a:extLst>
            </p:cNvPr>
            <p:cNvSpPr txBox="1"/>
            <p:nvPr/>
          </p:nvSpPr>
          <p:spPr>
            <a:xfrm>
              <a:off x="4973683" y="1947758"/>
              <a:ext cx="171509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b="1" dirty="0">
                  <a:latin typeface="+mn-ea"/>
                </a:rPr>
                <a:t>안전 영역</a:t>
              </a:r>
              <a:endParaRPr lang="en-US" altLang="ko-KR" sz="1200" b="1" dirty="0">
                <a:latin typeface="+mn-ea"/>
              </a:endParaRPr>
            </a:p>
            <a:p>
              <a:pPr algn="ctr"/>
              <a:r>
                <a:rPr lang="ko-KR" altLang="en-US" sz="1200" dirty="0">
                  <a:latin typeface="+mn-ea"/>
                </a:rPr>
                <a:t>특장차 반경 </a:t>
              </a:r>
              <a:r>
                <a:rPr lang="en-US" altLang="ko-KR" sz="1200" dirty="0">
                  <a:latin typeface="+mn-ea"/>
                </a:rPr>
                <a:t>10~20m</a:t>
              </a:r>
              <a:endParaRPr lang="ko-KR" altLang="en-US" sz="1200" dirty="0">
                <a:latin typeface="+mn-ea"/>
              </a:endParaRPr>
            </a:p>
            <a:p>
              <a:pPr algn="ctr"/>
              <a:endParaRPr lang="ko-KR" altLang="en-US" sz="1200" b="1" dirty="0">
                <a:latin typeface="+mn-ea"/>
              </a:endParaRPr>
            </a:p>
          </p:txBody>
        </p:sp>
        <p:sp>
          <p:nvSpPr>
            <p:cNvPr id="28" name="왼쪽 화살표 25">
              <a:extLst>
                <a:ext uri="{FF2B5EF4-FFF2-40B4-BE49-F238E27FC236}">
                  <a16:creationId xmlns:a16="http://schemas.microsoft.com/office/drawing/2014/main" id="{9AE1BC5C-37C6-6F75-06E0-4C180995A0B0}"/>
                </a:ext>
              </a:extLst>
            </p:cNvPr>
            <p:cNvSpPr/>
            <p:nvPr/>
          </p:nvSpPr>
          <p:spPr>
            <a:xfrm>
              <a:off x="7121815" y="3340742"/>
              <a:ext cx="810456" cy="503631"/>
            </a:xfrm>
            <a:prstGeom prst="leftArrow">
              <a:avLst/>
            </a:prstGeom>
            <a:gradFill flip="none" rotWithShape="1">
              <a:gsLst>
                <a:gs pos="0">
                  <a:srgbClr val="C00000">
                    <a:tint val="66000"/>
                    <a:satMod val="160000"/>
                  </a:srgbClr>
                </a:gs>
                <a:gs pos="50000">
                  <a:srgbClr val="C00000">
                    <a:tint val="44500"/>
                    <a:satMod val="160000"/>
                  </a:srgbClr>
                </a:gs>
                <a:gs pos="100000">
                  <a:srgbClr val="C00000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9F4F160A-AE14-6E82-F8FE-AABC26B9EE64}"/>
                </a:ext>
              </a:extLst>
            </p:cNvPr>
            <p:cNvSpPr txBox="1"/>
            <p:nvPr/>
          </p:nvSpPr>
          <p:spPr>
            <a:xfrm>
              <a:off x="8264341" y="2755857"/>
              <a:ext cx="12443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dirty="0">
                  <a:latin typeface="+mn-ea"/>
                </a:rPr>
                <a:t>안전 영역 침범 까지</a:t>
              </a:r>
              <a:r>
                <a:rPr lang="en-US" altLang="ko-KR" sz="1200" dirty="0">
                  <a:latin typeface="+mn-ea"/>
                </a:rPr>
                <a:t> &lt; 5s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1D065BA5-01FB-AB6E-B3A9-7605462944CA}"/>
                </a:ext>
              </a:extLst>
            </p:cNvPr>
            <p:cNvSpPr txBox="1"/>
            <p:nvPr/>
          </p:nvSpPr>
          <p:spPr>
            <a:xfrm>
              <a:off x="8497841" y="3870022"/>
              <a:ext cx="106881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latin typeface="+mn-ea"/>
                </a:rPr>
                <a:t>TTC &lt; 10s</a:t>
              </a:r>
              <a:endParaRPr lang="ko-KR" altLang="en-US" sz="1200" dirty="0">
                <a:latin typeface="+mn-ea"/>
              </a:endParaRPr>
            </a:p>
          </p:txBody>
        </p:sp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D4F93E74-1F87-F754-C37B-783F8855B585}"/>
                </a:ext>
              </a:extLst>
            </p:cNvPr>
            <p:cNvSpPr/>
            <p:nvPr/>
          </p:nvSpPr>
          <p:spPr>
            <a:xfrm>
              <a:off x="4880073" y="2642002"/>
              <a:ext cx="1995056" cy="2024951"/>
            </a:xfrm>
            <a:prstGeom prst="ellipse">
              <a:avLst/>
            </a:prstGeom>
            <a:solidFill>
              <a:srgbClr val="FFD7D7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3315FFBC-C294-AE50-1A1E-884DB639DC6B}"/>
                </a:ext>
              </a:extLst>
            </p:cNvPr>
            <p:cNvGrpSpPr/>
            <p:nvPr/>
          </p:nvGrpSpPr>
          <p:grpSpPr>
            <a:xfrm>
              <a:off x="4906378" y="2525898"/>
              <a:ext cx="1989829" cy="2173308"/>
              <a:chOff x="4234778" y="2962285"/>
              <a:chExt cx="1989829" cy="2173308"/>
            </a:xfrm>
          </p:grpSpPr>
          <p:sp>
            <p:nvSpPr>
              <p:cNvPr id="19" name="모서리가 둥근 직사각형 9">
                <a:extLst>
                  <a:ext uri="{FF2B5EF4-FFF2-40B4-BE49-F238E27FC236}">
                    <a16:creationId xmlns:a16="http://schemas.microsoft.com/office/drawing/2014/main" id="{C787399E-7779-BB07-3581-E4033D33B51A}"/>
                  </a:ext>
                </a:extLst>
              </p:cNvPr>
              <p:cNvSpPr/>
              <p:nvPr/>
            </p:nvSpPr>
            <p:spPr>
              <a:xfrm>
                <a:off x="4789745" y="3581287"/>
                <a:ext cx="879895" cy="935304"/>
              </a:xfrm>
              <a:prstGeom prst="roundRect">
                <a:avLst/>
              </a:prstGeom>
              <a:ln>
                <a:solidFill>
                  <a:schemeClr val="accent5"/>
                </a:solidFill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200" dirty="0" err="1"/>
                  <a:t>특장차량</a:t>
                </a:r>
                <a:endParaRPr lang="ko-KR" altLang="en-US" sz="1200" dirty="0"/>
              </a:p>
            </p:txBody>
          </p:sp>
          <p:sp>
            <p:nvSpPr>
              <p:cNvPr id="20" name="모서리가 둥근 직사각형 10">
                <a:extLst>
                  <a:ext uri="{FF2B5EF4-FFF2-40B4-BE49-F238E27FC236}">
                    <a16:creationId xmlns:a16="http://schemas.microsoft.com/office/drawing/2014/main" id="{DFE9DF90-EA5E-D51B-702A-181033389B31}"/>
                  </a:ext>
                </a:extLst>
              </p:cNvPr>
              <p:cNvSpPr/>
              <p:nvPr/>
            </p:nvSpPr>
            <p:spPr>
              <a:xfrm>
                <a:off x="4234778" y="2962285"/>
                <a:ext cx="554967" cy="619002"/>
              </a:xfrm>
              <a:prstGeom prst="round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200" dirty="0" err="1"/>
                  <a:t>보조차량</a:t>
                </a:r>
                <a:endParaRPr lang="ko-KR" altLang="en-US" sz="1200" dirty="0"/>
              </a:p>
            </p:txBody>
          </p:sp>
          <p:sp>
            <p:nvSpPr>
              <p:cNvPr id="21" name="모서리가 둥근 직사각형 11">
                <a:extLst>
                  <a:ext uri="{FF2B5EF4-FFF2-40B4-BE49-F238E27FC236}">
                    <a16:creationId xmlns:a16="http://schemas.microsoft.com/office/drawing/2014/main" id="{A7E4C5B8-E8CC-2996-BF95-18C9227359F1}"/>
                  </a:ext>
                </a:extLst>
              </p:cNvPr>
              <p:cNvSpPr/>
              <p:nvPr/>
            </p:nvSpPr>
            <p:spPr>
              <a:xfrm>
                <a:off x="5669640" y="2962285"/>
                <a:ext cx="554967" cy="619002"/>
              </a:xfrm>
              <a:prstGeom prst="round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200" dirty="0" err="1"/>
                  <a:t>보조차량</a:t>
                </a:r>
                <a:endParaRPr lang="ko-KR" altLang="en-US" sz="1200" dirty="0"/>
              </a:p>
            </p:txBody>
          </p:sp>
          <p:sp>
            <p:nvSpPr>
              <p:cNvPr id="22" name="모서리가 둥근 직사각형 12">
                <a:extLst>
                  <a:ext uri="{FF2B5EF4-FFF2-40B4-BE49-F238E27FC236}">
                    <a16:creationId xmlns:a16="http://schemas.microsoft.com/office/drawing/2014/main" id="{CBEB21DD-BA64-FAD0-3F01-C97FDC924F06}"/>
                  </a:ext>
                </a:extLst>
              </p:cNvPr>
              <p:cNvSpPr/>
              <p:nvPr/>
            </p:nvSpPr>
            <p:spPr>
              <a:xfrm>
                <a:off x="4234778" y="4516591"/>
                <a:ext cx="554967" cy="619002"/>
              </a:xfrm>
              <a:prstGeom prst="round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200" dirty="0" err="1"/>
                  <a:t>보조차량</a:t>
                </a:r>
                <a:endParaRPr lang="ko-KR" altLang="en-US" sz="1200" dirty="0"/>
              </a:p>
            </p:txBody>
          </p:sp>
          <p:sp>
            <p:nvSpPr>
              <p:cNvPr id="23" name="모서리가 둥근 직사각형 13">
                <a:extLst>
                  <a:ext uri="{FF2B5EF4-FFF2-40B4-BE49-F238E27FC236}">
                    <a16:creationId xmlns:a16="http://schemas.microsoft.com/office/drawing/2014/main" id="{16666EFC-B1AD-2693-4A5E-90C7D6C16920}"/>
                  </a:ext>
                </a:extLst>
              </p:cNvPr>
              <p:cNvSpPr/>
              <p:nvPr/>
            </p:nvSpPr>
            <p:spPr>
              <a:xfrm>
                <a:off x="5669639" y="4516591"/>
                <a:ext cx="554967" cy="619002"/>
              </a:xfrm>
              <a:prstGeom prst="round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200" dirty="0" err="1"/>
                  <a:t>보조차량</a:t>
                </a:r>
                <a:endParaRPr lang="ko-KR" altLang="en-US" sz="1200" dirty="0"/>
              </a:p>
            </p:txBody>
          </p:sp>
        </p:grp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E5F09357-EC28-3A5A-C415-E0026F50C08D}"/>
                </a:ext>
              </a:extLst>
            </p:cNvPr>
            <p:cNvSpPr txBox="1"/>
            <p:nvPr/>
          </p:nvSpPr>
          <p:spPr>
            <a:xfrm>
              <a:off x="4933508" y="1345059"/>
              <a:ext cx="192008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b="1" dirty="0">
                  <a:latin typeface="+mn-ea"/>
                </a:rPr>
                <a:t>판단 영역</a:t>
              </a:r>
              <a:endParaRPr lang="en-US" altLang="ko-KR" sz="1200" b="1" dirty="0">
                <a:latin typeface="+mn-ea"/>
              </a:endParaRPr>
            </a:p>
            <a:p>
              <a:pPr algn="ctr"/>
              <a:r>
                <a:rPr lang="ko-KR" altLang="en-US" sz="1200" dirty="0">
                  <a:latin typeface="+mn-ea"/>
                </a:rPr>
                <a:t>특장차 반경 </a:t>
              </a:r>
              <a:r>
                <a:rPr lang="en-US" altLang="ko-KR" sz="1200" dirty="0">
                  <a:latin typeface="+mn-ea"/>
                </a:rPr>
                <a:t>20~30m</a:t>
              </a:r>
              <a:endParaRPr lang="ko-KR" altLang="en-US" sz="1200" dirty="0">
                <a:latin typeface="+mn-ea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F3E1D0EB-C9C4-F62C-4D5D-78EDADAAFBB3}"/>
                </a:ext>
              </a:extLst>
            </p:cNvPr>
            <p:cNvSpPr txBox="1"/>
            <p:nvPr/>
          </p:nvSpPr>
          <p:spPr>
            <a:xfrm>
              <a:off x="5417372" y="2689027"/>
              <a:ext cx="8988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b="1" dirty="0">
                  <a:latin typeface="+mn-ea"/>
                </a:rPr>
                <a:t>위험 영역</a:t>
              </a:r>
              <a:endParaRPr lang="en-US" altLang="ko-KR" sz="1200" b="1" dirty="0">
                <a:latin typeface="+mn-ea"/>
              </a:endParaRPr>
            </a:p>
            <a:p>
              <a:pPr algn="ctr"/>
              <a:r>
                <a:rPr lang="en-US" altLang="ko-KR" sz="1200" dirty="0">
                  <a:latin typeface="+mn-ea"/>
                </a:rPr>
                <a:t>&lt;10m</a:t>
              </a:r>
              <a:endParaRPr lang="ko-KR" altLang="en-US" sz="1200" dirty="0">
                <a:latin typeface="+mn-ea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D294ECAB-69B0-24CD-4973-034CE536DEA2}"/>
                </a:ext>
              </a:extLst>
            </p:cNvPr>
            <p:cNvSpPr txBox="1"/>
            <p:nvPr/>
          </p:nvSpPr>
          <p:spPr>
            <a:xfrm>
              <a:off x="7998321" y="1098612"/>
              <a:ext cx="8988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b="1" dirty="0">
                  <a:latin typeface="+mn-ea"/>
                </a:rPr>
                <a:t>전역경로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0664140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3</a:t>
            </a:r>
            <a:r>
              <a:rPr lang="ko-KR" altLang="en-US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주행 중</a:t>
            </a:r>
            <a:r>
              <a:rPr lang="en-US" altLang="ko-KR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, </a:t>
            </a:r>
            <a:r>
              <a:rPr lang="ko-KR" altLang="en-US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경로 주변 동적 장애물 통행 환경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F55F954-5E86-475A-837F-2B8CED6C7DF1}" type="slidenum">
              <a:rPr lang="ko-KR" altLang="en-US" smtClean="0"/>
              <a:pPr/>
              <a:t>48</a:t>
            </a:fld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F01BFF6-4385-473C-B7F4-49A565530A0E}"/>
              </a:ext>
            </a:extLst>
          </p:cNvPr>
          <p:cNvSpPr/>
          <p:nvPr/>
        </p:nvSpPr>
        <p:spPr>
          <a:xfrm>
            <a:off x="381000" y="873125"/>
            <a:ext cx="9144000" cy="94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5256" indent="-95256"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buFont typeface="Wingdings" panose="05000000000000000000" pitchFamily="2" charset="2"/>
              <a:buChar char="§"/>
              <a:defRPr/>
            </a:pPr>
            <a:r>
              <a:rPr lang="ko-KR" altLang="en-US" sz="1300" b="1" kern="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동적 객체 데이터 입력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데이터 시점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: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최신 시각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t(T_L3fusion)</a:t>
            </a: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L3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데이터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: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이동 장애물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vector (L3obstacle(L), L=0~255)</a:t>
            </a:r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3EBAD112-D20F-4593-8176-32A72991738A}"/>
              </a:ext>
            </a:extLst>
          </p:cNvPr>
          <p:cNvCxnSpPr>
            <a:cxnSpLocks/>
          </p:cNvCxnSpPr>
          <p:nvPr/>
        </p:nvCxnSpPr>
        <p:spPr>
          <a:xfrm>
            <a:off x="6204037" y="2056947"/>
            <a:ext cx="0" cy="5210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직사각형 26">
                <a:extLst>
                  <a:ext uri="{FF2B5EF4-FFF2-40B4-BE49-F238E27FC236}">
                    <a16:creationId xmlns:a16="http://schemas.microsoft.com/office/drawing/2014/main" id="{0DFE4DAE-15BB-4449-BA90-3634750FFC0D}"/>
                  </a:ext>
                </a:extLst>
              </p:cNvPr>
              <p:cNvSpPr/>
              <p:nvPr/>
            </p:nvSpPr>
            <p:spPr>
              <a:xfrm>
                <a:off x="381000" y="1899058"/>
                <a:ext cx="9144000" cy="23619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120000"/>
                  <a:buFont typeface="+mj-ea"/>
                  <a:buAutoNum type="circleNumDbPlain"/>
                  <a:defRPr/>
                </a:pPr>
                <a:r>
                  <a:rPr lang="ko-KR" altLang="en-US" sz="1300" b="1" kern="0" dirty="0">
                    <a:ln>
                      <a:solidFill>
                        <a:schemeClr val="tx1">
                          <a:alpha val="30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판단영역 및 안전영역 내 동적 객체 추출</a:t>
                </a:r>
                <a:endParaRPr lang="en-US" altLang="ko-KR" sz="1300" b="1" kern="0" dirty="0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120000"/>
                  <a:defRPr/>
                </a:pP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  -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데이터 시점 </a:t>
                </a: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: t(T_L3fusion)</a:t>
                </a: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90000"/>
                  <a:defRPr/>
                </a:pP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  -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이동 객체와 특장차 사이 거리 추정</a:t>
                </a:r>
                <a:endParaRPr lang="en-US" altLang="ko-KR" sz="130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90000"/>
                  <a:defRPr/>
                </a:pP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𝐷</m:t>
                        </m:r>
                      </m:e>
                      <m:sub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𝑒𝑔𝑜</m:t>
                        </m:r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_</m:t>
                        </m:r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𝑜𝑏𝑠</m:t>
                        </m:r>
                      </m:sub>
                    </m:sSub>
                    <m:r>
                      <a:rPr lang="en-US" altLang="ko-KR" sz="1300" i="1" ker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⃗"/>
                                    <m:ctrlPr>
                                      <a:rPr lang="en-US" altLang="ko-KR" sz="1300" i="1" kern="0">
                                        <a:ln>
                                          <a:solidFill>
                                            <a:schemeClr val="tx1">
                                              <a:alpha val="5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altLang="ko-KR" sz="1300" i="1" kern="0">
                                            <a:ln>
                                              <a:solidFill>
                                                <a:schemeClr val="tx1">
                                                  <a:alpha val="5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300" i="1" kern="0">
                                            <a:ln>
                                              <a:solidFill>
                                                <a:schemeClr val="tx1">
                                                  <a:alpha val="5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𝑃</m:t>
                                        </m:r>
                                      </m:e>
                                      <m:sub>
                                        <m:r>
                                          <a:rPr lang="en-US" altLang="ko-KR" sz="1300" i="1" kern="0">
                                            <a:ln>
                                              <a:solidFill>
                                                <a:schemeClr val="tx1">
                                                  <a:alpha val="5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𝑒𝑔𝑜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⃗"/>
                                    <m:ctrlPr>
                                      <a:rPr lang="en-US" altLang="ko-KR" sz="1300" i="1" kern="0">
                                        <a:ln>
                                          <a:solidFill>
                                            <a:schemeClr val="tx1">
                                              <a:alpha val="5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altLang="ko-KR" sz="1300" i="1" kern="0">
                                            <a:ln>
                                              <a:solidFill>
                                                <a:schemeClr val="tx1">
                                                  <a:alpha val="5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300" i="1" kern="0">
                                            <a:ln>
                                              <a:solidFill>
                                                <a:schemeClr val="tx1">
                                                  <a:alpha val="5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𝑃</m:t>
                                        </m:r>
                                      </m:e>
                                      <m:sub>
                                        <m:r>
                                          <a:rPr lang="en-US" altLang="ko-KR" sz="1300" i="1" kern="0">
                                            <a:ln>
                                              <a:solidFill>
                                                <a:schemeClr val="tx1">
                                                  <a:alpha val="5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𝑜𝑏𝑠</m:t>
                                        </m:r>
                                      </m:sub>
                                    </m:sSub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b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</a:b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     </a:t>
                </a:r>
                <a14:m>
                  <m:oMath xmlns:m="http://schemas.openxmlformats.org/officeDocument/2006/math"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10&lt;</m:t>
                    </m:r>
                    <m:sSub>
                      <m:sSubPr>
                        <m:ctrlP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𝐷</m:t>
                        </m:r>
                      </m:e>
                      <m:sub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𝑒𝑔𝑜</m:t>
                        </m:r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_</m:t>
                        </m:r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𝑜𝑏𝑠</m:t>
                        </m:r>
                      </m:sub>
                    </m:sSub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&lt;30</m:t>
                    </m:r>
                  </m:oMath>
                </a14:m>
                <a:b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</a:b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- Bit operation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기반 정지상태 이동객체 </a:t>
                </a: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indexing</a:t>
                </a:r>
                <a:b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</a:b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   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영역 내 동적 객체 </a:t>
                </a: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=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동적 객체</a:t>
                </a: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1300" i="1" ker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10&lt;</m:t>
                    </m:r>
                    <m:sSub>
                      <m:sSubPr>
                        <m:ctrlP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𝐷</m:t>
                        </m:r>
                      </m:e>
                      <m:sub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𝑒𝑔𝑜</m:t>
                        </m:r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_</m:t>
                        </m:r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𝑜𝑏𝑠</m:t>
                        </m:r>
                      </m:sub>
                    </m:sSub>
                    <m:r>
                      <a:rPr lang="en-US" altLang="ko-KR" sz="1300" i="1" ker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&lt;30</m:t>
                    </m:r>
                  </m:oMath>
                </a14:m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7" name="직사각형 26">
                <a:extLst>
                  <a:ext uri="{FF2B5EF4-FFF2-40B4-BE49-F238E27FC236}">
                    <a16:creationId xmlns:a16="http://schemas.microsoft.com/office/drawing/2014/main" id="{0DFE4DAE-15BB-4449-BA90-3634750FFC0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1899058"/>
                <a:ext cx="9144000" cy="236199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그룹 3">
            <a:extLst>
              <a:ext uri="{FF2B5EF4-FFF2-40B4-BE49-F238E27FC236}">
                <a16:creationId xmlns:a16="http://schemas.microsoft.com/office/drawing/2014/main" id="{17F74311-A74F-4C82-B476-ABD1440E0165}"/>
              </a:ext>
            </a:extLst>
          </p:cNvPr>
          <p:cNvGrpSpPr/>
          <p:nvPr/>
        </p:nvGrpSpPr>
        <p:grpSpPr>
          <a:xfrm>
            <a:off x="6421156" y="1956038"/>
            <a:ext cx="3299436" cy="3438582"/>
            <a:chOff x="6421156" y="1956038"/>
            <a:chExt cx="3299436" cy="3438582"/>
          </a:xfrm>
        </p:grpSpPr>
        <p:sp>
          <p:nvSpPr>
            <p:cNvPr id="7" name="순서도: 판단 6">
              <a:extLst>
                <a:ext uri="{FF2B5EF4-FFF2-40B4-BE49-F238E27FC236}">
                  <a16:creationId xmlns:a16="http://schemas.microsoft.com/office/drawing/2014/main" id="{E154D0BD-35CE-4042-A18E-7E074B93FFEA}"/>
                </a:ext>
              </a:extLst>
            </p:cNvPr>
            <p:cNvSpPr/>
            <p:nvPr/>
          </p:nvSpPr>
          <p:spPr>
            <a:xfrm>
              <a:off x="6551565" y="3062257"/>
              <a:ext cx="1260930" cy="468000"/>
            </a:xfrm>
            <a:prstGeom prst="flowChartDecision">
              <a:avLst/>
            </a:prstGeom>
            <a:solidFill>
              <a:schemeClr val="bg1"/>
            </a:solidFill>
            <a:ln w="19050">
              <a:solidFill>
                <a:schemeClr val="accent5">
                  <a:lumMod val="75000"/>
                </a:schemeClr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TTC</a:t>
              </a:r>
              <a:r>
                <a:rPr lang="ko-KR" altLang="en-US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 </a:t>
              </a:r>
              <a:r>
                <a:rPr lang="en-US" altLang="ko-KR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&lt;</a:t>
              </a:r>
              <a:r>
                <a:rPr lang="ko-KR" altLang="en-US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 </a:t>
              </a:r>
              <a:r>
                <a:rPr lang="en-US" altLang="ko-KR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10s ?</a:t>
              </a:r>
              <a:endPara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9421D542-7002-4AB8-A246-CFB33BF45578}"/>
                </a:ext>
              </a:extLst>
            </p:cNvPr>
            <p:cNvSpPr/>
            <p:nvPr/>
          </p:nvSpPr>
          <p:spPr>
            <a:xfrm>
              <a:off x="6536413" y="1956038"/>
              <a:ext cx="2762795" cy="2340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5">
                  <a:lumMod val="75000"/>
                </a:schemeClr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동적</a:t>
              </a:r>
              <a:r>
                <a:rPr lang="en-US" altLang="ko-KR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 </a:t>
              </a:r>
              <a:r>
                <a:rPr lang="ko-KR" altLang="en-US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객체 데이터 입력</a:t>
              </a: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21309268-7695-4521-8292-7A62FFA2E1BA}"/>
                </a:ext>
              </a:extLst>
            </p:cNvPr>
            <p:cNvSpPr/>
            <p:nvPr/>
          </p:nvSpPr>
          <p:spPr>
            <a:xfrm>
              <a:off x="6891649" y="2484136"/>
              <a:ext cx="1980000" cy="2340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5">
                  <a:lumMod val="75000"/>
                </a:schemeClr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10~30 m </a:t>
              </a:r>
              <a:r>
                <a:rPr lang="ko-KR" altLang="en-US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거리 이내 동적객체 추출</a:t>
              </a: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5C6C9C81-740F-4E10-A695-9D2C1F52AB2E}"/>
                </a:ext>
              </a:extLst>
            </p:cNvPr>
            <p:cNvSpPr/>
            <p:nvPr/>
          </p:nvSpPr>
          <p:spPr>
            <a:xfrm>
              <a:off x="6904349" y="5160620"/>
              <a:ext cx="1980000" cy="2340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7A00"/>
              </a:solidFill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Max </a:t>
              </a:r>
              <a:r>
                <a:rPr lang="ko-KR" altLang="en-US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값 출력</a:t>
              </a:r>
            </a:p>
          </p:txBody>
        </p:sp>
        <p:cxnSp>
          <p:nvCxnSpPr>
            <p:cNvPr id="16" name="직선 화살표 연결선 15">
              <a:extLst>
                <a:ext uri="{FF2B5EF4-FFF2-40B4-BE49-F238E27FC236}">
                  <a16:creationId xmlns:a16="http://schemas.microsoft.com/office/drawing/2014/main" id="{0A461D5E-6F53-44E4-9639-6FDF58F59ABE}"/>
                </a:ext>
              </a:extLst>
            </p:cNvPr>
            <p:cNvCxnSpPr>
              <a:cxnSpLocks/>
              <a:stCxn id="7" idx="2"/>
            </p:cNvCxnSpPr>
            <p:nvPr/>
          </p:nvCxnSpPr>
          <p:spPr>
            <a:xfrm>
              <a:off x="7182030" y="3530257"/>
              <a:ext cx="0" cy="69440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화살표 연결선 17">
              <a:extLst>
                <a:ext uri="{FF2B5EF4-FFF2-40B4-BE49-F238E27FC236}">
                  <a16:creationId xmlns:a16="http://schemas.microsoft.com/office/drawing/2014/main" id="{FB2A2EDD-F7DD-4FEE-96E6-2A4F0471B0AB}"/>
                </a:ext>
              </a:extLst>
            </p:cNvPr>
            <p:cNvCxnSpPr>
              <a:cxnSpLocks/>
            </p:cNvCxnSpPr>
            <p:nvPr/>
          </p:nvCxnSpPr>
          <p:spPr>
            <a:xfrm>
              <a:off x="7881649" y="5010147"/>
              <a:ext cx="0" cy="16350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화살표 연결선 20">
              <a:extLst>
                <a:ext uri="{FF2B5EF4-FFF2-40B4-BE49-F238E27FC236}">
                  <a16:creationId xmlns:a16="http://schemas.microsoft.com/office/drawing/2014/main" id="{7F7B2FEA-460C-497B-8F3D-0BF218A5559D}"/>
                </a:ext>
              </a:extLst>
            </p:cNvPr>
            <p:cNvCxnSpPr>
              <a:cxnSpLocks/>
            </p:cNvCxnSpPr>
            <p:nvPr/>
          </p:nvCxnSpPr>
          <p:spPr>
            <a:xfrm>
              <a:off x="7881649" y="2211815"/>
              <a:ext cx="0" cy="27232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왼쪽 중괄호 24">
              <a:extLst>
                <a:ext uri="{FF2B5EF4-FFF2-40B4-BE49-F238E27FC236}">
                  <a16:creationId xmlns:a16="http://schemas.microsoft.com/office/drawing/2014/main" id="{7C12BF87-7E85-4F24-ABEA-955D7CDC5E51}"/>
                </a:ext>
              </a:extLst>
            </p:cNvPr>
            <p:cNvSpPr/>
            <p:nvPr/>
          </p:nvSpPr>
          <p:spPr>
            <a:xfrm flipH="1">
              <a:off x="9309764" y="3269255"/>
              <a:ext cx="150322" cy="608205"/>
            </a:xfrm>
            <a:prstGeom prst="leftBrace">
              <a:avLst>
                <a:gd name="adj1" fmla="val 250081"/>
                <a:gd name="adj2" fmla="val 50928"/>
              </a:avLst>
            </a:prstGeom>
            <a:ln w="1905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타원 25">
              <a:extLst>
                <a:ext uri="{FF2B5EF4-FFF2-40B4-BE49-F238E27FC236}">
                  <a16:creationId xmlns:a16="http://schemas.microsoft.com/office/drawing/2014/main" id="{2FE53212-B0E7-48C3-AB3C-A6A5B595AF10}"/>
                </a:ext>
              </a:extLst>
            </p:cNvPr>
            <p:cNvSpPr/>
            <p:nvPr/>
          </p:nvSpPr>
          <p:spPr>
            <a:xfrm>
              <a:off x="6531791" y="2516600"/>
              <a:ext cx="252000" cy="252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9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Arial" panose="020B0604020202020204" pitchFamily="34" charset="0"/>
                  <a:ea typeface="KoPub돋움체 Bold" panose="02020603020101020101" pitchFamily="18" charset="-127"/>
                  <a:cs typeface="Arial" panose="020B0604020202020204" pitchFamily="34" charset="0"/>
                </a:rPr>
                <a:t>1</a:t>
              </a:r>
              <a:endParaRPr lang="ko-KR" altLang="en-US" sz="9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8B5443BE-5A9C-4EEA-AFAD-F8E65CE8F298}"/>
                </a:ext>
              </a:extLst>
            </p:cNvPr>
            <p:cNvSpPr/>
            <p:nvPr/>
          </p:nvSpPr>
          <p:spPr>
            <a:xfrm>
              <a:off x="6449678" y="3182804"/>
              <a:ext cx="252000" cy="252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9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Arial" panose="020B0604020202020204" pitchFamily="34" charset="0"/>
                  <a:ea typeface="KoPub돋움체 Bold" panose="02020603020101020101" pitchFamily="18" charset="-127"/>
                  <a:cs typeface="Arial" panose="020B0604020202020204" pitchFamily="34" charset="0"/>
                </a:rPr>
                <a:t>2</a:t>
              </a:r>
              <a:endParaRPr lang="ko-KR" altLang="en-US" sz="9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309BB597-D8C9-404E-BAD3-B62E315EB21C}"/>
                </a:ext>
              </a:extLst>
            </p:cNvPr>
            <p:cNvSpPr/>
            <p:nvPr/>
          </p:nvSpPr>
          <p:spPr>
            <a:xfrm>
              <a:off x="6421156" y="4688003"/>
              <a:ext cx="252000" cy="252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9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Arial" panose="020B0604020202020204" pitchFamily="34" charset="0"/>
                  <a:ea typeface="KoPub돋움체 Bold" panose="02020603020101020101" pitchFamily="18" charset="-127"/>
                  <a:cs typeface="Arial" panose="020B0604020202020204" pitchFamily="34" charset="0"/>
                </a:rPr>
                <a:t>4</a:t>
              </a:r>
              <a:endParaRPr lang="ko-KR" altLang="en-US" sz="9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37" name="순서도: 판단 36">
              <a:extLst>
                <a:ext uri="{FF2B5EF4-FFF2-40B4-BE49-F238E27FC236}">
                  <a16:creationId xmlns:a16="http://schemas.microsoft.com/office/drawing/2014/main" id="{8C8385EA-FC8C-43C1-B4E6-AA0B42DF0376}"/>
                </a:ext>
              </a:extLst>
            </p:cNvPr>
            <p:cNvSpPr/>
            <p:nvPr/>
          </p:nvSpPr>
          <p:spPr>
            <a:xfrm>
              <a:off x="8059972" y="3579201"/>
              <a:ext cx="1260930" cy="468000"/>
            </a:xfrm>
            <a:prstGeom prst="flowChartDecision">
              <a:avLst/>
            </a:prstGeom>
            <a:solidFill>
              <a:schemeClr val="bg1"/>
            </a:solidFill>
            <a:ln w="19050">
              <a:solidFill>
                <a:schemeClr val="accent5">
                  <a:lumMod val="75000"/>
                </a:schemeClr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안전영역 진입</a:t>
              </a:r>
              <a:r>
                <a:rPr lang="en-US" altLang="ko-KR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?</a:t>
              </a:r>
              <a:endPara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D689C5E9-AC06-45C8-B045-5FA786395860}"/>
                </a:ext>
              </a:extLst>
            </p:cNvPr>
            <p:cNvSpPr/>
            <p:nvPr/>
          </p:nvSpPr>
          <p:spPr>
            <a:xfrm>
              <a:off x="8081667" y="3179257"/>
              <a:ext cx="1217541" cy="2340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5">
                  <a:lumMod val="75000"/>
                </a:schemeClr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5</a:t>
              </a:r>
              <a:r>
                <a:rPr lang="ko-KR" altLang="en-US" sz="1050" dirty="0" err="1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초후</a:t>
              </a:r>
              <a:r>
                <a:rPr lang="ko-KR" altLang="en-US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 까지 경로</a:t>
              </a:r>
            </a:p>
          </p:txBody>
        </p:sp>
        <p:cxnSp>
          <p:nvCxnSpPr>
            <p:cNvPr id="41" name="직선 화살표 연결선 40">
              <a:extLst>
                <a:ext uri="{FF2B5EF4-FFF2-40B4-BE49-F238E27FC236}">
                  <a16:creationId xmlns:a16="http://schemas.microsoft.com/office/drawing/2014/main" id="{D829F60D-EED0-469A-AF8D-29721D2E9734}"/>
                </a:ext>
              </a:extLst>
            </p:cNvPr>
            <p:cNvCxnSpPr>
              <a:cxnSpLocks/>
              <a:stCxn id="37" idx="2"/>
            </p:cNvCxnSpPr>
            <p:nvPr/>
          </p:nvCxnSpPr>
          <p:spPr>
            <a:xfrm>
              <a:off x="8690437" y="4047201"/>
              <a:ext cx="2893" cy="17746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직선 화살표 연결선 42">
              <a:extLst>
                <a:ext uri="{FF2B5EF4-FFF2-40B4-BE49-F238E27FC236}">
                  <a16:creationId xmlns:a16="http://schemas.microsoft.com/office/drawing/2014/main" id="{C10CE0C2-B3A8-4B1C-8185-218F7CC75DE8}"/>
                </a:ext>
              </a:extLst>
            </p:cNvPr>
            <p:cNvCxnSpPr>
              <a:cxnSpLocks/>
            </p:cNvCxnSpPr>
            <p:nvPr/>
          </p:nvCxnSpPr>
          <p:spPr>
            <a:xfrm>
              <a:off x="8690437" y="3423687"/>
              <a:ext cx="2893" cy="17746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직선 화살표 연결선 43">
              <a:extLst>
                <a:ext uri="{FF2B5EF4-FFF2-40B4-BE49-F238E27FC236}">
                  <a16:creationId xmlns:a16="http://schemas.microsoft.com/office/drawing/2014/main" id="{6C6DF717-3FBA-4CBD-8196-179B6F5D04C1}"/>
                </a:ext>
              </a:extLst>
            </p:cNvPr>
            <p:cNvCxnSpPr>
              <a:cxnSpLocks/>
            </p:cNvCxnSpPr>
            <p:nvPr/>
          </p:nvCxnSpPr>
          <p:spPr>
            <a:xfrm>
              <a:off x="7182030" y="2710055"/>
              <a:ext cx="0" cy="35220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직선 화살표 연결선 45">
              <a:extLst>
                <a:ext uri="{FF2B5EF4-FFF2-40B4-BE49-F238E27FC236}">
                  <a16:creationId xmlns:a16="http://schemas.microsoft.com/office/drawing/2014/main" id="{E1A88836-8CE6-48D1-B8D0-BC86E1149002}"/>
                </a:ext>
              </a:extLst>
            </p:cNvPr>
            <p:cNvCxnSpPr>
              <a:cxnSpLocks/>
              <a:endCxn id="38" idx="0"/>
            </p:cNvCxnSpPr>
            <p:nvPr/>
          </p:nvCxnSpPr>
          <p:spPr>
            <a:xfrm>
              <a:off x="8690437" y="2710055"/>
              <a:ext cx="1" cy="46920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1150F2DD-BA65-4C0A-B46C-7B815AA77498}"/>
                </a:ext>
              </a:extLst>
            </p:cNvPr>
            <p:cNvSpPr/>
            <p:nvPr/>
          </p:nvSpPr>
          <p:spPr>
            <a:xfrm>
              <a:off x="6904349" y="4228946"/>
              <a:ext cx="1980000" cy="2340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7A00"/>
              </a:solidFill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Confidence</a:t>
              </a:r>
              <a:r>
                <a:rPr lang="ko-KR" altLang="en-US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 </a:t>
              </a:r>
              <a:r>
                <a:rPr lang="en-US" altLang="ko-KR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value </a:t>
              </a:r>
              <a:r>
                <a:rPr lang="ko-KR" altLang="en-US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출력</a:t>
              </a:r>
            </a:p>
          </p:txBody>
        </p:sp>
        <p:cxnSp>
          <p:nvCxnSpPr>
            <p:cNvPr id="51" name="직선 화살표 연결선 50">
              <a:extLst>
                <a:ext uri="{FF2B5EF4-FFF2-40B4-BE49-F238E27FC236}">
                  <a16:creationId xmlns:a16="http://schemas.microsoft.com/office/drawing/2014/main" id="{B799E557-DEEF-43D1-94D1-244104520875}"/>
                </a:ext>
              </a:extLst>
            </p:cNvPr>
            <p:cNvCxnSpPr>
              <a:cxnSpLocks/>
              <a:stCxn id="49" idx="2"/>
            </p:cNvCxnSpPr>
            <p:nvPr/>
          </p:nvCxnSpPr>
          <p:spPr>
            <a:xfrm>
              <a:off x="7894349" y="4462946"/>
              <a:ext cx="0" cy="28621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326B54DC-5D98-4E82-B6DD-EE727C0BF2B5}"/>
                </a:ext>
              </a:extLst>
            </p:cNvPr>
            <p:cNvSpPr/>
            <p:nvPr/>
          </p:nvSpPr>
          <p:spPr>
            <a:xfrm>
              <a:off x="6904349" y="4749157"/>
              <a:ext cx="1980000" cy="2340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7A00"/>
              </a:solidFill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Confidence </a:t>
              </a:r>
              <a:r>
                <a:rPr lang="ko-KR" altLang="en-US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값 비교</a:t>
              </a:r>
            </a:p>
          </p:txBody>
        </p:sp>
        <p:sp>
          <p:nvSpPr>
            <p:cNvPr id="59" name="타원 58">
              <a:extLst>
                <a:ext uri="{FF2B5EF4-FFF2-40B4-BE49-F238E27FC236}">
                  <a16:creationId xmlns:a16="http://schemas.microsoft.com/office/drawing/2014/main" id="{244966A9-2B05-40D7-8FCE-B71E624508E5}"/>
                </a:ext>
              </a:extLst>
            </p:cNvPr>
            <p:cNvSpPr/>
            <p:nvPr/>
          </p:nvSpPr>
          <p:spPr>
            <a:xfrm>
              <a:off x="9468592" y="3434804"/>
              <a:ext cx="252000" cy="252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9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Arial" panose="020B0604020202020204" pitchFamily="34" charset="0"/>
                  <a:ea typeface="KoPub돋움체 Bold" panose="02020603020101020101" pitchFamily="18" charset="-127"/>
                  <a:cs typeface="Arial" panose="020B0604020202020204" pitchFamily="34" charset="0"/>
                </a:rPr>
                <a:t>3</a:t>
              </a:r>
              <a:endParaRPr lang="ko-KR" altLang="en-US" sz="9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60" name="왼쪽 중괄호 59">
              <a:extLst>
                <a:ext uri="{FF2B5EF4-FFF2-40B4-BE49-F238E27FC236}">
                  <a16:creationId xmlns:a16="http://schemas.microsoft.com/office/drawing/2014/main" id="{520F69FA-074D-4A2A-AF56-33EFC12310EC}"/>
                </a:ext>
              </a:extLst>
            </p:cNvPr>
            <p:cNvSpPr/>
            <p:nvPr/>
          </p:nvSpPr>
          <p:spPr>
            <a:xfrm>
              <a:off x="6707619" y="4275841"/>
              <a:ext cx="127804" cy="1029937"/>
            </a:xfrm>
            <a:prstGeom prst="leftBrace">
              <a:avLst>
                <a:gd name="adj1" fmla="val 250081"/>
                <a:gd name="adj2" fmla="val 50928"/>
              </a:avLst>
            </a:prstGeom>
            <a:ln w="1905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40225706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3</a:t>
            </a:r>
            <a:r>
              <a:rPr lang="ko-KR" altLang="en-US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주행 중</a:t>
            </a:r>
            <a:r>
              <a:rPr lang="en-US" altLang="ko-KR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, </a:t>
            </a:r>
            <a:r>
              <a:rPr lang="ko-KR" altLang="en-US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경로 주변 동적 장애물 통행 환경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F55F954-5E86-475A-837F-2B8CED6C7DF1}" type="slidenum">
              <a:rPr lang="ko-KR" altLang="en-US" smtClean="0"/>
              <a:pPr/>
              <a:t>49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직사각형 28">
                <a:extLst>
                  <a:ext uri="{FF2B5EF4-FFF2-40B4-BE49-F238E27FC236}">
                    <a16:creationId xmlns:a16="http://schemas.microsoft.com/office/drawing/2014/main" id="{4380A7B3-96E4-4C7A-A0C8-AAF73A92FD1D}"/>
                  </a:ext>
                </a:extLst>
              </p:cNvPr>
              <p:cNvSpPr/>
              <p:nvPr/>
            </p:nvSpPr>
            <p:spPr>
              <a:xfrm>
                <a:off x="381000" y="743635"/>
                <a:ext cx="9144000" cy="59576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120000"/>
                  <a:buFont typeface="+mj-ea"/>
                  <a:buAutoNum type="circleNumDbPlain" startAt="2"/>
                  <a:defRPr/>
                </a:pPr>
                <a:r>
                  <a:rPr lang="ko-KR" altLang="en-US" sz="1300" b="1" kern="0" dirty="0">
                    <a:ln>
                      <a:solidFill>
                        <a:schemeClr val="tx1">
                          <a:alpha val="30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</a:t>
                </a:r>
                <a:r>
                  <a:rPr lang="en-US" altLang="ko-KR" sz="1300" b="1" kern="0" dirty="0">
                    <a:ln>
                      <a:solidFill>
                        <a:schemeClr val="tx1">
                          <a:alpha val="30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TTC(Time-to-Collision) </a:t>
                </a:r>
                <a:r>
                  <a:rPr lang="ko-KR" altLang="en-US" sz="1300" b="1" kern="0" dirty="0">
                    <a:ln>
                      <a:solidFill>
                        <a:schemeClr val="tx1">
                          <a:alpha val="30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추정</a:t>
                </a:r>
                <a:endParaRPr lang="en-US" altLang="ko-KR" sz="1300" b="1" kern="0" dirty="0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90000"/>
                  <a:defRPr/>
                </a:pP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  -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특장차</a:t>
                </a: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𝑒</m:t>
                        </m:r>
                      </m:sub>
                    </m:sSub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sSub>
                      <m:sSubPr>
                        <m:ctrlP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𝑒</m:t>
                        </m:r>
                      </m:sub>
                    </m:sSub>
                    <m:r>
                      <a:rPr lang="en-US" altLang="ko-KR" sz="1300" b="0" i="0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sSub>
                      <m:sSubPr>
                        <m:ctrlP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300" b="0" i="0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300" b="0" i="0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x</m:t>
                        </m:r>
                        <m:r>
                          <a:rPr lang="en-US" altLang="ko-KR" sz="1300" b="0" i="0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ko-KR" sz="1300" b="0" i="0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e</m:t>
                        </m:r>
                      </m:sub>
                    </m:sSub>
                    <m:r>
                      <a:rPr lang="en-US" altLang="ko-KR" sz="1300" b="0" i="0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</m:t>
                    </m:r>
                    <m:sSub>
                      <m:sSubPr>
                        <m:ctrlP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300" b="0" i="0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300" b="0" i="0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y</m:t>
                        </m:r>
                        <m:r>
                          <a:rPr lang="en-US" altLang="ko-KR" sz="1300" b="0" i="0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ko-KR" sz="1300" b="0" i="0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e</m:t>
                        </m:r>
                      </m:sub>
                    </m:sSub>
                  </m:oMath>
                </a14:m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)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및 장애물</a:t>
                </a: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30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𝑜𝑏𝑠</m:t>
                        </m:r>
                      </m:sub>
                    </m:sSub>
                    <m:r>
                      <a:rPr lang="en-US" altLang="ko-KR" sz="1300" i="1" ker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sSub>
                      <m:sSubPr>
                        <m:ctrlP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𝑜𝑏𝑠</m:t>
                        </m:r>
                      </m:sub>
                    </m:sSub>
                  </m:oMath>
                </a14:m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,</a:t>
                </a: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300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300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x</m:t>
                        </m:r>
                        <m:r>
                          <a:rPr lang="en-US" altLang="ko-KR" sz="1300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ko-KR" sz="1300" b="0" i="0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obs</m:t>
                        </m:r>
                      </m:sub>
                    </m:sSub>
                    <m:r>
                      <a:rPr lang="en-US" altLang="ko-KR" sz="1300" ker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</m:t>
                    </m:r>
                    <m:sSub>
                      <m:sSubPr>
                        <m:ctrlP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300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300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y</m:t>
                        </m:r>
                        <m:r>
                          <a:rPr lang="en-US" altLang="ko-KR" sz="1300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ko-KR" sz="1300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obs</m:t>
                        </m:r>
                      </m:sub>
                    </m:sSub>
                  </m:oMath>
                </a14:m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)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간 </a:t>
                </a:r>
                <a:b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</a:b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   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충돌까지의 시간 추정 </a:t>
                </a: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(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해당 변수는 절대 좌표계</a:t>
                </a: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)</a:t>
                </a: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90000"/>
                  <a:defRPr/>
                </a:pP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  -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예상 충돌 지점 </a:t>
                </a: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(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특장차와 장애물 사이의 최소거리가 </a:t>
                </a:r>
                <a:b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</a:b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    5m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이하가 되는 지점을 충돌 지점으로 가정</a:t>
                </a: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)</a:t>
                </a: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90000"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300" b="0" i="1" kern="0" smtClean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d>
                        <m:dPr>
                          <m:ctrlPr>
                            <a:rPr lang="en-US" altLang="ko-KR" sz="1300" b="0" i="1" kern="0" smtClea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300" b="0" i="1" kern="0" smtClean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300" b="0" i="1" kern="0" smtClean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sz="1300" b="0" i="1" kern="0" smtClean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𝑟𝑒𝑙</m:t>
                              </m:r>
                            </m:sub>
                          </m:sSub>
                          <m:r>
                            <a:rPr lang="en-US" altLang="ko-KR" sz="1300" b="0" i="1" kern="0" smtClea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sz="1300" b="0" i="1" kern="0" smtClean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300" b="0" i="1" kern="0" smtClean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ko-KR" sz="1300" b="0" i="1" kern="0" smtClean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𝑟𝑒𝑙</m:t>
                              </m:r>
                            </m:sub>
                          </m:sSub>
                          <m:r>
                            <a:rPr lang="en-US" altLang="ko-KR" sz="1300" b="0" i="1" kern="0" smtClea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sz="1300" b="0" i="1" kern="0" smtClean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300" b="0" i="1" kern="0" smtClean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sz="1300" b="0" i="1" kern="0" smtClean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𝑥</m:t>
                              </m:r>
                              <m:r>
                                <a:rPr lang="en-US" altLang="ko-KR" sz="1300" b="0" i="1" kern="0" smtClean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r>
                                <a:rPr lang="en-US" altLang="ko-KR" sz="1300" b="0" i="1" kern="0" smtClean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𝑟𝑒𝑙</m:t>
                              </m:r>
                            </m:sub>
                          </m:sSub>
                          <m:r>
                            <a:rPr lang="en-US" altLang="ko-KR" sz="1300" b="0" i="1" kern="0" smtClea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sz="1300" b="0" i="1" kern="0" smtClean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300" b="0" i="1" kern="0" smtClean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sz="1300" b="0" i="1" kern="0" smtClean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𝑦</m:t>
                              </m:r>
                              <m:r>
                                <a:rPr lang="en-US" altLang="ko-KR" sz="1300" b="0" i="1" kern="0" smtClean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r>
                                <a:rPr lang="en-US" altLang="ko-KR" sz="1300" b="0" i="1" kern="0" smtClean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𝑟𝑒𝑙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br>
                  <a:rPr lang="en-US" altLang="ko-KR" sz="1300" b="0" i="1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Cambria Math" panose="02040503050406030204" pitchFamily="18" charset="0"/>
                    <a:cs typeface="Arial" panose="020B0604020202020204" pitchFamily="34" charset="0"/>
                  </a:rPr>
                </a:br>
                <a:r>
                  <a:rPr lang="en-US" altLang="ko-KR" sz="1300" b="0" i="1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Cambria Math" panose="02040503050406030204" pitchFamily="18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=(</m:t>
                    </m:r>
                    <m:sSub>
                      <m:sSubPr>
                        <m:ctrlP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𝑜𝑏𝑠</m:t>
                        </m:r>
                      </m:sub>
                    </m:sSub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−</m:t>
                    </m:r>
                    <m:sSub>
                      <m:sSubPr>
                        <m:ctrlP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𝑒</m:t>
                        </m:r>
                      </m:sub>
                    </m:sSub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sSub>
                      <m:sSubPr>
                        <m:ctrlP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𝑜𝑏𝑠</m:t>
                        </m:r>
                      </m:sub>
                    </m:sSub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−</m:t>
                    </m:r>
                    <m:sSub>
                      <m:sSubPr>
                        <m:ctrlP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𝑒</m:t>
                        </m:r>
                      </m:sub>
                    </m:sSub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sSub>
                      <m:sSubPr>
                        <m:ctrlP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𝑣</m:t>
                        </m:r>
                      </m:e>
                      <m:sub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𝑜𝑏𝑠</m:t>
                        </m:r>
                      </m:sub>
                    </m:sSub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−</m:t>
                    </m:r>
                    <m:sSub>
                      <m:sSubPr>
                        <m:ctrlP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𝑣</m:t>
                        </m:r>
                      </m:e>
                      <m:sub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𝑒</m:t>
                        </m:r>
                      </m:sub>
                    </m:sSub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sSub>
                      <m:sSubPr>
                        <m:ctrlP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𝑣</m:t>
                        </m:r>
                      </m:e>
                      <m:sub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𝑦</m:t>
                        </m:r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𝑜𝑏𝑠</m:t>
                        </m:r>
                      </m:sub>
                    </m:sSub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−</m:t>
                    </m:r>
                    <m:sSub>
                      <m:sSubPr>
                        <m:ctrlP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𝑣</m:t>
                        </m:r>
                      </m:e>
                      <m:sub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𝑦</m:t>
                        </m:r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𝑒</m:t>
                        </m:r>
                      </m:sub>
                    </m:sSub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endParaRPr lang="en-US" altLang="ko-KR" sz="130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90000"/>
                  <a:defRPr/>
                </a:pP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  -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특장차</a:t>
                </a: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-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장애물 상대 좌표 경로</a:t>
                </a:r>
                <a:endParaRPr lang="en-US" altLang="ko-KR" sz="130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90000"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300" b="0" i="1" kern="0" smtClea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ko-KR" sz="1300" b="0" i="1" kern="0" smtClea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1300" b="0" i="1" kern="0" smtClea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𝑦</m:t>
                          </m:r>
                          <m:r>
                            <a:rPr lang="en-US" altLang="ko-KR" sz="1300" b="0" i="1" kern="0" smtClea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altLang="ko-KR" sz="1300" b="0" i="1" kern="0" smtClea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𝑟𝑒</m:t>
                          </m:r>
                        </m:sub>
                      </m:sSub>
                      <m:r>
                        <a:rPr lang="en-US" altLang="ko-KR" sz="1300" b="0" i="1" kern="0" smtClean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∗</m:t>
                      </m:r>
                      <m:r>
                        <a:rPr lang="en-US" altLang="ko-KR" sz="1300" b="0" i="1" kern="0" smtClean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𝑥</m:t>
                      </m:r>
                      <m:r>
                        <a:rPr lang="en-US" altLang="ko-KR" sz="1300" b="0" i="1" kern="0" smtClean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−</m:t>
                      </m:r>
                      <m:sSub>
                        <m:sSubPr>
                          <m:ctrlPr>
                            <a:rPr lang="en-US" altLang="ko-KR" sz="1300" i="1" ker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ko-KR" sz="1300" i="1" ker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1300" i="1" ker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  <m:r>
                            <a:rPr lang="en-US" altLang="ko-KR" sz="1300" i="1" ker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altLang="ko-KR" sz="1300" i="1" ker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𝑟𝑒𝑙</m:t>
                          </m:r>
                        </m:sub>
                      </m:sSub>
                      <m:r>
                        <a:rPr lang="en-US" altLang="ko-KR" sz="1300" i="1" kern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∗</m:t>
                      </m:r>
                      <m:r>
                        <a:rPr lang="en-US" altLang="ko-KR" sz="1300" i="1" kern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𝑦</m:t>
                      </m:r>
                      <m:r>
                        <a:rPr lang="en-US" altLang="ko-KR" sz="1300" b="0" i="1" kern="0" smtClean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lang="en-US" altLang="ko-KR" sz="1300" b="0" i="1" kern="0" smtClean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𝑐</m:t>
                      </m:r>
                      <m:r>
                        <a:rPr lang="en-US" altLang="ko-KR" sz="1300" b="0" i="1" kern="0" smtClean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=0</m:t>
                      </m:r>
                    </m:oMath>
                  </m:oMathPara>
                </a14:m>
                <a:endParaRPr lang="en-US" altLang="ko-KR" sz="1300" b="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90000"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300" i="1" kern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𝑐</m:t>
                      </m:r>
                      <m:r>
                        <a:rPr lang="en-US" altLang="ko-KR" sz="1300" i="1" kern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1300" b="0" i="1" kern="0" smtClea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ko-KR" sz="1300" b="0" i="1" kern="0" smtClea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1300" b="0" i="1" kern="0" smtClea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  <m:r>
                            <a:rPr lang="en-US" altLang="ko-KR" sz="1300" b="0" i="1" kern="0" smtClea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altLang="ko-KR" sz="1300" b="0" i="1" kern="0" smtClea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𝑟𝑒𝑙</m:t>
                          </m:r>
                        </m:sub>
                      </m:sSub>
                      <m:sSub>
                        <m:sSubPr>
                          <m:ctrlPr>
                            <a:rPr lang="en-US" altLang="ko-KR" sz="1300" b="0" i="1" kern="0" smtClea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ko-KR" sz="1300" b="0" i="1" kern="0" smtClea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ko-KR" sz="1300" b="0" i="1" kern="0" smtClea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𝑟𝑒𝑙</m:t>
                          </m:r>
                        </m:sub>
                      </m:sSub>
                      <m:r>
                        <a:rPr lang="en-US" altLang="ko-KR" sz="1300" b="0" i="1" kern="0" smtClean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−</m:t>
                      </m:r>
                      <m:sSub>
                        <m:sSubPr>
                          <m:ctrlPr>
                            <a:rPr lang="en-US" altLang="ko-KR" sz="1300" b="0" i="1" kern="0" smtClea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ko-KR" sz="1300" b="0" i="1" kern="0" smtClea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1300" b="0" i="1" kern="0" smtClea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𝑦</m:t>
                          </m:r>
                          <m:r>
                            <a:rPr lang="en-US" altLang="ko-KR" sz="1300" b="0" i="1" kern="0" smtClea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altLang="ko-KR" sz="1300" b="0" i="1" kern="0" smtClea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𝑟𝑒𝑙</m:t>
                          </m:r>
                        </m:sub>
                      </m:sSub>
                      <m:sSub>
                        <m:sSubPr>
                          <m:ctrlPr>
                            <a:rPr lang="en-US" altLang="ko-KR" sz="1300" b="0" i="1" kern="0" smtClea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ko-KR" sz="1300" b="0" i="1" kern="0" smtClea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1300" b="0" i="1" kern="0" smtClea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𝑟𝑒𝑙</m:t>
                          </m:r>
                        </m:sub>
                      </m:sSub>
                    </m:oMath>
                  </m:oMathPara>
                </a14:m>
                <a:endParaRPr lang="en-US" altLang="ko-KR" sz="130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90000"/>
                  <a:defRPr/>
                </a:pP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-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특장차</a:t>
                </a: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-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장애물 최소 거리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𝐷</m:t>
                        </m:r>
                      </m:e>
                      <m:sub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𝑐</m:t>
                        </m:r>
                      </m:sub>
                    </m:sSub>
                    <m:r>
                      <a:rPr lang="en-US" altLang="ko-KR" sz="1300" i="1" ker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f>
                      <m:fPr>
                        <m:ctrlP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endChr m:val="|"/>
                            <m:ctrlP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𝑐</m:t>
                            </m:r>
                          </m:e>
                        </m:d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radPr>
                          <m:deg/>
                          <m:e>
                            <m:sSubSup>
                              <m:sSubSupPr>
                                <m:ctrlP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𝑥</m:t>
                                </m:r>
                                <m: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,</m:t>
                                </m:r>
                                <m: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𝑟𝑒𝑙</m:t>
                                </m:r>
                              </m:sub>
                              <m:sup>
                                <m: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+</m:t>
                            </m:r>
                            <m:sSubSup>
                              <m:sSubSupPr>
                                <m:ctrlP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𝑦</m:t>
                                </m:r>
                                <m: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,</m:t>
                                </m:r>
                                <m: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𝑟𝑒𝑙</m:t>
                                </m:r>
                              </m:sub>
                              <m:sup>
                                <m: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rad>
                      </m:den>
                    </m:f>
                  </m:oMath>
                </a14:m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  </a:t>
                </a: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90000"/>
                  <a:defRPr/>
                </a:pP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  속도에 따른 기준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𝐷</m:t>
                        </m:r>
                      </m:e>
                      <m:sub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𝑐</m:t>
                        </m:r>
                      </m:sub>
                    </m:sSub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/</m:t>
                    </m:r>
                    <m:rad>
                      <m:radPr>
                        <m:degHide m:val="on"/>
                        <m:ctrlP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radPr>
                      <m:deg/>
                      <m:e>
                        <m:sSubSup>
                          <m:sSubSupPr>
                            <m:ctrlP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SupPr>
                          <m:e>
                            <m: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𝑥</m:t>
                            </m:r>
                            <m: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,</m:t>
                            </m:r>
                            <m: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𝑟𝑒𝑙</m:t>
                            </m:r>
                          </m:sub>
                          <m:sup>
                            <m: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SupPr>
                          <m:e>
                            <m: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𝑦</m:t>
                            </m:r>
                            <m: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,</m:t>
                            </m:r>
                            <m: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𝑟𝑒𝑙</m:t>
                            </m:r>
                          </m:sub>
                          <m:sup>
                            <m: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p>
                        </m:sSubSup>
                      </m:e>
                    </m:rad>
                  </m:oMath>
                </a14:m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ea typeface="Cambria Math" panose="02040503050406030204" pitchFamily="18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300" i="1" ker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≤</m:t>
                    </m:r>
                  </m:oMath>
                </a14:m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1/4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인</a:t>
                </a: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경우 충돌로 판정</a:t>
                </a:r>
                <a:endParaRPr lang="en-US" altLang="ko-KR" sz="130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90000"/>
                  <a:defRPr/>
                </a:pP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  (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상대 속도에 비례한 최소 거리 기준 산정</a:t>
                </a: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, 20km/h</a:t>
                </a:r>
                <a:r>
                  <a:rPr lang="ko-KR" altLang="en-US" sz="1300" kern="0" dirty="0" err="1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일때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</a:t>
                </a: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5m)</a:t>
                </a: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90000"/>
                  <a:defRPr/>
                </a:pP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-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최소 거리 지점 좌표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𝑐</m:t>
                        </m:r>
                      </m:sub>
                    </m:sSub>
                    <m:r>
                      <a:rPr lang="en-US" altLang="ko-KR" sz="1300" i="1" ker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f>
                      <m:fPr>
                        <m:ctrlP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𝑐</m:t>
                        </m:r>
                      </m:num>
                      <m:den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  <m:sSub>
                          <m:sSubPr>
                            <m:ctrlP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𝑦</m:t>
                            </m:r>
                          </m:sub>
                        </m:sSub>
                      </m:den>
                    </m:f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,−</m:t>
                    </m:r>
                    <m:f>
                      <m:fPr>
                        <m:ctrlP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𝑐</m:t>
                        </m:r>
                      </m:num>
                      <m:den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  <m:sSub>
                          <m:sSubPr>
                            <m:ctrlP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𝑥</m:t>
                            </m:r>
                          </m:sub>
                        </m:sSub>
                      </m:den>
                    </m:f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endParaRPr lang="en-US" altLang="ko-KR" sz="130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90000"/>
                  <a:defRPr/>
                </a:pP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-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장애물의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까지의 도달 시간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300" b="0" i="0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t</m:t>
                    </m:r>
                    <m:r>
                      <a:rPr lang="en-US" altLang="ko-KR" sz="1300" i="1" ker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f>
                      <m:fPr>
                        <m:ctrlP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fPr>
                          <m:num>
                            <m: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𝑐</m:t>
                            </m:r>
                          </m:num>
                          <m:den>
                            <m: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  <m:sSub>
                              <m:sSubPr>
                                <m:ctrlP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𝑦</m:t>
                                </m:r>
                              </m:sub>
                            </m:sSub>
                          </m:den>
                        </m:f>
                        <m:r>
                          <a:rPr lang="en-US" altLang="ko-KR" sz="1300" b="0" i="0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𝑟𝑒𝑙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𝑥</m:t>
                            </m:r>
                          </m:sub>
                        </m:sSub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𝑟𝑒𝑙</m:t>
                        </m:r>
                      </m:den>
                    </m:f>
                  </m:oMath>
                </a14:m>
                <a:endParaRPr lang="en-US" altLang="ko-KR" sz="130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90000"/>
                  <a:defRPr/>
                </a:pP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  t&lt;0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인 경우</a:t>
                </a: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,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해당 위치를 이미 지나간 것이므로 </a:t>
                </a: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terminate</a:t>
                </a:r>
              </a:p>
            </p:txBody>
          </p:sp>
        </mc:Choice>
        <mc:Fallback xmlns="">
          <p:sp>
            <p:nvSpPr>
              <p:cNvPr id="29" name="직사각형 28">
                <a:extLst>
                  <a:ext uri="{FF2B5EF4-FFF2-40B4-BE49-F238E27FC236}">
                    <a16:creationId xmlns:a16="http://schemas.microsoft.com/office/drawing/2014/main" id="{4380A7B3-96E4-4C7A-A0C8-AAF73A92FD1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743635"/>
                <a:ext cx="9144000" cy="595765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순서도: 처리 30">
            <a:extLst>
              <a:ext uri="{FF2B5EF4-FFF2-40B4-BE49-F238E27FC236}">
                <a16:creationId xmlns:a16="http://schemas.microsoft.com/office/drawing/2014/main" id="{3B0E0F74-5F2A-4EBA-BA0C-21C3195F2CCA}"/>
              </a:ext>
            </a:extLst>
          </p:cNvPr>
          <p:cNvSpPr/>
          <p:nvPr/>
        </p:nvSpPr>
        <p:spPr>
          <a:xfrm>
            <a:off x="5309956" y="1087850"/>
            <a:ext cx="4047800" cy="267659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5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A199D421-680E-4494-A25A-2BC38FB79CCB}"/>
              </a:ext>
            </a:extLst>
          </p:cNvPr>
          <p:cNvSpPr/>
          <p:nvPr/>
        </p:nvSpPr>
        <p:spPr>
          <a:xfrm rot="19170695">
            <a:off x="5798352" y="3031215"/>
            <a:ext cx="652588" cy="285567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9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특장차</a:t>
            </a:r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F119D7D5-16CB-42ED-A4F8-A9F30D9359BF}"/>
              </a:ext>
            </a:extLst>
          </p:cNvPr>
          <p:cNvCxnSpPr>
            <a:cxnSpLocks/>
            <a:stCxn id="32" idx="1"/>
          </p:cNvCxnSpPr>
          <p:nvPr/>
        </p:nvCxnSpPr>
        <p:spPr>
          <a:xfrm flipV="1">
            <a:off x="5876488" y="1454013"/>
            <a:ext cx="2201389" cy="1931847"/>
          </a:xfrm>
          <a:prstGeom prst="straightConnector1">
            <a:avLst/>
          </a:prstGeom>
          <a:ln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78B8B383-6DA7-4079-A820-68219394B46B}"/>
              </a:ext>
            </a:extLst>
          </p:cNvPr>
          <p:cNvGrpSpPr/>
          <p:nvPr/>
        </p:nvGrpSpPr>
        <p:grpSpPr>
          <a:xfrm rot="1453752">
            <a:off x="6571518" y="1825723"/>
            <a:ext cx="2462744" cy="1188424"/>
            <a:chOff x="6586410" y="4330700"/>
            <a:chExt cx="2462744" cy="1188424"/>
          </a:xfrm>
        </p:grpSpPr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A65F5F6C-C0F0-4D05-B47A-AB00ED6A718D}"/>
                </a:ext>
              </a:extLst>
            </p:cNvPr>
            <p:cNvSpPr/>
            <p:nvPr/>
          </p:nvSpPr>
          <p:spPr>
            <a:xfrm rot="1521274">
              <a:off x="8396566" y="5233557"/>
              <a:ext cx="652588" cy="2855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90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장애물</a:t>
              </a:r>
              <a:endParaRPr lang="ko-KR" altLang="en-US" sz="9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cxnSp>
          <p:nvCxnSpPr>
            <p:cNvPr id="36" name="직선 화살표 연결선 35">
              <a:extLst>
                <a:ext uri="{FF2B5EF4-FFF2-40B4-BE49-F238E27FC236}">
                  <a16:creationId xmlns:a16="http://schemas.microsoft.com/office/drawing/2014/main" id="{77A6EE28-B148-4C6F-AEBA-20B83692A501}"/>
                </a:ext>
              </a:extLst>
            </p:cNvPr>
            <p:cNvCxnSpPr>
              <a:cxnSpLocks/>
              <a:stCxn id="35" idx="3"/>
            </p:cNvCxnSpPr>
            <p:nvPr/>
          </p:nvCxnSpPr>
          <p:spPr>
            <a:xfrm flipH="1" flipV="1">
              <a:off x="6586410" y="4330700"/>
              <a:ext cx="2431314" cy="1185366"/>
            </a:xfrm>
            <a:prstGeom prst="straightConnector1">
              <a:avLst/>
            </a:prstGeom>
            <a:ln>
              <a:solidFill>
                <a:schemeClr val="bg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직사각형 38">
                <a:extLst>
                  <a:ext uri="{FF2B5EF4-FFF2-40B4-BE49-F238E27FC236}">
                    <a16:creationId xmlns:a16="http://schemas.microsoft.com/office/drawing/2014/main" id="{574754BF-1AB0-4D99-B1C0-8ED3A5CF524C}"/>
                  </a:ext>
                </a:extLst>
              </p:cNvPr>
              <p:cNvSpPr/>
              <p:nvPr/>
            </p:nvSpPr>
            <p:spPr>
              <a:xfrm>
                <a:off x="5240190" y="3467148"/>
                <a:ext cx="1187953" cy="29405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200" i="1" ker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ko-KR" sz="1200" i="1" ker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1200" i="1" ker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𝑒</m:t>
                          </m:r>
                        </m:sub>
                      </m:sSub>
                      <m:r>
                        <a:rPr lang="en-US" altLang="ko-KR" sz="1200" i="1" kern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</m:t>
                      </m:r>
                      <m:sSub>
                        <m:sSubPr>
                          <m:ctrlPr>
                            <a:rPr lang="en-US" altLang="ko-KR" sz="1200" i="1" ker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ko-KR" sz="1200" i="1" ker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ko-KR" sz="1200" i="1" ker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𝑒</m:t>
                          </m:r>
                        </m:sub>
                      </m:sSub>
                      <m:r>
                        <a:rPr lang="en-US" altLang="ko-KR" sz="1200" kern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</m:t>
                      </m:r>
                      <m:sSub>
                        <m:sSubPr>
                          <m:ctrlPr>
                            <a:rPr lang="en-US" altLang="ko-KR" sz="1200" i="1" ker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1200" ker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v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1200" ker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x</m:t>
                          </m:r>
                          <m:r>
                            <a:rPr lang="en-US" altLang="ko-KR" sz="1200" ker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altLang="ko-KR" sz="1200" ker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e</m:t>
                          </m:r>
                        </m:sub>
                      </m:sSub>
                      <m:r>
                        <a:rPr lang="en-US" altLang="ko-KR" sz="1200" kern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 </m:t>
                      </m:r>
                      <m:sSub>
                        <m:sSubPr>
                          <m:ctrlPr>
                            <a:rPr lang="en-US" altLang="ko-KR" sz="1200" i="1" ker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1200" ker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v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1200" ker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y</m:t>
                          </m:r>
                          <m:r>
                            <a:rPr lang="en-US" altLang="ko-KR" sz="1200" ker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altLang="ko-KR" sz="1200" ker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e</m:t>
                          </m:r>
                        </m:sub>
                      </m:sSub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39" name="직사각형 38">
                <a:extLst>
                  <a:ext uri="{FF2B5EF4-FFF2-40B4-BE49-F238E27FC236}">
                    <a16:creationId xmlns:a16="http://schemas.microsoft.com/office/drawing/2014/main" id="{574754BF-1AB0-4D99-B1C0-8ED3A5CF52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0190" y="3467148"/>
                <a:ext cx="1187953" cy="29405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직사각형 39">
                <a:extLst>
                  <a:ext uri="{FF2B5EF4-FFF2-40B4-BE49-F238E27FC236}">
                    <a16:creationId xmlns:a16="http://schemas.microsoft.com/office/drawing/2014/main" id="{D2A4B20F-8627-48B1-89A3-C3E3D2B0A436}"/>
                  </a:ext>
                </a:extLst>
              </p:cNvPr>
              <p:cNvSpPr/>
              <p:nvPr/>
            </p:nvSpPr>
            <p:spPr>
              <a:xfrm>
                <a:off x="7789187" y="3442277"/>
                <a:ext cx="1680332" cy="29405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2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2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𝑜𝑏𝑠</m:t>
                        </m:r>
                      </m:sub>
                    </m:sSub>
                    <m:r>
                      <a:rPr lang="en-US" altLang="ko-KR" sz="1200" i="1" ker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sSub>
                      <m:sSubPr>
                        <m:ctrlPr>
                          <a:rPr lang="en-US" altLang="ko-KR" sz="12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2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2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𝑜𝑏𝑠</m:t>
                        </m:r>
                      </m:sub>
                    </m:sSub>
                  </m:oMath>
                </a14:m>
                <a:r>
                  <a:rPr lang="en-US" altLang="ko-KR" sz="12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,</a:t>
                </a:r>
                <a:r>
                  <a:rPr lang="en-US" altLang="ko-KR" sz="12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200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200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x</m:t>
                        </m:r>
                        <m:r>
                          <a:rPr lang="en-US" altLang="ko-KR" sz="1200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ko-KR" sz="1200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obs</m:t>
                        </m:r>
                      </m:sub>
                    </m:sSub>
                    <m:r>
                      <a:rPr lang="en-US" altLang="ko-KR" sz="1200" ker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</m:t>
                    </m:r>
                    <m:sSub>
                      <m:sSubPr>
                        <m:ctrlPr>
                          <a:rPr lang="en-US" altLang="ko-KR" sz="12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200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200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y</m:t>
                        </m:r>
                        <m:r>
                          <a:rPr lang="en-US" altLang="ko-KR" sz="1200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ko-KR" sz="1200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obs</m:t>
                        </m:r>
                      </m:sub>
                    </m:sSub>
                  </m:oMath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40" name="직사각형 39">
                <a:extLst>
                  <a:ext uri="{FF2B5EF4-FFF2-40B4-BE49-F238E27FC236}">
                    <a16:creationId xmlns:a16="http://schemas.microsoft.com/office/drawing/2014/main" id="{D2A4B20F-8627-48B1-89A3-C3E3D2B0A43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9187" y="3442277"/>
                <a:ext cx="1680332" cy="29405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F43B8A39-8CF5-4014-81B1-CC2E0D330655}"/>
              </a:ext>
            </a:extLst>
          </p:cNvPr>
          <p:cNvSpPr txBox="1"/>
          <p:nvPr/>
        </p:nvSpPr>
        <p:spPr>
          <a:xfrm>
            <a:off x="5338131" y="1129260"/>
            <a:ext cx="142804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kern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월드 좌표계 기준</a:t>
            </a: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D1AF7E52-E6B9-4657-A233-F36AE4FF1AAD}"/>
              </a:ext>
            </a:extLst>
          </p:cNvPr>
          <p:cNvCxnSpPr/>
          <p:nvPr/>
        </p:nvCxnSpPr>
        <p:spPr>
          <a:xfrm>
            <a:off x="5309956" y="3761203"/>
            <a:ext cx="440977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794EC1DA-3DA3-4E26-9CE2-3812D382AB7E}"/>
              </a:ext>
            </a:extLst>
          </p:cNvPr>
          <p:cNvCxnSpPr>
            <a:cxnSpLocks/>
          </p:cNvCxnSpPr>
          <p:nvPr/>
        </p:nvCxnSpPr>
        <p:spPr>
          <a:xfrm flipV="1">
            <a:off x="5309956" y="837363"/>
            <a:ext cx="0" cy="292384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직사각형 23">
                <a:extLst>
                  <a:ext uri="{FF2B5EF4-FFF2-40B4-BE49-F238E27FC236}">
                    <a16:creationId xmlns:a16="http://schemas.microsoft.com/office/drawing/2014/main" id="{F1668948-9571-4E79-93AC-D218462A48CE}"/>
                  </a:ext>
                </a:extLst>
              </p:cNvPr>
              <p:cNvSpPr/>
              <p:nvPr/>
            </p:nvSpPr>
            <p:spPr>
              <a:xfrm>
                <a:off x="5006130" y="854144"/>
                <a:ext cx="329514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200" b="0" i="1" kern="0" smtClean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𝑋</m:t>
                      </m:r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24" name="직사각형 23">
                <a:extLst>
                  <a:ext uri="{FF2B5EF4-FFF2-40B4-BE49-F238E27FC236}">
                    <a16:creationId xmlns:a16="http://schemas.microsoft.com/office/drawing/2014/main" id="{F1668948-9571-4E79-93AC-D218462A48C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6130" y="854144"/>
                <a:ext cx="329514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직사각형 24">
                <a:extLst>
                  <a:ext uri="{FF2B5EF4-FFF2-40B4-BE49-F238E27FC236}">
                    <a16:creationId xmlns:a16="http://schemas.microsoft.com/office/drawing/2014/main" id="{C30CA0FA-358D-4E38-B41C-CCFEA89DF489}"/>
                  </a:ext>
                </a:extLst>
              </p:cNvPr>
              <p:cNvSpPr/>
              <p:nvPr/>
            </p:nvSpPr>
            <p:spPr>
              <a:xfrm>
                <a:off x="9402086" y="3447527"/>
                <a:ext cx="323102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200" b="0" i="1" kern="0" smtClean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𝑌</m:t>
                      </m:r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25" name="직사각형 24">
                <a:extLst>
                  <a:ext uri="{FF2B5EF4-FFF2-40B4-BE49-F238E27FC236}">
                    <a16:creationId xmlns:a16="http://schemas.microsoft.com/office/drawing/2014/main" id="{C30CA0FA-358D-4E38-B41C-CCFEA89DF48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02086" y="3447527"/>
                <a:ext cx="323102" cy="2769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순서도: 처리 25">
            <a:extLst>
              <a:ext uri="{FF2B5EF4-FFF2-40B4-BE49-F238E27FC236}">
                <a16:creationId xmlns:a16="http://schemas.microsoft.com/office/drawing/2014/main" id="{14895346-4D89-4E6F-A7BD-7C108A3038CD}"/>
              </a:ext>
            </a:extLst>
          </p:cNvPr>
          <p:cNvSpPr/>
          <p:nvPr/>
        </p:nvSpPr>
        <p:spPr>
          <a:xfrm>
            <a:off x="5309956" y="4060595"/>
            <a:ext cx="4047800" cy="1581473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5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F04130BD-7655-43A5-AFF7-274761C0DAD0}"/>
              </a:ext>
            </a:extLst>
          </p:cNvPr>
          <p:cNvSpPr/>
          <p:nvPr/>
        </p:nvSpPr>
        <p:spPr>
          <a:xfrm>
            <a:off x="4983661" y="5487870"/>
            <a:ext cx="652588" cy="285567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9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특장차</a:t>
            </a: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C1129D07-1965-4261-A53E-F42C72AF911E}"/>
              </a:ext>
            </a:extLst>
          </p:cNvPr>
          <p:cNvGrpSpPr/>
          <p:nvPr/>
        </p:nvGrpSpPr>
        <p:grpSpPr>
          <a:xfrm>
            <a:off x="4914639" y="4893682"/>
            <a:ext cx="3101750" cy="1255395"/>
            <a:chOff x="5992623" y="4263729"/>
            <a:chExt cx="3101750" cy="1255395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29686833-2738-4CD3-A9E7-C16D07FCE574}"/>
                </a:ext>
              </a:extLst>
            </p:cNvPr>
            <p:cNvSpPr/>
            <p:nvPr/>
          </p:nvSpPr>
          <p:spPr>
            <a:xfrm rot="1521274">
              <a:off x="8396566" y="5233557"/>
              <a:ext cx="652588" cy="2855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90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장애물</a:t>
              </a:r>
              <a:endParaRPr lang="ko-KR" altLang="en-US" sz="9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cxnSp>
          <p:nvCxnSpPr>
            <p:cNvPr id="38" name="직선 화살표 연결선 37">
              <a:extLst>
                <a:ext uri="{FF2B5EF4-FFF2-40B4-BE49-F238E27FC236}">
                  <a16:creationId xmlns:a16="http://schemas.microsoft.com/office/drawing/2014/main" id="{0B3DBA44-2CE2-4BCA-A649-FFFCAD026014}"/>
                </a:ext>
              </a:extLst>
            </p:cNvPr>
            <p:cNvCxnSpPr>
              <a:cxnSpLocks/>
              <a:stCxn id="37" idx="3"/>
            </p:cNvCxnSpPr>
            <p:nvPr/>
          </p:nvCxnSpPr>
          <p:spPr>
            <a:xfrm rot="420295" flipH="1" flipV="1">
              <a:off x="5992624" y="4263729"/>
              <a:ext cx="3101750" cy="1067184"/>
            </a:xfrm>
            <a:prstGeom prst="straightConnector1">
              <a:avLst/>
            </a:prstGeom>
            <a:ln>
              <a:solidFill>
                <a:schemeClr val="bg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직사각형 40">
                <a:extLst>
                  <a:ext uri="{FF2B5EF4-FFF2-40B4-BE49-F238E27FC236}">
                    <a16:creationId xmlns:a16="http://schemas.microsoft.com/office/drawing/2014/main" id="{204303D1-2170-4FA5-9FE3-04ECE14A2E1E}"/>
                  </a:ext>
                </a:extLst>
              </p:cNvPr>
              <p:cNvSpPr/>
              <p:nvPr/>
            </p:nvSpPr>
            <p:spPr>
              <a:xfrm>
                <a:off x="5222310" y="5837366"/>
                <a:ext cx="790601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200" b="0" i="1" kern="0" smtClean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(0,0,0,0)</m:t>
                      </m:r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41" name="직사각형 40">
                <a:extLst>
                  <a:ext uri="{FF2B5EF4-FFF2-40B4-BE49-F238E27FC236}">
                    <a16:creationId xmlns:a16="http://schemas.microsoft.com/office/drawing/2014/main" id="{204303D1-2170-4FA5-9FE3-04ECE14A2E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2310" y="5837366"/>
                <a:ext cx="790601" cy="2769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직사각형 42">
                <a:extLst>
                  <a:ext uri="{FF2B5EF4-FFF2-40B4-BE49-F238E27FC236}">
                    <a16:creationId xmlns:a16="http://schemas.microsoft.com/office/drawing/2014/main" id="{BBB9FA8A-2184-4BAA-8A81-24BDD9A23390}"/>
                  </a:ext>
                </a:extLst>
              </p:cNvPr>
              <p:cNvSpPr/>
              <p:nvPr/>
            </p:nvSpPr>
            <p:spPr>
              <a:xfrm>
                <a:off x="7018589" y="6290001"/>
                <a:ext cx="1537985" cy="29405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2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2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𝑟𝑒𝑙</m:t>
                        </m:r>
                      </m:sub>
                    </m:sSub>
                    <m:r>
                      <a:rPr lang="en-US" altLang="ko-KR" sz="1200" i="1" ker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sSub>
                      <m:sSubPr>
                        <m:ctrlPr>
                          <a:rPr lang="en-US" altLang="ko-KR" sz="12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2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2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𝑟𝑒𝑙</m:t>
                        </m:r>
                      </m:sub>
                    </m:sSub>
                  </m:oMath>
                </a14:m>
                <a:r>
                  <a:rPr lang="en-US" altLang="ko-KR" sz="12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,</a:t>
                </a:r>
                <a:r>
                  <a:rPr lang="en-US" altLang="ko-KR" sz="12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200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v</m:t>
                        </m:r>
                      </m:e>
                      <m:sub>
                        <m:r>
                          <a:rPr lang="en-US" altLang="ko-KR" sz="12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  <m:r>
                          <a:rPr lang="en-US" altLang="ko-KR" sz="12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altLang="ko-KR" sz="12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𝑟𝑒𝑙</m:t>
                        </m:r>
                      </m:sub>
                    </m:sSub>
                    <m:r>
                      <a:rPr lang="en-US" altLang="ko-KR" sz="1200" ker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</m:t>
                    </m:r>
                    <m:sSub>
                      <m:sSubPr>
                        <m:ctrlPr>
                          <a:rPr lang="en-US" altLang="ko-KR" sz="12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200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200" b="0" i="0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y</m:t>
                        </m:r>
                        <m:r>
                          <a:rPr lang="en-US" altLang="ko-KR" sz="1200" b="0" i="0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ko-KR" sz="1200" b="0" i="0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rel</m:t>
                        </m:r>
                      </m:sub>
                    </m:sSub>
                  </m:oMath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43" name="직사각형 42">
                <a:extLst>
                  <a:ext uri="{FF2B5EF4-FFF2-40B4-BE49-F238E27FC236}">
                    <a16:creationId xmlns:a16="http://schemas.microsoft.com/office/drawing/2014/main" id="{BBB9FA8A-2184-4BAA-8A81-24BDD9A2339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8589" y="6290001"/>
                <a:ext cx="1537985" cy="29405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TextBox 43">
            <a:extLst>
              <a:ext uri="{FF2B5EF4-FFF2-40B4-BE49-F238E27FC236}">
                <a16:creationId xmlns:a16="http://schemas.microsoft.com/office/drawing/2014/main" id="{A0D65002-B5C9-4D8F-8739-228EB4E2D072}"/>
              </a:ext>
            </a:extLst>
          </p:cNvPr>
          <p:cNvSpPr txBox="1"/>
          <p:nvPr/>
        </p:nvSpPr>
        <p:spPr>
          <a:xfrm>
            <a:off x="5338131" y="4102005"/>
            <a:ext cx="142804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특장차 좌표계</a:t>
            </a: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8E4228C1-BBF8-4D01-AB3E-6041B25655CB}"/>
              </a:ext>
            </a:extLst>
          </p:cNvPr>
          <p:cNvCxnSpPr/>
          <p:nvPr/>
        </p:nvCxnSpPr>
        <p:spPr>
          <a:xfrm>
            <a:off x="5309956" y="5642068"/>
            <a:ext cx="440977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AA6A3736-82B8-447F-B8A9-AF0784B068F6}"/>
              </a:ext>
            </a:extLst>
          </p:cNvPr>
          <p:cNvCxnSpPr>
            <a:cxnSpLocks/>
          </p:cNvCxnSpPr>
          <p:nvPr/>
        </p:nvCxnSpPr>
        <p:spPr>
          <a:xfrm flipV="1">
            <a:off x="5309956" y="3810108"/>
            <a:ext cx="0" cy="292384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직사각형 46">
                <a:extLst>
                  <a:ext uri="{FF2B5EF4-FFF2-40B4-BE49-F238E27FC236}">
                    <a16:creationId xmlns:a16="http://schemas.microsoft.com/office/drawing/2014/main" id="{AE576387-4538-4245-A1ED-7980B5981E84}"/>
                  </a:ext>
                </a:extLst>
              </p:cNvPr>
              <p:cNvSpPr/>
              <p:nvPr/>
            </p:nvSpPr>
            <p:spPr>
              <a:xfrm>
                <a:off x="5006130" y="3826889"/>
                <a:ext cx="389722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200" b="0" i="1" kern="0" smtClea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ko-KR" sz="1200" b="0" i="1" kern="0" smtClea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ko-KR" sz="1200" b="0" i="1" kern="0" smtClea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𝑒</m:t>
                          </m:r>
                        </m:sub>
                      </m:sSub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47" name="직사각형 46">
                <a:extLst>
                  <a:ext uri="{FF2B5EF4-FFF2-40B4-BE49-F238E27FC236}">
                    <a16:creationId xmlns:a16="http://schemas.microsoft.com/office/drawing/2014/main" id="{AE576387-4538-4245-A1ED-7980B5981E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6130" y="3826889"/>
                <a:ext cx="389722" cy="27699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직사각형 47">
                <a:extLst>
                  <a:ext uri="{FF2B5EF4-FFF2-40B4-BE49-F238E27FC236}">
                    <a16:creationId xmlns:a16="http://schemas.microsoft.com/office/drawing/2014/main" id="{652229AD-C6A1-4F32-A193-2D573F0CFFA5}"/>
                  </a:ext>
                </a:extLst>
              </p:cNvPr>
              <p:cNvSpPr/>
              <p:nvPr/>
            </p:nvSpPr>
            <p:spPr>
              <a:xfrm>
                <a:off x="9338512" y="5328086"/>
                <a:ext cx="364780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200" b="0" i="1" kern="0" smtClea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ko-KR" sz="1200" b="0" i="1" kern="0" smtClea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𝑌</m:t>
                          </m:r>
                        </m:e>
                        <m:sub>
                          <m:r>
                            <a:rPr lang="en-US" altLang="ko-KR" sz="1200" b="0" i="1" kern="0" smtClea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𝑒</m:t>
                          </m:r>
                        </m:sub>
                      </m:sSub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48" name="직사각형 47">
                <a:extLst>
                  <a:ext uri="{FF2B5EF4-FFF2-40B4-BE49-F238E27FC236}">
                    <a16:creationId xmlns:a16="http://schemas.microsoft.com/office/drawing/2014/main" id="{652229AD-C6A1-4F32-A193-2D573F0CFFA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8512" y="5328086"/>
                <a:ext cx="364780" cy="27699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5A23DE14-B15D-4944-AA08-31BADDA0A726}"/>
              </a:ext>
            </a:extLst>
          </p:cNvPr>
          <p:cNvCxnSpPr>
            <a:cxnSpLocks/>
          </p:cNvCxnSpPr>
          <p:nvPr/>
        </p:nvCxnSpPr>
        <p:spPr>
          <a:xfrm flipV="1">
            <a:off x="5309956" y="5066992"/>
            <a:ext cx="406306" cy="590029"/>
          </a:xfrm>
          <a:prstGeom prst="straightConnector1">
            <a:avLst/>
          </a:prstGeom>
          <a:ln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직사각형 49">
                <a:extLst>
                  <a:ext uri="{FF2B5EF4-FFF2-40B4-BE49-F238E27FC236}">
                    <a16:creationId xmlns:a16="http://schemas.microsoft.com/office/drawing/2014/main" id="{81824C97-26F0-4854-9C41-E5D6E69A35F4}"/>
                  </a:ext>
                </a:extLst>
              </p:cNvPr>
              <p:cNvSpPr/>
              <p:nvPr/>
            </p:nvSpPr>
            <p:spPr>
              <a:xfrm>
                <a:off x="5630309" y="4821200"/>
                <a:ext cx="364780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200" b="0" i="1" kern="0" smtClea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ko-KR" sz="1200" b="0" i="1" kern="0" smtClea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sz="1200" b="0" i="1" kern="0" smtClea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50" name="직사각형 49">
                <a:extLst>
                  <a:ext uri="{FF2B5EF4-FFF2-40B4-BE49-F238E27FC236}">
                    <a16:creationId xmlns:a16="http://schemas.microsoft.com/office/drawing/2014/main" id="{81824C97-26F0-4854-9C41-E5D6E69A35F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0309" y="4821200"/>
                <a:ext cx="364780" cy="27699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직사각형 50">
                <a:extLst>
                  <a:ext uri="{FF2B5EF4-FFF2-40B4-BE49-F238E27FC236}">
                    <a16:creationId xmlns:a16="http://schemas.microsoft.com/office/drawing/2014/main" id="{BA9B76F3-DA5E-41A4-8C10-5D7FA9BFACE9}"/>
                  </a:ext>
                </a:extLst>
              </p:cNvPr>
              <p:cNvSpPr/>
              <p:nvPr/>
            </p:nvSpPr>
            <p:spPr>
              <a:xfrm>
                <a:off x="5535899" y="5197054"/>
                <a:ext cx="389209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200" b="0" i="1" kern="0" smtClea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ko-KR" sz="1200" b="0" i="1" kern="0" smtClea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𝐷</m:t>
                          </m:r>
                        </m:e>
                        <m:sub>
                          <m:r>
                            <a:rPr lang="en-US" altLang="ko-KR" sz="1200" b="0" i="1" kern="0" smtClea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51" name="직사각형 50">
                <a:extLst>
                  <a:ext uri="{FF2B5EF4-FFF2-40B4-BE49-F238E27FC236}">
                    <a16:creationId xmlns:a16="http://schemas.microsoft.com/office/drawing/2014/main" id="{BA9B76F3-DA5E-41A4-8C10-5D7FA9BFAC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5899" y="5197054"/>
                <a:ext cx="389209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2356778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3</a:t>
            </a:r>
            <a:r>
              <a:rPr lang="ko-KR" altLang="en-US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주행 중</a:t>
            </a:r>
            <a:r>
              <a:rPr lang="en-US" altLang="ko-KR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, </a:t>
            </a:r>
            <a:r>
              <a:rPr lang="ko-KR" altLang="en-US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경로 주변 동적 장애물 통행 환경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F55F954-5E86-475A-837F-2B8CED6C7DF1}" type="slidenum">
              <a:rPr lang="ko-KR" altLang="en-US" smtClean="0"/>
              <a:pPr/>
              <a:t>50</a:t>
            </a:fld>
            <a:endParaRPr lang="ko-KR" altLang="en-US"/>
          </a:p>
        </p:txBody>
      </p:sp>
      <p:sp>
        <p:nvSpPr>
          <p:cNvPr id="7" name="순서도: 판단 6">
            <a:extLst>
              <a:ext uri="{FF2B5EF4-FFF2-40B4-BE49-F238E27FC236}">
                <a16:creationId xmlns:a16="http://schemas.microsoft.com/office/drawing/2014/main" id="{E154D0BD-35CE-4042-A18E-7E074B93FFEA}"/>
              </a:ext>
            </a:extLst>
          </p:cNvPr>
          <p:cNvSpPr/>
          <p:nvPr/>
        </p:nvSpPr>
        <p:spPr>
          <a:xfrm>
            <a:off x="6551565" y="3062257"/>
            <a:ext cx="1260930" cy="468000"/>
          </a:xfrm>
          <a:prstGeom prst="flowChartDecision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TTC</a:t>
            </a:r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&lt;</a:t>
            </a:r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10s ?</a:t>
            </a:r>
            <a:endParaRPr lang="ko-KR" altLang="en-US" sz="105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421D542-7002-4AB8-A246-CFB33BF45578}"/>
              </a:ext>
            </a:extLst>
          </p:cNvPr>
          <p:cNvSpPr/>
          <p:nvPr/>
        </p:nvSpPr>
        <p:spPr>
          <a:xfrm>
            <a:off x="6536413" y="1956038"/>
            <a:ext cx="2762795" cy="234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동적</a:t>
            </a:r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객체 데이터 입력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1309268-7695-4521-8292-7A62FFA2E1BA}"/>
              </a:ext>
            </a:extLst>
          </p:cNvPr>
          <p:cNvSpPr/>
          <p:nvPr/>
        </p:nvSpPr>
        <p:spPr>
          <a:xfrm>
            <a:off x="6891649" y="2484136"/>
            <a:ext cx="1980000" cy="234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10~30 m </a:t>
            </a:r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거리 이내 동적객체 추출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C6C9C81-740F-4E10-A695-9D2C1F52AB2E}"/>
              </a:ext>
            </a:extLst>
          </p:cNvPr>
          <p:cNvSpPr/>
          <p:nvPr/>
        </p:nvSpPr>
        <p:spPr>
          <a:xfrm>
            <a:off x="6904349" y="5160620"/>
            <a:ext cx="1980000" cy="234000"/>
          </a:xfrm>
          <a:prstGeom prst="rect">
            <a:avLst/>
          </a:prstGeom>
          <a:solidFill>
            <a:schemeClr val="bg1"/>
          </a:solidFill>
          <a:ln w="19050">
            <a:solidFill>
              <a:srgbClr val="007A00"/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Max </a:t>
            </a:r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값 출력</a:t>
            </a:r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0A461D5E-6F53-44E4-9639-6FDF58F59ABE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7182030" y="3530257"/>
            <a:ext cx="0" cy="69440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FB2A2EDD-F7DD-4FEE-96E6-2A4F0471B0AB}"/>
              </a:ext>
            </a:extLst>
          </p:cNvPr>
          <p:cNvCxnSpPr>
            <a:cxnSpLocks/>
          </p:cNvCxnSpPr>
          <p:nvPr/>
        </p:nvCxnSpPr>
        <p:spPr>
          <a:xfrm>
            <a:off x="7881649" y="5010147"/>
            <a:ext cx="0" cy="16350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7F7B2FEA-460C-497B-8F3D-0BF218A5559D}"/>
              </a:ext>
            </a:extLst>
          </p:cNvPr>
          <p:cNvCxnSpPr>
            <a:cxnSpLocks/>
          </p:cNvCxnSpPr>
          <p:nvPr/>
        </p:nvCxnSpPr>
        <p:spPr>
          <a:xfrm>
            <a:off x="7881649" y="2211815"/>
            <a:ext cx="0" cy="27232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왼쪽 중괄호 24">
            <a:extLst>
              <a:ext uri="{FF2B5EF4-FFF2-40B4-BE49-F238E27FC236}">
                <a16:creationId xmlns:a16="http://schemas.microsoft.com/office/drawing/2014/main" id="{7C12BF87-7E85-4F24-ABEA-955D7CDC5E51}"/>
              </a:ext>
            </a:extLst>
          </p:cNvPr>
          <p:cNvSpPr/>
          <p:nvPr/>
        </p:nvSpPr>
        <p:spPr>
          <a:xfrm flipH="1">
            <a:off x="9309764" y="3269255"/>
            <a:ext cx="150322" cy="608205"/>
          </a:xfrm>
          <a:prstGeom prst="leftBrace">
            <a:avLst>
              <a:gd name="adj1" fmla="val 250081"/>
              <a:gd name="adj2" fmla="val 50928"/>
            </a:avLst>
          </a:prstGeom>
          <a:ln w="190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2FE53212-B0E7-48C3-AB3C-A6A5B595AF10}"/>
              </a:ext>
            </a:extLst>
          </p:cNvPr>
          <p:cNvSpPr/>
          <p:nvPr/>
        </p:nvSpPr>
        <p:spPr>
          <a:xfrm>
            <a:off x="6531791" y="2516600"/>
            <a:ext cx="252000" cy="252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rPr>
              <a:t>1</a:t>
            </a:r>
            <a:endParaRPr lang="ko-KR" altLang="en-US" sz="9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Arial" panose="020B0604020202020204" pitchFamily="34" charset="0"/>
              <a:ea typeface="KoPub돋움체 Bold" panose="02020603020101020101" pitchFamily="18" charset="-127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직사각형 26">
                <a:extLst>
                  <a:ext uri="{FF2B5EF4-FFF2-40B4-BE49-F238E27FC236}">
                    <a16:creationId xmlns:a16="http://schemas.microsoft.com/office/drawing/2014/main" id="{0DFE4DAE-15BB-4449-BA90-3634750FFC0D}"/>
                  </a:ext>
                </a:extLst>
              </p:cNvPr>
              <p:cNvSpPr/>
              <p:nvPr/>
            </p:nvSpPr>
            <p:spPr>
              <a:xfrm>
                <a:off x="381000" y="807450"/>
                <a:ext cx="9144000" cy="33034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120000"/>
                  <a:buFont typeface="+mj-ea"/>
                  <a:buAutoNum type="circleNumDbPlain" startAt="3"/>
                  <a:defRPr/>
                </a:pPr>
                <a:r>
                  <a:rPr lang="ko-KR" altLang="en-US" sz="1300" b="1" kern="0" dirty="0">
                    <a:ln>
                      <a:solidFill>
                        <a:schemeClr val="tx1">
                          <a:alpha val="30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안전 영역 침범 판정</a:t>
                </a:r>
                <a:endParaRPr lang="en-US" altLang="ko-KR" sz="1300" b="1" kern="0" dirty="0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120000"/>
                  <a:defRPr/>
                </a:pP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-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데이터 시점 </a:t>
                </a: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: t(T_L3fusion) to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</a:t>
                </a: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t +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</a:t>
                </a: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5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초</a:t>
                </a:r>
                <a:endParaRPr lang="en-US" altLang="ko-KR" sz="130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90000"/>
                  <a:defRPr/>
                </a:pP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-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특장차 및 장애물의 </a:t>
                </a: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500ms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단위 위치 추정</a:t>
                </a:r>
                <a:b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</a:b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   * Linear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</a:t>
                </a: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approximation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</a:t>
                </a:r>
                <a:endParaRPr lang="en-US" altLang="ko-KR" sz="130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90000"/>
                  <a:defRPr/>
                </a:pP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30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𝑒𝑔𝑜</m:t>
                        </m:r>
                      </m:sub>
                    </m:sSub>
                    <m:d>
                      <m:dPr>
                        <m:ctrlP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+0.5</m:t>
                        </m:r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𝑘</m:t>
                        </m:r>
                      </m:e>
                    </m:d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sSub>
                      <m:sSubPr>
                        <m:ctrlP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𝑒𝑔𝑜</m:t>
                        </m:r>
                      </m:sub>
                    </m:sSub>
                    <m:d>
                      <m:dPr>
                        <m:ctrlP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e>
                    </m:d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sSub>
                      <m:sSubPr>
                        <m:ctrlP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𝑣</m:t>
                        </m:r>
                      </m:e>
                      <m:sub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𝑒𝑔𝑜</m:t>
                        </m:r>
                      </m:sub>
                    </m:sSub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)∗0.5</m:t>
                    </m:r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𝑘</m:t>
                    </m:r>
                  </m:oMath>
                </a14:m>
                <a:endParaRPr lang="en-US" altLang="ko-KR" sz="1300" b="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90000"/>
                  <a:defRPr/>
                </a:pP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300" b="0" i="0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     </m:t>
                    </m:r>
                    <m:sSub>
                      <m:sSubPr>
                        <m:ctrlP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𝑜𝑏𝑠</m:t>
                        </m:r>
                      </m:sub>
                    </m:sSub>
                    <m:d>
                      <m:dPr>
                        <m:ctrlP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+0.5</m:t>
                        </m:r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𝑘</m:t>
                        </m:r>
                      </m:e>
                    </m:d>
                    <m:r>
                      <a:rPr lang="en-US" altLang="ko-KR" sz="1300" i="1" ker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sSub>
                      <m:sSubPr>
                        <m:ctrlP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𝑜𝑏𝑠</m:t>
                        </m:r>
                      </m:sub>
                    </m:sSub>
                    <m:d>
                      <m:dPr>
                        <m:ctrlP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e>
                    </m:d>
                    <m:r>
                      <a:rPr lang="en-US" altLang="ko-KR" sz="1300" i="1" ker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sSub>
                      <m:sSubPr>
                        <m:ctrlP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𝑣</m:t>
                        </m:r>
                      </m:e>
                      <m:sub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𝑜𝑏𝑠</m:t>
                        </m:r>
                      </m:sub>
                    </m:sSub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)∗0.5</m:t>
                    </m:r>
                    <m:r>
                      <a:rPr lang="en-US" altLang="ko-KR" sz="1300" i="1" ker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𝑘</m:t>
                    </m:r>
                  </m:oMath>
                </a14:m>
                <a:b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</a:b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     </a:t>
                </a:r>
                <a14:m>
                  <m:oMath xmlns:m="http://schemas.openxmlformats.org/officeDocument/2006/math">
                    <m:r>
                      <a:rPr lang="en-US" altLang="ko-KR" sz="1300" b="0" i="0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0</m:t>
                    </m:r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&lt;</m:t>
                    </m:r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𝑘</m:t>
                    </m:r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&lt;10</m:t>
                    </m:r>
                  </m:oMath>
                </a14:m>
                <a:b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</a:b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-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안전 영역 침범 여부 비교</a:t>
                </a:r>
                <a:b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</a:b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    for k = 0 : 10</a:t>
                </a:r>
                <a:b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</a:b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300" b="0" i="1" kern="0" dirty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300" kern="0" dirty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D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300" b="0" i="0" kern="0" dirty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obs</m:t>
                        </m:r>
                        <m:r>
                          <a:rPr lang="en-US" altLang="ko-KR" sz="1300" b="0" i="0" kern="0" dirty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_</m:t>
                        </m:r>
                        <m:r>
                          <m:rPr>
                            <m:sty m:val="p"/>
                          </m:rPr>
                          <a:rPr lang="en-US" altLang="ko-KR" sz="1300" b="0" i="0" kern="0" dirty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ego</m:t>
                        </m:r>
                      </m:sub>
                    </m:sSub>
                    <m:r>
                      <a:rPr lang="en-US" altLang="ko-KR" sz="1300" b="0" i="0" kern="0" dirty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ko-KR" sz="1300" b="0" i="0" kern="0" dirty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k</m:t>
                    </m:r>
                    <m:r>
                      <a:rPr lang="en-US" altLang="ko-KR" sz="1300" b="0" i="0" kern="0" dirty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)=</m:t>
                    </m:r>
                    <m:d>
                      <m:dPr>
                        <m:begChr m:val="|"/>
                        <m:endChr m:val="|"/>
                        <m:ctrlPr>
                          <a:rPr lang="en-US" altLang="ko-KR" sz="130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𝑒𝑔𝑜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𝑡</m:t>
                            </m:r>
                            <m: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+0.5</m:t>
                            </m:r>
                            <m: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𝑘</m:t>
                            </m:r>
                          </m:e>
                        </m:d>
                        <m:r>
                          <a:rPr lang="en-US" altLang="ko-KR" sz="1300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− </m:t>
                        </m:r>
                        <m:sSub>
                          <m:sSubPr>
                            <m:ctrlP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𝑜𝑏𝑠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𝑡</m:t>
                            </m:r>
                            <m: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+0.5</m:t>
                            </m:r>
                            <m: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𝑘</m:t>
                            </m:r>
                          </m:e>
                        </m:d>
                      </m:e>
                    </m:d>
                  </m:oMath>
                </a14:m>
                <a:endParaRPr lang="en-US" altLang="ko-KR" sz="130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90000"/>
                  <a:defRPr/>
                </a:pP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300" i="1" kern="0" dirty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300" kern="0" dirty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D</m:t>
                        </m:r>
                      </m:e>
                      <m:sub>
                        <m:r>
                          <a:rPr lang="en-US" altLang="ko-KR" sz="1300" b="0" i="1" kern="0" dirty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𝑒𝑔𝑜</m:t>
                        </m:r>
                        <m:r>
                          <a:rPr lang="en-US" altLang="ko-KR" sz="1300" b="0" i="1" kern="0" dirty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_</m:t>
                        </m:r>
                        <m:r>
                          <a:rPr lang="en-US" altLang="ko-KR" sz="1300" b="0" i="1" kern="0" dirty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𝑜𝑏𝑠</m:t>
                        </m:r>
                      </m:sub>
                    </m:sSub>
                    <m:r>
                      <a:rPr lang="en-US" altLang="ko-KR" sz="1300" b="0" i="1" kern="0" dirty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altLang="ko-KR" sz="1300" b="0" i="1" kern="0" dirty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𝑘</m:t>
                    </m:r>
                    <m:r>
                      <a:rPr lang="en-US" altLang="ko-KR" sz="1300" b="0" i="1" kern="0" dirty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&lt; 30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인 경우 안전 영역 침범</a:t>
                </a:r>
                <a:endParaRPr lang="en-US" altLang="ko-KR" sz="130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7" name="직사각형 26">
                <a:extLst>
                  <a:ext uri="{FF2B5EF4-FFF2-40B4-BE49-F238E27FC236}">
                    <a16:creationId xmlns:a16="http://schemas.microsoft.com/office/drawing/2014/main" id="{0DFE4DAE-15BB-4449-BA90-3634750FFC0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807450"/>
                <a:ext cx="9144000" cy="330340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타원 27">
            <a:extLst>
              <a:ext uri="{FF2B5EF4-FFF2-40B4-BE49-F238E27FC236}">
                <a16:creationId xmlns:a16="http://schemas.microsoft.com/office/drawing/2014/main" id="{8B5443BE-5A9C-4EEA-AFAD-F8E65CE8F298}"/>
              </a:ext>
            </a:extLst>
          </p:cNvPr>
          <p:cNvSpPr/>
          <p:nvPr/>
        </p:nvSpPr>
        <p:spPr>
          <a:xfrm>
            <a:off x="6449678" y="3182804"/>
            <a:ext cx="252000" cy="252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rPr>
              <a:t>2</a:t>
            </a:r>
            <a:endParaRPr lang="ko-KR" altLang="en-US" sz="9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Arial" panose="020B0604020202020204" pitchFamily="34" charset="0"/>
              <a:ea typeface="KoPub돋움체 Bold" panose="02020603020101020101" pitchFamily="18" charset="-127"/>
              <a:cs typeface="Arial" panose="020B0604020202020204" pitchFamily="34" charset="0"/>
            </a:endParaRP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309BB597-D8C9-404E-BAD3-B62E315EB21C}"/>
              </a:ext>
            </a:extLst>
          </p:cNvPr>
          <p:cNvSpPr/>
          <p:nvPr/>
        </p:nvSpPr>
        <p:spPr>
          <a:xfrm>
            <a:off x="6421156" y="4688003"/>
            <a:ext cx="252000" cy="252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rPr>
              <a:t>4</a:t>
            </a:r>
            <a:endParaRPr lang="ko-KR" altLang="en-US" sz="9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Arial" panose="020B0604020202020204" pitchFamily="34" charset="0"/>
              <a:ea typeface="KoPub돋움체 Bold" panose="02020603020101020101" pitchFamily="18" charset="-127"/>
              <a:cs typeface="Arial" panose="020B0604020202020204" pitchFamily="34" charset="0"/>
            </a:endParaRPr>
          </a:p>
        </p:txBody>
      </p:sp>
      <p:sp>
        <p:nvSpPr>
          <p:cNvPr id="37" name="순서도: 판단 36">
            <a:extLst>
              <a:ext uri="{FF2B5EF4-FFF2-40B4-BE49-F238E27FC236}">
                <a16:creationId xmlns:a16="http://schemas.microsoft.com/office/drawing/2014/main" id="{8C8385EA-FC8C-43C1-B4E6-AA0B42DF0376}"/>
              </a:ext>
            </a:extLst>
          </p:cNvPr>
          <p:cNvSpPr/>
          <p:nvPr/>
        </p:nvSpPr>
        <p:spPr>
          <a:xfrm>
            <a:off x="8059972" y="3579201"/>
            <a:ext cx="1260930" cy="468000"/>
          </a:xfrm>
          <a:prstGeom prst="flowChartDecision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안전영역 진입</a:t>
            </a:r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?</a:t>
            </a:r>
            <a:endParaRPr lang="ko-KR" altLang="en-US" sz="105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D689C5E9-AC06-45C8-B045-5FA786395860}"/>
              </a:ext>
            </a:extLst>
          </p:cNvPr>
          <p:cNvSpPr/>
          <p:nvPr/>
        </p:nvSpPr>
        <p:spPr>
          <a:xfrm>
            <a:off x="8081667" y="3179257"/>
            <a:ext cx="1217541" cy="234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5</a:t>
            </a:r>
            <a:r>
              <a:rPr lang="ko-KR" altLang="en-US" sz="1050" dirty="0" err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초후</a:t>
            </a:r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까지 경로</a:t>
            </a:r>
          </a:p>
        </p:txBody>
      </p: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D829F60D-EED0-469A-AF8D-29721D2E9734}"/>
              </a:ext>
            </a:extLst>
          </p:cNvPr>
          <p:cNvCxnSpPr>
            <a:cxnSpLocks/>
            <a:stCxn id="37" idx="2"/>
          </p:cNvCxnSpPr>
          <p:nvPr/>
        </p:nvCxnSpPr>
        <p:spPr>
          <a:xfrm>
            <a:off x="8690437" y="4047201"/>
            <a:ext cx="2893" cy="17746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C10CE0C2-B3A8-4B1C-8185-218F7CC75DE8}"/>
              </a:ext>
            </a:extLst>
          </p:cNvPr>
          <p:cNvCxnSpPr>
            <a:cxnSpLocks/>
          </p:cNvCxnSpPr>
          <p:nvPr/>
        </p:nvCxnSpPr>
        <p:spPr>
          <a:xfrm>
            <a:off x="8690437" y="3423687"/>
            <a:ext cx="2893" cy="17746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6C6DF717-3FBA-4CBD-8196-179B6F5D04C1}"/>
              </a:ext>
            </a:extLst>
          </p:cNvPr>
          <p:cNvCxnSpPr>
            <a:cxnSpLocks/>
          </p:cNvCxnSpPr>
          <p:nvPr/>
        </p:nvCxnSpPr>
        <p:spPr>
          <a:xfrm>
            <a:off x="7182030" y="2710055"/>
            <a:ext cx="0" cy="35220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E1A88836-8CE6-48D1-B8D0-BC86E1149002}"/>
              </a:ext>
            </a:extLst>
          </p:cNvPr>
          <p:cNvCxnSpPr>
            <a:cxnSpLocks/>
            <a:endCxn id="38" idx="0"/>
          </p:cNvCxnSpPr>
          <p:nvPr/>
        </p:nvCxnSpPr>
        <p:spPr>
          <a:xfrm>
            <a:off x="8690437" y="2710055"/>
            <a:ext cx="1" cy="46920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1150F2DD-BA65-4C0A-B46C-7B815AA77498}"/>
              </a:ext>
            </a:extLst>
          </p:cNvPr>
          <p:cNvSpPr/>
          <p:nvPr/>
        </p:nvSpPr>
        <p:spPr>
          <a:xfrm>
            <a:off x="6904349" y="4228946"/>
            <a:ext cx="1980000" cy="234000"/>
          </a:xfrm>
          <a:prstGeom prst="rect">
            <a:avLst/>
          </a:prstGeom>
          <a:solidFill>
            <a:schemeClr val="bg1"/>
          </a:solidFill>
          <a:ln w="19050">
            <a:solidFill>
              <a:srgbClr val="007A00"/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Confidence</a:t>
            </a:r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value </a:t>
            </a:r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출력</a:t>
            </a:r>
          </a:p>
        </p:txBody>
      </p: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B799E557-DEEF-43D1-94D1-244104520875}"/>
              </a:ext>
            </a:extLst>
          </p:cNvPr>
          <p:cNvCxnSpPr>
            <a:cxnSpLocks/>
            <a:stCxn id="49" idx="2"/>
          </p:cNvCxnSpPr>
          <p:nvPr/>
        </p:nvCxnSpPr>
        <p:spPr>
          <a:xfrm>
            <a:off x="7894349" y="4462946"/>
            <a:ext cx="0" cy="28621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326B54DC-5D98-4E82-B6DD-EE727C0BF2B5}"/>
              </a:ext>
            </a:extLst>
          </p:cNvPr>
          <p:cNvSpPr/>
          <p:nvPr/>
        </p:nvSpPr>
        <p:spPr>
          <a:xfrm>
            <a:off x="6904349" y="4749157"/>
            <a:ext cx="1980000" cy="234000"/>
          </a:xfrm>
          <a:prstGeom prst="rect">
            <a:avLst/>
          </a:prstGeom>
          <a:solidFill>
            <a:schemeClr val="bg1"/>
          </a:solidFill>
          <a:ln w="19050">
            <a:solidFill>
              <a:srgbClr val="007A00"/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Confidence </a:t>
            </a:r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값 비교</a:t>
            </a:r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244966A9-2B05-40D7-8FCE-B71E624508E5}"/>
              </a:ext>
            </a:extLst>
          </p:cNvPr>
          <p:cNvSpPr/>
          <p:nvPr/>
        </p:nvSpPr>
        <p:spPr>
          <a:xfrm>
            <a:off x="9468592" y="3434804"/>
            <a:ext cx="252000" cy="252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rPr>
              <a:t>3</a:t>
            </a:r>
            <a:endParaRPr lang="ko-KR" altLang="en-US" sz="9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Arial" panose="020B0604020202020204" pitchFamily="34" charset="0"/>
              <a:ea typeface="KoPub돋움체 Bold" panose="02020603020101020101" pitchFamily="18" charset="-127"/>
              <a:cs typeface="Arial" panose="020B0604020202020204" pitchFamily="34" charset="0"/>
            </a:endParaRPr>
          </a:p>
        </p:txBody>
      </p:sp>
      <p:sp>
        <p:nvSpPr>
          <p:cNvPr id="60" name="왼쪽 중괄호 59">
            <a:extLst>
              <a:ext uri="{FF2B5EF4-FFF2-40B4-BE49-F238E27FC236}">
                <a16:creationId xmlns:a16="http://schemas.microsoft.com/office/drawing/2014/main" id="{520F69FA-074D-4A2A-AF56-33EFC12310EC}"/>
              </a:ext>
            </a:extLst>
          </p:cNvPr>
          <p:cNvSpPr/>
          <p:nvPr/>
        </p:nvSpPr>
        <p:spPr>
          <a:xfrm>
            <a:off x="6707619" y="4275841"/>
            <a:ext cx="127804" cy="1029937"/>
          </a:xfrm>
          <a:prstGeom prst="leftBrace">
            <a:avLst>
              <a:gd name="adj1" fmla="val 250081"/>
              <a:gd name="adj2" fmla="val 50928"/>
            </a:avLst>
          </a:prstGeom>
          <a:ln w="190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직사각형 28">
                <a:extLst>
                  <a:ext uri="{FF2B5EF4-FFF2-40B4-BE49-F238E27FC236}">
                    <a16:creationId xmlns:a16="http://schemas.microsoft.com/office/drawing/2014/main" id="{56533F16-5D23-4411-AF8C-AB3EBE5AD22D}"/>
                  </a:ext>
                </a:extLst>
              </p:cNvPr>
              <p:cNvSpPr/>
              <p:nvPr/>
            </p:nvSpPr>
            <p:spPr>
              <a:xfrm>
                <a:off x="381000" y="4255367"/>
                <a:ext cx="9144000" cy="19678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120000"/>
                  <a:buFont typeface="+mj-ea"/>
                  <a:buAutoNum type="circleNumDbPlain" startAt="4"/>
                  <a:defRPr/>
                </a:pPr>
                <a:r>
                  <a:rPr lang="en-US" altLang="ko-KR" sz="1300" b="1" kern="0" dirty="0">
                    <a:ln>
                      <a:solidFill>
                        <a:schemeClr val="tx1">
                          <a:alpha val="30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Confidence </a:t>
                </a:r>
                <a:r>
                  <a:rPr lang="ko-KR" altLang="en-US" sz="1300" b="1" kern="0" dirty="0">
                    <a:ln>
                      <a:solidFill>
                        <a:schemeClr val="tx1">
                          <a:alpha val="30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출력</a:t>
                </a:r>
                <a:endParaRPr lang="en-US" altLang="ko-KR" sz="1300" b="1" kern="0" dirty="0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120000"/>
                  <a:defRPr/>
                </a:pP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- TTC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에 대한 </a:t>
                </a: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confidence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𝐶</m:t>
                        </m:r>
                      </m:e>
                      <m:sub>
                        <m:sSub>
                          <m:sSubPr>
                            <m:ctrlP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3</m:t>
                            </m:r>
                          </m:e>
                          <m:sub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30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5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ko-KR" sz="1300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t</m:t>
                        </m:r>
                      </m:den>
                    </m:f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∗0.7</m:t>
                    </m:r>
                  </m:oMath>
                </a14:m>
                <a:endParaRPr lang="en-US" altLang="ko-KR" sz="130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120000"/>
                  <a:defRPr/>
                </a:pP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-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안전 영역 침범에 대한 </a:t>
                </a: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confidence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𝐶</m:t>
                        </m:r>
                      </m:e>
                      <m:sub>
                        <m:sSub>
                          <m:sSubPr>
                            <m:ctrlP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3</m:t>
                            </m:r>
                          </m:e>
                          <m:sub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30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30</m:t>
                        </m:r>
                      </m:num>
                      <m:den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𝑀𝐼𝑁</m:t>
                        </m:r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𝑒𝑔</m:t>
                            </m:r>
                            <m:sSub>
                              <m:sSubPr>
                                <m:ctrlPr>
                                  <a:rPr lang="en-US" altLang="ko-KR" sz="1300" b="0" i="1" kern="0" smtClea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300" b="0" i="1" kern="0" smtClea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𝑜</m:t>
                                </m:r>
                              </m:e>
                              <m:sub>
                                <m:r>
                                  <a:rPr lang="en-US" altLang="ko-KR" sz="1300" b="0" i="1" kern="0" smtClea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𝑜𝑏𝑠</m:t>
                                </m:r>
                              </m:sub>
                            </m:sSub>
                          </m:sub>
                        </m:sSub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)</m:t>
                        </m:r>
                      </m:den>
                    </m:f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∗0.7</m:t>
                    </m:r>
                  </m:oMath>
                </a14:m>
                <a:endParaRPr lang="en-US" altLang="ko-KR" sz="130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90000"/>
                  <a:defRPr/>
                </a:pP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𝐶</m:t>
                        </m:r>
                      </m:e>
                      <m:sub>
                        <m:sSub>
                          <m:sSubPr>
                            <m:ctrlP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3</m:t>
                            </m:r>
                          </m:e>
                          <m:sub>
                            <m: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ko-KR" altLang="en-US" sz="130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과</m:t>
                    </m:r>
                  </m:oMath>
                </a14:m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𝐶</m:t>
                        </m:r>
                      </m:e>
                      <m:sub>
                        <m:sSub>
                          <m:sSubPr>
                            <m:ctrlP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3</m:t>
                            </m:r>
                          </m:e>
                          <m:sub>
                            <m: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</m:oMath>
                </a14:m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비교를 통한 최대값을 </a:t>
                </a: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confidence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𝐶</m:t>
                        </m:r>
                      </m:e>
                      <m:sub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)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로 출력</a:t>
                </a:r>
                <a:endParaRPr lang="en-US" altLang="ko-KR" sz="130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90000"/>
                  <a:defRPr/>
                </a:pP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𝐶</m:t>
                        </m:r>
                      </m:e>
                      <m:sub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3</m:t>
                        </m:r>
                      </m:sub>
                    </m:sSub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𝑀𝐴𝑋</m:t>
                    </m:r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sSub>
                      <m:sSubPr>
                        <m:ctrlP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𝐶</m:t>
                        </m:r>
                      </m:e>
                      <m:sub>
                        <m:sSub>
                          <m:sSubPr>
                            <m:ctrlP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3</m:t>
                            </m:r>
                          </m:e>
                          <m:sub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sSub>
                      <m:sSubPr>
                        <m:ctrlP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𝐶</m:t>
                        </m:r>
                      </m:e>
                      <m:sub>
                        <m:sSub>
                          <m:sSubPr>
                            <m:ctrlP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3</m:t>
                            </m:r>
                          </m:e>
                          <m:sub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endParaRPr lang="en-US" altLang="ko-KR" sz="130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9" name="직사각형 28">
                <a:extLst>
                  <a:ext uri="{FF2B5EF4-FFF2-40B4-BE49-F238E27FC236}">
                    <a16:creationId xmlns:a16="http://schemas.microsoft.com/office/drawing/2014/main" id="{56533F16-5D23-4411-AF8C-AB3EBE5AD22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4255367"/>
                <a:ext cx="9144000" cy="196784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40142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4</a:t>
            </a:r>
            <a:r>
              <a:rPr lang="ko-KR" altLang="en-US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작업 중</a:t>
            </a:r>
            <a:r>
              <a:rPr lang="en-US" altLang="ko-KR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, </a:t>
            </a:r>
            <a:r>
              <a:rPr lang="ko-KR" altLang="en-US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경로 주변 동적 장애물 통행 환경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F55F954-5E86-475A-837F-2B8CED6C7DF1}" type="slidenum">
              <a:rPr lang="ko-KR" altLang="en-US" smtClean="0"/>
              <a:pPr/>
              <a:t>51</a:t>
            </a:fld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6EB9BC6-D7CB-4677-BBA3-54AABC15EF84}"/>
              </a:ext>
            </a:extLst>
          </p:cNvPr>
          <p:cNvSpPr/>
          <p:nvPr/>
        </p:nvSpPr>
        <p:spPr>
          <a:xfrm>
            <a:off x="381000" y="617684"/>
            <a:ext cx="9144000" cy="1519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5256" indent="-95256"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buFont typeface="Wingdings" panose="05000000000000000000" pitchFamily="2" charset="2"/>
              <a:buChar char="§"/>
              <a:defRPr/>
            </a:pPr>
            <a:r>
              <a:rPr lang="ko-KR" altLang="en-US" sz="1300" b="1" kern="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개요</a:t>
            </a:r>
            <a:endParaRPr lang="en-US" altLang="ko-KR" sz="1300" b="1" kern="0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특장차의 작업 경로 주변 안전 영역 확보 필요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안전 영역 외부의 차량 또는 사람의 통행은 가능하나 안전 영역으로의 침범으로 위험 상황 발생 가능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 err="1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텔레핸들러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</a:t>
            </a:r>
            <a:r>
              <a:rPr lang="ko-KR" altLang="en-US" sz="1300" kern="0" dirty="0" err="1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작업시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특장차의 주행 성능 변화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(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제동 거리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)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에 따른 위험도 상승</a:t>
            </a:r>
            <a:b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</a:b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안전 영역 확대 필요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F6D8215-33CD-4738-89E9-A326B0961459}"/>
              </a:ext>
            </a:extLst>
          </p:cNvPr>
          <p:cNvSpPr/>
          <p:nvPr/>
        </p:nvSpPr>
        <p:spPr>
          <a:xfrm>
            <a:off x="381000" y="2441794"/>
            <a:ext cx="9144000" cy="2750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5256" indent="-95256"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buFont typeface="Wingdings" panose="05000000000000000000" pitchFamily="2" charset="2"/>
              <a:buChar char="§"/>
              <a:defRPr/>
            </a:pPr>
            <a:r>
              <a:rPr lang="ko-KR" altLang="en-US" sz="1300" b="1" kern="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알고리즘</a:t>
            </a:r>
            <a:endParaRPr lang="en-US" altLang="ko-KR" sz="1300" b="1" kern="0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특장차 </a:t>
            </a:r>
            <a:r>
              <a:rPr lang="ko-KR" altLang="en-US" sz="1300" kern="0" dirty="0" err="1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작업시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영역 지정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특장차 반경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10m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이내 영역을 위험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영역으로 지정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(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자율주행 대응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)</a:t>
            </a: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특장차 반경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10~20m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영역을 안전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영역으로 지정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특장차 반경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20~30m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영역을 판단 영역으로 지정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특장차 반경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20~30m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영역을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transient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영역으로 지정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특장차 반경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30~40m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영역을 판단 영역으로 지정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ea typeface="KoPub돋움체 Medium" panose="02020603020101020101" pitchFamily="18" charset="-127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ea typeface="KoPub돋움체 Medium" panose="02020603020101020101" pitchFamily="18" charset="-127"/>
                <a:cs typeface="Arial" panose="020B0604020202020204" pitchFamily="34" charset="0"/>
              </a:rPr>
              <a:t>판단 영역에 동적 장애물 </a:t>
            </a:r>
            <a:r>
              <a:rPr lang="ko-KR" altLang="en-US" sz="1300" kern="0" dirty="0" err="1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ea typeface="KoPub돋움체 Medium" panose="02020603020101020101" pitchFamily="18" charset="-127"/>
                <a:cs typeface="Arial" panose="020B0604020202020204" pitchFamily="34" charset="0"/>
              </a:rPr>
              <a:t>진입시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ea typeface="KoPub돋움체 Medium" panose="02020603020101020101" pitchFamily="18" charset="-127"/>
                <a:cs typeface="Arial" panose="020B0604020202020204" pitchFamily="34" charset="0"/>
              </a:rPr>
              <a:t> 예상 이동 경로가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ea typeface="KoPub돋움체 Medium" panose="02020603020101020101" pitchFamily="18" charset="-127"/>
                <a:cs typeface="Arial" panose="020B0604020202020204" pitchFamily="34" charset="0"/>
              </a:rPr>
              <a:t>transient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ea typeface="KoPub돋움체 Medium" panose="02020603020101020101" pitchFamily="18" charset="-127"/>
                <a:cs typeface="Arial" panose="020B0604020202020204" pitchFamily="34" charset="0"/>
              </a:rPr>
              <a:t>영역 </a:t>
            </a:r>
            <a:r>
              <a:rPr lang="ko-KR" altLang="en-US" sz="1300" kern="0" dirty="0" err="1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ea typeface="KoPub돋움체 Medium" panose="02020603020101020101" pitchFamily="18" charset="-127"/>
                <a:cs typeface="Arial" panose="020B0604020202020204" pitchFamily="34" charset="0"/>
              </a:rPr>
              <a:t>침범시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ea typeface="KoPub돋움체 Medium" panose="02020603020101020101" pitchFamily="18" charset="-127"/>
                <a:cs typeface="Arial" panose="020B0604020202020204" pitchFamily="34" charset="0"/>
              </a:rPr>
              <a:t> 작업 보조 차량이 경고 및 경로 방해</a:t>
            </a:r>
            <a:b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ea typeface="KoPub돋움체 Medium" panose="02020603020101020101" pitchFamily="18" charset="-127"/>
                <a:cs typeface="Arial" panose="020B0604020202020204" pitchFamily="34" charset="0"/>
              </a:rPr>
            </a:br>
            <a:endParaRPr lang="ko-KR" altLang="en-US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ea typeface="KoPub돋움체 Medium" panose="02020603020101020101" pitchFamily="18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255908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4</a:t>
            </a:r>
            <a:r>
              <a:rPr lang="ko-KR" altLang="en-US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작업 중</a:t>
            </a:r>
            <a:r>
              <a:rPr lang="en-US" altLang="ko-KR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, </a:t>
            </a:r>
            <a:r>
              <a:rPr lang="ko-KR" altLang="en-US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경로 주변 동적 장애물 통행 환경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F55F954-5E86-475A-837F-2B8CED6C7DF1}" type="slidenum">
              <a:rPr lang="ko-KR" altLang="en-US" smtClean="0"/>
              <a:pPr/>
              <a:t>52</a:t>
            </a:fld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2D131CB-7A99-42A7-8163-238BFCB7A9BD}"/>
              </a:ext>
            </a:extLst>
          </p:cNvPr>
          <p:cNvSpPr/>
          <p:nvPr/>
        </p:nvSpPr>
        <p:spPr>
          <a:xfrm>
            <a:off x="284495" y="950861"/>
            <a:ext cx="4344655" cy="11370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위험 영역</a:t>
            </a:r>
            <a:endParaRPr lang="en-US" altLang="ko-KR" sz="12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 err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붐대를</a:t>
            </a:r>
            <a:r>
              <a:rPr lang="ko-KR" altLang="en-US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 펼치 상용 특장차의 작업 반경으로 해당 영역내 동적 장애물 </a:t>
            </a:r>
            <a:r>
              <a:rPr lang="ko-KR" altLang="en-US" sz="1200" dirty="0" err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통행시</a:t>
            </a:r>
            <a:r>
              <a:rPr lang="ko-KR" altLang="en-US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 특장차의 자율주행으로 작업 중지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1402187-2CB6-40C4-89C9-832C59FEC236}"/>
              </a:ext>
            </a:extLst>
          </p:cNvPr>
          <p:cNvSpPr/>
          <p:nvPr/>
        </p:nvSpPr>
        <p:spPr>
          <a:xfrm>
            <a:off x="284495" y="2163875"/>
            <a:ext cx="3738865" cy="11370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안전 영역</a:t>
            </a:r>
            <a:endParaRPr lang="en-US" altLang="ko-KR" sz="12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특장차의 직접 대응으로 인한 작업 준비를 방지하기 위해 사전에 작업 보조차량이 동적 장애물이 접근하지 않도록 보호하는 영역</a:t>
            </a:r>
          </a:p>
          <a:p>
            <a:r>
              <a:rPr lang="en-US" altLang="ko-KR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   - </a:t>
            </a:r>
            <a:r>
              <a:rPr lang="ko-KR" altLang="en-US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특장차 반경 </a:t>
            </a:r>
            <a:r>
              <a:rPr lang="en-US" altLang="ko-KR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10~20m</a:t>
            </a:r>
            <a:r>
              <a:rPr lang="ko-KR" altLang="en-US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영역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B8D9820-4189-43CE-BFB0-00630AEB3119}"/>
              </a:ext>
            </a:extLst>
          </p:cNvPr>
          <p:cNvSpPr/>
          <p:nvPr/>
        </p:nvSpPr>
        <p:spPr>
          <a:xfrm>
            <a:off x="284495" y="3310602"/>
            <a:ext cx="3738865" cy="831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판단 영역</a:t>
            </a:r>
            <a:endParaRPr lang="en-US" altLang="ko-KR" sz="12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특장차 주변 동적 장애물이 </a:t>
            </a:r>
            <a:r>
              <a:rPr lang="ko-KR" altLang="en-US" sz="1200" dirty="0" err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안전영역에</a:t>
            </a:r>
            <a:r>
              <a:rPr lang="ko-KR" altLang="en-US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 침범할 가능성이 있는지 판단하는 범위</a:t>
            </a:r>
          </a:p>
          <a:p>
            <a:r>
              <a:rPr lang="en-US" altLang="ko-KR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   - </a:t>
            </a:r>
            <a:r>
              <a:rPr lang="ko-KR" altLang="en-US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특장차 반경 </a:t>
            </a:r>
            <a:r>
              <a:rPr lang="en-US" altLang="ko-KR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20~30m 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2559C73-A312-44C2-9BE3-AF62DF53D3B3}"/>
              </a:ext>
            </a:extLst>
          </p:cNvPr>
          <p:cNvSpPr/>
          <p:nvPr/>
        </p:nvSpPr>
        <p:spPr>
          <a:xfrm>
            <a:off x="284495" y="4284284"/>
            <a:ext cx="3738865" cy="831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위험 환경 판단</a:t>
            </a:r>
            <a:endParaRPr lang="en-US" altLang="ko-KR" sz="12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특장차 주변 판단 영역에 포함된 동적 장애물의 </a:t>
            </a:r>
            <a:r>
              <a:rPr lang="ko-KR" altLang="en-US" sz="1200" dirty="0" err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예상경로가</a:t>
            </a:r>
            <a:r>
              <a:rPr lang="ko-KR" altLang="en-US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 </a:t>
            </a:r>
            <a:r>
              <a:rPr lang="en-US" altLang="ko-KR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5</a:t>
            </a:r>
            <a:r>
              <a:rPr lang="ko-KR" altLang="en-US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초 이내로 안전 영역에 들어오는 경우</a:t>
            </a:r>
          </a:p>
          <a:p>
            <a:r>
              <a:rPr lang="en-US" altLang="ko-KR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     (</a:t>
            </a:r>
            <a:r>
              <a:rPr lang="ko-KR" altLang="en-US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장애물의 최대 속도에 따라 예상 시점 변경 가능</a:t>
            </a:r>
            <a:r>
              <a:rPr lang="en-US" altLang="ko-KR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A4C28F0-B489-475D-A1C6-28D67D551AE7}"/>
              </a:ext>
            </a:extLst>
          </p:cNvPr>
          <p:cNvSpPr/>
          <p:nvPr/>
        </p:nvSpPr>
        <p:spPr>
          <a:xfrm>
            <a:off x="284495" y="5191678"/>
            <a:ext cx="3738865" cy="672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위험 환경 </a:t>
            </a:r>
            <a:r>
              <a:rPr lang="ko-KR" altLang="en-US" sz="1200" dirty="0" err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판단시</a:t>
            </a:r>
            <a:r>
              <a:rPr lang="ko-KR" altLang="en-US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 장애물에 최 근접한 작업 보조 차량이 장애물의 예상 이동 경로에 사전 진입하여 장애물의 진입 저지</a:t>
            </a:r>
            <a:endParaRPr lang="en-US" altLang="ko-KR" sz="120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F944ACD8-CD05-CEC9-A217-D7DDFBC10474}"/>
              </a:ext>
            </a:extLst>
          </p:cNvPr>
          <p:cNvGrpSpPr/>
          <p:nvPr/>
        </p:nvGrpSpPr>
        <p:grpSpPr>
          <a:xfrm>
            <a:off x="4315114" y="1257681"/>
            <a:ext cx="5590886" cy="4649458"/>
            <a:chOff x="3518717" y="1287821"/>
            <a:chExt cx="5590886" cy="4649458"/>
          </a:xfrm>
        </p:grpSpPr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D24C99EA-8464-9469-E297-9E9EEF2BC0EF}"/>
                </a:ext>
              </a:extLst>
            </p:cNvPr>
            <p:cNvSpPr/>
            <p:nvPr/>
          </p:nvSpPr>
          <p:spPr>
            <a:xfrm>
              <a:off x="3518717" y="1287821"/>
              <a:ext cx="4841100" cy="4649458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D3C2CD07-E65E-D29A-B9D4-8B7CD4998236}"/>
                </a:ext>
              </a:extLst>
            </p:cNvPr>
            <p:cNvSpPr/>
            <p:nvPr/>
          </p:nvSpPr>
          <p:spPr>
            <a:xfrm>
              <a:off x="4191147" y="1902550"/>
              <a:ext cx="3494905" cy="34200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모서리가 둥근 직사각형 14">
              <a:extLst>
                <a:ext uri="{FF2B5EF4-FFF2-40B4-BE49-F238E27FC236}">
                  <a16:creationId xmlns:a16="http://schemas.microsoft.com/office/drawing/2014/main" id="{C02D6826-E81D-070C-4605-A943A74351FF}"/>
                </a:ext>
              </a:extLst>
            </p:cNvPr>
            <p:cNvSpPr/>
            <p:nvPr/>
          </p:nvSpPr>
          <p:spPr>
            <a:xfrm>
              <a:off x="7941318" y="3268139"/>
              <a:ext cx="715813" cy="608001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/>
                <a:t>동적</a:t>
              </a:r>
              <a:endParaRPr lang="en-US" altLang="ko-KR" sz="1200" dirty="0"/>
            </a:p>
            <a:p>
              <a:pPr algn="ctr"/>
              <a:r>
                <a:rPr lang="ko-KR" altLang="en-US" sz="1200" dirty="0"/>
                <a:t>장애물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63FCCCD-BEDC-CC6A-3635-2FCD93FC50D2}"/>
                </a:ext>
              </a:extLst>
            </p:cNvPr>
            <p:cNvSpPr txBox="1"/>
            <p:nvPr/>
          </p:nvSpPr>
          <p:spPr>
            <a:xfrm>
              <a:off x="4973683" y="1947758"/>
              <a:ext cx="171509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b="1" dirty="0">
                  <a:latin typeface="+mn-ea"/>
                </a:rPr>
                <a:t>안전 영역</a:t>
              </a:r>
              <a:endParaRPr lang="en-US" altLang="ko-KR" sz="1200" b="1" dirty="0">
                <a:latin typeface="+mn-ea"/>
              </a:endParaRPr>
            </a:p>
            <a:p>
              <a:pPr algn="ctr"/>
              <a:r>
                <a:rPr lang="ko-KR" altLang="en-US" sz="1200" dirty="0">
                  <a:latin typeface="+mn-ea"/>
                </a:rPr>
                <a:t>특장차 반경 </a:t>
              </a:r>
              <a:r>
                <a:rPr lang="en-US" altLang="ko-KR" sz="1200" dirty="0">
                  <a:latin typeface="+mn-ea"/>
                </a:rPr>
                <a:t>10~20m</a:t>
              </a:r>
              <a:endParaRPr lang="ko-KR" altLang="en-US" sz="1200" dirty="0">
                <a:latin typeface="+mn-ea"/>
              </a:endParaRPr>
            </a:p>
            <a:p>
              <a:pPr algn="ctr"/>
              <a:endParaRPr lang="ko-KR" altLang="en-US" sz="1200" b="1" dirty="0">
                <a:latin typeface="+mn-ea"/>
              </a:endParaRPr>
            </a:p>
          </p:txBody>
        </p:sp>
        <p:sp>
          <p:nvSpPr>
            <p:cNvPr id="34" name="왼쪽 화살표 25">
              <a:extLst>
                <a:ext uri="{FF2B5EF4-FFF2-40B4-BE49-F238E27FC236}">
                  <a16:creationId xmlns:a16="http://schemas.microsoft.com/office/drawing/2014/main" id="{1A53AE19-0DCF-1A0C-B52A-402EA27A7B0D}"/>
                </a:ext>
              </a:extLst>
            </p:cNvPr>
            <p:cNvSpPr/>
            <p:nvPr/>
          </p:nvSpPr>
          <p:spPr>
            <a:xfrm>
              <a:off x="7121815" y="3340742"/>
              <a:ext cx="810456" cy="503631"/>
            </a:xfrm>
            <a:prstGeom prst="leftArrow">
              <a:avLst/>
            </a:prstGeom>
            <a:gradFill flip="none" rotWithShape="1">
              <a:gsLst>
                <a:gs pos="0">
                  <a:srgbClr val="C00000">
                    <a:tint val="66000"/>
                    <a:satMod val="160000"/>
                  </a:srgbClr>
                </a:gs>
                <a:gs pos="50000">
                  <a:srgbClr val="C00000">
                    <a:tint val="44500"/>
                    <a:satMod val="160000"/>
                  </a:srgbClr>
                </a:gs>
                <a:gs pos="100000">
                  <a:srgbClr val="C00000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DECE6E3E-2547-9C74-CC99-827611D7261D}"/>
                </a:ext>
              </a:extLst>
            </p:cNvPr>
            <p:cNvSpPr txBox="1"/>
            <p:nvPr/>
          </p:nvSpPr>
          <p:spPr>
            <a:xfrm>
              <a:off x="7865297" y="2784513"/>
              <a:ext cx="12443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dirty="0">
                  <a:latin typeface="+mn-ea"/>
                </a:rPr>
                <a:t>안전 영역 침범 까지</a:t>
              </a:r>
              <a:r>
                <a:rPr lang="en-US" altLang="ko-KR" sz="1200" dirty="0">
                  <a:latin typeface="+mn-ea"/>
                </a:rPr>
                <a:t> &lt; 5s</a:t>
              </a: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0D5371B1-A024-D059-30CE-360C9D40AFD8}"/>
                </a:ext>
              </a:extLst>
            </p:cNvPr>
            <p:cNvSpPr/>
            <p:nvPr/>
          </p:nvSpPr>
          <p:spPr>
            <a:xfrm>
              <a:off x="4880073" y="2642002"/>
              <a:ext cx="1995056" cy="2024951"/>
            </a:xfrm>
            <a:prstGeom prst="ellipse">
              <a:avLst/>
            </a:prstGeom>
            <a:solidFill>
              <a:srgbClr val="FFD7D7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8" name="그룹 37">
              <a:extLst>
                <a:ext uri="{FF2B5EF4-FFF2-40B4-BE49-F238E27FC236}">
                  <a16:creationId xmlns:a16="http://schemas.microsoft.com/office/drawing/2014/main" id="{0D137489-63FE-A7B1-CB8E-E377C0951B54}"/>
                </a:ext>
              </a:extLst>
            </p:cNvPr>
            <p:cNvGrpSpPr/>
            <p:nvPr/>
          </p:nvGrpSpPr>
          <p:grpSpPr>
            <a:xfrm>
              <a:off x="4906378" y="2525898"/>
              <a:ext cx="1989829" cy="2173308"/>
              <a:chOff x="4234778" y="2962285"/>
              <a:chExt cx="1989829" cy="2173308"/>
            </a:xfrm>
          </p:grpSpPr>
          <p:sp>
            <p:nvSpPr>
              <p:cNvPr id="42" name="모서리가 둥근 직사각형 9">
                <a:extLst>
                  <a:ext uri="{FF2B5EF4-FFF2-40B4-BE49-F238E27FC236}">
                    <a16:creationId xmlns:a16="http://schemas.microsoft.com/office/drawing/2014/main" id="{BB219990-7048-3024-DB12-50C215BE73F6}"/>
                  </a:ext>
                </a:extLst>
              </p:cNvPr>
              <p:cNvSpPr/>
              <p:nvPr/>
            </p:nvSpPr>
            <p:spPr>
              <a:xfrm>
                <a:off x="4789745" y="3581287"/>
                <a:ext cx="879895" cy="935304"/>
              </a:xfrm>
              <a:prstGeom prst="roundRect">
                <a:avLst/>
              </a:prstGeom>
              <a:ln>
                <a:solidFill>
                  <a:schemeClr val="accent5"/>
                </a:solidFill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200" dirty="0" err="1"/>
                  <a:t>특장차량</a:t>
                </a:r>
                <a:endParaRPr lang="ko-KR" altLang="en-US" sz="1200" dirty="0"/>
              </a:p>
            </p:txBody>
          </p:sp>
          <p:sp>
            <p:nvSpPr>
              <p:cNvPr id="43" name="모서리가 둥근 직사각형 10">
                <a:extLst>
                  <a:ext uri="{FF2B5EF4-FFF2-40B4-BE49-F238E27FC236}">
                    <a16:creationId xmlns:a16="http://schemas.microsoft.com/office/drawing/2014/main" id="{4ECA2B96-835D-9348-682B-4221B30FF2EB}"/>
                  </a:ext>
                </a:extLst>
              </p:cNvPr>
              <p:cNvSpPr/>
              <p:nvPr/>
            </p:nvSpPr>
            <p:spPr>
              <a:xfrm>
                <a:off x="4234778" y="2962285"/>
                <a:ext cx="554967" cy="619002"/>
              </a:xfrm>
              <a:prstGeom prst="round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200" dirty="0" err="1"/>
                  <a:t>보조차량</a:t>
                </a:r>
                <a:endParaRPr lang="ko-KR" altLang="en-US" sz="1200" dirty="0"/>
              </a:p>
            </p:txBody>
          </p:sp>
          <p:sp>
            <p:nvSpPr>
              <p:cNvPr id="44" name="모서리가 둥근 직사각형 11">
                <a:extLst>
                  <a:ext uri="{FF2B5EF4-FFF2-40B4-BE49-F238E27FC236}">
                    <a16:creationId xmlns:a16="http://schemas.microsoft.com/office/drawing/2014/main" id="{3DEB6ED3-AFF9-B54F-F540-A9E9F02D7824}"/>
                  </a:ext>
                </a:extLst>
              </p:cNvPr>
              <p:cNvSpPr/>
              <p:nvPr/>
            </p:nvSpPr>
            <p:spPr>
              <a:xfrm>
                <a:off x="5669640" y="2962285"/>
                <a:ext cx="554967" cy="619002"/>
              </a:xfrm>
              <a:prstGeom prst="round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200" dirty="0" err="1"/>
                  <a:t>보조차량</a:t>
                </a:r>
                <a:endParaRPr lang="ko-KR" altLang="en-US" sz="1200" dirty="0"/>
              </a:p>
            </p:txBody>
          </p:sp>
          <p:sp>
            <p:nvSpPr>
              <p:cNvPr id="45" name="모서리가 둥근 직사각형 12">
                <a:extLst>
                  <a:ext uri="{FF2B5EF4-FFF2-40B4-BE49-F238E27FC236}">
                    <a16:creationId xmlns:a16="http://schemas.microsoft.com/office/drawing/2014/main" id="{EA294D26-78AA-4669-F6F2-7962BD334497}"/>
                  </a:ext>
                </a:extLst>
              </p:cNvPr>
              <p:cNvSpPr/>
              <p:nvPr/>
            </p:nvSpPr>
            <p:spPr>
              <a:xfrm>
                <a:off x="4234778" y="4516591"/>
                <a:ext cx="554967" cy="619002"/>
              </a:xfrm>
              <a:prstGeom prst="round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200" dirty="0" err="1"/>
                  <a:t>보조차량</a:t>
                </a:r>
                <a:endParaRPr lang="ko-KR" altLang="en-US" sz="1200" dirty="0"/>
              </a:p>
            </p:txBody>
          </p:sp>
          <p:sp>
            <p:nvSpPr>
              <p:cNvPr id="46" name="모서리가 둥근 직사각형 13">
                <a:extLst>
                  <a:ext uri="{FF2B5EF4-FFF2-40B4-BE49-F238E27FC236}">
                    <a16:creationId xmlns:a16="http://schemas.microsoft.com/office/drawing/2014/main" id="{2B965060-D4A5-89B4-5157-C8E36A593EC6}"/>
                  </a:ext>
                </a:extLst>
              </p:cNvPr>
              <p:cNvSpPr/>
              <p:nvPr/>
            </p:nvSpPr>
            <p:spPr>
              <a:xfrm>
                <a:off x="5669639" y="4516591"/>
                <a:ext cx="554967" cy="619002"/>
              </a:xfrm>
              <a:prstGeom prst="round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200" dirty="0" err="1"/>
                  <a:t>보조차량</a:t>
                </a:r>
                <a:endParaRPr lang="ko-KR" altLang="en-US" sz="1200" dirty="0"/>
              </a:p>
            </p:txBody>
          </p:sp>
        </p:grp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22CB8038-6C24-42FB-6C1A-D4F5CA598587}"/>
                </a:ext>
              </a:extLst>
            </p:cNvPr>
            <p:cNvSpPr txBox="1"/>
            <p:nvPr/>
          </p:nvSpPr>
          <p:spPr>
            <a:xfrm>
              <a:off x="4933508" y="1345059"/>
              <a:ext cx="192008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b="1" dirty="0">
                  <a:latin typeface="+mn-ea"/>
                </a:rPr>
                <a:t>판단 영역</a:t>
              </a:r>
              <a:endParaRPr lang="en-US" altLang="ko-KR" sz="1200" b="1" dirty="0">
                <a:latin typeface="+mn-ea"/>
              </a:endParaRPr>
            </a:p>
            <a:p>
              <a:pPr algn="ctr"/>
              <a:r>
                <a:rPr lang="ko-KR" altLang="en-US" sz="1200" dirty="0">
                  <a:latin typeface="+mn-ea"/>
                </a:rPr>
                <a:t>특장차 반경 </a:t>
              </a:r>
              <a:r>
                <a:rPr lang="en-US" altLang="ko-KR" sz="1200" dirty="0">
                  <a:latin typeface="+mn-ea"/>
                </a:rPr>
                <a:t>20~30m</a:t>
              </a:r>
              <a:endParaRPr lang="ko-KR" altLang="en-US" sz="1200" dirty="0">
                <a:latin typeface="+mn-ea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0A2F0985-58AC-FEE3-0B7B-A3C134C04226}"/>
                </a:ext>
              </a:extLst>
            </p:cNvPr>
            <p:cNvSpPr txBox="1"/>
            <p:nvPr/>
          </p:nvSpPr>
          <p:spPr>
            <a:xfrm>
              <a:off x="5417372" y="2689027"/>
              <a:ext cx="8988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b="1" dirty="0">
                  <a:latin typeface="+mn-ea"/>
                </a:rPr>
                <a:t>위험 영역</a:t>
              </a:r>
              <a:endParaRPr lang="en-US" altLang="ko-KR" sz="1200" b="1" dirty="0">
                <a:latin typeface="+mn-ea"/>
              </a:endParaRPr>
            </a:p>
            <a:p>
              <a:pPr algn="ctr"/>
              <a:r>
                <a:rPr lang="en-US" altLang="ko-KR" sz="1200" dirty="0">
                  <a:latin typeface="+mn-ea"/>
                </a:rPr>
                <a:t>&lt;10m</a:t>
              </a:r>
              <a:endParaRPr lang="ko-KR" altLang="en-US" sz="1200" dirty="0">
                <a:latin typeface="+mn-ea"/>
              </a:endParaRPr>
            </a:p>
          </p:txBody>
        </p:sp>
      </p:grp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80D674EE-7C84-FDEB-4011-619B5342557A}"/>
              </a:ext>
            </a:extLst>
          </p:cNvPr>
          <p:cNvCxnSpPr>
            <a:cxnSpLocks/>
          </p:cNvCxnSpPr>
          <p:nvPr/>
        </p:nvCxnSpPr>
        <p:spPr>
          <a:xfrm flipV="1">
            <a:off x="7711285" y="3941826"/>
            <a:ext cx="1017383" cy="438926"/>
          </a:xfrm>
          <a:prstGeom prst="straightConnector1">
            <a:avLst/>
          </a:prstGeom>
          <a:ln>
            <a:solidFill>
              <a:srgbClr val="8FAAD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D23A827B-F375-5FC2-1694-994F8966BE0F}"/>
              </a:ext>
            </a:extLst>
          </p:cNvPr>
          <p:cNvSpPr txBox="1"/>
          <p:nvPr/>
        </p:nvSpPr>
        <p:spPr>
          <a:xfrm>
            <a:off x="7790284" y="4189724"/>
            <a:ext cx="14174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latin typeface="+mn-ea"/>
              </a:rPr>
              <a:t>사전 진입</a:t>
            </a:r>
            <a:endParaRPr lang="en-US" altLang="ko-KR" sz="1200" dirty="0">
              <a:latin typeface="+mn-ea"/>
            </a:endParaRPr>
          </a:p>
          <a:p>
            <a:pPr algn="ctr"/>
            <a:r>
              <a:rPr lang="ko-KR" altLang="en-US" sz="1200" dirty="0">
                <a:latin typeface="+mn-ea"/>
              </a:rPr>
              <a:t>장애물 진입 저지</a:t>
            </a:r>
            <a:endParaRPr lang="en-US" altLang="ko-KR" sz="12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4199235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제목 1">
            <a:extLst>
              <a:ext uri="{FF2B5EF4-FFF2-40B4-BE49-F238E27FC236}">
                <a16:creationId xmlns:a16="http://schemas.microsoft.com/office/drawing/2014/main" id="{3D21F190-6458-4909-81BE-C8E1C83CA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4</a:t>
            </a:r>
            <a:r>
              <a:rPr lang="ko-KR" altLang="en-US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작업 중</a:t>
            </a:r>
            <a:r>
              <a:rPr lang="en-US" altLang="ko-KR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, </a:t>
            </a:r>
            <a:r>
              <a:rPr lang="ko-KR" altLang="en-US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경로 주변 동적 장애물 통행 환경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F55F954-5E86-475A-837F-2B8CED6C7DF1}" type="slidenum">
              <a:rPr lang="ko-KR" altLang="en-US" smtClean="0"/>
              <a:pPr/>
              <a:t>53</a:t>
            </a:fld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F01BFF6-4385-473C-B7F4-49A565530A0E}"/>
              </a:ext>
            </a:extLst>
          </p:cNvPr>
          <p:cNvSpPr/>
          <p:nvPr/>
        </p:nvSpPr>
        <p:spPr>
          <a:xfrm>
            <a:off x="381000" y="873125"/>
            <a:ext cx="9144000" cy="94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5256" indent="-95256"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buFont typeface="Wingdings" panose="05000000000000000000" pitchFamily="2" charset="2"/>
              <a:buChar char="§"/>
              <a:defRPr/>
            </a:pPr>
            <a:r>
              <a:rPr lang="ko-KR" altLang="en-US" sz="1300" b="1" kern="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동적 객체 데이터 입력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데이터 시점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: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최신 시각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t(T_L3fusion)</a:t>
            </a: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L3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데이터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: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이동 장애물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vector (L3obstacle(L), L=0~255)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직사각형 26">
                <a:extLst>
                  <a:ext uri="{FF2B5EF4-FFF2-40B4-BE49-F238E27FC236}">
                    <a16:creationId xmlns:a16="http://schemas.microsoft.com/office/drawing/2014/main" id="{0DFE4DAE-15BB-4449-BA90-3634750FFC0D}"/>
                  </a:ext>
                </a:extLst>
              </p:cNvPr>
              <p:cNvSpPr/>
              <p:nvPr/>
            </p:nvSpPr>
            <p:spPr>
              <a:xfrm>
                <a:off x="381000" y="1899058"/>
                <a:ext cx="9144000" cy="23619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120000"/>
                  <a:buFont typeface="+mj-ea"/>
                  <a:buAutoNum type="circleNumDbPlain"/>
                  <a:defRPr/>
                </a:pPr>
                <a:r>
                  <a:rPr lang="ko-KR" altLang="en-US" sz="1300" b="1" kern="0" dirty="0">
                    <a:ln>
                      <a:solidFill>
                        <a:schemeClr val="tx1">
                          <a:alpha val="30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판단영역 및 안전영역 내 동적 객체 추출</a:t>
                </a:r>
                <a:endParaRPr lang="en-US" altLang="ko-KR" sz="1300" b="1" kern="0" dirty="0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120000"/>
                  <a:defRPr/>
                </a:pP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  -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데이터 시점 </a:t>
                </a: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: t(T_L3fusion)</a:t>
                </a: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90000"/>
                  <a:defRPr/>
                </a:pP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-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정지상태 이동 객체와 특장차 사이 거리 추정</a:t>
                </a:r>
                <a:endParaRPr lang="en-US" altLang="ko-KR" sz="130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90000"/>
                  <a:defRPr/>
                </a:pP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𝐷</m:t>
                        </m:r>
                      </m:e>
                      <m:sub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𝑒𝑔𝑜</m:t>
                        </m:r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_</m:t>
                        </m:r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𝑜𝑏𝑠</m:t>
                        </m:r>
                      </m:sub>
                    </m:sSub>
                    <m:r>
                      <a:rPr lang="en-US" altLang="ko-KR" sz="1300" i="1" ker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⃗"/>
                                    <m:ctrlPr>
                                      <a:rPr lang="en-US" altLang="ko-KR" sz="1300" i="1" kern="0">
                                        <a:ln>
                                          <a:solidFill>
                                            <a:schemeClr val="tx1">
                                              <a:alpha val="5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altLang="ko-KR" sz="1300" i="1" kern="0">
                                            <a:ln>
                                              <a:solidFill>
                                                <a:schemeClr val="tx1">
                                                  <a:alpha val="5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300" i="1" kern="0">
                                            <a:ln>
                                              <a:solidFill>
                                                <a:schemeClr val="tx1">
                                                  <a:alpha val="5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𝑃</m:t>
                                        </m:r>
                                      </m:e>
                                      <m:sub>
                                        <m:r>
                                          <a:rPr lang="en-US" altLang="ko-KR" sz="1300" i="1" kern="0">
                                            <a:ln>
                                              <a:solidFill>
                                                <a:schemeClr val="tx1">
                                                  <a:alpha val="5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𝑒𝑔𝑜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⃗"/>
                                    <m:ctrlPr>
                                      <a:rPr lang="en-US" altLang="ko-KR" sz="1300" i="1" kern="0">
                                        <a:ln>
                                          <a:solidFill>
                                            <a:schemeClr val="tx1">
                                              <a:alpha val="5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altLang="ko-KR" sz="1300" i="1" kern="0">
                                            <a:ln>
                                              <a:solidFill>
                                                <a:schemeClr val="tx1">
                                                  <a:alpha val="5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300" i="1" kern="0">
                                            <a:ln>
                                              <a:solidFill>
                                                <a:schemeClr val="tx1">
                                                  <a:alpha val="5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𝑃</m:t>
                                        </m:r>
                                      </m:e>
                                      <m:sub>
                                        <m:r>
                                          <a:rPr lang="en-US" altLang="ko-KR" sz="1300" i="1" kern="0">
                                            <a:ln>
                                              <a:solidFill>
                                                <a:schemeClr val="tx1">
                                                  <a:alpha val="5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𝑜𝑏𝑠</m:t>
                                        </m:r>
                                      </m:sub>
                                    </m:sSub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b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</a:b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     </a:t>
                </a:r>
                <a14:m>
                  <m:oMath xmlns:m="http://schemas.openxmlformats.org/officeDocument/2006/math"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20&lt;</m:t>
                    </m:r>
                    <m:sSub>
                      <m:sSubPr>
                        <m:ctrlP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𝐷</m:t>
                        </m:r>
                      </m:e>
                      <m:sub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𝑒𝑔𝑜</m:t>
                        </m:r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_</m:t>
                        </m:r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𝑜𝑏𝑠</m:t>
                        </m:r>
                      </m:sub>
                    </m:sSub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&lt;40</m:t>
                    </m:r>
                  </m:oMath>
                </a14:m>
                <a:b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</a:b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- Bit operation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기반 정지상태 이동객체 </a:t>
                </a: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indexing</a:t>
                </a:r>
                <a:b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</a:b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   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영역 내 동적 객체 </a:t>
                </a: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=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동적 객체</a:t>
                </a: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2</m:t>
                    </m:r>
                    <m:r>
                      <a:rPr lang="en-US" altLang="ko-KR" sz="1300" i="1" ker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0&lt;</m:t>
                    </m:r>
                    <m:sSub>
                      <m:sSubPr>
                        <m:ctrlP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𝐷</m:t>
                        </m:r>
                      </m:e>
                      <m:sub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𝑒𝑔𝑜</m:t>
                        </m:r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_</m:t>
                        </m:r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𝑜𝑏𝑠</m:t>
                        </m:r>
                      </m:sub>
                    </m:sSub>
                    <m:r>
                      <a:rPr lang="en-US" altLang="ko-KR" sz="1300" i="1" ker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&lt;</m:t>
                    </m:r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4</m:t>
                    </m:r>
                    <m:r>
                      <a:rPr lang="en-US" altLang="ko-KR" sz="1300" i="1" ker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0</m:t>
                    </m:r>
                  </m:oMath>
                </a14:m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7" name="직사각형 26">
                <a:extLst>
                  <a:ext uri="{FF2B5EF4-FFF2-40B4-BE49-F238E27FC236}">
                    <a16:creationId xmlns:a16="http://schemas.microsoft.com/office/drawing/2014/main" id="{0DFE4DAE-15BB-4449-BA90-3634750FFC0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1899058"/>
                <a:ext cx="9144000" cy="236199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직사각형 33">
            <a:extLst>
              <a:ext uri="{FF2B5EF4-FFF2-40B4-BE49-F238E27FC236}">
                <a16:creationId xmlns:a16="http://schemas.microsoft.com/office/drawing/2014/main" id="{6DC23A77-919F-4687-B892-E42AB0C5403D}"/>
              </a:ext>
            </a:extLst>
          </p:cNvPr>
          <p:cNvSpPr/>
          <p:nvPr/>
        </p:nvSpPr>
        <p:spPr>
          <a:xfrm>
            <a:off x="6536413" y="1956038"/>
            <a:ext cx="2762795" cy="234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동적</a:t>
            </a:r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객체 데이터 입력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4916E606-2269-4D74-93B8-3936BBE00E1A}"/>
              </a:ext>
            </a:extLst>
          </p:cNvPr>
          <p:cNvSpPr/>
          <p:nvPr/>
        </p:nvSpPr>
        <p:spPr>
          <a:xfrm>
            <a:off x="6891649" y="2484136"/>
            <a:ext cx="1980000" cy="234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20~40 m </a:t>
            </a:r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거리 이내 동적객체 추출</a:t>
            </a:r>
          </a:p>
        </p:txBody>
      </p: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EEF7C537-15DD-48F6-B347-5D5970B860CC}"/>
              </a:ext>
            </a:extLst>
          </p:cNvPr>
          <p:cNvCxnSpPr>
            <a:cxnSpLocks/>
          </p:cNvCxnSpPr>
          <p:nvPr/>
        </p:nvCxnSpPr>
        <p:spPr>
          <a:xfrm>
            <a:off x="7881649" y="2211815"/>
            <a:ext cx="0" cy="27232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타원 38">
            <a:extLst>
              <a:ext uri="{FF2B5EF4-FFF2-40B4-BE49-F238E27FC236}">
                <a16:creationId xmlns:a16="http://schemas.microsoft.com/office/drawing/2014/main" id="{0D33D36F-BA89-406B-BDAD-DDECBEDF9BC7}"/>
              </a:ext>
            </a:extLst>
          </p:cNvPr>
          <p:cNvSpPr/>
          <p:nvPr/>
        </p:nvSpPr>
        <p:spPr>
          <a:xfrm>
            <a:off x="6531791" y="2516600"/>
            <a:ext cx="252000" cy="252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rPr>
              <a:t>1</a:t>
            </a:r>
            <a:endParaRPr lang="ko-KR" altLang="en-US" sz="9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Arial" panose="020B0604020202020204" pitchFamily="34" charset="0"/>
              <a:ea typeface="KoPub돋움체 Bold" panose="02020603020101020101" pitchFamily="18" charset="-127"/>
              <a:cs typeface="Arial" panose="020B0604020202020204" pitchFamily="34" charset="0"/>
            </a:endParaRPr>
          </a:p>
        </p:txBody>
      </p:sp>
      <p:sp>
        <p:nvSpPr>
          <p:cNvPr id="40" name="순서도: 판단 39">
            <a:extLst>
              <a:ext uri="{FF2B5EF4-FFF2-40B4-BE49-F238E27FC236}">
                <a16:creationId xmlns:a16="http://schemas.microsoft.com/office/drawing/2014/main" id="{94D0B3E8-C812-4BA5-B4F3-371B35A04896}"/>
              </a:ext>
            </a:extLst>
          </p:cNvPr>
          <p:cNvSpPr/>
          <p:nvPr/>
        </p:nvSpPr>
        <p:spPr>
          <a:xfrm>
            <a:off x="7225891" y="3579201"/>
            <a:ext cx="1260930" cy="468000"/>
          </a:xfrm>
          <a:prstGeom prst="flowChartDecision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안전영역 진입</a:t>
            </a:r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?</a:t>
            </a:r>
            <a:endParaRPr lang="ko-KR" altLang="en-US" sz="105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49EAB7B4-C7F7-42BF-BF35-5DFE0EDF2957}"/>
              </a:ext>
            </a:extLst>
          </p:cNvPr>
          <p:cNvSpPr/>
          <p:nvPr/>
        </p:nvSpPr>
        <p:spPr>
          <a:xfrm>
            <a:off x="7247586" y="3179257"/>
            <a:ext cx="1217541" cy="234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5</a:t>
            </a:r>
            <a:r>
              <a:rPr lang="ko-KR" altLang="en-US" sz="1050" dirty="0" err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초후</a:t>
            </a:r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까지 경로</a:t>
            </a: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A0107FDD-9338-4079-AE0B-9978AE1F48FB}"/>
              </a:ext>
            </a:extLst>
          </p:cNvPr>
          <p:cNvCxnSpPr>
            <a:cxnSpLocks/>
            <a:stCxn id="40" idx="2"/>
          </p:cNvCxnSpPr>
          <p:nvPr/>
        </p:nvCxnSpPr>
        <p:spPr>
          <a:xfrm>
            <a:off x="7856356" y="4047201"/>
            <a:ext cx="2893" cy="17746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F9567544-182A-4307-BC1B-B9FA7E248881}"/>
              </a:ext>
            </a:extLst>
          </p:cNvPr>
          <p:cNvCxnSpPr>
            <a:cxnSpLocks/>
          </p:cNvCxnSpPr>
          <p:nvPr/>
        </p:nvCxnSpPr>
        <p:spPr>
          <a:xfrm>
            <a:off x="7856356" y="3423687"/>
            <a:ext cx="2893" cy="17746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FBAC3A6C-1107-40B4-9EE8-CD81BA401D62}"/>
              </a:ext>
            </a:extLst>
          </p:cNvPr>
          <p:cNvCxnSpPr>
            <a:cxnSpLocks/>
            <a:endCxn id="42" idx="0"/>
          </p:cNvCxnSpPr>
          <p:nvPr/>
        </p:nvCxnSpPr>
        <p:spPr>
          <a:xfrm>
            <a:off x="7856356" y="2710055"/>
            <a:ext cx="1" cy="46920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76621F1C-567A-4952-9AC2-3DDCA0EC8C57}"/>
              </a:ext>
            </a:extLst>
          </p:cNvPr>
          <p:cNvSpPr/>
          <p:nvPr/>
        </p:nvSpPr>
        <p:spPr>
          <a:xfrm>
            <a:off x="6904349" y="4228946"/>
            <a:ext cx="1980000" cy="234000"/>
          </a:xfrm>
          <a:prstGeom prst="rect">
            <a:avLst/>
          </a:prstGeom>
          <a:solidFill>
            <a:schemeClr val="bg1"/>
          </a:solidFill>
          <a:ln w="19050">
            <a:solidFill>
              <a:srgbClr val="007A00"/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Confidence</a:t>
            </a:r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value </a:t>
            </a:r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출력</a:t>
            </a:r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F0CD1FBC-459E-4E14-805D-5AFCAF250A37}"/>
              </a:ext>
            </a:extLst>
          </p:cNvPr>
          <p:cNvSpPr/>
          <p:nvPr/>
        </p:nvSpPr>
        <p:spPr>
          <a:xfrm>
            <a:off x="6531791" y="4210946"/>
            <a:ext cx="252000" cy="252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rPr>
              <a:t>3</a:t>
            </a:r>
            <a:endParaRPr lang="ko-KR" altLang="en-US" sz="9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Arial" panose="020B0604020202020204" pitchFamily="34" charset="0"/>
              <a:ea typeface="KoPub돋움체 Bold" panose="02020603020101020101" pitchFamily="18" charset="-127"/>
              <a:cs typeface="Arial" panose="020B0604020202020204" pitchFamily="34" charset="0"/>
            </a:endParaRPr>
          </a:p>
        </p:txBody>
      </p:sp>
      <p:sp>
        <p:nvSpPr>
          <p:cNvPr id="53" name="타원 52">
            <a:extLst>
              <a:ext uri="{FF2B5EF4-FFF2-40B4-BE49-F238E27FC236}">
                <a16:creationId xmlns:a16="http://schemas.microsoft.com/office/drawing/2014/main" id="{7754A954-45E8-44ED-8637-926DBE9CB756}"/>
              </a:ext>
            </a:extLst>
          </p:cNvPr>
          <p:cNvSpPr/>
          <p:nvPr/>
        </p:nvSpPr>
        <p:spPr>
          <a:xfrm>
            <a:off x="6531791" y="3434804"/>
            <a:ext cx="252000" cy="252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rPr>
              <a:t>2</a:t>
            </a:r>
            <a:endParaRPr lang="ko-KR" altLang="en-US" sz="9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Arial" panose="020B0604020202020204" pitchFamily="34" charset="0"/>
              <a:ea typeface="KoPub돋움체 Bold" panose="02020603020101020101" pitchFamily="18" charset="-127"/>
              <a:cs typeface="Arial" panose="020B0604020202020204" pitchFamily="34" charset="0"/>
            </a:endParaRPr>
          </a:p>
        </p:txBody>
      </p:sp>
      <p:sp>
        <p:nvSpPr>
          <p:cNvPr id="54" name="왼쪽 중괄호 53">
            <a:extLst>
              <a:ext uri="{FF2B5EF4-FFF2-40B4-BE49-F238E27FC236}">
                <a16:creationId xmlns:a16="http://schemas.microsoft.com/office/drawing/2014/main" id="{D672255E-9F8F-49DA-9487-F7DCDF440DC5}"/>
              </a:ext>
            </a:extLst>
          </p:cNvPr>
          <p:cNvSpPr/>
          <p:nvPr/>
        </p:nvSpPr>
        <p:spPr>
          <a:xfrm>
            <a:off x="6873001" y="3256701"/>
            <a:ext cx="81119" cy="608205"/>
          </a:xfrm>
          <a:prstGeom prst="leftBrace">
            <a:avLst>
              <a:gd name="adj1" fmla="val 250081"/>
              <a:gd name="adj2" fmla="val 50928"/>
            </a:avLst>
          </a:prstGeom>
          <a:ln w="190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979054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제목 1">
            <a:extLst>
              <a:ext uri="{FF2B5EF4-FFF2-40B4-BE49-F238E27FC236}">
                <a16:creationId xmlns:a16="http://schemas.microsoft.com/office/drawing/2014/main" id="{51E7DFAA-0FE8-4690-A53D-8FAB7E862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4</a:t>
            </a:r>
            <a:r>
              <a:rPr lang="ko-KR" altLang="en-US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작업 중</a:t>
            </a:r>
            <a:r>
              <a:rPr lang="en-US" altLang="ko-KR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, </a:t>
            </a:r>
            <a:r>
              <a:rPr lang="ko-KR" altLang="en-US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경로 주변 동적 장애물 통행 환경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F55F954-5E86-475A-837F-2B8CED6C7DF1}" type="slidenum">
              <a:rPr lang="ko-KR" altLang="en-US" smtClean="0"/>
              <a:pPr/>
              <a:t>54</a:t>
            </a:fld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421D542-7002-4AB8-A246-CFB33BF45578}"/>
              </a:ext>
            </a:extLst>
          </p:cNvPr>
          <p:cNvSpPr/>
          <p:nvPr/>
        </p:nvSpPr>
        <p:spPr>
          <a:xfrm>
            <a:off x="6536413" y="1956038"/>
            <a:ext cx="2762795" cy="234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동적</a:t>
            </a:r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객체 데이터 입력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1309268-7695-4521-8292-7A62FFA2E1BA}"/>
              </a:ext>
            </a:extLst>
          </p:cNvPr>
          <p:cNvSpPr/>
          <p:nvPr/>
        </p:nvSpPr>
        <p:spPr>
          <a:xfrm>
            <a:off x="6891649" y="2484136"/>
            <a:ext cx="1980000" cy="234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20~40 m </a:t>
            </a:r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거리 이내 동적객체 추출</a:t>
            </a: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7F7B2FEA-460C-497B-8F3D-0BF218A5559D}"/>
              </a:ext>
            </a:extLst>
          </p:cNvPr>
          <p:cNvCxnSpPr>
            <a:cxnSpLocks/>
          </p:cNvCxnSpPr>
          <p:nvPr/>
        </p:nvCxnSpPr>
        <p:spPr>
          <a:xfrm>
            <a:off x="7881649" y="2211815"/>
            <a:ext cx="0" cy="27232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타원 25">
            <a:extLst>
              <a:ext uri="{FF2B5EF4-FFF2-40B4-BE49-F238E27FC236}">
                <a16:creationId xmlns:a16="http://schemas.microsoft.com/office/drawing/2014/main" id="{2FE53212-B0E7-48C3-AB3C-A6A5B595AF10}"/>
              </a:ext>
            </a:extLst>
          </p:cNvPr>
          <p:cNvSpPr/>
          <p:nvPr/>
        </p:nvSpPr>
        <p:spPr>
          <a:xfrm>
            <a:off x="6531791" y="2516600"/>
            <a:ext cx="252000" cy="252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rPr>
              <a:t>1</a:t>
            </a:r>
            <a:endParaRPr lang="ko-KR" altLang="en-US" sz="9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Arial" panose="020B0604020202020204" pitchFamily="34" charset="0"/>
              <a:ea typeface="KoPub돋움체 Bold" panose="02020603020101020101" pitchFamily="18" charset="-127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직사각형 26">
                <a:extLst>
                  <a:ext uri="{FF2B5EF4-FFF2-40B4-BE49-F238E27FC236}">
                    <a16:creationId xmlns:a16="http://schemas.microsoft.com/office/drawing/2014/main" id="{0DFE4DAE-15BB-4449-BA90-3634750FFC0D}"/>
                  </a:ext>
                </a:extLst>
              </p:cNvPr>
              <p:cNvSpPr/>
              <p:nvPr/>
            </p:nvSpPr>
            <p:spPr>
              <a:xfrm>
                <a:off x="381000" y="807450"/>
                <a:ext cx="9144000" cy="29676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120000"/>
                  <a:buFont typeface="+mj-ea"/>
                  <a:buAutoNum type="circleNumDbPlain" startAt="2"/>
                  <a:defRPr/>
                </a:pPr>
                <a:r>
                  <a:rPr lang="ko-KR" altLang="en-US" sz="1300" b="1" kern="0" dirty="0">
                    <a:ln>
                      <a:solidFill>
                        <a:schemeClr val="tx1">
                          <a:alpha val="30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안전 영역 침범 판정</a:t>
                </a:r>
                <a:endParaRPr lang="en-US" altLang="ko-KR" sz="1300" b="1" kern="0" dirty="0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120000"/>
                  <a:defRPr/>
                </a:pP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-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데이터 시점 </a:t>
                </a: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: t(T_L3fusion) to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</a:t>
                </a: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t +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</a:t>
                </a: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5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초</a:t>
                </a:r>
                <a:endParaRPr lang="en-US" altLang="ko-KR" sz="130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90000"/>
                  <a:defRPr/>
                </a:pP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-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특장차 및 장애물의 </a:t>
                </a: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500ms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단위 위치 추정</a:t>
                </a: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(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특장차는 정지 상태 추정</a:t>
                </a: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)</a:t>
                </a:r>
                <a:b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</a:b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   * Linear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</a:t>
                </a: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approximation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</a:t>
                </a:r>
                <a:endParaRPr lang="en-US" altLang="ko-KR" sz="130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90000"/>
                  <a:defRPr/>
                </a:pP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𝑜𝑏𝑠</m:t>
                        </m:r>
                      </m:sub>
                    </m:sSub>
                    <m:d>
                      <m:dPr>
                        <m:ctrlP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+0.5</m:t>
                        </m:r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𝑘</m:t>
                        </m:r>
                      </m:e>
                    </m:d>
                    <m:r>
                      <a:rPr lang="en-US" altLang="ko-KR" sz="1300" i="1" ker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sSub>
                      <m:sSubPr>
                        <m:ctrlP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𝑜𝑏𝑠</m:t>
                        </m:r>
                      </m:sub>
                    </m:sSub>
                    <m:d>
                      <m:dPr>
                        <m:ctrlP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e>
                    </m:d>
                    <m:r>
                      <a:rPr lang="en-US" altLang="ko-KR" sz="1300" i="1" ker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sSub>
                      <m:sSubPr>
                        <m:ctrlP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𝑣</m:t>
                        </m:r>
                      </m:e>
                      <m:sub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𝑒𝑔𝑜</m:t>
                        </m:r>
                      </m:sub>
                    </m:sSub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)∗0.5</m:t>
                    </m:r>
                    <m:r>
                      <a:rPr lang="en-US" altLang="ko-KR" sz="1300" i="1" ker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𝑘</m:t>
                    </m:r>
                  </m:oMath>
                </a14:m>
                <a:b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</a:b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     </a:t>
                </a:r>
                <a14:m>
                  <m:oMath xmlns:m="http://schemas.openxmlformats.org/officeDocument/2006/math">
                    <m:r>
                      <a:rPr lang="en-US" altLang="ko-KR" sz="1300" b="0" i="0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0</m:t>
                    </m:r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&lt;</m:t>
                    </m:r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𝑘</m:t>
                    </m:r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&lt;10</m:t>
                    </m:r>
                  </m:oMath>
                </a14:m>
                <a:b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</a:b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-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안전 영역 침범 여부 비교</a:t>
                </a:r>
                <a:b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</a:b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    for k = 0 : 10</a:t>
                </a:r>
                <a:b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</a:b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300" b="0" i="1" kern="0" dirty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300" kern="0" dirty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D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300" b="0" i="0" kern="0" dirty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obs</m:t>
                        </m:r>
                        <m:r>
                          <a:rPr lang="en-US" altLang="ko-KR" sz="1300" b="0" i="0" kern="0" dirty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_</m:t>
                        </m:r>
                        <m:r>
                          <m:rPr>
                            <m:sty m:val="p"/>
                          </m:rPr>
                          <a:rPr lang="en-US" altLang="ko-KR" sz="1300" b="0" i="0" kern="0" dirty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ego</m:t>
                        </m:r>
                      </m:sub>
                    </m:sSub>
                    <m:r>
                      <a:rPr lang="en-US" altLang="ko-KR" sz="1300" b="0" i="0" kern="0" dirty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ko-KR" sz="1300" b="0" i="0" kern="0" dirty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k</m:t>
                    </m:r>
                    <m:r>
                      <a:rPr lang="en-US" altLang="ko-KR" sz="1300" b="0" i="0" kern="0" dirty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)=</m:t>
                    </m:r>
                    <m:d>
                      <m:dPr>
                        <m:begChr m:val="|"/>
                        <m:endChr m:val="|"/>
                        <m:ctrlPr>
                          <a:rPr lang="en-US" altLang="ko-KR" sz="130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𝑒𝑔𝑜</m:t>
                            </m:r>
                          </m:sub>
                        </m:sSub>
                        <m:r>
                          <a:rPr lang="en-US" altLang="ko-KR" sz="1300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 </m:t>
                        </m:r>
                        <m:sSub>
                          <m:sSubPr>
                            <m:ctrlP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𝑜𝑏𝑠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𝑡</m:t>
                            </m:r>
                            <m: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+0.5</m:t>
                            </m:r>
                            <m: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𝑘</m:t>
                            </m:r>
                          </m:e>
                        </m:d>
                      </m:e>
                    </m:d>
                  </m:oMath>
                </a14:m>
                <a:endParaRPr lang="en-US" altLang="ko-KR" sz="130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90000"/>
                  <a:defRPr/>
                </a:pP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300" i="1" kern="0" dirty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300" kern="0" dirty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D</m:t>
                        </m:r>
                      </m:e>
                      <m:sub>
                        <m:r>
                          <a:rPr lang="en-US" altLang="ko-KR" sz="1300" b="0" i="1" kern="0" dirty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𝑒𝑔𝑜</m:t>
                        </m:r>
                        <m:r>
                          <a:rPr lang="en-US" altLang="ko-KR" sz="1300" b="0" i="1" kern="0" dirty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_</m:t>
                        </m:r>
                        <m:r>
                          <a:rPr lang="en-US" altLang="ko-KR" sz="1300" b="0" i="1" kern="0" dirty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𝑜𝑏𝑠</m:t>
                        </m:r>
                      </m:sub>
                    </m:sSub>
                    <m:r>
                      <a:rPr lang="en-US" altLang="ko-KR" sz="1300" b="0" i="1" kern="0" dirty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altLang="ko-KR" sz="1300" b="0" i="1" kern="0" dirty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𝑘</m:t>
                    </m:r>
                    <m:r>
                      <a:rPr lang="en-US" altLang="ko-KR" sz="1300" b="0" i="1" kern="0" dirty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&lt; 40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인 경우 안전 영역 침범</a:t>
                </a:r>
                <a:endParaRPr lang="en-US" altLang="ko-KR" sz="130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7" name="직사각형 26">
                <a:extLst>
                  <a:ext uri="{FF2B5EF4-FFF2-40B4-BE49-F238E27FC236}">
                    <a16:creationId xmlns:a16="http://schemas.microsoft.com/office/drawing/2014/main" id="{0DFE4DAE-15BB-4449-BA90-3634750FFC0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807450"/>
                <a:ext cx="9144000" cy="296760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순서도: 판단 36">
            <a:extLst>
              <a:ext uri="{FF2B5EF4-FFF2-40B4-BE49-F238E27FC236}">
                <a16:creationId xmlns:a16="http://schemas.microsoft.com/office/drawing/2014/main" id="{8C8385EA-FC8C-43C1-B4E6-AA0B42DF0376}"/>
              </a:ext>
            </a:extLst>
          </p:cNvPr>
          <p:cNvSpPr/>
          <p:nvPr/>
        </p:nvSpPr>
        <p:spPr>
          <a:xfrm>
            <a:off x="7225891" y="3579201"/>
            <a:ext cx="1260930" cy="468000"/>
          </a:xfrm>
          <a:prstGeom prst="flowChartDecision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안전영역 진입</a:t>
            </a:r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?</a:t>
            </a:r>
            <a:endParaRPr lang="ko-KR" altLang="en-US" sz="105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D689C5E9-AC06-45C8-B045-5FA786395860}"/>
              </a:ext>
            </a:extLst>
          </p:cNvPr>
          <p:cNvSpPr/>
          <p:nvPr/>
        </p:nvSpPr>
        <p:spPr>
          <a:xfrm>
            <a:off x="7247586" y="3179257"/>
            <a:ext cx="1217541" cy="234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5</a:t>
            </a:r>
            <a:r>
              <a:rPr lang="ko-KR" altLang="en-US" sz="1050" dirty="0" err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초후</a:t>
            </a:r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까지 경로</a:t>
            </a:r>
          </a:p>
        </p:txBody>
      </p: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D829F60D-EED0-469A-AF8D-29721D2E9734}"/>
              </a:ext>
            </a:extLst>
          </p:cNvPr>
          <p:cNvCxnSpPr>
            <a:cxnSpLocks/>
            <a:stCxn id="37" idx="2"/>
          </p:cNvCxnSpPr>
          <p:nvPr/>
        </p:nvCxnSpPr>
        <p:spPr>
          <a:xfrm>
            <a:off x="7856356" y="4047201"/>
            <a:ext cx="2893" cy="17746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C10CE0C2-B3A8-4B1C-8185-218F7CC75DE8}"/>
              </a:ext>
            </a:extLst>
          </p:cNvPr>
          <p:cNvCxnSpPr>
            <a:cxnSpLocks/>
          </p:cNvCxnSpPr>
          <p:nvPr/>
        </p:nvCxnSpPr>
        <p:spPr>
          <a:xfrm>
            <a:off x="7856356" y="3423687"/>
            <a:ext cx="2893" cy="17746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E1A88836-8CE6-48D1-B8D0-BC86E1149002}"/>
              </a:ext>
            </a:extLst>
          </p:cNvPr>
          <p:cNvCxnSpPr>
            <a:cxnSpLocks/>
            <a:endCxn id="38" idx="0"/>
          </p:cNvCxnSpPr>
          <p:nvPr/>
        </p:nvCxnSpPr>
        <p:spPr>
          <a:xfrm>
            <a:off x="7856356" y="2710055"/>
            <a:ext cx="1" cy="46920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1150F2DD-BA65-4C0A-B46C-7B815AA77498}"/>
              </a:ext>
            </a:extLst>
          </p:cNvPr>
          <p:cNvSpPr/>
          <p:nvPr/>
        </p:nvSpPr>
        <p:spPr>
          <a:xfrm>
            <a:off x="6904349" y="4228946"/>
            <a:ext cx="1980000" cy="234000"/>
          </a:xfrm>
          <a:prstGeom prst="rect">
            <a:avLst/>
          </a:prstGeom>
          <a:solidFill>
            <a:schemeClr val="bg1"/>
          </a:solidFill>
          <a:ln w="19050">
            <a:solidFill>
              <a:srgbClr val="007A00"/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Confidence</a:t>
            </a:r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value </a:t>
            </a:r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출력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직사각형 28">
                <a:extLst>
                  <a:ext uri="{FF2B5EF4-FFF2-40B4-BE49-F238E27FC236}">
                    <a16:creationId xmlns:a16="http://schemas.microsoft.com/office/drawing/2014/main" id="{56533F16-5D23-4411-AF8C-AB3EBE5AD22D}"/>
                  </a:ext>
                </a:extLst>
              </p:cNvPr>
              <p:cNvSpPr/>
              <p:nvPr/>
            </p:nvSpPr>
            <p:spPr>
              <a:xfrm>
                <a:off x="381000" y="4255367"/>
                <a:ext cx="9144000" cy="11323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120000"/>
                  <a:buFont typeface="+mj-ea"/>
                  <a:buAutoNum type="circleNumDbPlain" startAt="3"/>
                  <a:defRPr/>
                </a:pPr>
                <a:r>
                  <a:rPr lang="en-US" altLang="ko-KR" sz="1300" b="1" kern="0" dirty="0">
                    <a:ln>
                      <a:solidFill>
                        <a:schemeClr val="tx1">
                          <a:alpha val="30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Confidence </a:t>
                </a:r>
                <a:r>
                  <a:rPr lang="ko-KR" altLang="en-US" sz="1300" b="1" kern="0" dirty="0">
                    <a:ln>
                      <a:solidFill>
                        <a:schemeClr val="tx1">
                          <a:alpha val="30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출력</a:t>
                </a:r>
                <a:endParaRPr lang="en-US" altLang="ko-KR" sz="1300" b="1" kern="0" dirty="0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120000"/>
                  <a:defRPr/>
                </a:pP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-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안전 영역 침범에 대한 </a:t>
                </a: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confidence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𝐶</m:t>
                        </m:r>
                      </m:e>
                      <m:sub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4</m:t>
                        </m:r>
                      </m:sub>
                    </m:sSub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30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40</m:t>
                        </m:r>
                      </m:num>
                      <m:den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𝑀𝐼𝑁</m:t>
                        </m:r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𝑒𝑔</m:t>
                            </m:r>
                            <m:sSub>
                              <m:sSubPr>
                                <m:ctrlPr>
                                  <a:rPr lang="en-US" altLang="ko-KR" sz="1300" b="0" i="1" kern="0" smtClea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300" b="0" i="1" kern="0" smtClea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𝑜</m:t>
                                </m:r>
                              </m:e>
                              <m:sub>
                                <m:r>
                                  <a:rPr lang="en-US" altLang="ko-KR" sz="1300" b="0" i="1" kern="0" smtClea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𝑜𝑏𝑠</m:t>
                                </m:r>
                              </m:sub>
                            </m:sSub>
                          </m:sub>
                        </m:sSub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)</m:t>
                        </m:r>
                      </m:den>
                    </m:f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∗0.7</m:t>
                    </m:r>
                  </m:oMath>
                </a14:m>
                <a:endParaRPr lang="en-US" altLang="ko-KR" sz="130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90000"/>
                  <a:defRPr/>
                </a:pP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9" name="직사각형 28">
                <a:extLst>
                  <a:ext uri="{FF2B5EF4-FFF2-40B4-BE49-F238E27FC236}">
                    <a16:creationId xmlns:a16="http://schemas.microsoft.com/office/drawing/2014/main" id="{56533F16-5D23-4411-AF8C-AB3EBE5AD22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4255367"/>
                <a:ext cx="9144000" cy="113236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타원 31">
            <a:extLst>
              <a:ext uri="{FF2B5EF4-FFF2-40B4-BE49-F238E27FC236}">
                <a16:creationId xmlns:a16="http://schemas.microsoft.com/office/drawing/2014/main" id="{5EAD7A53-04CD-464A-AF2C-6D187AC26C0E}"/>
              </a:ext>
            </a:extLst>
          </p:cNvPr>
          <p:cNvSpPr/>
          <p:nvPr/>
        </p:nvSpPr>
        <p:spPr>
          <a:xfrm>
            <a:off x="6531791" y="4210946"/>
            <a:ext cx="252000" cy="252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rPr>
              <a:t>3</a:t>
            </a:r>
            <a:endParaRPr lang="ko-KR" altLang="en-US" sz="9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Arial" panose="020B0604020202020204" pitchFamily="34" charset="0"/>
              <a:ea typeface="KoPub돋움체 Bold" panose="02020603020101020101" pitchFamily="18" charset="-127"/>
              <a:cs typeface="Arial" panose="020B0604020202020204" pitchFamily="34" charset="0"/>
            </a:endParaRPr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78919826-DCDB-4C8E-A016-D9E1DCC39B04}"/>
              </a:ext>
            </a:extLst>
          </p:cNvPr>
          <p:cNvSpPr/>
          <p:nvPr/>
        </p:nvSpPr>
        <p:spPr>
          <a:xfrm>
            <a:off x="6531791" y="3434804"/>
            <a:ext cx="252000" cy="252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rPr>
              <a:t>2</a:t>
            </a:r>
            <a:endParaRPr lang="ko-KR" altLang="en-US" sz="9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Arial" panose="020B0604020202020204" pitchFamily="34" charset="0"/>
              <a:ea typeface="KoPub돋움체 Bold" panose="02020603020101020101" pitchFamily="18" charset="-127"/>
              <a:cs typeface="Arial" panose="020B0604020202020204" pitchFamily="34" charset="0"/>
            </a:endParaRPr>
          </a:p>
        </p:txBody>
      </p:sp>
      <p:sp>
        <p:nvSpPr>
          <p:cNvPr id="34" name="왼쪽 중괄호 33">
            <a:extLst>
              <a:ext uri="{FF2B5EF4-FFF2-40B4-BE49-F238E27FC236}">
                <a16:creationId xmlns:a16="http://schemas.microsoft.com/office/drawing/2014/main" id="{9B15E527-EB25-429B-90A0-6EFDA93C428D}"/>
              </a:ext>
            </a:extLst>
          </p:cNvPr>
          <p:cNvSpPr/>
          <p:nvPr/>
        </p:nvSpPr>
        <p:spPr>
          <a:xfrm>
            <a:off x="6873001" y="3256701"/>
            <a:ext cx="81119" cy="608205"/>
          </a:xfrm>
          <a:prstGeom prst="leftBrace">
            <a:avLst>
              <a:gd name="adj1" fmla="val 250081"/>
              <a:gd name="adj2" fmla="val 50928"/>
            </a:avLst>
          </a:prstGeom>
          <a:ln w="190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263098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5</a:t>
            </a:r>
            <a:r>
              <a:rPr lang="ko-KR" altLang="en-US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주행 경로상 장애물 통행량이 과다한 환경</a:t>
            </a:r>
            <a:r>
              <a:rPr lang="en-US" altLang="ko-KR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(</a:t>
            </a:r>
            <a:r>
              <a:rPr lang="ko-KR" altLang="en-US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사람</a:t>
            </a:r>
            <a:r>
              <a:rPr lang="en-US" altLang="ko-KR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)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F55F954-5E86-475A-837F-2B8CED6C7DF1}" type="slidenum">
              <a:rPr lang="ko-KR" altLang="en-US" smtClean="0"/>
              <a:pPr/>
              <a:t>55</a:t>
            </a:fld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6EB9BC6-D7CB-4677-BBA3-54AABC15EF84}"/>
              </a:ext>
            </a:extLst>
          </p:cNvPr>
          <p:cNvSpPr/>
          <p:nvPr/>
        </p:nvSpPr>
        <p:spPr>
          <a:xfrm>
            <a:off x="381000" y="617684"/>
            <a:ext cx="9144000" cy="1570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5256" indent="-95256"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buFont typeface="Wingdings" panose="05000000000000000000" pitchFamily="2" charset="2"/>
              <a:buChar char="§"/>
              <a:defRPr/>
            </a:pPr>
            <a:r>
              <a:rPr lang="ko-KR" altLang="en-US" sz="1300" b="1" kern="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개요</a:t>
            </a:r>
            <a:endParaRPr lang="en-US" altLang="ko-KR" sz="1300" b="1" kern="0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예상 전역 경로상에 다수의 사람이 빈번하게 통행하는 환경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ea typeface="KoPub돋움체 Medium" panose="02020603020101020101" pitchFamily="18" charset="-127"/>
                <a:cs typeface="Arial" panose="020B0604020202020204" pitchFamily="34" charset="0"/>
              </a:rPr>
              <a:t>특장차의 진입 자체가 사람과의 충돌 등 위험한 상황을 야기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ea typeface="KoPub돋움체 Medium" panose="02020603020101020101" pitchFamily="18" charset="-127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작업 보조 차량이 사전에 </a:t>
            </a:r>
            <a:r>
              <a:rPr lang="ko-KR" altLang="en-US" sz="1300" kern="0" dirty="0" err="1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선진입하여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경고 및 통행로 확보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작업 보조 차량이 각각의 객체를 담당하여 통행 억제를 수행하지 못하는 환경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F6D8215-33CD-4738-89E9-A326B0961459}"/>
              </a:ext>
            </a:extLst>
          </p:cNvPr>
          <p:cNvSpPr/>
          <p:nvPr/>
        </p:nvSpPr>
        <p:spPr>
          <a:xfrm>
            <a:off x="381000" y="2212626"/>
            <a:ext cx="9144000" cy="12652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5256" indent="-95256"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buFont typeface="Wingdings" panose="05000000000000000000" pitchFamily="2" charset="2"/>
              <a:buChar char="§"/>
              <a:defRPr/>
            </a:pPr>
            <a:r>
              <a:rPr lang="ko-KR" altLang="en-US" sz="1300" b="1" kern="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알고리즘</a:t>
            </a:r>
            <a:endParaRPr lang="en-US" altLang="ko-KR" sz="1300" b="1" kern="0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특장차로부터 경로상 거리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15~50m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범위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,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경로상 반경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10m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이내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해당 영역 내 신규 객체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(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사람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)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검출 속도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2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건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/10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초 이상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ea typeface="KoPub돋움체 Medium" panose="02020603020101020101" pitchFamily="18" charset="-127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ea typeface="KoPub돋움체 Medium" panose="02020603020101020101" pitchFamily="18" charset="-127"/>
                <a:cs typeface="Arial" panose="020B0604020202020204" pitchFamily="34" charset="0"/>
              </a:rPr>
              <a:t>특장차 주행 유지 및 작업 보조차량이 </a:t>
            </a:r>
            <a:r>
              <a:rPr lang="ko-KR" altLang="en-US" sz="1300" kern="0" dirty="0" err="1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ea typeface="KoPub돋움체 Medium" panose="02020603020101020101" pitchFamily="18" charset="-127"/>
                <a:cs typeface="Arial" panose="020B0604020202020204" pitchFamily="34" charset="0"/>
              </a:rPr>
              <a:t>선진입하여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ea typeface="KoPub돋움체 Medium" panose="02020603020101020101" pitchFamily="18" charset="-127"/>
                <a:cs typeface="Arial" panose="020B0604020202020204" pitchFamily="34" charset="0"/>
              </a:rPr>
              <a:t> 경고 및 해당지역 이탈 유도로 주행 경로 확보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KoPub돋움체 Medium" panose="02020603020101020101" pitchFamily="18" charset="-127"/>
              <a:ea typeface="KoPub돋움체 Medium" panose="02020603020101020101" pitchFamily="18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623202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7C33D8-9D22-40B3-45A6-D8DA62234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제목 1">
            <a:extLst>
              <a:ext uri="{FF2B5EF4-FFF2-40B4-BE49-F238E27FC236}">
                <a16:creationId xmlns:a16="http://schemas.microsoft.com/office/drawing/2014/main" id="{CD736B80-BD2A-3A65-4CCA-C472A8CC2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5</a:t>
            </a:r>
            <a:r>
              <a:rPr lang="ko-KR" altLang="en-US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주행 경로상 장애물 통행량이 과다한 환경</a:t>
            </a:r>
            <a:r>
              <a:rPr lang="en-US" altLang="ko-KR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(</a:t>
            </a:r>
            <a:r>
              <a:rPr lang="ko-KR" altLang="en-US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사람</a:t>
            </a:r>
            <a:r>
              <a:rPr lang="en-US" altLang="ko-KR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)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2B43131-6F35-8BB9-7F67-1A596ED5A9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F55F954-5E86-475A-837F-2B8CED6C7DF1}" type="slidenum">
              <a:rPr lang="ko-KR" altLang="en-US" smtClean="0"/>
              <a:pPr/>
              <a:t>56</a:t>
            </a:fld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3E7B7A2B-E3FF-1ABD-142B-55D6B18D0427}"/>
              </a:ext>
            </a:extLst>
          </p:cNvPr>
          <p:cNvSpPr/>
          <p:nvPr/>
        </p:nvSpPr>
        <p:spPr>
          <a:xfrm>
            <a:off x="284495" y="949236"/>
            <a:ext cx="3200971" cy="129703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주행 경로 상</a:t>
            </a:r>
            <a:endParaRPr lang="en-US" altLang="ko-KR" sz="12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예상 주행 전역 </a:t>
            </a:r>
            <a:r>
              <a:rPr lang="ko-KR" altLang="en-US" sz="1200" dirty="0" err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경로상</a:t>
            </a:r>
            <a:r>
              <a:rPr lang="ko-KR" altLang="en-US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 반경 </a:t>
            </a:r>
            <a:r>
              <a:rPr lang="en-US" altLang="ko-KR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10m </a:t>
            </a:r>
            <a:r>
              <a:rPr lang="ko-KR" altLang="en-US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이내</a:t>
            </a:r>
          </a:p>
          <a:p>
            <a:r>
              <a:rPr lang="en-US" altLang="ko-KR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     and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특장차 반경 </a:t>
            </a:r>
            <a:r>
              <a:rPr lang="en-US" altLang="ko-KR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50m </a:t>
            </a:r>
            <a:r>
              <a:rPr lang="ko-KR" altLang="en-US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이내 범위 영역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ED69D86C-2506-1593-9F81-A2AE278C30FB}"/>
              </a:ext>
            </a:extLst>
          </p:cNvPr>
          <p:cNvSpPr/>
          <p:nvPr/>
        </p:nvSpPr>
        <p:spPr>
          <a:xfrm>
            <a:off x="284495" y="2247899"/>
            <a:ext cx="3200971" cy="4648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장애물</a:t>
            </a:r>
            <a:endParaRPr lang="en-US" altLang="ko-KR" sz="12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보행자</a:t>
            </a:r>
            <a:endParaRPr lang="en-US" altLang="ko-KR" sz="120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2124836E-E131-10AB-520F-515906468890}"/>
              </a:ext>
            </a:extLst>
          </p:cNvPr>
          <p:cNvSpPr/>
          <p:nvPr/>
        </p:nvSpPr>
        <p:spPr>
          <a:xfrm>
            <a:off x="284495" y="2712720"/>
            <a:ext cx="3200971" cy="4648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통행량</a:t>
            </a:r>
            <a:endParaRPr lang="en-US" altLang="ko-KR" sz="12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주행 경로 상에 접근하는 보행자의 수</a:t>
            </a:r>
            <a:endParaRPr lang="en-US" altLang="ko-KR" sz="120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B3E5BA2-671E-1BCF-64C8-96E7516D17A0}"/>
              </a:ext>
            </a:extLst>
          </p:cNvPr>
          <p:cNvSpPr/>
          <p:nvPr/>
        </p:nvSpPr>
        <p:spPr>
          <a:xfrm>
            <a:off x="284495" y="3177540"/>
            <a:ext cx="3456925" cy="1142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과다</a:t>
            </a:r>
            <a:endParaRPr lang="en-US" altLang="ko-KR" sz="12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주행 경로 반경 </a:t>
            </a:r>
            <a:r>
              <a:rPr lang="en-US" altLang="ko-KR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10m </a:t>
            </a:r>
            <a:r>
              <a:rPr lang="ko-KR" altLang="en-US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이내로 접근하는 보행자의 숫자가 </a:t>
            </a:r>
            <a:r>
              <a:rPr lang="en-US" altLang="ko-KR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10</a:t>
            </a:r>
            <a:r>
              <a:rPr lang="ko-KR" altLang="en-US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초 내에 </a:t>
            </a:r>
            <a:r>
              <a:rPr lang="en-US" altLang="ko-KR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2 </a:t>
            </a:r>
            <a:r>
              <a:rPr lang="ko-KR" altLang="en-US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이상</a:t>
            </a:r>
          </a:p>
          <a:p>
            <a:r>
              <a:rPr lang="en-US" altLang="ko-KR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     and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해당하는 보행자들 사이의 거리의 최댓값이 </a:t>
            </a:r>
            <a:r>
              <a:rPr lang="en-US" altLang="ko-KR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20m </a:t>
            </a:r>
            <a:r>
              <a:rPr lang="ko-KR" altLang="en-US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이하인 경우</a:t>
            </a:r>
            <a:endParaRPr lang="en-US" altLang="ko-KR" sz="120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8E227492-8CA7-CCA7-9494-53AF0C11CB92}"/>
              </a:ext>
            </a:extLst>
          </p:cNvPr>
          <p:cNvSpPr/>
          <p:nvPr/>
        </p:nvSpPr>
        <p:spPr>
          <a:xfrm>
            <a:off x="266339" y="4512342"/>
            <a:ext cx="3456925" cy="1142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위험 환경 판단</a:t>
            </a:r>
            <a:endParaRPr lang="en-US" altLang="ko-KR" sz="12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예상 주행 경로 상 통행량이 과다한 지점이 발생</a:t>
            </a:r>
            <a:endParaRPr lang="en-US" altLang="ko-KR" sz="120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</a:endParaRPr>
          </a:p>
          <a:p>
            <a:r>
              <a:rPr lang="en-US" altLang="ko-KR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    and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해당 지점에 보행자가 </a:t>
            </a:r>
            <a:r>
              <a:rPr lang="en-US" altLang="ko-KR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30m </a:t>
            </a:r>
            <a:r>
              <a:rPr lang="ko-KR" altLang="en-US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이내로 </a:t>
            </a:r>
            <a:r>
              <a:rPr lang="ko-KR" altLang="en-US" sz="1200" dirty="0" err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접근시</a:t>
            </a:r>
            <a:r>
              <a:rPr lang="ko-KR" altLang="en-US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 위험 환경으로 판단</a:t>
            </a:r>
            <a:endParaRPr lang="en-US" altLang="ko-KR" sz="120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120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ko-KR" altLang="en-US" sz="120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2591059C-3E28-F2C5-C1C3-8DBD4CB37D99}"/>
              </a:ext>
            </a:extLst>
          </p:cNvPr>
          <p:cNvSpPr/>
          <p:nvPr/>
        </p:nvSpPr>
        <p:spPr>
          <a:xfrm>
            <a:off x="239195" y="5401161"/>
            <a:ext cx="3456925" cy="7315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위험 환경 </a:t>
            </a:r>
            <a:r>
              <a:rPr lang="ko-KR" altLang="en-US" sz="1200" dirty="0" err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판단시</a:t>
            </a:r>
            <a:r>
              <a:rPr lang="ko-KR" altLang="en-US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 작업 보조 차량이 통행량 </a:t>
            </a:r>
            <a:r>
              <a:rPr lang="ko-KR" altLang="en-US" sz="1200" dirty="0" err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과다지점에</a:t>
            </a:r>
            <a:r>
              <a:rPr lang="ko-KR" altLang="en-US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 사전 진입하여 보행자에 경고 및 해당지역 이탈 유도</a:t>
            </a:r>
            <a:endParaRPr lang="en-US" altLang="ko-KR" sz="120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FEC5A42F-77DF-3F31-FAEC-162E18936395}"/>
              </a:ext>
            </a:extLst>
          </p:cNvPr>
          <p:cNvGrpSpPr/>
          <p:nvPr/>
        </p:nvGrpSpPr>
        <p:grpSpPr>
          <a:xfrm>
            <a:off x="3832599" y="1485543"/>
            <a:ext cx="5904000" cy="4900382"/>
            <a:chOff x="3832599" y="1485543"/>
            <a:chExt cx="5904000" cy="490038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9D45799C-CD98-529C-6C58-41A877D459DC}"/>
                    </a:ext>
                  </a:extLst>
                </p:cNvPr>
                <p:cNvSpPr txBox="1"/>
                <p:nvPr/>
              </p:nvSpPr>
              <p:spPr>
                <a:xfrm>
                  <a:off x="8176872" y="4178743"/>
                  <a:ext cx="703869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ko-KR" sz="1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</m:oMath>
                  </a14:m>
                  <a:r>
                    <a:rPr lang="en-US" altLang="ko-KR" sz="1200" dirty="0">
                      <a:latin typeface="+mn-ea"/>
                    </a:rPr>
                    <a:t> 20m</a:t>
                  </a:r>
                  <a:endParaRPr lang="ko-KR" altLang="en-US" sz="1200" dirty="0">
                    <a:latin typeface="+mn-ea"/>
                  </a:endParaRP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8A120988-06AC-4F82-928A-238D5EBE04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76872" y="4178743"/>
                  <a:ext cx="703869" cy="276999"/>
                </a:xfrm>
                <a:prstGeom prst="rect">
                  <a:avLst/>
                </a:prstGeom>
                <a:blipFill>
                  <a:blip r:embed="rId3"/>
                  <a:stretch>
                    <a:fillRect t="-2174" b="-13043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C92C5A67-3B01-26C0-4CF8-2D3F65FA6683}"/>
                </a:ext>
              </a:extLst>
            </p:cNvPr>
            <p:cNvCxnSpPr/>
            <p:nvPr/>
          </p:nvCxnSpPr>
          <p:spPr>
            <a:xfrm flipV="1">
              <a:off x="5641170" y="6069846"/>
              <a:ext cx="3600000" cy="0"/>
            </a:xfrm>
            <a:prstGeom prst="line">
              <a:avLst/>
            </a:prstGeom>
            <a:ln w="19050" cap="flat" cmpd="sng" algn="ctr">
              <a:solidFill>
                <a:schemeClr val="accent6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718B6190-C20B-59C4-CA3C-DC7D7A027DC9}"/>
                </a:ext>
              </a:extLst>
            </p:cNvPr>
            <p:cNvCxnSpPr/>
            <p:nvPr/>
          </p:nvCxnSpPr>
          <p:spPr>
            <a:xfrm>
              <a:off x="5641170" y="4515540"/>
              <a:ext cx="3600000" cy="0"/>
            </a:xfrm>
            <a:prstGeom prst="line">
              <a:avLst/>
            </a:prstGeom>
            <a:ln w="19050" cap="flat" cmpd="sng" algn="ctr">
              <a:solidFill>
                <a:schemeClr val="accent6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1" name="직선 화살표 연결선 10">
              <a:extLst>
                <a:ext uri="{FF2B5EF4-FFF2-40B4-BE49-F238E27FC236}">
                  <a16:creationId xmlns:a16="http://schemas.microsoft.com/office/drawing/2014/main" id="{BEA01EDD-CC8D-B8DD-07EF-F8FFD8AD1834}"/>
                </a:ext>
              </a:extLst>
            </p:cNvPr>
            <p:cNvCxnSpPr/>
            <p:nvPr/>
          </p:nvCxnSpPr>
          <p:spPr>
            <a:xfrm>
              <a:off x="4921170" y="5292693"/>
              <a:ext cx="4320000" cy="0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화살표 연결선 11">
              <a:extLst>
                <a:ext uri="{FF2B5EF4-FFF2-40B4-BE49-F238E27FC236}">
                  <a16:creationId xmlns:a16="http://schemas.microsoft.com/office/drawing/2014/main" id="{149C0976-BBA4-0DD1-137C-D930C3C41ADF}"/>
                </a:ext>
              </a:extLst>
            </p:cNvPr>
            <p:cNvCxnSpPr/>
            <p:nvPr/>
          </p:nvCxnSpPr>
          <p:spPr>
            <a:xfrm flipV="1">
              <a:off x="9003512" y="5326198"/>
              <a:ext cx="0" cy="707139"/>
            </a:xfrm>
            <a:prstGeom prst="straightConnector1">
              <a:avLst/>
            </a:prstGeom>
            <a:ln w="3175">
              <a:prstDash val="dash"/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3D1632C-8B86-0A3C-BEEA-C1475125B270}"/>
                </a:ext>
              </a:extLst>
            </p:cNvPr>
            <p:cNvSpPr txBox="1"/>
            <p:nvPr/>
          </p:nvSpPr>
          <p:spPr>
            <a:xfrm>
              <a:off x="8455061" y="4755949"/>
              <a:ext cx="5484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latin typeface="+mn-ea"/>
                </a:rPr>
                <a:t>10m</a:t>
              </a:r>
              <a:endParaRPr lang="ko-KR" altLang="en-US" sz="1200" dirty="0">
                <a:latin typeface="+mn-ea"/>
              </a:endParaRPr>
            </a:p>
          </p:txBody>
        </p:sp>
        <p:cxnSp>
          <p:nvCxnSpPr>
            <p:cNvPr id="14" name="직선 화살표 연결선 13">
              <a:extLst>
                <a:ext uri="{FF2B5EF4-FFF2-40B4-BE49-F238E27FC236}">
                  <a16:creationId xmlns:a16="http://schemas.microsoft.com/office/drawing/2014/main" id="{463F3DBE-A228-45CC-4B89-FBDABAB14913}"/>
                </a:ext>
              </a:extLst>
            </p:cNvPr>
            <p:cNvCxnSpPr/>
            <p:nvPr/>
          </p:nvCxnSpPr>
          <p:spPr>
            <a:xfrm flipV="1">
              <a:off x="9006282" y="4541339"/>
              <a:ext cx="0" cy="707139"/>
            </a:xfrm>
            <a:prstGeom prst="straightConnector1">
              <a:avLst/>
            </a:prstGeom>
            <a:ln w="3175">
              <a:prstDash val="dash"/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AE3CF93-3538-93C3-642D-D23FD65F0C5A}"/>
                </a:ext>
              </a:extLst>
            </p:cNvPr>
            <p:cNvSpPr txBox="1"/>
            <p:nvPr/>
          </p:nvSpPr>
          <p:spPr>
            <a:xfrm>
              <a:off x="8455061" y="5542770"/>
              <a:ext cx="5484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latin typeface="+mn-ea"/>
                </a:rPr>
                <a:t>10m</a:t>
              </a:r>
              <a:endParaRPr lang="ko-KR" altLang="en-US" sz="1200" dirty="0">
                <a:latin typeface="+mn-ea"/>
              </a:endParaRPr>
            </a:p>
          </p:txBody>
        </p:sp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793A681E-A384-8A4B-6159-15649EB4F8E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51978" y="4118945"/>
              <a:ext cx="485846" cy="485846"/>
            </a:xfrm>
            <a:prstGeom prst="rect">
              <a:avLst/>
            </a:prstGeom>
          </p:spPr>
        </p:pic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94B2271A-F227-1929-1B6B-CB2D1E9C6D9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8258844" y="4799693"/>
              <a:ext cx="485846" cy="485846"/>
            </a:xfrm>
            <a:prstGeom prst="rect">
              <a:avLst/>
            </a:prstGeom>
          </p:spPr>
        </p:pic>
        <p:cxnSp>
          <p:nvCxnSpPr>
            <p:cNvPr id="18" name="직선 화살표 연결선 17">
              <a:extLst>
                <a:ext uri="{FF2B5EF4-FFF2-40B4-BE49-F238E27FC236}">
                  <a16:creationId xmlns:a16="http://schemas.microsoft.com/office/drawing/2014/main" id="{03CDE274-2CAA-288D-D2A8-BB9559104137}"/>
                </a:ext>
              </a:extLst>
            </p:cNvPr>
            <p:cNvCxnSpPr>
              <a:cxnSpLocks/>
              <a:stCxn id="16" idx="2"/>
              <a:endCxn id="17" idx="3"/>
            </p:cNvCxnSpPr>
            <p:nvPr/>
          </p:nvCxnSpPr>
          <p:spPr>
            <a:xfrm>
              <a:off x="8094901" y="4604791"/>
              <a:ext cx="163943" cy="437825"/>
            </a:xfrm>
            <a:prstGeom prst="straightConnector1">
              <a:avLst/>
            </a:prstGeom>
            <a:ln w="3175">
              <a:prstDash val="dash"/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E1A373C6-048A-3C7E-7894-35E11AB5CA47}"/>
                    </a:ext>
                  </a:extLst>
                </p:cNvPr>
                <p:cNvSpPr txBox="1"/>
                <p:nvPr/>
              </p:nvSpPr>
              <p:spPr>
                <a:xfrm>
                  <a:off x="8047774" y="2646408"/>
                  <a:ext cx="703869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ko-KR" sz="1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</m:oMath>
                  </a14:m>
                  <a:r>
                    <a:rPr lang="en-US" altLang="ko-KR" sz="1200" dirty="0">
                      <a:latin typeface="+mn-ea"/>
                    </a:rPr>
                    <a:t> 20m</a:t>
                  </a:r>
                  <a:endParaRPr lang="ko-KR" altLang="en-US" sz="1200" dirty="0">
                    <a:latin typeface="+mn-ea"/>
                  </a:endParaRPr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11369959-89DA-4B31-8449-74A5F4A870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47774" y="2646408"/>
                  <a:ext cx="703869" cy="276999"/>
                </a:xfrm>
                <a:prstGeom prst="rect">
                  <a:avLst/>
                </a:prstGeom>
                <a:blipFill>
                  <a:blip r:embed="rId3"/>
                  <a:stretch>
                    <a:fillRect t="-2174" b="-13043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8A3654D5-21B5-2E39-1EAE-9F81C508D3A6}"/>
                </a:ext>
              </a:extLst>
            </p:cNvPr>
            <p:cNvCxnSpPr/>
            <p:nvPr/>
          </p:nvCxnSpPr>
          <p:spPr>
            <a:xfrm flipV="1">
              <a:off x="5641170" y="3349350"/>
              <a:ext cx="2880000" cy="0"/>
            </a:xfrm>
            <a:prstGeom prst="line">
              <a:avLst/>
            </a:prstGeom>
            <a:ln w="19050" cap="flat" cmpd="sng" algn="ctr">
              <a:solidFill>
                <a:schemeClr val="accent6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9534C33A-A00B-2C41-B762-607909E5998B}"/>
                </a:ext>
              </a:extLst>
            </p:cNvPr>
            <p:cNvCxnSpPr/>
            <p:nvPr/>
          </p:nvCxnSpPr>
          <p:spPr>
            <a:xfrm flipV="1">
              <a:off x="5641170" y="1795044"/>
              <a:ext cx="2880000" cy="0"/>
            </a:xfrm>
            <a:prstGeom prst="line">
              <a:avLst/>
            </a:prstGeom>
            <a:ln w="19050" cap="flat" cmpd="sng" algn="ctr">
              <a:solidFill>
                <a:schemeClr val="accent6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2" name="직선 화살표 연결선 21">
              <a:extLst>
                <a:ext uri="{FF2B5EF4-FFF2-40B4-BE49-F238E27FC236}">
                  <a16:creationId xmlns:a16="http://schemas.microsoft.com/office/drawing/2014/main" id="{142DDDFB-46E9-33FB-E282-4E7FDD9D94C4}"/>
                </a:ext>
              </a:extLst>
            </p:cNvPr>
            <p:cNvCxnSpPr/>
            <p:nvPr/>
          </p:nvCxnSpPr>
          <p:spPr>
            <a:xfrm>
              <a:off x="4921170" y="2572197"/>
              <a:ext cx="3600000" cy="0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화살표 연결선 22">
              <a:extLst>
                <a:ext uri="{FF2B5EF4-FFF2-40B4-BE49-F238E27FC236}">
                  <a16:creationId xmlns:a16="http://schemas.microsoft.com/office/drawing/2014/main" id="{8718A60F-6B9C-0388-4A86-9E2795D0031F}"/>
                </a:ext>
              </a:extLst>
            </p:cNvPr>
            <p:cNvCxnSpPr/>
            <p:nvPr/>
          </p:nvCxnSpPr>
          <p:spPr>
            <a:xfrm flipV="1">
              <a:off x="7939483" y="2605702"/>
              <a:ext cx="0" cy="707139"/>
            </a:xfrm>
            <a:prstGeom prst="straightConnector1">
              <a:avLst/>
            </a:prstGeom>
            <a:ln w="3175">
              <a:prstDash val="dash"/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3E130DE-FD33-6D0E-23A0-8072AB0E44F5}"/>
                </a:ext>
              </a:extLst>
            </p:cNvPr>
            <p:cNvSpPr txBox="1"/>
            <p:nvPr/>
          </p:nvSpPr>
          <p:spPr>
            <a:xfrm>
              <a:off x="7391032" y="2035453"/>
              <a:ext cx="5484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latin typeface="+mn-ea"/>
                </a:rPr>
                <a:t>10m</a:t>
              </a:r>
              <a:endParaRPr lang="ko-KR" altLang="en-US" sz="1200" dirty="0">
                <a:latin typeface="+mn-ea"/>
              </a:endParaRPr>
            </a:p>
          </p:txBody>
        </p:sp>
        <p:cxnSp>
          <p:nvCxnSpPr>
            <p:cNvPr id="25" name="직선 화살표 연결선 24">
              <a:extLst>
                <a:ext uri="{FF2B5EF4-FFF2-40B4-BE49-F238E27FC236}">
                  <a16:creationId xmlns:a16="http://schemas.microsoft.com/office/drawing/2014/main" id="{7F399E5F-0335-8BD5-BA5D-71E07D3E84B3}"/>
                </a:ext>
              </a:extLst>
            </p:cNvPr>
            <p:cNvCxnSpPr/>
            <p:nvPr/>
          </p:nvCxnSpPr>
          <p:spPr>
            <a:xfrm flipV="1">
              <a:off x="7942253" y="1820843"/>
              <a:ext cx="0" cy="707139"/>
            </a:xfrm>
            <a:prstGeom prst="straightConnector1">
              <a:avLst/>
            </a:prstGeom>
            <a:ln w="3175">
              <a:prstDash val="dash"/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5B140D6-F077-A4EF-2253-46E5A9BA37D7}"/>
                </a:ext>
              </a:extLst>
            </p:cNvPr>
            <p:cNvSpPr txBox="1"/>
            <p:nvPr/>
          </p:nvSpPr>
          <p:spPr>
            <a:xfrm>
              <a:off x="7391032" y="2822274"/>
              <a:ext cx="5484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latin typeface="+mn-ea"/>
                </a:rPr>
                <a:t>10m</a:t>
              </a:r>
              <a:endParaRPr lang="ko-KR" altLang="en-US" sz="1200" dirty="0">
                <a:latin typeface="+mn-ea"/>
              </a:endParaRPr>
            </a:p>
          </p:txBody>
        </p:sp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95254B9D-5584-E90E-3A44-C01348F1A381}"/>
                </a:ext>
              </a:extLst>
            </p:cNvPr>
            <p:cNvGrpSpPr/>
            <p:nvPr/>
          </p:nvGrpSpPr>
          <p:grpSpPr>
            <a:xfrm>
              <a:off x="3919481" y="1485543"/>
              <a:ext cx="1989829" cy="2173308"/>
              <a:chOff x="4234778" y="2962285"/>
              <a:chExt cx="1989829" cy="2173308"/>
            </a:xfrm>
          </p:grpSpPr>
          <p:sp>
            <p:nvSpPr>
              <p:cNvPr id="35" name="모서리가 둥근 직사각형 9">
                <a:extLst>
                  <a:ext uri="{FF2B5EF4-FFF2-40B4-BE49-F238E27FC236}">
                    <a16:creationId xmlns:a16="http://schemas.microsoft.com/office/drawing/2014/main" id="{8452428D-198E-7170-2EA9-C678DBE2690A}"/>
                  </a:ext>
                </a:extLst>
              </p:cNvPr>
              <p:cNvSpPr/>
              <p:nvPr/>
            </p:nvSpPr>
            <p:spPr>
              <a:xfrm>
                <a:off x="4789745" y="3581287"/>
                <a:ext cx="879895" cy="935304"/>
              </a:xfrm>
              <a:prstGeom prst="roundRect">
                <a:avLst/>
              </a:prstGeom>
              <a:ln>
                <a:solidFill>
                  <a:schemeClr val="accent5"/>
                </a:solidFill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200" dirty="0" err="1"/>
                  <a:t>특장차량</a:t>
                </a:r>
                <a:endParaRPr lang="ko-KR" altLang="en-US" sz="1200" dirty="0"/>
              </a:p>
            </p:txBody>
          </p:sp>
          <p:sp>
            <p:nvSpPr>
              <p:cNvPr id="36" name="모서리가 둥근 직사각형 10">
                <a:extLst>
                  <a:ext uri="{FF2B5EF4-FFF2-40B4-BE49-F238E27FC236}">
                    <a16:creationId xmlns:a16="http://schemas.microsoft.com/office/drawing/2014/main" id="{AE6D40E1-AE6C-7284-1539-854663DAA48D}"/>
                  </a:ext>
                </a:extLst>
              </p:cNvPr>
              <p:cNvSpPr/>
              <p:nvPr/>
            </p:nvSpPr>
            <p:spPr>
              <a:xfrm>
                <a:off x="4234778" y="2962285"/>
                <a:ext cx="554967" cy="619002"/>
              </a:xfrm>
              <a:prstGeom prst="round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200" dirty="0" err="1"/>
                  <a:t>보조차량</a:t>
                </a:r>
                <a:endParaRPr lang="ko-KR" altLang="en-US" sz="1200" dirty="0"/>
              </a:p>
            </p:txBody>
          </p:sp>
          <p:sp>
            <p:nvSpPr>
              <p:cNvPr id="37" name="모서리가 둥근 직사각형 11">
                <a:extLst>
                  <a:ext uri="{FF2B5EF4-FFF2-40B4-BE49-F238E27FC236}">
                    <a16:creationId xmlns:a16="http://schemas.microsoft.com/office/drawing/2014/main" id="{30BECED3-3FE5-5995-8E54-EEC1FD9A2550}"/>
                  </a:ext>
                </a:extLst>
              </p:cNvPr>
              <p:cNvSpPr/>
              <p:nvPr/>
            </p:nvSpPr>
            <p:spPr>
              <a:xfrm>
                <a:off x="5669640" y="2962285"/>
                <a:ext cx="554967" cy="619002"/>
              </a:xfrm>
              <a:prstGeom prst="round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200" dirty="0" err="1"/>
                  <a:t>보조차량</a:t>
                </a:r>
                <a:endParaRPr lang="ko-KR" altLang="en-US" sz="1200" dirty="0"/>
              </a:p>
            </p:txBody>
          </p:sp>
          <p:sp>
            <p:nvSpPr>
              <p:cNvPr id="38" name="모서리가 둥근 직사각형 12">
                <a:extLst>
                  <a:ext uri="{FF2B5EF4-FFF2-40B4-BE49-F238E27FC236}">
                    <a16:creationId xmlns:a16="http://schemas.microsoft.com/office/drawing/2014/main" id="{A2580A96-C2C2-FA8C-811D-0E1C0F1E7AA1}"/>
                  </a:ext>
                </a:extLst>
              </p:cNvPr>
              <p:cNvSpPr/>
              <p:nvPr/>
            </p:nvSpPr>
            <p:spPr>
              <a:xfrm>
                <a:off x="4234778" y="4516591"/>
                <a:ext cx="554967" cy="619002"/>
              </a:xfrm>
              <a:prstGeom prst="round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200" dirty="0" err="1"/>
                  <a:t>보조차량</a:t>
                </a:r>
                <a:endParaRPr lang="ko-KR" altLang="en-US" sz="1200" dirty="0"/>
              </a:p>
            </p:txBody>
          </p:sp>
          <p:sp>
            <p:nvSpPr>
              <p:cNvPr id="39" name="모서리가 둥근 직사각형 13">
                <a:extLst>
                  <a:ext uri="{FF2B5EF4-FFF2-40B4-BE49-F238E27FC236}">
                    <a16:creationId xmlns:a16="http://schemas.microsoft.com/office/drawing/2014/main" id="{D25FD875-F7D2-B4D8-5972-9D478A5FC5C6}"/>
                  </a:ext>
                </a:extLst>
              </p:cNvPr>
              <p:cNvSpPr/>
              <p:nvPr/>
            </p:nvSpPr>
            <p:spPr>
              <a:xfrm>
                <a:off x="5669639" y="4516591"/>
                <a:ext cx="554967" cy="619002"/>
              </a:xfrm>
              <a:prstGeom prst="round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200" dirty="0" err="1"/>
                  <a:t>보조차량</a:t>
                </a:r>
                <a:endParaRPr lang="ko-KR" altLang="en-US" sz="1200" dirty="0"/>
              </a:p>
            </p:txBody>
          </p:sp>
        </p:grpSp>
        <p:pic>
          <p:nvPicPr>
            <p:cNvPr id="40" name="그림 39">
              <a:extLst>
                <a:ext uri="{FF2B5EF4-FFF2-40B4-BE49-F238E27FC236}">
                  <a16:creationId xmlns:a16="http://schemas.microsoft.com/office/drawing/2014/main" id="{A56A4C51-31ED-3524-CE29-ADFC10FF264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71862" y="2758444"/>
              <a:ext cx="485846" cy="485846"/>
            </a:xfrm>
            <a:prstGeom prst="rect">
              <a:avLst/>
            </a:prstGeom>
          </p:spPr>
        </p:pic>
        <p:cxnSp>
          <p:nvCxnSpPr>
            <p:cNvPr id="41" name="직선 연결선 40">
              <a:extLst>
                <a:ext uri="{FF2B5EF4-FFF2-40B4-BE49-F238E27FC236}">
                  <a16:creationId xmlns:a16="http://schemas.microsoft.com/office/drawing/2014/main" id="{809AD0DD-C21A-53C3-134F-5AD585405FF9}"/>
                </a:ext>
              </a:extLst>
            </p:cNvPr>
            <p:cNvCxnSpPr/>
            <p:nvPr/>
          </p:nvCxnSpPr>
          <p:spPr>
            <a:xfrm>
              <a:off x="3832599" y="3745813"/>
              <a:ext cx="5904000" cy="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pic>
          <p:nvPicPr>
            <p:cNvPr id="42" name="그림 41">
              <a:extLst>
                <a:ext uri="{FF2B5EF4-FFF2-40B4-BE49-F238E27FC236}">
                  <a16:creationId xmlns:a16="http://schemas.microsoft.com/office/drawing/2014/main" id="{E8FE3FD2-17AD-44F3-932E-3E93C2EA987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8278247" y="1978065"/>
              <a:ext cx="485846" cy="485846"/>
            </a:xfrm>
            <a:prstGeom prst="rect">
              <a:avLst/>
            </a:prstGeom>
          </p:spPr>
        </p:pic>
        <p:cxnSp>
          <p:nvCxnSpPr>
            <p:cNvPr id="43" name="직선 화살표 연결선 42">
              <a:extLst>
                <a:ext uri="{FF2B5EF4-FFF2-40B4-BE49-F238E27FC236}">
                  <a16:creationId xmlns:a16="http://schemas.microsoft.com/office/drawing/2014/main" id="{D42AB0E5-5D97-2033-D2F1-7E472A9EFF75}"/>
                </a:ext>
              </a:extLst>
            </p:cNvPr>
            <p:cNvCxnSpPr>
              <a:stCxn id="40" idx="3"/>
              <a:endCxn id="42" idx="3"/>
            </p:cNvCxnSpPr>
            <p:nvPr/>
          </p:nvCxnSpPr>
          <p:spPr>
            <a:xfrm flipV="1">
              <a:off x="7357708" y="2220988"/>
              <a:ext cx="920539" cy="780379"/>
            </a:xfrm>
            <a:prstGeom prst="straightConnector1">
              <a:avLst/>
            </a:prstGeom>
            <a:ln w="3175">
              <a:prstDash val="dash"/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1673AE0E-8A61-81AC-D1A5-51535ECCAD6C}"/>
                </a:ext>
              </a:extLst>
            </p:cNvPr>
            <p:cNvGrpSpPr/>
            <p:nvPr/>
          </p:nvGrpSpPr>
          <p:grpSpPr>
            <a:xfrm>
              <a:off x="3919481" y="4212617"/>
              <a:ext cx="1989829" cy="2173308"/>
              <a:chOff x="4234778" y="2962285"/>
              <a:chExt cx="1989829" cy="2173308"/>
            </a:xfrm>
          </p:grpSpPr>
          <p:sp>
            <p:nvSpPr>
              <p:cNvPr id="45" name="모서리가 둥근 직사각형 29">
                <a:extLst>
                  <a:ext uri="{FF2B5EF4-FFF2-40B4-BE49-F238E27FC236}">
                    <a16:creationId xmlns:a16="http://schemas.microsoft.com/office/drawing/2014/main" id="{265F5FEA-7AD0-47C9-8E76-AAF049F86CC4}"/>
                  </a:ext>
                </a:extLst>
              </p:cNvPr>
              <p:cNvSpPr/>
              <p:nvPr/>
            </p:nvSpPr>
            <p:spPr>
              <a:xfrm>
                <a:off x="4789745" y="3581287"/>
                <a:ext cx="879895" cy="935304"/>
              </a:xfrm>
              <a:prstGeom prst="roundRect">
                <a:avLst/>
              </a:prstGeom>
              <a:ln>
                <a:solidFill>
                  <a:schemeClr val="accent5"/>
                </a:solidFill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200" dirty="0" err="1"/>
                  <a:t>특장차량</a:t>
                </a:r>
                <a:endParaRPr lang="ko-KR" altLang="en-US" sz="1200" dirty="0"/>
              </a:p>
            </p:txBody>
          </p:sp>
          <p:sp>
            <p:nvSpPr>
              <p:cNvPr id="46" name="모서리가 둥근 직사각형 30">
                <a:extLst>
                  <a:ext uri="{FF2B5EF4-FFF2-40B4-BE49-F238E27FC236}">
                    <a16:creationId xmlns:a16="http://schemas.microsoft.com/office/drawing/2014/main" id="{0F5792F5-3D4B-C249-16E6-8420A4AFBFE4}"/>
                  </a:ext>
                </a:extLst>
              </p:cNvPr>
              <p:cNvSpPr/>
              <p:nvPr/>
            </p:nvSpPr>
            <p:spPr>
              <a:xfrm>
                <a:off x="4234778" y="2962285"/>
                <a:ext cx="554967" cy="619002"/>
              </a:xfrm>
              <a:prstGeom prst="round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200" dirty="0" err="1"/>
                  <a:t>보조차량</a:t>
                </a:r>
                <a:endParaRPr lang="ko-KR" altLang="en-US" sz="1200" dirty="0"/>
              </a:p>
            </p:txBody>
          </p:sp>
          <p:sp>
            <p:nvSpPr>
              <p:cNvPr id="47" name="모서리가 둥근 직사각형 31">
                <a:extLst>
                  <a:ext uri="{FF2B5EF4-FFF2-40B4-BE49-F238E27FC236}">
                    <a16:creationId xmlns:a16="http://schemas.microsoft.com/office/drawing/2014/main" id="{42AC56FD-A3B7-3C73-DABB-08359A4D425E}"/>
                  </a:ext>
                </a:extLst>
              </p:cNvPr>
              <p:cNvSpPr/>
              <p:nvPr/>
            </p:nvSpPr>
            <p:spPr>
              <a:xfrm>
                <a:off x="5669640" y="2962285"/>
                <a:ext cx="554967" cy="619002"/>
              </a:xfrm>
              <a:prstGeom prst="round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200" dirty="0" err="1"/>
                  <a:t>보조차량</a:t>
                </a:r>
                <a:endParaRPr lang="ko-KR" altLang="en-US" sz="1200" dirty="0"/>
              </a:p>
            </p:txBody>
          </p:sp>
          <p:sp>
            <p:nvSpPr>
              <p:cNvPr id="48" name="모서리가 둥근 직사각형 32">
                <a:extLst>
                  <a:ext uri="{FF2B5EF4-FFF2-40B4-BE49-F238E27FC236}">
                    <a16:creationId xmlns:a16="http://schemas.microsoft.com/office/drawing/2014/main" id="{C2BEB511-C192-C2EA-EC61-9B8B577B66A1}"/>
                  </a:ext>
                </a:extLst>
              </p:cNvPr>
              <p:cNvSpPr/>
              <p:nvPr/>
            </p:nvSpPr>
            <p:spPr>
              <a:xfrm>
                <a:off x="4234778" y="4516591"/>
                <a:ext cx="554967" cy="619002"/>
              </a:xfrm>
              <a:prstGeom prst="round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200" dirty="0" err="1"/>
                  <a:t>보조차량</a:t>
                </a:r>
                <a:endParaRPr lang="ko-KR" altLang="en-US" sz="1200" dirty="0"/>
              </a:p>
            </p:txBody>
          </p:sp>
          <p:sp>
            <p:nvSpPr>
              <p:cNvPr id="49" name="모서리가 둥근 직사각형 33">
                <a:extLst>
                  <a:ext uri="{FF2B5EF4-FFF2-40B4-BE49-F238E27FC236}">
                    <a16:creationId xmlns:a16="http://schemas.microsoft.com/office/drawing/2014/main" id="{02BA68D0-834A-85C7-5A16-C37DA385A58B}"/>
                  </a:ext>
                </a:extLst>
              </p:cNvPr>
              <p:cNvSpPr/>
              <p:nvPr/>
            </p:nvSpPr>
            <p:spPr>
              <a:xfrm>
                <a:off x="5669639" y="4516591"/>
                <a:ext cx="554967" cy="619002"/>
              </a:xfrm>
              <a:prstGeom prst="round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200" dirty="0" err="1"/>
                  <a:t>보조차량</a:t>
                </a:r>
                <a:endParaRPr lang="ko-KR" altLang="en-US" sz="1200" dirty="0"/>
              </a:p>
            </p:txBody>
          </p:sp>
        </p:grpSp>
      </p:grp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DFCC02CF-0A45-F293-B834-D435AD63D562}"/>
              </a:ext>
            </a:extLst>
          </p:cNvPr>
          <p:cNvCxnSpPr/>
          <p:nvPr/>
        </p:nvCxnSpPr>
        <p:spPr>
          <a:xfrm flipV="1">
            <a:off x="5354343" y="4399469"/>
            <a:ext cx="2294194" cy="899802"/>
          </a:xfrm>
          <a:prstGeom prst="straightConnector1">
            <a:avLst/>
          </a:prstGeom>
          <a:ln w="3175">
            <a:prstDash val="dash"/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B20605E-3A9E-814B-74AF-793EB6197894}"/>
                  </a:ext>
                </a:extLst>
              </p:cNvPr>
              <p:cNvSpPr txBox="1"/>
              <p:nvPr/>
            </p:nvSpPr>
            <p:spPr>
              <a:xfrm>
                <a:off x="6464274" y="4748920"/>
                <a:ext cx="70386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ko-KR" sz="1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en-US" altLang="ko-KR" sz="1200" dirty="0">
                    <a:latin typeface="+mn-ea"/>
                  </a:rPr>
                  <a:t> 30m</a:t>
                </a:r>
                <a:endParaRPr lang="ko-KR" altLang="en-US" sz="1200" dirty="0">
                  <a:latin typeface="+mn-ea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B20605E-3A9E-814B-74AF-793EB61978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4274" y="4748920"/>
                <a:ext cx="703869" cy="276999"/>
              </a:xfrm>
              <a:prstGeom prst="rect">
                <a:avLst/>
              </a:prstGeom>
              <a:blipFill>
                <a:blip r:embed="rId5"/>
                <a:stretch>
                  <a:fillRect t="-2222" b="-1555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0264823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제목 1">
            <a:extLst>
              <a:ext uri="{FF2B5EF4-FFF2-40B4-BE49-F238E27FC236}">
                <a16:creationId xmlns:a16="http://schemas.microsoft.com/office/drawing/2014/main" id="{4B31B27E-9560-40EC-BF86-0E5D280D8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5</a:t>
            </a:r>
            <a:r>
              <a:rPr lang="ko-KR" altLang="en-US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주행 경로상 장애물 통행량이 과다한 환경</a:t>
            </a:r>
            <a:r>
              <a:rPr lang="en-US" altLang="ko-KR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(</a:t>
            </a:r>
            <a:r>
              <a:rPr lang="ko-KR" altLang="en-US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사람</a:t>
            </a:r>
            <a:r>
              <a:rPr lang="en-US" altLang="ko-KR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)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F55F954-5E86-475A-837F-2B8CED6C7DF1}" type="slidenum">
              <a:rPr lang="ko-KR" altLang="en-US" smtClean="0"/>
              <a:pPr/>
              <a:t>57</a:t>
            </a:fld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E201407-F429-4E67-9869-9E9DE1FEAB42}"/>
              </a:ext>
            </a:extLst>
          </p:cNvPr>
          <p:cNvSpPr/>
          <p:nvPr/>
        </p:nvSpPr>
        <p:spPr>
          <a:xfrm>
            <a:off x="381000" y="873125"/>
            <a:ext cx="9144000" cy="94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5256" indent="-95256"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buFont typeface="Wingdings" panose="05000000000000000000" pitchFamily="2" charset="2"/>
              <a:buChar char="§"/>
              <a:defRPr/>
            </a:pPr>
            <a:r>
              <a:rPr lang="ko-KR" altLang="en-US" sz="1300" b="1" kern="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동적 객체 데이터 입력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데이터 시점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: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최신 시각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t(T_L3fusion)</a:t>
            </a: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L3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데이터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: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이동 장애물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vector (L3obstacle(L), L=0~255)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07A6FFEB-AF97-4372-B0EF-80FD19B197B5}"/>
                  </a:ext>
                </a:extLst>
              </p:cNvPr>
              <p:cNvSpPr/>
              <p:nvPr/>
            </p:nvSpPr>
            <p:spPr>
              <a:xfrm>
                <a:off x="381000" y="1899058"/>
                <a:ext cx="9144000" cy="26220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120000"/>
                  <a:buFont typeface="+mj-ea"/>
                  <a:buAutoNum type="circleNumDbPlain"/>
                  <a:defRPr/>
                </a:pPr>
                <a:r>
                  <a:rPr lang="ko-KR" altLang="en-US" sz="1300" b="1" kern="0" dirty="0">
                    <a:ln>
                      <a:solidFill>
                        <a:schemeClr val="tx1">
                          <a:alpha val="30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영역 내 동적 객체</a:t>
                </a:r>
                <a:r>
                  <a:rPr lang="en-US" altLang="ko-KR" sz="1300" b="1" kern="0" dirty="0">
                    <a:ln>
                      <a:solidFill>
                        <a:schemeClr val="tx1">
                          <a:alpha val="30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(</a:t>
                </a:r>
                <a:r>
                  <a:rPr lang="ko-KR" altLang="en-US" sz="1300" b="1" kern="0" dirty="0">
                    <a:ln>
                      <a:solidFill>
                        <a:schemeClr val="tx1">
                          <a:alpha val="30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사람</a:t>
                </a:r>
                <a:r>
                  <a:rPr lang="en-US" altLang="ko-KR" sz="1300" b="1" kern="0" dirty="0">
                    <a:ln>
                      <a:solidFill>
                        <a:schemeClr val="tx1">
                          <a:alpha val="30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)</a:t>
                </a:r>
                <a:r>
                  <a:rPr lang="ko-KR" altLang="en-US" sz="1300" b="1" kern="0" dirty="0">
                    <a:ln>
                      <a:solidFill>
                        <a:schemeClr val="tx1">
                          <a:alpha val="30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추출</a:t>
                </a:r>
                <a:endParaRPr lang="en-US" altLang="ko-KR" sz="1300" b="1" kern="0" dirty="0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120000"/>
                  <a:defRPr/>
                </a:pP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  -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데이터 시점 </a:t>
                </a: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: t(T_L3fusion)</a:t>
                </a:r>
                <a:b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</a:b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  -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이동 장애물 </a:t>
                </a: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vector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에서 </a:t>
                </a:r>
                <a:r>
                  <a:rPr lang="en-US" altLang="ko-KR" sz="1300" kern="0" dirty="0" err="1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objectclass</a:t>
                </a: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기반 사람 객체 추출</a:t>
                </a:r>
                <a:endParaRPr lang="en-US" altLang="ko-KR" sz="130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90000"/>
                  <a:defRPr/>
                </a:pP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  -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사람과 특장차 사이 거리 추정</a:t>
                </a:r>
                <a:endParaRPr lang="en-US" altLang="ko-KR" sz="130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90000"/>
                  <a:defRPr/>
                </a:pP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𝐷</m:t>
                        </m:r>
                      </m:e>
                      <m:sub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𝑒𝑔𝑜</m:t>
                        </m:r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_</m:t>
                        </m:r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𝑜𝑏𝑠</m:t>
                        </m:r>
                      </m:sub>
                    </m:sSub>
                    <m:r>
                      <a:rPr lang="en-US" altLang="ko-KR" sz="1300" i="1" ker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⃗"/>
                                    <m:ctrlPr>
                                      <a:rPr lang="en-US" altLang="ko-KR" sz="1300" i="1" kern="0">
                                        <a:ln>
                                          <a:solidFill>
                                            <a:schemeClr val="tx1">
                                              <a:alpha val="5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altLang="ko-KR" sz="1300" i="1" kern="0">
                                            <a:ln>
                                              <a:solidFill>
                                                <a:schemeClr val="tx1">
                                                  <a:alpha val="5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300" i="1" kern="0">
                                            <a:ln>
                                              <a:solidFill>
                                                <a:schemeClr val="tx1">
                                                  <a:alpha val="5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𝑃</m:t>
                                        </m:r>
                                      </m:e>
                                      <m:sub>
                                        <m:r>
                                          <a:rPr lang="en-US" altLang="ko-KR" sz="1300" i="1" kern="0">
                                            <a:ln>
                                              <a:solidFill>
                                                <a:schemeClr val="tx1">
                                                  <a:alpha val="5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𝑒𝑔𝑜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⃗"/>
                                    <m:ctrlPr>
                                      <a:rPr lang="en-US" altLang="ko-KR" sz="1300" i="1" kern="0">
                                        <a:ln>
                                          <a:solidFill>
                                            <a:schemeClr val="tx1">
                                              <a:alpha val="5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altLang="ko-KR" sz="1300" i="1" kern="0">
                                            <a:ln>
                                              <a:solidFill>
                                                <a:schemeClr val="tx1">
                                                  <a:alpha val="5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300" i="1" kern="0">
                                            <a:ln>
                                              <a:solidFill>
                                                <a:schemeClr val="tx1">
                                                  <a:alpha val="5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𝑃</m:t>
                                        </m:r>
                                      </m:e>
                                      <m:sub>
                                        <m:r>
                                          <a:rPr lang="en-US" altLang="ko-KR" sz="1300" i="1" kern="0">
                                            <a:ln>
                                              <a:solidFill>
                                                <a:schemeClr val="tx1">
                                                  <a:alpha val="5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𝑜𝑏𝑠</m:t>
                                        </m:r>
                                      </m:sub>
                                    </m:sSub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b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</a:b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𝐷</m:t>
                        </m:r>
                      </m:e>
                      <m:sub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𝑒𝑔𝑜</m:t>
                        </m:r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_</m:t>
                        </m:r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𝑜𝑏𝑠</m:t>
                        </m:r>
                      </m:sub>
                    </m:sSub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&lt;50</m:t>
                    </m:r>
                  </m:oMath>
                </a14:m>
                <a:b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</a:b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  - Bit operation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기반 영역 내 사람 객체 </a:t>
                </a: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indexing</a:t>
                </a:r>
                <a:b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</a:b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   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영역 내 사람 객체 </a:t>
                </a: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=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사람 객체</a:t>
                </a: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𝐷</m:t>
                        </m:r>
                      </m:e>
                      <m:sub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𝑒𝑔𝑜</m:t>
                        </m:r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_</m:t>
                        </m:r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𝑜𝑏𝑠</m:t>
                        </m:r>
                      </m:sub>
                    </m:sSub>
                    <m:r>
                      <a:rPr lang="en-US" altLang="ko-KR" sz="1300" i="1" ker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&lt;</m:t>
                    </m:r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50</m:t>
                    </m:r>
                  </m:oMath>
                </a14:m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)</a:t>
                </a:r>
              </a:p>
            </p:txBody>
          </p:sp>
        </mc:Choice>
        <mc:Fallback xmlns=""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07A6FFEB-AF97-4372-B0EF-80FD19B197B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1899058"/>
                <a:ext cx="9144000" cy="26220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그룹 1">
            <a:extLst>
              <a:ext uri="{FF2B5EF4-FFF2-40B4-BE49-F238E27FC236}">
                <a16:creationId xmlns:a16="http://schemas.microsoft.com/office/drawing/2014/main" id="{D693943C-49B5-428E-9FD0-B674FCFE76D3}"/>
              </a:ext>
            </a:extLst>
          </p:cNvPr>
          <p:cNvGrpSpPr/>
          <p:nvPr/>
        </p:nvGrpSpPr>
        <p:grpSpPr>
          <a:xfrm>
            <a:off x="6169986" y="1005306"/>
            <a:ext cx="3129222" cy="4217913"/>
            <a:chOff x="6169986" y="1005306"/>
            <a:chExt cx="3129222" cy="4217913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B519A2CE-9D34-47D9-9056-FF336494D367}"/>
                </a:ext>
              </a:extLst>
            </p:cNvPr>
            <p:cNvSpPr/>
            <p:nvPr/>
          </p:nvSpPr>
          <p:spPr>
            <a:xfrm>
              <a:off x="6536413" y="1005306"/>
              <a:ext cx="2762795" cy="2340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5">
                  <a:lumMod val="75000"/>
                </a:schemeClr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동적</a:t>
              </a:r>
              <a:r>
                <a:rPr lang="en-US" altLang="ko-KR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 </a:t>
              </a:r>
              <a:r>
                <a:rPr lang="ko-KR" altLang="en-US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객체 데이터 입력</a:t>
              </a: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06F2EA00-9E15-42C1-8BBB-D2CF834AA9BB}"/>
                </a:ext>
              </a:extLst>
            </p:cNvPr>
            <p:cNvSpPr/>
            <p:nvPr/>
          </p:nvSpPr>
          <p:spPr>
            <a:xfrm>
              <a:off x="6931524" y="2681068"/>
              <a:ext cx="1980000" cy="2340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5">
                  <a:lumMod val="75000"/>
                </a:schemeClr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신규 객체 생성 빈도 측정</a:t>
              </a:r>
            </a:p>
          </p:txBody>
        </p:sp>
        <p:cxnSp>
          <p:nvCxnSpPr>
            <p:cNvPr id="16" name="직선 화살표 연결선 15">
              <a:extLst>
                <a:ext uri="{FF2B5EF4-FFF2-40B4-BE49-F238E27FC236}">
                  <a16:creationId xmlns:a16="http://schemas.microsoft.com/office/drawing/2014/main" id="{933899B8-AB6B-477A-B627-A1F3C484643E}"/>
                </a:ext>
              </a:extLst>
            </p:cNvPr>
            <p:cNvCxnSpPr>
              <a:cxnSpLocks/>
            </p:cNvCxnSpPr>
            <p:nvPr/>
          </p:nvCxnSpPr>
          <p:spPr>
            <a:xfrm>
              <a:off x="7917803" y="1259393"/>
              <a:ext cx="0" cy="27232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왼쪽 중괄호 16">
              <a:extLst>
                <a:ext uri="{FF2B5EF4-FFF2-40B4-BE49-F238E27FC236}">
                  <a16:creationId xmlns:a16="http://schemas.microsoft.com/office/drawing/2014/main" id="{59185AAE-C9FB-4844-8256-26BFE0EF9034}"/>
                </a:ext>
              </a:extLst>
            </p:cNvPr>
            <p:cNvSpPr/>
            <p:nvPr/>
          </p:nvSpPr>
          <p:spPr>
            <a:xfrm>
              <a:off x="6441358" y="2775380"/>
              <a:ext cx="128117" cy="608205"/>
            </a:xfrm>
            <a:prstGeom prst="leftBrace">
              <a:avLst>
                <a:gd name="adj1" fmla="val 250081"/>
                <a:gd name="adj2" fmla="val 50928"/>
              </a:avLst>
            </a:prstGeom>
            <a:ln w="1905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77231350-730D-4576-8097-4FDC1F466236}"/>
                </a:ext>
              </a:extLst>
            </p:cNvPr>
            <p:cNvSpPr/>
            <p:nvPr/>
          </p:nvSpPr>
          <p:spPr>
            <a:xfrm>
              <a:off x="6253417" y="1531714"/>
              <a:ext cx="252000" cy="252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9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Arial" panose="020B0604020202020204" pitchFamily="34" charset="0"/>
                  <a:ea typeface="KoPub돋움체 Bold" panose="02020603020101020101" pitchFamily="18" charset="-127"/>
                  <a:cs typeface="Arial" panose="020B0604020202020204" pitchFamily="34" charset="0"/>
                </a:rPr>
                <a:t>1</a:t>
              </a:r>
              <a:endParaRPr lang="ko-KR" altLang="en-US" sz="9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5CBE47DF-E3CB-446F-89A7-BB389967B812}"/>
                </a:ext>
              </a:extLst>
            </p:cNvPr>
            <p:cNvSpPr/>
            <p:nvPr/>
          </p:nvSpPr>
          <p:spPr>
            <a:xfrm>
              <a:off x="6295986" y="2094657"/>
              <a:ext cx="252000" cy="252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9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Arial" panose="020B0604020202020204" pitchFamily="34" charset="0"/>
                  <a:ea typeface="KoPub돋움체 Bold" panose="02020603020101020101" pitchFamily="18" charset="-127"/>
                  <a:cs typeface="Arial" panose="020B0604020202020204" pitchFamily="34" charset="0"/>
                </a:rPr>
                <a:t>2</a:t>
              </a:r>
              <a:endParaRPr lang="ko-KR" altLang="en-US" sz="9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AA4942EF-56FC-4517-84F0-DE72A68414D6}"/>
                </a:ext>
              </a:extLst>
            </p:cNvPr>
            <p:cNvSpPr/>
            <p:nvPr/>
          </p:nvSpPr>
          <p:spPr>
            <a:xfrm>
              <a:off x="6277713" y="3972573"/>
              <a:ext cx="252000" cy="252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9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Arial" panose="020B0604020202020204" pitchFamily="34" charset="0"/>
                  <a:ea typeface="KoPub돋움체 Bold" panose="02020603020101020101" pitchFamily="18" charset="-127"/>
                  <a:cs typeface="Arial" panose="020B0604020202020204" pitchFamily="34" charset="0"/>
                </a:rPr>
                <a:t>4</a:t>
              </a:r>
              <a:endParaRPr lang="ko-KR" altLang="en-US" sz="9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21" name="순서도: 판단 20">
              <a:extLst>
                <a:ext uri="{FF2B5EF4-FFF2-40B4-BE49-F238E27FC236}">
                  <a16:creationId xmlns:a16="http://schemas.microsoft.com/office/drawing/2014/main" id="{3970E080-A6CC-4082-923B-E978510F0163}"/>
                </a:ext>
              </a:extLst>
            </p:cNvPr>
            <p:cNvSpPr/>
            <p:nvPr/>
          </p:nvSpPr>
          <p:spPr>
            <a:xfrm>
              <a:off x="6536412" y="1990997"/>
              <a:ext cx="2762782" cy="468000"/>
            </a:xfrm>
            <a:prstGeom prst="flowChartDecision">
              <a:avLst/>
            </a:prstGeom>
            <a:solidFill>
              <a:schemeClr val="bg1"/>
            </a:solidFill>
            <a:ln w="19050">
              <a:solidFill>
                <a:schemeClr val="accent5">
                  <a:lumMod val="75000"/>
                </a:schemeClr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주행 경로 반경 </a:t>
              </a:r>
              <a:r>
                <a:rPr lang="en-US" altLang="ko-KR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10m </a:t>
              </a:r>
              <a:r>
                <a:rPr lang="ko-KR" altLang="en-US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이내</a:t>
              </a:r>
              <a:r>
                <a:rPr lang="en-US" altLang="ko-KR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?</a:t>
              </a:r>
              <a:endPara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45F5DF4E-154D-4703-9B9D-15F39CF737EE}"/>
                </a:ext>
              </a:extLst>
            </p:cNvPr>
            <p:cNvSpPr/>
            <p:nvPr/>
          </p:nvSpPr>
          <p:spPr>
            <a:xfrm>
              <a:off x="7309032" y="4530348"/>
              <a:ext cx="1217541" cy="2340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5">
                  <a:lumMod val="75000"/>
                </a:schemeClr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통행 과다 환경 지정</a:t>
              </a:r>
            </a:p>
          </p:txBody>
        </p:sp>
        <p:cxnSp>
          <p:nvCxnSpPr>
            <p:cNvPr id="23" name="직선 화살표 연결선 22">
              <a:extLst>
                <a:ext uri="{FF2B5EF4-FFF2-40B4-BE49-F238E27FC236}">
                  <a16:creationId xmlns:a16="http://schemas.microsoft.com/office/drawing/2014/main" id="{58B70EDC-B56F-492C-B71C-367DFEA3A168}"/>
                </a:ext>
              </a:extLst>
            </p:cNvPr>
            <p:cNvCxnSpPr>
              <a:cxnSpLocks/>
              <a:stCxn id="21" idx="2"/>
            </p:cNvCxnSpPr>
            <p:nvPr/>
          </p:nvCxnSpPr>
          <p:spPr>
            <a:xfrm>
              <a:off x="7917803" y="2458997"/>
              <a:ext cx="0" cy="22028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37F3E030-5B2F-4BFC-ADF4-833A62E2FDBC}"/>
                </a:ext>
              </a:extLst>
            </p:cNvPr>
            <p:cNvSpPr/>
            <p:nvPr/>
          </p:nvSpPr>
          <p:spPr>
            <a:xfrm>
              <a:off x="6932293" y="4989219"/>
              <a:ext cx="1980000" cy="2340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7A00"/>
              </a:solidFill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Confidence</a:t>
              </a:r>
              <a:r>
                <a:rPr lang="ko-KR" altLang="en-US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 </a:t>
              </a:r>
              <a:r>
                <a:rPr lang="en-US" altLang="ko-KR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value </a:t>
              </a:r>
              <a:r>
                <a:rPr lang="ko-KR" altLang="en-US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출력</a:t>
              </a:r>
            </a:p>
          </p:txBody>
        </p:sp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1AF18A1C-B848-4651-B316-C0715FFEC2B1}"/>
                </a:ext>
              </a:extLst>
            </p:cNvPr>
            <p:cNvSpPr/>
            <p:nvPr/>
          </p:nvSpPr>
          <p:spPr>
            <a:xfrm>
              <a:off x="6169986" y="2952227"/>
              <a:ext cx="252000" cy="252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9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Arial" panose="020B0604020202020204" pitchFamily="34" charset="0"/>
                  <a:ea typeface="KoPub돋움체 Bold" panose="02020603020101020101" pitchFamily="18" charset="-127"/>
                  <a:cs typeface="Arial" panose="020B0604020202020204" pitchFamily="34" charset="0"/>
                </a:rPr>
                <a:t>3</a:t>
              </a:r>
              <a:endParaRPr lang="ko-KR" altLang="en-US" sz="9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C438A570-77B3-486A-8942-5363DCE6120B}"/>
                </a:ext>
              </a:extLst>
            </p:cNvPr>
            <p:cNvSpPr/>
            <p:nvPr/>
          </p:nvSpPr>
          <p:spPr>
            <a:xfrm>
              <a:off x="6536412" y="1531714"/>
              <a:ext cx="2762783" cy="2340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5">
                  <a:lumMod val="75000"/>
                </a:schemeClr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50 m </a:t>
              </a:r>
              <a:r>
                <a:rPr lang="ko-KR" altLang="en-US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거리 이내 동적객체 추출</a:t>
              </a:r>
            </a:p>
          </p:txBody>
        </p:sp>
        <p:cxnSp>
          <p:nvCxnSpPr>
            <p:cNvPr id="38" name="직선 화살표 연결선 37">
              <a:extLst>
                <a:ext uri="{FF2B5EF4-FFF2-40B4-BE49-F238E27FC236}">
                  <a16:creationId xmlns:a16="http://schemas.microsoft.com/office/drawing/2014/main" id="{10FF046B-6D47-4EDE-83BF-E915BE56E697}"/>
                </a:ext>
              </a:extLst>
            </p:cNvPr>
            <p:cNvCxnSpPr>
              <a:cxnSpLocks/>
              <a:stCxn id="35" idx="2"/>
              <a:endCxn id="21" idx="0"/>
            </p:cNvCxnSpPr>
            <p:nvPr/>
          </p:nvCxnSpPr>
          <p:spPr>
            <a:xfrm flipH="1">
              <a:off x="7917803" y="1765714"/>
              <a:ext cx="1" cy="22528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순서도: 판단 44">
              <a:extLst>
                <a:ext uri="{FF2B5EF4-FFF2-40B4-BE49-F238E27FC236}">
                  <a16:creationId xmlns:a16="http://schemas.microsoft.com/office/drawing/2014/main" id="{E768DE2F-EE07-43AA-8AB3-62EDBA7B4723}"/>
                </a:ext>
              </a:extLst>
            </p:cNvPr>
            <p:cNvSpPr/>
            <p:nvPr/>
          </p:nvSpPr>
          <p:spPr>
            <a:xfrm>
              <a:off x="6536412" y="3156111"/>
              <a:ext cx="2762782" cy="468000"/>
            </a:xfrm>
            <a:prstGeom prst="flowChartDecision">
              <a:avLst/>
            </a:prstGeom>
            <a:solidFill>
              <a:schemeClr val="bg1"/>
            </a:solidFill>
            <a:ln w="19050">
              <a:solidFill>
                <a:schemeClr val="accent5">
                  <a:lumMod val="75000"/>
                </a:schemeClr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객체 출현 시간 </a:t>
              </a:r>
              <a:r>
                <a:rPr lang="en-US" altLang="ko-KR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&lt; 10s ?</a:t>
              </a:r>
              <a:endPara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cxnSp>
          <p:nvCxnSpPr>
            <p:cNvPr id="46" name="직선 화살표 연결선 45">
              <a:extLst>
                <a:ext uri="{FF2B5EF4-FFF2-40B4-BE49-F238E27FC236}">
                  <a16:creationId xmlns:a16="http://schemas.microsoft.com/office/drawing/2014/main" id="{069C8D19-745F-4527-9C74-63CE17B801D4}"/>
                </a:ext>
              </a:extLst>
            </p:cNvPr>
            <p:cNvCxnSpPr>
              <a:cxnSpLocks/>
            </p:cNvCxnSpPr>
            <p:nvPr/>
          </p:nvCxnSpPr>
          <p:spPr>
            <a:xfrm>
              <a:off x="7917803" y="2935829"/>
              <a:ext cx="0" cy="22028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순서도: 판단 49">
              <a:extLst>
                <a:ext uri="{FF2B5EF4-FFF2-40B4-BE49-F238E27FC236}">
                  <a16:creationId xmlns:a16="http://schemas.microsoft.com/office/drawing/2014/main" id="{70A8E295-B8E5-488C-9DED-E5F367F5041D}"/>
                </a:ext>
              </a:extLst>
            </p:cNvPr>
            <p:cNvSpPr/>
            <p:nvPr/>
          </p:nvSpPr>
          <p:spPr>
            <a:xfrm>
              <a:off x="6536412" y="3864573"/>
              <a:ext cx="2762782" cy="468000"/>
            </a:xfrm>
            <a:prstGeom prst="flowChartDecision">
              <a:avLst/>
            </a:prstGeom>
            <a:solidFill>
              <a:schemeClr val="bg1"/>
            </a:solidFill>
            <a:ln w="19050">
              <a:solidFill>
                <a:schemeClr val="accent5">
                  <a:lumMod val="75000"/>
                </a:schemeClr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객체간 최대 거리 </a:t>
              </a:r>
              <a:r>
                <a:rPr lang="en-US" altLang="ko-KR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&lt; 20m?</a:t>
              </a:r>
              <a:endPara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cxnSp>
          <p:nvCxnSpPr>
            <p:cNvPr id="51" name="직선 화살표 연결선 50">
              <a:extLst>
                <a:ext uri="{FF2B5EF4-FFF2-40B4-BE49-F238E27FC236}">
                  <a16:creationId xmlns:a16="http://schemas.microsoft.com/office/drawing/2014/main" id="{2BE5F555-0204-4DBE-ABE1-E67ABEF4DC53}"/>
                </a:ext>
              </a:extLst>
            </p:cNvPr>
            <p:cNvCxnSpPr>
              <a:cxnSpLocks/>
            </p:cNvCxnSpPr>
            <p:nvPr/>
          </p:nvCxnSpPr>
          <p:spPr>
            <a:xfrm>
              <a:off x="7917803" y="3624111"/>
              <a:ext cx="0" cy="22028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직선 화살표 연결선 51">
              <a:extLst>
                <a:ext uri="{FF2B5EF4-FFF2-40B4-BE49-F238E27FC236}">
                  <a16:creationId xmlns:a16="http://schemas.microsoft.com/office/drawing/2014/main" id="{E2993AA0-9610-4B05-A495-F33BFA189506}"/>
                </a:ext>
              </a:extLst>
            </p:cNvPr>
            <p:cNvCxnSpPr>
              <a:cxnSpLocks/>
            </p:cNvCxnSpPr>
            <p:nvPr/>
          </p:nvCxnSpPr>
          <p:spPr>
            <a:xfrm>
              <a:off x="7917803" y="4332573"/>
              <a:ext cx="0" cy="22028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직선 화살표 연결선 52">
              <a:extLst>
                <a:ext uri="{FF2B5EF4-FFF2-40B4-BE49-F238E27FC236}">
                  <a16:creationId xmlns:a16="http://schemas.microsoft.com/office/drawing/2014/main" id="{BDCFCF64-B791-4DA1-988F-B64A85B975B7}"/>
                </a:ext>
              </a:extLst>
            </p:cNvPr>
            <p:cNvCxnSpPr>
              <a:cxnSpLocks/>
            </p:cNvCxnSpPr>
            <p:nvPr/>
          </p:nvCxnSpPr>
          <p:spPr>
            <a:xfrm>
              <a:off x="7917803" y="4768937"/>
              <a:ext cx="0" cy="22028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왼쪽 중괄호 53">
              <a:extLst>
                <a:ext uri="{FF2B5EF4-FFF2-40B4-BE49-F238E27FC236}">
                  <a16:creationId xmlns:a16="http://schemas.microsoft.com/office/drawing/2014/main" id="{5985A675-02AF-4959-AA4C-1E654796B1AF}"/>
                </a:ext>
              </a:extLst>
            </p:cNvPr>
            <p:cNvSpPr/>
            <p:nvPr/>
          </p:nvSpPr>
          <p:spPr>
            <a:xfrm>
              <a:off x="6529713" y="4563705"/>
              <a:ext cx="128117" cy="608205"/>
            </a:xfrm>
            <a:prstGeom prst="leftBrace">
              <a:avLst>
                <a:gd name="adj1" fmla="val 250081"/>
                <a:gd name="adj2" fmla="val 50928"/>
              </a:avLst>
            </a:prstGeom>
            <a:ln w="1905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" name="타원 54">
              <a:extLst>
                <a:ext uri="{FF2B5EF4-FFF2-40B4-BE49-F238E27FC236}">
                  <a16:creationId xmlns:a16="http://schemas.microsoft.com/office/drawing/2014/main" id="{28BDEF8B-180E-4415-865F-B90279507D59}"/>
                </a:ext>
              </a:extLst>
            </p:cNvPr>
            <p:cNvSpPr/>
            <p:nvPr/>
          </p:nvSpPr>
          <p:spPr>
            <a:xfrm>
              <a:off x="6277713" y="4704143"/>
              <a:ext cx="252000" cy="252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9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Arial" panose="020B0604020202020204" pitchFamily="34" charset="0"/>
                  <a:ea typeface="KoPub돋움체 Bold" panose="02020603020101020101" pitchFamily="18" charset="-127"/>
                  <a:cs typeface="Arial" panose="020B0604020202020204" pitchFamily="34" charset="0"/>
                </a:rPr>
                <a:t>5</a:t>
              </a:r>
              <a:endParaRPr lang="ko-KR" altLang="en-US" sz="9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0477002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제목 1">
            <a:extLst>
              <a:ext uri="{FF2B5EF4-FFF2-40B4-BE49-F238E27FC236}">
                <a16:creationId xmlns:a16="http://schemas.microsoft.com/office/drawing/2014/main" id="{8C31F0AB-4FC8-4DEC-A935-AE03319F8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5</a:t>
            </a:r>
            <a:r>
              <a:rPr lang="ko-KR" altLang="en-US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주행 경로상 장애물 통행량이 과다한 환경</a:t>
            </a:r>
            <a:r>
              <a:rPr lang="en-US" altLang="ko-KR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(</a:t>
            </a:r>
            <a:r>
              <a:rPr lang="ko-KR" altLang="en-US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사람</a:t>
            </a:r>
            <a:r>
              <a:rPr lang="en-US" altLang="ko-KR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)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F55F954-5E86-475A-837F-2B8CED6C7DF1}" type="slidenum">
              <a:rPr lang="ko-KR" altLang="en-US" smtClean="0"/>
              <a:pPr/>
              <a:t>58</a:t>
            </a:fld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519A2CE-9D34-47D9-9056-FF336494D367}"/>
              </a:ext>
            </a:extLst>
          </p:cNvPr>
          <p:cNvSpPr/>
          <p:nvPr/>
        </p:nvSpPr>
        <p:spPr>
          <a:xfrm>
            <a:off x="6536413" y="1005306"/>
            <a:ext cx="2762795" cy="234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동적</a:t>
            </a:r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객체 데이터 입력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6F2EA00-9E15-42C1-8BBB-D2CF834AA9BB}"/>
              </a:ext>
            </a:extLst>
          </p:cNvPr>
          <p:cNvSpPr/>
          <p:nvPr/>
        </p:nvSpPr>
        <p:spPr>
          <a:xfrm>
            <a:off x="6931524" y="2681068"/>
            <a:ext cx="1980000" cy="234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신규 객체 생성 빈도 측정</a:t>
            </a:r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933899B8-AB6B-477A-B627-A1F3C484643E}"/>
              </a:ext>
            </a:extLst>
          </p:cNvPr>
          <p:cNvCxnSpPr>
            <a:cxnSpLocks/>
          </p:cNvCxnSpPr>
          <p:nvPr/>
        </p:nvCxnSpPr>
        <p:spPr>
          <a:xfrm>
            <a:off x="7917803" y="1259393"/>
            <a:ext cx="0" cy="27232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왼쪽 중괄호 16">
            <a:extLst>
              <a:ext uri="{FF2B5EF4-FFF2-40B4-BE49-F238E27FC236}">
                <a16:creationId xmlns:a16="http://schemas.microsoft.com/office/drawing/2014/main" id="{59185AAE-C9FB-4844-8256-26BFE0EF9034}"/>
              </a:ext>
            </a:extLst>
          </p:cNvPr>
          <p:cNvSpPr/>
          <p:nvPr/>
        </p:nvSpPr>
        <p:spPr>
          <a:xfrm>
            <a:off x="6441358" y="2775380"/>
            <a:ext cx="128117" cy="608205"/>
          </a:xfrm>
          <a:prstGeom prst="leftBrace">
            <a:avLst>
              <a:gd name="adj1" fmla="val 250081"/>
              <a:gd name="adj2" fmla="val 50928"/>
            </a:avLst>
          </a:prstGeom>
          <a:ln w="190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77231350-730D-4576-8097-4FDC1F466236}"/>
              </a:ext>
            </a:extLst>
          </p:cNvPr>
          <p:cNvSpPr/>
          <p:nvPr/>
        </p:nvSpPr>
        <p:spPr>
          <a:xfrm>
            <a:off x="6253417" y="1531714"/>
            <a:ext cx="252000" cy="252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rPr>
              <a:t>1</a:t>
            </a:r>
            <a:endParaRPr lang="ko-KR" altLang="en-US" sz="9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Arial" panose="020B0604020202020204" pitchFamily="34" charset="0"/>
              <a:ea typeface="KoPub돋움체 Bold" panose="02020603020101020101" pitchFamily="18" charset="-127"/>
              <a:cs typeface="Arial" panose="020B0604020202020204" pitchFamily="34" charset="0"/>
            </a:endParaRP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5CBE47DF-E3CB-446F-89A7-BB389967B812}"/>
              </a:ext>
            </a:extLst>
          </p:cNvPr>
          <p:cNvSpPr/>
          <p:nvPr/>
        </p:nvSpPr>
        <p:spPr>
          <a:xfrm>
            <a:off x="6295986" y="2094657"/>
            <a:ext cx="252000" cy="252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rPr>
              <a:t>2</a:t>
            </a:r>
            <a:endParaRPr lang="ko-KR" altLang="en-US" sz="9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Arial" panose="020B0604020202020204" pitchFamily="34" charset="0"/>
              <a:ea typeface="KoPub돋움체 Bold" panose="02020603020101020101" pitchFamily="18" charset="-127"/>
              <a:cs typeface="Arial" panose="020B0604020202020204" pitchFamily="34" charset="0"/>
            </a:endParaRP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AA4942EF-56FC-4517-84F0-DE72A68414D6}"/>
              </a:ext>
            </a:extLst>
          </p:cNvPr>
          <p:cNvSpPr/>
          <p:nvPr/>
        </p:nvSpPr>
        <p:spPr>
          <a:xfrm>
            <a:off x="6277713" y="3972573"/>
            <a:ext cx="252000" cy="252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rPr>
              <a:t>4</a:t>
            </a:r>
            <a:endParaRPr lang="ko-KR" altLang="en-US" sz="9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Arial" panose="020B0604020202020204" pitchFamily="34" charset="0"/>
              <a:ea typeface="KoPub돋움체 Bold" panose="02020603020101020101" pitchFamily="18" charset="-127"/>
              <a:cs typeface="Arial" panose="020B0604020202020204" pitchFamily="34" charset="0"/>
            </a:endParaRPr>
          </a:p>
        </p:txBody>
      </p:sp>
      <p:sp>
        <p:nvSpPr>
          <p:cNvPr id="21" name="순서도: 판단 20">
            <a:extLst>
              <a:ext uri="{FF2B5EF4-FFF2-40B4-BE49-F238E27FC236}">
                <a16:creationId xmlns:a16="http://schemas.microsoft.com/office/drawing/2014/main" id="{3970E080-A6CC-4082-923B-E978510F0163}"/>
              </a:ext>
            </a:extLst>
          </p:cNvPr>
          <p:cNvSpPr/>
          <p:nvPr/>
        </p:nvSpPr>
        <p:spPr>
          <a:xfrm>
            <a:off x="6536412" y="1990997"/>
            <a:ext cx="2762782" cy="468000"/>
          </a:xfrm>
          <a:prstGeom prst="flowChartDecision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주행 경로 반경 </a:t>
            </a:r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10m </a:t>
            </a:r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이내</a:t>
            </a:r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?</a:t>
            </a:r>
            <a:endParaRPr lang="ko-KR" altLang="en-US" sz="105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5F5DF4E-154D-4703-9B9D-15F39CF737EE}"/>
              </a:ext>
            </a:extLst>
          </p:cNvPr>
          <p:cNvSpPr/>
          <p:nvPr/>
        </p:nvSpPr>
        <p:spPr>
          <a:xfrm>
            <a:off x="7309032" y="4530348"/>
            <a:ext cx="1217541" cy="234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통행 과다 환경 지정</a:t>
            </a:r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58B70EDC-B56F-492C-B71C-367DFEA3A168}"/>
              </a:ext>
            </a:extLst>
          </p:cNvPr>
          <p:cNvCxnSpPr>
            <a:cxnSpLocks/>
            <a:stCxn id="21" idx="2"/>
          </p:cNvCxnSpPr>
          <p:nvPr/>
        </p:nvCxnSpPr>
        <p:spPr>
          <a:xfrm>
            <a:off x="7917803" y="2458997"/>
            <a:ext cx="0" cy="22028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7F3E030-5B2F-4BFC-ADF4-833A62E2FDBC}"/>
              </a:ext>
            </a:extLst>
          </p:cNvPr>
          <p:cNvSpPr/>
          <p:nvPr/>
        </p:nvSpPr>
        <p:spPr>
          <a:xfrm>
            <a:off x="6932293" y="4989219"/>
            <a:ext cx="1980000" cy="234000"/>
          </a:xfrm>
          <a:prstGeom prst="rect">
            <a:avLst/>
          </a:prstGeom>
          <a:solidFill>
            <a:schemeClr val="bg1"/>
          </a:solidFill>
          <a:ln w="19050">
            <a:solidFill>
              <a:srgbClr val="007A00"/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Confidence</a:t>
            </a:r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value </a:t>
            </a:r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출력</a:t>
            </a: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1AF18A1C-B848-4651-B316-C0715FFEC2B1}"/>
              </a:ext>
            </a:extLst>
          </p:cNvPr>
          <p:cNvSpPr/>
          <p:nvPr/>
        </p:nvSpPr>
        <p:spPr>
          <a:xfrm>
            <a:off x="6169986" y="2952227"/>
            <a:ext cx="252000" cy="252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rPr>
              <a:t>3</a:t>
            </a:r>
            <a:endParaRPr lang="ko-KR" altLang="en-US" sz="9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Arial" panose="020B0604020202020204" pitchFamily="34" charset="0"/>
              <a:ea typeface="KoPub돋움체 Bold" panose="02020603020101020101" pitchFamily="18" charset="-127"/>
              <a:cs typeface="Arial" panose="020B0604020202020204" pitchFamily="34" charset="0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C438A570-77B3-486A-8942-5363DCE6120B}"/>
              </a:ext>
            </a:extLst>
          </p:cNvPr>
          <p:cNvSpPr/>
          <p:nvPr/>
        </p:nvSpPr>
        <p:spPr>
          <a:xfrm>
            <a:off x="6536412" y="1531714"/>
            <a:ext cx="2762783" cy="234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50 m </a:t>
            </a:r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거리 이내 동적객체 추출</a:t>
            </a:r>
          </a:p>
        </p:txBody>
      </p: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10FF046B-6D47-4EDE-83BF-E915BE56E697}"/>
              </a:ext>
            </a:extLst>
          </p:cNvPr>
          <p:cNvCxnSpPr>
            <a:cxnSpLocks/>
            <a:stCxn id="35" idx="2"/>
            <a:endCxn id="21" idx="0"/>
          </p:cNvCxnSpPr>
          <p:nvPr/>
        </p:nvCxnSpPr>
        <p:spPr>
          <a:xfrm flipH="1">
            <a:off x="7917803" y="1765714"/>
            <a:ext cx="1" cy="22528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순서도: 판단 44">
            <a:extLst>
              <a:ext uri="{FF2B5EF4-FFF2-40B4-BE49-F238E27FC236}">
                <a16:creationId xmlns:a16="http://schemas.microsoft.com/office/drawing/2014/main" id="{E768DE2F-EE07-43AA-8AB3-62EDBA7B4723}"/>
              </a:ext>
            </a:extLst>
          </p:cNvPr>
          <p:cNvSpPr/>
          <p:nvPr/>
        </p:nvSpPr>
        <p:spPr>
          <a:xfrm>
            <a:off x="6536412" y="3156111"/>
            <a:ext cx="2762782" cy="468000"/>
          </a:xfrm>
          <a:prstGeom prst="flowChartDecision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객체 출현 시간 </a:t>
            </a:r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&lt; 10s ?</a:t>
            </a:r>
            <a:endParaRPr lang="ko-KR" altLang="en-US" sz="105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069C8D19-745F-4527-9C74-63CE17B801D4}"/>
              </a:ext>
            </a:extLst>
          </p:cNvPr>
          <p:cNvCxnSpPr>
            <a:cxnSpLocks/>
          </p:cNvCxnSpPr>
          <p:nvPr/>
        </p:nvCxnSpPr>
        <p:spPr>
          <a:xfrm>
            <a:off x="7917803" y="2935829"/>
            <a:ext cx="0" cy="22028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순서도: 판단 49">
            <a:extLst>
              <a:ext uri="{FF2B5EF4-FFF2-40B4-BE49-F238E27FC236}">
                <a16:creationId xmlns:a16="http://schemas.microsoft.com/office/drawing/2014/main" id="{70A8E295-B8E5-488C-9DED-E5F367F5041D}"/>
              </a:ext>
            </a:extLst>
          </p:cNvPr>
          <p:cNvSpPr/>
          <p:nvPr/>
        </p:nvSpPr>
        <p:spPr>
          <a:xfrm>
            <a:off x="6536412" y="3864573"/>
            <a:ext cx="2762782" cy="468000"/>
          </a:xfrm>
          <a:prstGeom prst="flowChartDecision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객체간 최대 거리 </a:t>
            </a:r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&lt; 20m?</a:t>
            </a:r>
            <a:endParaRPr lang="ko-KR" altLang="en-US" sz="105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2BE5F555-0204-4DBE-ABE1-E67ABEF4DC53}"/>
              </a:ext>
            </a:extLst>
          </p:cNvPr>
          <p:cNvCxnSpPr>
            <a:cxnSpLocks/>
          </p:cNvCxnSpPr>
          <p:nvPr/>
        </p:nvCxnSpPr>
        <p:spPr>
          <a:xfrm>
            <a:off x="7917803" y="3624111"/>
            <a:ext cx="0" cy="22028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E2993AA0-9610-4B05-A495-F33BFA189506}"/>
              </a:ext>
            </a:extLst>
          </p:cNvPr>
          <p:cNvCxnSpPr>
            <a:cxnSpLocks/>
          </p:cNvCxnSpPr>
          <p:nvPr/>
        </p:nvCxnSpPr>
        <p:spPr>
          <a:xfrm>
            <a:off x="7917803" y="4332573"/>
            <a:ext cx="0" cy="22028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BDCFCF64-B791-4DA1-988F-B64A85B975B7}"/>
              </a:ext>
            </a:extLst>
          </p:cNvPr>
          <p:cNvCxnSpPr>
            <a:cxnSpLocks/>
          </p:cNvCxnSpPr>
          <p:nvPr/>
        </p:nvCxnSpPr>
        <p:spPr>
          <a:xfrm>
            <a:off x="7917803" y="4768937"/>
            <a:ext cx="0" cy="22028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왼쪽 중괄호 53">
            <a:extLst>
              <a:ext uri="{FF2B5EF4-FFF2-40B4-BE49-F238E27FC236}">
                <a16:creationId xmlns:a16="http://schemas.microsoft.com/office/drawing/2014/main" id="{5985A675-02AF-4959-AA4C-1E654796B1AF}"/>
              </a:ext>
            </a:extLst>
          </p:cNvPr>
          <p:cNvSpPr/>
          <p:nvPr/>
        </p:nvSpPr>
        <p:spPr>
          <a:xfrm>
            <a:off x="6529713" y="4563705"/>
            <a:ext cx="128117" cy="608205"/>
          </a:xfrm>
          <a:prstGeom prst="leftBrace">
            <a:avLst>
              <a:gd name="adj1" fmla="val 250081"/>
              <a:gd name="adj2" fmla="val 50928"/>
            </a:avLst>
          </a:prstGeom>
          <a:ln w="190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타원 54">
            <a:extLst>
              <a:ext uri="{FF2B5EF4-FFF2-40B4-BE49-F238E27FC236}">
                <a16:creationId xmlns:a16="http://schemas.microsoft.com/office/drawing/2014/main" id="{28BDEF8B-180E-4415-865F-B90279507D59}"/>
              </a:ext>
            </a:extLst>
          </p:cNvPr>
          <p:cNvSpPr/>
          <p:nvPr/>
        </p:nvSpPr>
        <p:spPr>
          <a:xfrm>
            <a:off x="6277713" y="4704143"/>
            <a:ext cx="252000" cy="252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rPr>
              <a:t>5</a:t>
            </a:r>
            <a:endParaRPr lang="ko-KR" altLang="en-US" sz="9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Arial" panose="020B0604020202020204" pitchFamily="34" charset="0"/>
              <a:ea typeface="KoPub돋움체 Bold" panose="02020603020101020101" pitchFamily="18" charset="-127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직사각형 27">
                <a:extLst>
                  <a:ext uri="{FF2B5EF4-FFF2-40B4-BE49-F238E27FC236}">
                    <a16:creationId xmlns:a16="http://schemas.microsoft.com/office/drawing/2014/main" id="{75605064-B31E-4FB3-8A46-86958A2A8E14}"/>
                  </a:ext>
                </a:extLst>
              </p:cNvPr>
              <p:cNvSpPr/>
              <p:nvPr/>
            </p:nvSpPr>
            <p:spPr>
              <a:xfrm>
                <a:off x="381000" y="792750"/>
                <a:ext cx="9144000" cy="49024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120000"/>
                  <a:buFont typeface="+mj-ea"/>
                  <a:buAutoNum type="circleNumDbPlain" startAt="2"/>
                  <a:defRPr/>
                </a:pPr>
                <a:r>
                  <a:rPr lang="ko-KR" altLang="en-US" sz="1300" b="1" kern="0" dirty="0">
                    <a:ln>
                      <a:solidFill>
                        <a:schemeClr val="tx1">
                          <a:alpha val="30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사람 </a:t>
                </a:r>
                <a:r>
                  <a:rPr lang="en-US" altLang="ko-KR" sz="1300" b="1" kern="0" dirty="0">
                    <a:ln>
                      <a:solidFill>
                        <a:schemeClr val="tx1">
                          <a:alpha val="30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– </a:t>
                </a:r>
                <a:r>
                  <a:rPr lang="ko-KR" altLang="en-US" sz="1300" b="1" kern="0" dirty="0">
                    <a:ln>
                      <a:solidFill>
                        <a:schemeClr val="tx1">
                          <a:alpha val="30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전역경로간 거리 추정</a:t>
                </a:r>
                <a:endParaRPr lang="en-US" altLang="ko-KR" sz="130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90000"/>
                  <a:defRPr/>
                </a:pP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  -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데이터 시점 </a:t>
                </a: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: t</a:t>
                </a: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90000"/>
                  <a:defRPr/>
                </a:pP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  -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특장차 전역 경로 </a:t>
                </a: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point set </a:t>
                </a:r>
                <a:b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</a:b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  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d>
                      <m:dPr>
                        <m:ctrlP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⋯,(</m:t>
                    </m:r>
                    <m:sSub>
                      <m:sSubPr>
                        <m:ctrlP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𝑛</m:t>
                        </m:r>
                      </m:sub>
                    </m:sSub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sSub>
                      <m:sSubPr>
                        <m:ctrlP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𝑛</m:t>
                        </m:r>
                      </m:sub>
                    </m:sSub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sSub>
                      <m:sSubPr>
                        <m:ctrlP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𝑧</m:t>
                        </m:r>
                      </m:e>
                      <m:sub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𝑛</m:t>
                        </m:r>
                      </m:sub>
                    </m:sSub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endParaRPr lang="en-US" altLang="ko-KR" sz="130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90000"/>
                  <a:defRPr/>
                </a:pP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  - (n-1)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세트의 직선 경로 영역 분할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𝑍</m:t>
                        </m:r>
                      </m:e>
                      <m:sub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~ </m:t>
                    </m:r>
                    <m:sSub>
                      <m:sSubPr>
                        <m:ctrlP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𝑍</m:t>
                        </m:r>
                      </m:e>
                      <m:sub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𝑛</m:t>
                        </m:r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−1</m:t>
                        </m:r>
                      </m:sub>
                    </m:sSub>
                  </m:oMath>
                </a14:m>
                <a:endParaRPr lang="en-US" altLang="ko-KR" sz="130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90000"/>
                  <a:defRPr/>
                </a:pP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 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𝑍</m:t>
                        </m:r>
                      </m:e>
                      <m:sub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영역과 사람 사이의 거리 추정</a:t>
                </a:r>
                <a:b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</a:b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    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시작점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300" b="0" i="0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Z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300" b="0" i="0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k</m:t>
                        </m:r>
                        <m:r>
                          <a:rPr lang="en-US" altLang="ko-KR" sz="1300" b="0" i="0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ko-KR" sz="1300" b="0" i="0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start</m:t>
                        </m:r>
                      </m:sub>
                    </m:sSub>
                    <m:d>
                      <m:dPr>
                        <m:ctrlP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종점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300" b="0" i="0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Z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300" b="0" i="0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k</m:t>
                        </m:r>
                        <m:r>
                          <a:rPr lang="en-US" altLang="ko-KR" sz="1300" b="0" i="0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ko-KR" sz="1300" b="0" i="0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end</m:t>
                        </m:r>
                      </m:sub>
                    </m:sSub>
                    <m:d>
                      <m:dPr>
                        <m:ctrlP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𝑘</m:t>
                            </m:r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+1</m:t>
                            </m:r>
                          </m:sub>
                        </m:sSub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𝑘</m:t>
                            </m:r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+1</m:t>
                            </m:r>
                          </m:sub>
                        </m:sSub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𝑘</m:t>
                            </m:r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+1</m:t>
                            </m:r>
                          </m:sub>
                        </m:sSub>
                      </m:e>
                    </m:d>
                  </m:oMath>
                </a14:m>
                <a:b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</a:b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    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장애물 위치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𝑜𝑏𝑠</m:t>
                        </m:r>
                      </m:sub>
                    </m:sSub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𝑦</m:t>
                    </m:r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𝑧</m:t>
                    </m:r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endParaRPr lang="en-US" altLang="ko-KR" sz="130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90000"/>
                  <a:defRPr/>
                </a:pP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cs typeface="Arial" panose="020B0604020202020204" pitchFamily="34" charset="0"/>
                  </a:rPr>
                  <a:t>      </a:t>
                </a:r>
                <a14:m>
                  <m:oMath xmlns:m="http://schemas.openxmlformats.org/officeDocument/2006/math">
                    <m:r>
                      <a:rPr lang="en-US" altLang="ko-KR" sz="1300" b="0" i="0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0&lt;</m:t>
                    </m:r>
                    <m:f>
                      <m:fPr>
                        <m:ctrlPr>
                          <a:rPr lang="en-US" altLang="ko-KR" sz="130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acc>
                          <m:accPr>
                            <m:chr m:val="⃗"/>
                            <m:ctrlP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𝑍</m:t>
                                </m:r>
                              </m:e>
                              <m:sub>
                                <m: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𝑘</m:t>
                                </m:r>
                                <m: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,</m:t>
                                </m:r>
                                <m: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𝑠𝑡𝑎𝑟𝑡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𝑍</m:t>
                                </m:r>
                              </m:e>
                              <m:sub>
                                <m: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𝑘</m:t>
                                </m:r>
                                <m: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,</m:t>
                                </m:r>
                                <m: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𝑒𝑛𝑑</m:t>
                                </m:r>
                              </m:sub>
                            </m:sSub>
                          </m:e>
                        </m:acc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∙ </m:t>
                        </m:r>
                        <m:acc>
                          <m:accPr>
                            <m:chr m:val="⃗"/>
                            <m:ctrlP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𝑍</m:t>
                                </m:r>
                              </m:e>
                              <m:sub>
                                <m: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𝑘</m:t>
                                </m:r>
                                <m: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,</m:t>
                                </m:r>
                                <m: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𝑠𝑡𝑎𝑟𝑡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𝑜𝑏𝑠</m:t>
                                </m:r>
                              </m:sub>
                            </m:sSub>
                          </m:e>
                        </m:acc>
                      </m:num>
                      <m:den>
                        <m:sSup>
                          <m:sSupPr>
                            <m:ctrlP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ko-KR" sz="1300" b="0" i="1" kern="0" smtClea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⃗"/>
                                    <m:ctrlPr>
                                      <a:rPr lang="en-US" altLang="ko-KR" sz="1300" i="1" kern="0">
                                        <a:ln>
                                          <a:solidFill>
                                            <a:schemeClr val="tx1">
                                              <a:alpha val="5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altLang="ko-KR" sz="1300" i="1" kern="0">
                                            <a:ln>
                                              <a:solidFill>
                                                <a:schemeClr val="tx1">
                                                  <a:alpha val="5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300" i="1" kern="0">
                                            <a:ln>
                                              <a:solidFill>
                                                <a:schemeClr val="tx1">
                                                  <a:alpha val="5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𝑍</m:t>
                                        </m:r>
                                      </m:e>
                                      <m:sub>
                                        <m:r>
                                          <a:rPr lang="en-US" altLang="ko-KR" sz="1300" i="1" kern="0">
                                            <a:ln>
                                              <a:solidFill>
                                                <a:schemeClr val="tx1">
                                                  <a:alpha val="5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𝑘</m:t>
                                        </m:r>
                                        <m:r>
                                          <a:rPr lang="en-US" altLang="ko-KR" sz="1300" i="1" kern="0">
                                            <a:ln>
                                              <a:solidFill>
                                                <a:schemeClr val="tx1">
                                                  <a:alpha val="5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,</m:t>
                                        </m:r>
                                        <m:r>
                                          <a:rPr lang="en-US" altLang="ko-KR" sz="1300" i="1" kern="0">
                                            <a:ln>
                                              <a:solidFill>
                                                <a:schemeClr val="tx1">
                                                  <a:alpha val="5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𝑠𝑡𝑎𝑟𝑡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300" i="1" kern="0">
                                            <a:ln>
                                              <a:solidFill>
                                                <a:schemeClr val="tx1">
                                                  <a:alpha val="5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300" i="1" kern="0">
                                            <a:ln>
                                              <a:solidFill>
                                                <a:schemeClr val="tx1">
                                                  <a:alpha val="5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𝑍</m:t>
                                        </m:r>
                                      </m:e>
                                      <m:sub>
                                        <m:r>
                                          <a:rPr lang="en-US" altLang="ko-KR" sz="1300" i="1" kern="0">
                                            <a:ln>
                                              <a:solidFill>
                                                <a:schemeClr val="tx1">
                                                  <a:alpha val="5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𝑘</m:t>
                                        </m:r>
                                        <m:r>
                                          <a:rPr lang="en-US" altLang="ko-KR" sz="1300" i="1" kern="0">
                                            <a:ln>
                                              <a:solidFill>
                                                <a:schemeClr val="tx1">
                                                  <a:alpha val="5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,</m:t>
                                        </m:r>
                                        <m:r>
                                          <a:rPr lang="en-US" altLang="ko-KR" sz="1300" i="1" kern="0">
                                            <a:ln>
                                              <a:solidFill>
                                                <a:schemeClr val="tx1">
                                                  <a:alpha val="5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𝑒𝑛𝑑</m:t>
                                        </m:r>
                                      </m:sub>
                                    </m:sSub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&lt;1</m:t>
                    </m:r>
                  </m:oMath>
                </a14:m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의 조건을 만족하는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𝑍</m:t>
                        </m:r>
                      </m:e>
                      <m:sub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𝑘</m:t>
                        </m:r>
                      </m:sub>
                    </m:sSub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</m:t>
                    </m:r>
                    <m:sSub>
                      <m:sSubPr>
                        <m:ctrlP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𝑜𝑏𝑠</m:t>
                        </m:r>
                      </m:sub>
                    </m:sSub>
                    <m:r>
                      <a:rPr lang="ko-KR" altLang="en-US" sz="1300" i="1" ker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에</m:t>
                    </m:r>
                  </m:oMath>
                </a14:m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대해</a:t>
                </a:r>
                <a:endParaRPr lang="en-US" altLang="ko-KR" sz="130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90000"/>
                  <a:defRPr/>
                </a:pP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    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장애물 </a:t>
                </a: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–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전역경로간 거리 </a:t>
                </a:r>
                <a:b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</a:b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300" b="0" i="0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D</m:t>
                        </m:r>
                      </m:e>
                      <m:sub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𝑡𝑟𝑎</m:t>
                        </m:r>
                        <m:r>
                          <a:rPr lang="en-US" altLang="ko-KR" sz="1300" b="0" i="0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_</m:t>
                        </m:r>
                        <m:r>
                          <m:rPr>
                            <m:sty m:val="p"/>
                          </m:rPr>
                          <a:rPr lang="en-US" altLang="ko-KR" sz="1300" b="0" i="0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obs</m:t>
                        </m:r>
                      </m:sub>
                    </m:sSub>
                    <m:r>
                      <a:rPr lang="en-US" altLang="ko-KR" sz="1300" b="0" i="0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altLang="ko-KR" sz="130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𝑍</m:t>
                                </m:r>
                              </m:e>
                              <m:sub>
                                <m: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𝑘</m:t>
                                </m:r>
                                <m: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,</m:t>
                                </m:r>
                                <m: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𝑠𝑡𝑎𝑟𝑡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𝑜𝑏𝑠</m:t>
                                </m:r>
                              </m:sub>
                            </m:sSub>
                          </m:e>
                        </m:acc>
                      </m:e>
                    </m:d>
                    <m:rad>
                      <m:radPr>
                        <m:degHide m:val="on"/>
                        <m:ctrlP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radPr>
                      <m:deg/>
                      <m:e>
                        <m:r>
                          <a:rPr lang="en-US" altLang="ko-KR" sz="1300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1−</m:t>
                        </m:r>
                        <m:sSup>
                          <m:sSupPr>
                            <m:ctrlP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ko-KR" sz="1300" i="1" kern="0">
                                        <a:ln>
                                          <a:solidFill>
                                            <a:schemeClr val="tx1">
                                              <a:alpha val="5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fPr>
                                  <m:num>
                                    <m:acc>
                                      <m:accPr>
                                        <m:chr m:val="⃗"/>
                                        <m:ctrlPr>
                                          <a:rPr lang="en-US" altLang="ko-KR" sz="1300" i="1" kern="0">
                                            <a:ln>
                                              <a:solidFill>
                                                <a:schemeClr val="tx1">
                                                  <a:alpha val="5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acc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ko-KR" sz="1300" i="1" kern="0">
                                                <a:ln>
                                                  <a:solidFill>
                                                    <a:schemeClr val="tx1">
                                                      <a:alpha val="5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cs typeface="Arial" panose="020B0604020202020204" pitchFamily="34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300" i="1" kern="0">
                                                <a:ln>
                                                  <a:solidFill>
                                                    <a:schemeClr val="tx1">
                                                      <a:alpha val="5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cs typeface="Arial" panose="020B0604020202020204" pitchFamily="34" charset="0"/>
                                              </a:rPr>
                                              <m:t>𝑍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300" i="1" kern="0">
                                                <a:ln>
                                                  <a:solidFill>
                                                    <a:schemeClr val="tx1">
                                                      <a:alpha val="5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cs typeface="Arial" panose="020B0604020202020204" pitchFamily="34" charset="0"/>
                                              </a:rPr>
                                              <m:t>𝑘</m:t>
                                            </m:r>
                                            <m:r>
                                              <a:rPr lang="en-US" altLang="ko-KR" sz="1300" i="1" kern="0">
                                                <a:ln>
                                                  <a:solidFill>
                                                    <a:schemeClr val="tx1">
                                                      <a:alpha val="5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cs typeface="Arial" panose="020B0604020202020204" pitchFamily="34" charset="0"/>
                                              </a:rPr>
                                              <m:t>,</m:t>
                                            </m:r>
                                            <m:r>
                                              <a:rPr lang="en-US" altLang="ko-KR" sz="1300" i="1" kern="0">
                                                <a:ln>
                                                  <a:solidFill>
                                                    <a:schemeClr val="tx1">
                                                      <a:alpha val="5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cs typeface="Arial" panose="020B0604020202020204" pitchFamily="34" charset="0"/>
                                              </a:rPr>
                                              <m:t>𝑠𝑡𝑎𝑟𝑡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lang="en-US" altLang="ko-KR" sz="1300" i="1" kern="0">
                                                <a:ln>
                                                  <a:solidFill>
                                                    <a:schemeClr val="tx1">
                                                      <a:alpha val="5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cs typeface="Arial" panose="020B0604020202020204" pitchFamily="34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300" i="1" kern="0">
                                                <a:ln>
                                                  <a:solidFill>
                                                    <a:schemeClr val="tx1">
                                                      <a:alpha val="5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cs typeface="Arial" panose="020B0604020202020204" pitchFamily="34" charset="0"/>
                                              </a:rPr>
                                              <m:t>𝑍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300" i="1" kern="0">
                                                <a:ln>
                                                  <a:solidFill>
                                                    <a:schemeClr val="tx1">
                                                      <a:alpha val="5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cs typeface="Arial" panose="020B0604020202020204" pitchFamily="34" charset="0"/>
                                              </a:rPr>
                                              <m:t>𝑘</m:t>
                                            </m:r>
                                            <m:r>
                                              <a:rPr lang="en-US" altLang="ko-KR" sz="1300" i="1" kern="0">
                                                <a:ln>
                                                  <a:solidFill>
                                                    <a:schemeClr val="tx1">
                                                      <a:alpha val="5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cs typeface="Arial" panose="020B0604020202020204" pitchFamily="34" charset="0"/>
                                              </a:rPr>
                                              <m:t>,</m:t>
                                            </m:r>
                                            <m:r>
                                              <a:rPr lang="en-US" altLang="ko-KR" sz="1300" i="1" kern="0">
                                                <a:ln>
                                                  <a:solidFill>
                                                    <a:schemeClr val="tx1">
                                                      <a:alpha val="5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cs typeface="Arial" panose="020B0604020202020204" pitchFamily="34" charset="0"/>
                                              </a:rPr>
                                              <m:t>𝑒𝑛𝑑</m:t>
                                            </m:r>
                                          </m:sub>
                                        </m:sSub>
                                      </m:e>
                                    </m:acc>
                                    <m:r>
                                      <a:rPr lang="en-US" altLang="ko-KR" sz="1300" i="1" kern="0">
                                        <a:ln>
                                          <a:solidFill>
                                            <a:schemeClr val="tx1">
                                              <a:alpha val="5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 ∙ </m:t>
                                    </m:r>
                                    <m:acc>
                                      <m:accPr>
                                        <m:chr m:val="⃗"/>
                                        <m:ctrlPr>
                                          <a:rPr lang="en-US" altLang="ko-KR" sz="1300" i="1" kern="0">
                                            <a:ln>
                                              <a:solidFill>
                                                <a:schemeClr val="tx1">
                                                  <a:alpha val="5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acc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ko-KR" sz="1300" i="1" kern="0">
                                                <a:ln>
                                                  <a:solidFill>
                                                    <a:schemeClr val="tx1">
                                                      <a:alpha val="5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cs typeface="Arial" panose="020B0604020202020204" pitchFamily="34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300" i="1" kern="0">
                                                <a:ln>
                                                  <a:solidFill>
                                                    <a:schemeClr val="tx1">
                                                      <a:alpha val="5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cs typeface="Arial" panose="020B0604020202020204" pitchFamily="34" charset="0"/>
                                              </a:rPr>
                                              <m:t>𝑍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300" i="1" kern="0">
                                                <a:ln>
                                                  <a:solidFill>
                                                    <a:schemeClr val="tx1">
                                                      <a:alpha val="5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cs typeface="Arial" panose="020B0604020202020204" pitchFamily="34" charset="0"/>
                                              </a:rPr>
                                              <m:t>𝑘</m:t>
                                            </m:r>
                                            <m:r>
                                              <a:rPr lang="en-US" altLang="ko-KR" sz="1300" i="1" kern="0">
                                                <a:ln>
                                                  <a:solidFill>
                                                    <a:schemeClr val="tx1">
                                                      <a:alpha val="5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cs typeface="Arial" panose="020B0604020202020204" pitchFamily="34" charset="0"/>
                                              </a:rPr>
                                              <m:t>,</m:t>
                                            </m:r>
                                            <m:r>
                                              <a:rPr lang="en-US" altLang="ko-KR" sz="1300" i="1" kern="0">
                                                <a:ln>
                                                  <a:solidFill>
                                                    <a:schemeClr val="tx1">
                                                      <a:alpha val="5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cs typeface="Arial" panose="020B0604020202020204" pitchFamily="34" charset="0"/>
                                              </a:rPr>
                                              <m:t>𝑠𝑡𝑎𝑟𝑡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lang="en-US" altLang="ko-KR" sz="1300" i="1" kern="0">
                                                <a:ln>
                                                  <a:solidFill>
                                                    <a:schemeClr val="tx1">
                                                      <a:alpha val="5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cs typeface="Arial" panose="020B0604020202020204" pitchFamily="34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300" i="1" kern="0">
                                                <a:ln>
                                                  <a:solidFill>
                                                    <a:schemeClr val="tx1">
                                                      <a:alpha val="5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cs typeface="Arial" panose="020B0604020202020204" pitchFamily="34" charset="0"/>
                                              </a:rPr>
                                              <m:t>𝑃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300" i="1" kern="0">
                                                <a:ln>
                                                  <a:solidFill>
                                                    <a:schemeClr val="tx1">
                                                      <a:alpha val="5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cs typeface="Arial" panose="020B0604020202020204" pitchFamily="34" charset="0"/>
                                              </a:rPr>
                                              <m:t>𝑜𝑏𝑠</m:t>
                                            </m:r>
                                          </m:sub>
                                        </m:sSub>
                                      </m:e>
                                    </m:acc>
                                  </m:num>
                                  <m:den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altLang="ko-KR" sz="1300" i="1" kern="0">
                                            <a:ln>
                                              <a:solidFill>
                                                <a:schemeClr val="tx1">
                                                  <a:alpha val="5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dPr>
                                      <m:e>
                                        <m:acc>
                                          <m:accPr>
                                            <m:chr m:val="⃗"/>
                                            <m:ctrlPr>
                                              <a:rPr lang="en-US" altLang="ko-KR" sz="1300" i="1" kern="0">
                                                <a:ln>
                                                  <a:solidFill>
                                                    <a:schemeClr val="tx1">
                                                      <a:alpha val="5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cs typeface="Arial" panose="020B0604020202020204" pitchFamily="34" charset="0"/>
                                              </a:rPr>
                                            </m:ctrlPr>
                                          </m:acc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ko-KR" sz="1300" i="1" kern="0">
                                                    <a:ln>
                                                      <a:solidFill>
                                                        <a:schemeClr val="tx1">
                                                          <a:alpha val="5000"/>
                                                        </a:schemeClr>
                                                      </a:solidFill>
                                                    </a:ln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ko-KR" sz="1300" i="1" kern="0">
                                                    <a:ln>
                                                      <a:solidFill>
                                                        <a:schemeClr val="tx1">
                                                          <a:alpha val="5000"/>
                                                        </a:schemeClr>
                                                      </a:solidFill>
                                                    </a:ln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𝑍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ko-KR" sz="1300" i="1" kern="0">
                                                    <a:ln>
                                                      <a:solidFill>
                                                        <a:schemeClr val="tx1">
                                                          <a:alpha val="5000"/>
                                                        </a:schemeClr>
                                                      </a:solidFill>
                                                    </a:ln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𝑘</m:t>
                                                </m:r>
                                                <m:r>
                                                  <a:rPr lang="en-US" altLang="ko-KR" sz="1300" i="1" kern="0">
                                                    <a:ln>
                                                      <a:solidFill>
                                                        <a:schemeClr val="tx1">
                                                          <a:alpha val="5000"/>
                                                        </a:schemeClr>
                                                      </a:solidFill>
                                                    </a:ln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,</m:t>
                                                </m:r>
                                                <m:r>
                                                  <a:rPr lang="en-US" altLang="ko-KR" sz="1300" i="1" kern="0">
                                                    <a:ln>
                                                      <a:solidFill>
                                                        <a:schemeClr val="tx1">
                                                          <a:alpha val="5000"/>
                                                        </a:schemeClr>
                                                      </a:solidFill>
                                                    </a:ln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𝑠𝑡𝑎𝑟𝑡</m:t>
                                                </m:r>
                                              </m:sub>
                                            </m:sSub>
                                            <m:sSub>
                                              <m:sSubPr>
                                                <m:ctrlPr>
                                                  <a:rPr lang="en-US" altLang="ko-KR" sz="1300" i="1" kern="0">
                                                    <a:ln>
                                                      <a:solidFill>
                                                        <a:schemeClr val="tx1">
                                                          <a:alpha val="5000"/>
                                                        </a:schemeClr>
                                                      </a:solidFill>
                                                    </a:ln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ko-KR" sz="1300" i="1" kern="0">
                                                    <a:ln>
                                                      <a:solidFill>
                                                        <a:schemeClr val="tx1">
                                                          <a:alpha val="5000"/>
                                                        </a:schemeClr>
                                                      </a:solidFill>
                                                    </a:ln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𝑍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ko-KR" sz="1300" i="1" kern="0">
                                                    <a:ln>
                                                      <a:solidFill>
                                                        <a:schemeClr val="tx1">
                                                          <a:alpha val="5000"/>
                                                        </a:schemeClr>
                                                      </a:solidFill>
                                                    </a:ln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𝑘</m:t>
                                                </m:r>
                                                <m:r>
                                                  <a:rPr lang="en-US" altLang="ko-KR" sz="1300" i="1" kern="0">
                                                    <a:ln>
                                                      <a:solidFill>
                                                        <a:schemeClr val="tx1">
                                                          <a:alpha val="5000"/>
                                                        </a:schemeClr>
                                                      </a:solidFill>
                                                    </a:ln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,</m:t>
                                                </m:r>
                                                <m:r>
                                                  <a:rPr lang="en-US" altLang="ko-KR" sz="1300" i="1" kern="0">
                                                    <a:ln>
                                                      <a:solidFill>
                                                        <a:schemeClr val="tx1">
                                                          <a:alpha val="5000"/>
                                                        </a:schemeClr>
                                                      </a:solidFill>
                                                    </a:ln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𝑒𝑛𝑑</m:t>
                                                </m:r>
                                              </m:sub>
                                            </m:sSub>
                                          </m:e>
                                        </m:acc>
                                      </m:e>
                                    </m:d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altLang="ko-KR" sz="1300" i="1" kern="0">
                                            <a:ln>
                                              <a:solidFill>
                                                <a:schemeClr val="tx1">
                                                  <a:alpha val="5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dPr>
                                      <m:e>
                                        <m:acc>
                                          <m:accPr>
                                            <m:chr m:val="⃗"/>
                                            <m:ctrlPr>
                                              <a:rPr lang="en-US" altLang="ko-KR" sz="1300" i="1" kern="0">
                                                <a:ln>
                                                  <a:solidFill>
                                                    <a:schemeClr val="tx1">
                                                      <a:alpha val="5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cs typeface="Arial" panose="020B0604020202020204" pitchFamily="34" charset="0"/>
                                              </a:rPr>
                                            </m:ctrlPr>
                                          </m:acc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ko-KR" sz="1300" i="1" kern="0">
                                                    <a:ln>
                                                      <a:solidFill>
                                                        <a:schemeClr val="tx1">
                                                          <a:alpha val="5000"/>
                                                        </a:schemeClr>
                                                      </a:solidFill>
                                                    </a:ln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ko-KR" sz="1300" i="1" kern="0">
                                                    <a:ln>
                                                      <a:solidFill>
                                                        <a:schemeClr val="tx1">
                                                          <a:alpha val="5000"/>
                                                        </a:schemeClr>
                                                      </a:solidFill>
                                                    </a:ln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𝑍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ko-KR" sz="1300" i="1" kern="0">
                                                    <a:ln>
                                                      <a:solidFill>
                                                        <a:schemeClr val="tx1">
                                                          <a:alpha val="5000"/>
                                                        </a:schemeClr>
                                                      </a:solidFill>
                                                    </a:ln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𝑘</m:t>
                                                </m:r>
                                                <m:r>
                                                  <a:rPr lang="en-US" altLang="ko-KR" sz="1300" i="1" kern="0">
                                                    <a:ln>
                                                      <a:solidFill>
                                                        <a:schemeClr val="tx1">
                                                          <a:alpha val="5000"/>
                                                        </a:schemeClr>
                                                      </a:solidFill>
                                                    </a:ln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,</m:t>
                                                </m:r>
                                                <m:r>
                                                  <a:rPr lang="en-US" altLang="ko-KR" sz="1300" i="1" kern="0">
                                                    <a:ln>
                                                      <a:solidFill>
                                                        <a:schemeClr val="tx1">
                                                          <a:alpha val="5000"/>
                                                        </a:schemeClr>
                                                      </a:solidFill>
                                                    </a:ln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𝑠𝑡𝑎𝑟𝑡</m:t>
                                                </m:r>
                                              </m:sub>
                                            </m:sSub>
                                            <m:sSub>
                                              <m:sSubPr>
                                                <m:ctrlPr>
                                                  <a:rPr lang="en-US" altLang="ko-KR" sz="1300" i="1" kern="0">
                                                    <a:ln>
                                                      <a:solidFill>
                                                        <a:schemeClr val="tx1">
                                                          <a:alpha val="5000"/>
                                                        </a:schemeClr>
                                                      </a:solidFill>
                                                    </a:ln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ko-KR" sz="1300" i="1" kern="0">
                                                    <a:ln>
                                                      <a:solidFill>
                                                        <a:schemeClr val="tx1">
                                                          <a:alpha val="5000"/>
                                                        </a:schemeClr>
                                                      </a:solidFill>
                                                    </a:ln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𝑃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ko-KR" sz="1300" i="1" kern="0">
                                                    <a:ln>
                                                      <a:solidFill>
                                                        <a:schemeClr val="tx1">
                                                          <a:alpha val="5000"/>
                                                        </a:schemeClr>
                                                      </a:solidFill>
                                                    </a:ln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𝑜𝑏𝑠</m:t>
                                                </m:r>
                                              </m:sub>
                                            </m:sSub>
                                          </m:e>
                                        </m:acc>
                                      </m:e>
                                    </m:d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endParaRPr lang="en-US" altLang="ko-KR" sz="130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90000"/>
                  <a:defRPr/>
                </a:pP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     </a:t>
                </a: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90000"/>
                  <a:defRPr/>
                </a:pP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300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D</m:t>
                        </m:r>
                      </m:e>
                      <m:sub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𝑡𝑟𝑎</m:t>
                        </m:r>
                        <m:r>
                          <a:rPr lang="en-US" altLang="ko-KR" sz="1300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_</m:t>
                        </m:r>
                        <m:r>
                          <m:rPr>
                            <m:sty m:val="p"/>
                          </m:rPr>
                          <a:rPr lang="en-US" altLang="ko-KR" sz="1300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obs</m:t>
                        </m:r>
                      </m:sub>
                    </m:sSub>
                  </m:oMath>
                </a14:m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&lt; 10m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인 사람에 대한 </a:t>
                </a: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indexing</a:t>
                </a:r>
                <a:b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</a:b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전역 경로 내 사람 객체 </a:t>
                </a: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=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영역 내 사람 객체</a:t>
                </a: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300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D</m:t>
                        </m:r>
                      </m:e>
                      <m:sub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𝑡𝑟𝑎</m:t>
                        </m:r>
                        <m:r>
                          <a:rPr lang="en-US" altLang="ko-KR" sz="1300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_</m:t>
                        </m:r>
                        <m:r>
                          <m:rPr>
                            <m:sty m:val="p"/>
                          </m:rPr>
                          <a:rPr lang="en-US" altLang="ko-KR" sz="1300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obs</m:t>
                        </m:r>
                      </m:sub>
                    </m:sSub>
                  </m:oMath>
                </a14:m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&lt; 10m)</a:t>
                </a:r>
              </a:p>
            </p:txBody>
          </p:sp>
        </mc:Choice>
        <mc:Fallback xmlns="">
          <p:sp>
            <p:nvSpPr>
              <p:cNvPr id="28" name="직사각형 27">
                <a:extLst>
                  <a:ext uri="{FF2B5EF4-FFF2-40B4-BE49-F238E27FC236}">
                    <a16:creationId xmlns:a16="http://schemas.microsoft.com/office/drawing/2014/main" id="{75605064-B31E-4FB3-8A46-86958A2A8E1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792750"/>
                <a:ext cx="9144000" cy="490249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8336861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제목 1">
            <a:extLst>
              <a:ext uri="{FF2B5EF4-FFF2-40B4-BE49-F238E27FC236}">
                <a16:creationId xmlns:a16="http://schemas.microsoft.com/office/drawing/2014/main" id="{D3620FFB-DBA2-4993-971C-CE2E38EF6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5</a:t>
            </a:r>
            <a:r>
              <a:rPr lang="ko-KR" altLang="en-US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주행 경로상 장애물 통행량이 과다한 환경</a:t>
            </a:r>
            <a:r>
              <a:rPr lang="en-US" altLang="ko-KR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(</a:t>
            </a:r>
            <a:r>
              <a:rPr lang="ko-KR" altLang="en-US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사람</a:t>
            </a:r>
            <a:r>
              <a:rPr lang="en-US" altLang="ko-KR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)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F55F954-5E86-475A-837F-2B8CED6C7DF1}" type="slidenum">
              <a:rPr lang="ko-KR" altLang="en-US" smtClean="0"/>
              <a:pPr/>
              <a:t>59</a:t>
            </a:fld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519A2CE-9D34-47D9-9056-FF336494D367}"/>
              </a:ext>
            </a:extLst>
          </p:cNvPr>
          <p:cNvSpPr/>
          <p:nvPr/>
        </p:nvSpPr>
        <p:spPr>
          <a:xfrm>
            <a:off x="6536413" y="1005306"/>
            <a:ext cx="2762795" cy="234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동적</a:t>
            </a:r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객체 데이터 입력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6F2EA00-9E15-42C1-8BBB-D2CF834AA9BB}"/>
              </a:ext>
            </a:extLst>
          </p:cNvPr>
          <p:cNvSpPr/>
          <p:nvPr/>
        </p:nvSpPr>
        <p:spPr>
          <a:xfrm>
            <a:off x="6931524" y="2681068"/>
            <a:ext cx="1980000" cy="234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신규 객체 생성 빈도 측정</a:t>
            </a:r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933899B8-AB6B-477A-B627-A1F3C484643E}"/>
              </a:ext>
            </a:extLst>
          </p:cNvPr>
          <p:cNvCxnSpPr>
            <a:cxnSpLocks/>
          </p:cNvCxnSpPr>
          <p:nvPr/>
        </p:nvCxnSpPr>
        <p:spPr>
          <a:xfrm>
            <a:off x="7917803" y="1259393"/>
            <a:ext cx="0" cy="27232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왼쪽 중괄호 16">
            <a:extLst>
              <a:ext uri="{FF2B5EF4-FFF2-40B4-BE49-F238E27FC236}">
                <a16:creationId xmlns:a16="http://schemas.microsoft.com/office/drawing/2014/main" id="{59185AAE-C9FB-4844-8256-26BFE0EF9034}"/>
              </a:ext>
            </a:extLst>
          </p:cNvPr>
          <p:cNvSpPr/>
          <p:nvPr/>
        </p:nvSpPr>
        <p:spPr>
          <a:xfrm>
            <a:off x="6441358" y="2775380"/>
            <a:ext cx="128117" cy="608205"/>
          </a:xfrm>
          <a:prstGeom prst="leftBrace">
            <a:avLst>
              <a:gd name="adj1" fmla="val 250081"/>
              <a:gd name="adj2" fmla="val 50928"/>
            </a:avLst>
          </a:prstGeom>
          <a:ln w="190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77231350-730D-4576-8097-4FDC1F466236}"/>
              </a:ext>
            </a:extLst>
          </p:cNvPr>
          <p:cNvSpPr/>
          <p:nvPr/>
        </p:nvSpPr>
        <p:spPr>
          <a:xfrm>
            <a:off x="6253417" y="1531714"/>
            <a:ext cx="252000" cy="252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rPr>
              <a:t>1</a:t>
            </a:r>
            <a:endParaRPr lang="ko-KR" altLang="en-US" sz="9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Arial" panose="020B0604020202020204" pitchFamily="34" charset="0"/>
              <a:ea typeface="KoPub돋움체 Bold" panose="02020603020101020101" pitchFamily="18" charset="-127"/>
              <a:cs typeface="Arial" panose="020B0604020202020204" pitchFamily="34" charset="0"/>
            </a:endParaRP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5CBE47DF-E3CB-446F-89A7-BB389967B812}"/>
              </a:ext>
            </a:extLst>
          </p:cNvPr>
          <p:cNvSpPr/>
          <p:nvPr/>
        </p:nvSpPr>
        <p:spPr>
          <a:xfrm>
            <a:off x="6295986" y="2094657"/>
            <a:ext cx="252000" cy="252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rPr>
              <a:t>2</a:t>
            </a:r>
            <a:endParaRPr lang="ko-KR" altLang="en-US" sz="9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Arial" panose="020B0604020202020204" pitchFamily="34" charset="0"/>
              <a:ea typeface="KoPub돋움체 Bold" panose="02020603020101020101" pitchFamily="18" charset="-127"/>
              <a:cs typeface="Arial" panose="020B0604020202020204" pitchFamily="34" charset="0"/>
            </a:endParaRP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AA4942EF-56FC-4517-84F0-DE72A68414D6}"/>
              </a:ext>
            </a:extLst>
          </p:cNvPr>
          <p:cNvSpPr/>
          <p:nvPr/>
        </p:nvSpPr>
        <p:spPr>
          <a:xfrm>
            <a:off x="6277713" y="3972573"/>
            <a:ext cx="252000" cy="252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rPr>
              <a:t>4</a:t>
            </a:r>
            <a:endParaRPr lang="ko-KR" altLang="en-US" sz="9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Arial" panose="020B0604020202020204" pitchFamily="34" charset="0"/>
              <a:ea typeface="KoPub돋움체 Bold" panose="02020603020101020101" pitchFamily="18" charset="-127"/>
              <a:cs typeface="Arial" panose="020B0604020202020204" pitchFamily="34" charset="0"/>
            </a:endParaRPr>
          </a:p>
        </p:txBody>
      </p:sp>
      <p:sp>
        <p:nvSpPr>
          <p:cNvPr id="21" name="순서도: 판단 20">
            <a:extLst>
              <a:ext uri="{FF2B5EF4-FFF2-40B4-BE49-F238E27FC236}">
                <a16:creationId xmlns:a16="http://schemas.microsoft.com/office/drawing/2014/main" id="{3970E080-A6CC-4082-923B-E978510F0163}"/>
              </a:ext>
            </a:extLst>
          </p:cNvPr>
          <p:cNvSpPr/>
          <p:nvPr/>
        </p:nvSpPr>
        <p:spPr>
          <a:xfrm>
            <a:off x="6536412" y="1990997"/>
            <a:ext cx="2762782" cy="468000"/>
          </a:xfrm>
          <a:prstGeom prst="flowChartDecision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주행 경로 반경 </a:t>
            </a:r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10m </a:t>
            </a:r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이내</a:t>
            </a:r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?</a:t>
            </a:r>
            <a:endParaRPr lang="ko-KR" altLang="en-US" sz="105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5F5DF4E-154D-4703-9B9D-15F39CF737EE}"/>
              </a:ext>
            </a:extLst>
          </p:cNvPr>
          <p:cNvSpPr/>
          <p:nvPr/>
        </p:nvSpPr>
        <p:spPr>
          <a:xfrm>
            <a:off x="7309032" y="4530348"/>
            <a:ext cx="1217541" cy="234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통행 과다 환경 지정</a:t>
            </a:r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58B70EDC-B56F-492C-B71C-367DFEA3A168}"/>
              </a:ext>
            </a:extLst>
          </p:cNvPr>
          <p:cNvCxnSpPr>
            <a:cxnSpLocks/>
            <a:stCxn id="21" idx="2"/>
          </p:cNvCxnSpPr>
          <p:nvPr/>
        </p:nvCxnSpPr>
        <p:spPr>
          <a:xfrm>
            <a:off x="7917803" y="2458997"/>
            <a:ext cx="0" cy="22028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7F3E030-5B2F-4BFC-ADF4-833A62E2FDBC}"/>
              </a:ext>
            </a:extLst>
          </p:cNvPr>
          <p:cNvSpPr/>
          <p:nvPr/>
        </p:nvSpPr>
        <p:spPr>
          <a:xfrm>
            <a:off x="6932293" y="4989219"/>
            <a:ext cx="1980000" cy="234000"/>
          </a:xfrm>
          <a:prstGeom prst="rect">
            <a:avLst/>
          </a:prstGeom>
          <a:solidFill>
            <a:schemeClr val="bg1"/>
          </a:solidFill>
          <a:ln w="19050">
            <a:solidFill>
              <a:srgbClr val="007A00"/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Confidence</a:t>
            </a:r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value </a:t>
            </a:r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출력</a:t>
            </a: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1AF18A1C-B848-4651-B316-C0715FFEC2B1}"/>
              </a:ext>
            </a:extLst>
          </p:cNvPr>
          <p:cNvSpPr/>
          <p:nvPr/>
        </p:nvSpPr>
        <p:spPr>
          <a:xfrm>
            <a:off x="6169986" y="2952227"/>
            <a:ext cx="252000" cy="252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rPr>
              <a:t>3</a:t>
            </a:r>
            <a:endParaRPr lang="ko-KR" altLang="en-US" sz="9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Arial" panose="020B0604020202020204" pitchFamily="34" charset="0"/>
              <a:ea typeface="KoPub돋움체 Bold" panose="02020603020101020101" pitchFamily="18" charset="-127"/>
              <a:cs typeface="Arial" panose="020B0604020202020204" pitchFamily="34" charset="0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C438A570-77B3-486A-8942-5363DCE6120B}"/>
              </a:ext>
            </a:extLst>
          </p:cNvPr>
          <p:cNvSpPr/>
          <p:nvPr/>
        </p:nvSpPr>
        <p:spPr>
          <a:xfrm>
            <a:off x="6536412" y="1531714"/>
            <a:ext cx="2762783" cy="234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50 m </a:t>
            </a:r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거리 이내 동적객체 추출</a:t>
            </a:r>
          </a:p>
        </p:txBody>
      </p: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10FF046B-6D47-4EDE-83BF-E915BE56E697}"/>
              </a:ext>
            </a:extLst>
          </p:cNvPr>
          <p:cNvCxnSpPr>
            <a:cxnSpLocks/>
            <a:stCxn id="35" idx="2"/>
            <a:endCxn id="21" idx="0"/>
          </p:cNvCxnSpPr>
          <p:nvPr/>
        </p:nvCxnSpPr>
        <p:spPr>
          <a:xfrm flipH="1">
            <a:off x="7917803" y="1765714"/>
            <a:ext cx="1" cy="22528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순서도: 판단 44">
            <a:extLst>
              <a:ext uri="{FF2B5EF4-FFF2-40B4-BE49-F238E27FC236}">
                <a16:creationId xmlns:a16="http://schemas.microsoft.com/office/drawing/2014/main" id="{E768DE2F-EE07-43AA-8AB3-62EDBA7B4723}"/>
              </a:ext>
            </a:extLst>
          </p:cNvPr>
          <p:cNvSpPr/>
          <p:nvPr/>
        </p:nvSpPr>
        <p:spPr>
          <a:xfrm>
            <a:off x="6536412" y="3156111"/>
            <a:ext cx="2762782" cy="468000"/>
          </a:xfrm>
          <a:prstGeom prst="flowChartDecision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객체 출현 시간 </a:t>
            </a:r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&lt; 10s ?</a:t>
            </a:r>
            <a:endParaRPr lang="ko-KR" altLang="en-US" sz="105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069C8D19-745F-4527-9C74-63CE17B801D4}"/>
              </a:ext>
            </a:extLst>
          </p:cNvPr>
          <p:cNvCxnSpPr>
            <a:cxnSpLocks/>
          </p:cNvCxnSpPr>
          <p:nvPr/>
        </p:nvCxnSpPr>
        <p:spPr>
          <a:xfrm>
            <a:off x="7917803" y="2935829"/>
            <a:ext cx="0" cy="22028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순서도: 판단 49">
            <a:extLst>
              <a:ext uri="{FF2B5EF4-FFF2-40B4-BE49-F238E27FC236}">
                <a16:creationId xmlns:a16="http://schemas.microsoft.com/office/drawing/2014/main" id="{70A8E295-B8E5-488C-9DED-E5F367F5041D}"/>
              </a:ext>
            </a:extLst>
          </p:cNvPr>
          <p:cNvSpPr/>
          <p:nvPr/>
        </p:nvSpPr>
        <p:spPr>
          <a:xfrm>
            <a:off x="6536412" y="3864573"/>
            <a:ext cx="2762782" cy="468000"/>
          </a:xfrm>
          <a:prstGeom prst="flowChartDecision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객체간 최대 거리 </a:t>
            </a:r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&lt; 20m?</a:t>
            </a:r>
            <a:endParaRPr lang="ko-KR" altLang="en-US" sz="105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2BE5F555-0204-4DBE-ABE1-E67ABEF4DC53}"/>
              </a:ext>
            </a:extLst>
          </p:cNvPr>
          <p:cNvCxnSpPr>
            <a:cxnSpLocks/>
          </p:cNvCxnSpPr>
          <p:nvPr/>
        </p:nvCxnSpPr>
        <p:spPr>
          <a:xfrm>
            <a:off x="7917803" y="3624111"/>
            <a:ext cx="0" cy="22028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E2993AA0-9610-4B05-A495-F33BFA189506}"/>
              </a:ext>
            </a:extLst>
          </p:cNvPr>
          <p:cNvCxnSpPr>
            <a:cxnSpLocks/>
          </p:cNvCxnSpPr>
          <p:nvPr/>
        </p:nvCxnSpPr>
        <p:spPr>
          <a:xfrm>
            <a:off x="7917803" y="4332573"/>
            <a:ext cx="0" cy="22028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BDCFCF64-B791-4DA1-988F-B64A85B975B7}"/>
              </a:ext>
            </a:extLst>
          </p:cNvPr>
          <p:cNvCxnSpPr>
            <a:cxnSpLocks/>
          </p:cNvCxnSpPr>
          <p:nvPr/>
        </p:nvCxnSpPr>
        <p:spPr>
          <a:xfrm>
            <a:off x="7917803" y="4768937"/>
            <a:ext cx="0" cy="22028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왼쪽 중괄호 53">
            <a:extLst>
              <a:ext uri="{FF2B5EF4-FFF2-40B4-BE49-F238E27FC236}">
                <a16:creationId xmlns:a16="http://schemas.microsoft.com/office/drawing/2014/main" id="{5985A675-02AF-4959-AA4C-1E654796B1AF}"/>
              </a:ext>
            </a:extLst>
          </p:cNvPr>
          <p:cNvSpPr/>
          <p:nvPr/>
        </p:nvSpPr>
        <p:spPr>
          <a:xfrm>
            <a:off x="6529713" y="4563705"/>
            <a:ext cx="128117" cy="608205"/>
          </a:xfrm>
          <a:prstGeom prst="leftBrace">
            <a:avLst>
              <a:gd name="adj1" fmla="val 250081"/>
              <a:gd name="adj2" fmla="val 50928"/>
            </a:avLst>
          </a:prstGeom>
          <a:ln w="190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타원 54">
            <a:extLst>
              <a:ext uri="{FF2B5EF4-FFF2-40B4-BE49-F238E27FC236}">
                <a16:creationId xmlns:a16="http://schemas.microsoft.com/office/drawing/2014/main" id="{28BDEF8B-180E-4415-865F-B90279507D59}"/>
              </a:ext>
            </a:extLst>
          </p:cNvPr>
          <p:cNvSpPr/>
          <p:nvPr/>
        </p:nvSpPr>
        <p:spPr>
          <a:xfrm>
            <a:off x="6277713" y="4704143"/>
            <a:ext cx="252000" cy="252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rPr>
              <a:t>5</a:t>
            </a:r>
            <a:endParaRPr lang="ko-KR" altLang="en-US" sz="9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Arial" panose="020B0604020202020204" pitchFamily="34" charset="0"/>
              <a:ea typeface="KoPub돋움체 Bold" panose="02020603020101020101" pitchFamily="18" charset="-127"/>
              <a:cs typeface="Arial" panose="020B0604020202020204" pitchFamily="34" charset="0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75605064-B31E-4FB3-8A46-86958A2A8E14}"/>
              </a:ext>
            </a:extLst>
          </p:cNvPr>
          <p:cNvSpPr/>
          <p:nvPr/>
        </p:nvSpPr>
        <p:spPr>
          <a:xfrm>
            <a:off x="381000" y="792750"/>
            <a:ext cx="9144000" cy="24021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120000"/>
              <a:buFont typeface="+mj-ea"/>
              <a:buAutoNum type="circleNumDbPlain" startAt="3"/>
              <a:defRPr/>
            </a:pPr>
            <a:r>
              <a:rPr lang="ko-KR" altLang="en-US" sz="1300" b="1" kern="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신규 객체 생성 빈도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데이터 시점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: t</a:t>
            </a: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전역 경로 내 사람 객체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vector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데이터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   (position, velocity, </a:t>
            </a:r>
            <a:r>
              <a:rPr lang="en-US" altLang="ko-KR" sz="1300" kern="0" dirty="0" err="1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classID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, timestamp … )</a:t>
            </a:r>
            <a:b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</a:b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첫 객체 생성시의 </a:t>
            </a:r>
            <a:r>
              <a:rPr lang="en-US" altLang="ko-KR" sz="1300" kern="0" dirty="0" err="1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classID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및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timestamp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기록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신규 객체 생성시의 </a:t>
            </a:r>
            <a:r>
              <a:rPr lang="en-US" altLang="ko-KR" sz="1300" kern="0" dirty="0" err="1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classID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및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timestamp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비교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신규 객체 생성시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timestamp –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이전 객체 생성시의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timestamp &lt; 10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인 경우</a:t>
            </a:r>
            <a:b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</a:b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영역내 객체간 거리 측정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직사각형 30">
                <a:extLst>
                  <a:ext uri="{FF2B5EF4-FFF2-40B4-BE49-F238E27FC236}">
                    <a16:creationId xmlns:a16="http://schemas.microsoft.com/office/drawing/2014/main" id="{2CEBEBF8-6070-45D8-B3AC-DDB62B64F2EA}"/>
                  </a:ext>
                </a:extLst>
              </p:cNvPr>
              <p:cNvSpPr/>
              <p:nvPr/>
            </p:nvSpPr>
            <p:spPr>
              <a:xfrm>
                <a:off x="381000" y="3214969"/>
                <a:ext cx="9144000" cy="27738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120000"/>
                  <a:buFont typeface="+mj-ea"/>
                  <a:buAutoNum type="circleNumDbPlain" startAt="4"/>
                  <a:defRPr/>
                </a:pPr>
                <a:r>
                  <a:rPr lang="ko-KR" altLang="en-US" sz="1300" b="1" kern="0" dirty="0">
                    <a:ln>
                      <a:solidFill>
                        <a:schemeClr val="tx1">
                          <a:alpha val="30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객체간 거리 측정</a:t>
                </a:r>
                <a:endParaRPr lang="en-US" altLang="ko-KR" sz="130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90000"/>
                  <a:defRPr/>
                </a:pP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  -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데이터 시점 </a:t>
                </a: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: t</a:t>
                </a: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90000"/>
                  <a:defRPr/>
                </a:pP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  -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전역 경로 내 사람 객체 </a:t>
                </a: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vector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데이터</a:t>
                </a:r>
                <a:endParaRPr lang="en-US" altLang="ko-KR" sz="130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90000"/>
                  <a:defRPr/>
                </a:pP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     (position, velocity, </a:t>
                </a:r>
                <a:r>
                  <a:rPr lang="en-US" altLang="ko-KR" sz="1300" kern="0" dirty="0" err="1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classID</a:t>
                </a: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, timestamp … )</a:t>
                </a:r>
                <a:b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</a:b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  - N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개의 전역 경로 내 사람 객체 위치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𝑝𝑒𝑑</m:t>
                        </m:r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𝑛</m:t>
                        </m:r>
                      </m:sub>
                    </m:sSub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ctrlP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lang="en-US" altLang="ko-KR" sz="130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90000"/>
                  <a:defRPr/>
                </a:pP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  -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각 객체간 거리 추정</a:t>
                </a: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𝐷</m:t>
                        </m:r>
                      </m:e>
                      <m:sub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𝑝𝑒𝑑</m:t>
                        </m:r>
                      </m:sub>
                    </m:sSub>
                    <m:r>
                      <a:rPr lang="en-US" altLang="ko-KR" sz="1300" i="1" ker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⃗"/>
                                    <m:ctrlPr>
                                      <a:rPr lang="en-US" altLang="ko-KR" sz="1300" i="1" kern="0">
                                        <a:ln>
                                          <a:solidFill>
                                            <a:schemeClr val="tx1">
                                              <a:alpha val="5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altLang="ko-KR" sz="1300" i="1" kern="0">
                                            <a:ln>
                                              <a:solidFill>
                                                <a:schemeClr val="tx1">
                                                  <a:alpha val="5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300" i="1" kern="0">
                                            <a:ln>
                                              <a:solidFill>
                                                <a:schemeClr val="tx1">
                                                  <a:alpha val="5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𝑃</m:t>
                                        </m:r>
                                      </m:e>
                                      <m:sub>
                                        <m:r>
                                          <a:rPr lang="en-US" altLang="ko-KR" sz="1300" b="0" i="1" kern="0" smtClean="0">
                                            <a:ln>
                                              <a:solidFill>
                                                <a:schemeClr val="tx1">
                                                  <a:alpha val="5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𝑝𝑒𝑑</m:t>
                                        </m:r>
                                        <m:r>
                                          <a:rPr lang="en-US" altLang="ko-KR" sz="1300" b="0" i="1" kern="0" smtClean="0">
                                            <a:ln>
                                              <a:solidFill>
                                                <a:schemeClr val="tx1">
                                                  <a:alpha val="5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,</m:t>
                                        </m:r>
                                        <m:r>
                                          <a:rPr lang="en-US" altLang="ko-KR" sz="1300" b="0" i="1" kern="0" smtClean="0">
                                            <a:ln>
                                              <a:solidFill>
                                                <a:schemeClr val="tx1">
                                                  <a:alpha val="5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⃗"/>
                                    <m:ctrlPr>
                                      <a:rPr lang="en-US" altLang="ko-KR" sz="1300" i="1" kern="0">
                                        <a:ln>
                                          <a:solidFill>
                                            <a:schemeClr val="tx1">
                                              <a:alpha val="5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altLang="ko-KR" sz="1300" i="1" kern="0">
                                            <a:ln>
                                              <a:solidFill>
                                                <a:schemeClr val="tx1">
                                                  <a:alpha val="5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300" i="1" kern="0">
                                            <a:ln>
                                              <a:solidFill>
                                                <a:schemeClr val="tx1">
                                                  <a:alpha val="5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𝑃</m:t>
                                        </m:r>
                                      </m:e>
                                      <m:sub>
                                        <m:r>
                                          <a:rPr lang="en-US" altLang="ko-KR" sz="1300" b="0" i="1" kern="0" smtClean="0">
                                            <a:ln>
                                              <a:solidFill>
                                                <a:schemeClr val="tx1">
                                                  <a:alpha val="5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𝑝𝑒𝑑</m:t>
                                        </m:r>
                                        <m:r>
                                          <a:rPr lang="en-US" altLang="ko-KR" sz="1300" b="0" i="1" kern="0" smtClean="0">
                                            <a:ln>
                                              <a:solidFill>
                                                <a:schemeClr val="tx1">
                                                  <a:alpha val="5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,</m:t>
                                        </m:r>
                                        <m:r>
                                          <a:rPr lang="en-US" altLang="ko-KR" sz="1300" b="0" i="1" kern="0" smtClean="0">
                                            <a:ln>
                                              <a:solidFill>
                                                <a:schemeClr val="tx1">
                                                  <a:alpha val="5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endParaRPr lang="en-US" altLang="ko-KR" sz="130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90000"/>
                  <a:defRPr/>
                </a:pP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     ( </a:t>
                </a:r>
                <a14:m>
                  <m:oMath xmlns:m="http://schemas.openxmlformats.org/officeDocument/2006/math">
                    <m:r>
                      <a:rPr lang="en-US" altLang="ko-KR" sz="1300" b="0" i="0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1</m:t>
                    </m:r>
                    <m:r>
                      <a:rPr lang="en-US" altLang="ko-KR" sz="130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≤</m:t>
                    </m:r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𝑗</m:t>
                    </m:r>
                    <m:r>
                      <a:rPr lang="en-US" altLang="ko-KR" sz="130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≤</m:t>
                    </m:r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𝑛</m:t>
                    </m:r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,   1≤</m:t>
                    </m:r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𝑘</m:t>
                    </m:r>
                    <m:r>
                      <a:rPr lang="en-US" altLang="ko-KR" sz="130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≤</m:t>
                    </m:r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𝑛</m:t>
                    </m:r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,  </m:t>
                    </m:r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𝑗</m:t>
                    </m:r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≠</m:t>
                    </m:r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𝑘</m:t>
                    </m:r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endParaRPr lang="en-US" altLang="ko-KR" sz="1300" b="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+mn-ea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90000"/>
                  <a:defRPr/>
                </a:pP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  - </a:t>
                </a:r>
                <a14:m>
                  <m:oMath xmlns:m="http://schemas.openxmlformats.org/officeDocument/2006/math"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𝑀𝐴𝑋</m:t>
                    </m:r>
                    <m:d>
                      <m:dPr>
                        <m:ctrlP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𝑝𝑒𝑑</m:t>
                            </m:r>
                          </m:sub>
                        </m:sSub>
                      </m:e>
                    </m:d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&lt;20</m:t>
                    </m:r>
                  </m:oMath>
                </a14:m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인 경우 </a:t>
                </a:r>
                <a:endParaRPr lang="en-US" altLang="ko-KR" sz="130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1" name="직사각형 30">
                <a:extLst>
                  <a:ext uri="{FF2B5EF4-FFF2-40B4-BE49-F238E27FC236}">
                    <a16:creationId xmlns:a16="http://schemas.microsoft.com/office/drawing/2014/main" id="{2CEBEBF8-6070-45D8-B3AC-DDB62B64F2E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3214969"/>
                <a:ext cx="9144000" cy="277383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0587354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제목 1">
            <a:extLst>
              <a:ext uri="{FF2B5EF4-FFF2-40B4-BE49-F238E27FC236}">
                <a16:creationId xmlns:a16="http://schemas.microsoft.com/office/drawing/2014/main" id="{D3620FFB-DBA2-4993-971C-CE2E38EF6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5</a:t>
            </a:r>
            <a:r>
              <a:rPr lang="ko-KR" altLang="en-US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주행 경로상 장애물 통행량이 과다한 환경</a:t>
            </a:r>
            <a:r>
              <a:rPr lang="en-US" altLang="ko-KR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(</a:t>
            </a:r>
            <a:r>
              <a:rPr lang="ko-KR" altLang="en-US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사람</a:t>
            </a:r>
            <a:r>
              <a:rPr lang="en-US" altLang="ko-KR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)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F55F954-5E86-475A-837F-2B8CED6C7DF1}" type="slidenum">
              <a:rPr lang="ko-KR" altLang="en-US" smtClean="0"/>
              <a:pPr/>
              <a:t>60</a:t>
            </a:fld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519A2CE-9D34-47D9-9056-FF336494D367}"/>
              </a:ext>
            </a:extLst>
          </p:cNvPr>
          <p:cNvSpPr/>
          <p:nvPr/>
        </p:nvSpPr>
        <p:spPr>
          <a:xfrm>
            <a:off x="6536413" y="1005306"/>
            <a:ext cx="2762795" cy="234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동적</a:t>
            </a:r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객체 데이터 입력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6F2EA00-9E15-42C1-8BBB-D2CF834AA9BB}"/>
              </a:ext>
            </a:extLst>
          </p:cNvPr>
          <p:cNvSpPr/>
          <p:nvPr/>
        </p:nvSpPr>
        <p:spPr>
          <a:xfrm>
            <a:off x="6931524" y="2681068"/>
            <a:ext cx="1980000" cy="234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신규 객체 생성 빈도 측정</a:t>
            </a:r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933899B8-AB6B-477A-B627-A1F3C484643E}"/>
              </a:ext>
            </a:extLst>
          </p:cNvPr>
          <p:cNvCxnSpPr>
            <a:cxnSpLocks/>
          </p:cNvCxnSpPr>
          <p:nvPr/>
        </p:nvCxnSpPr>
        <p:spPr>
          <a:xfrm>
            <a:off x="7917803" y="1259393"/>
            <a:ext cx="0" cy="27232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왼쪽 중괄호 16">
            <a:extLst>
              <a:ext uri="{FF2B5EF4-FFF2-40B4-BE49-F238E27FC236}">
                <a16:creationId xmlns:a16="http://schemas.microsoft.com/office/drawing/2014/main" id="{59185AAE-C9FB-4844-8256-26BFE0EF9034}"/>
              </a:ext>
            </a:extLst>
          </p:cNvPr>
          <p:cNvSpPr/>
          <p:nvPr/>
        </p:nvSpPr>
        <p:spPr>
          <a:xfrm>
            <a:off x="6441358" y="2775380"/>
            <a:ext cx="128117" cy="608205"/>
          </a:xfrm>
          <a:prstGeom prst="leftBrace">
            <a:avLst>
              <a:gd name="adj1" fmla="val 250081"/>
              <a:gd name="adj2" fmla="val 50928"/>
            </a:avLst>
          </a:prstGeom>
          <a:ln w="190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77231350-730D-4576-8097-4FDC1F466236}"/>
              </a:ext>
            </a:extLst>
          </p:cNvPr>
          <p:cNvSpPr/>
          <p:nvPr/>
        </p:nvSpPr>
        <p:spPr>
          <a:xfrm>
            <a:off x="6253417" y="1531714"/>
            <a:ext cx="252000" cy="252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rPr>
              <a:t>1</a:t>
            </a:r>
            <a:endParaRPr lang="ko-KR" altLang="en-US" sz="9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Arial" panose="020B0604020202020204" pitchFamily="34" charset="0"/>
              <a:ea typeface="KoPub돋움체 Bold" panose="02020603020101020101" pitchFamily="18" charset="-127"/>
              <a:cs typeface="Arial" panose="020B0604020202020204" pitchFamily="34" charset="0"/>
            </a:endParaRP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5CBE47DF-E3CB-446F-89A7-BB389967B812}"/>
              </a:ext>
            </a:extLst>
          </p:cNvPr>
          <p:cNvSpPr/>
          <p:nvPr/>
        </p:nvSpPr>
        <p:spPr>
          <a:xfrm>
            <a:off x="6295986" y="2094657"/>
            <a:ext cx="252000" cy="252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rPr>
              <a:t>2</a:t>
            </a:r>
            <a:endParaRPr lang="ko-KR" altLang="en-US" sz="9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Arial" panose="020B0604020202020204" pitchFamily="34" charset="0"/>
              <a:ea typeface="KoPub돋움체 Bold" panose="02020603020101020101" pitchFamily="18" charset="-127"/>
              <a:cs typeface="Arial" panose="020B0604020202020204" pitchFamily="34" charset="0"/>
            </a:endParaRP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AA4942EF-56FC-4517-84F0-DE72A68414D6}"/>
              </a:ext>
            </a:extLst>
          </p:cNvPr>
          <p:cNvSpPr/>
          <p:nvPr/>
        </p:nvSpPr>
        <p:spPr>
          <a:xfrm>
            <a:off x="6277713" y="3972573"/>
            <a:ext cx="252000" cy="252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rPr>
              <a:t>4</a:t>
            </a:r>
            <a:endParaRPr lang="ko-KR" altLang="en-US" sz="9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Arial" panose="020B0604020202020204" pitchFamily="34" charset="0"/>
              <a:ea typeface="KoPub돋움체 Bold" panose="02020603020101020101" pitchFamily="18" charset="-127"/>
              <a:cs typeface="Arial" panose="020B0604020202020204" pitchFamily="34" charset="0"/>
            </a:endParaRPr>
          </a:p>
        </p:txBody>
      </p:sp>
      <p:sp>
        <p:nvSpPr>
          <p:cNvPr id="21" name="순서도: 판단 20">
            <a:extLst>
              <a:ext uri="{FF2B5EF4-FFF2-40B4-BE49-F238E27FC236}">
                <a16:creationId xmlns:a16="http://schemas.microsoft.com/office/drawing/2014/main" id="{3970E080-A6CC-4082-923B-E978510F0163}"/>
              </a:ext>
            </a:extLst>
          </p:cNvPr>
          <p:cNvSpPr/>
          <p:nvPr/>
        </p:nvSpPr>
        <p:spPr>
          <a:xfrm>
            <a:off x="6536412" y="1990997"/>
            <a:ext cx="2762782" cy="468000"/>
          </a:xfrm>
          <a:prstGeom prst="flowChartDecision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주행 경로 반경 </a:t>
            </a:r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10m </a:t>
            </a:r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이내</a:t>
            </a:r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?</a:t>
            </a:r>
            <a:endParaRPr lang="ko-KR" altLang="en-US" sz="105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5F5DF4E-154D-4703-9B9D-15F39CF737EE}"/>
              </a:ext>
            </a:extLst>
          </p:cNvPr>
          <p:cNvSpPr/>
          <p:nvPr/>
        </p:nvSpPr>
        <p:spPr>
          <a:xfrm>
            <a:off x="7309032" y="4530348"/>
            <a:ext cx="1217541" cy="234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통행 과다 환경 지정</a:t>
            </a:r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58B70EDC-B56F-492C-B71C-367DFEA3A168}"/>
              </a:ext>
            </a:extLst>
          </p:cNvPr>
          <p:cNvCxnSpPr>
            <a:cxnSpLocks/>
            <a:stCxn id="21" idx="2"/>
          </p:cNvCxnSpPr>
          <p:nvPr/>
        </p:nvCxnSpPr>
        <p:spPr>
          <a:xfrm>
            <a:off x="7917803" y="2458997"/>
            <a:ext cx="0" cy="22028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7F3E030-5B2F-4BFC-ADF4-833A62E2FDBC}"/>
              </a:ext>
            </a:extLst>
          </p:cNvPr>
          <p:cNvSpPr/>
          <p:nvPr/>
        </p:nvSpPr>
        <p:spPr>
          <a:xfrm>
            <a:off x="6932293" y="4989219"/>
            <a:ext cx="1980000" cy="234000"/>
          </a:xfrm>
          <a:prstGeom prst="rect">
            <a:avLst/>
          </a:prstGeom>
          <a:solidFill>
            <a:schemeClr val="bg1"/>
          </a:solidFill>
          <a:ln w="19050">
            <a:solidFill>
              <a:srgbClr val="007A00"/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Confidence</a:t>
            </a:r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value </a:t>
            </a:r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출력</a:t>
            </a: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1AF18A1C-B848-4651-B316-C0715FFEC2B1}"/>
              </a:ext>
            </a:extLst>
          </p:cNvPr>
          <p:cNvSpPr/>
          <p:nvPr/>
        </p:nvSpPr>
        <p:spPr>
          <a:xfrm>
            <a:off x="6169986" y="2952227"/>
            <a:ext cx="252000" cy="252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rPr>
              <a:t>3</a:t>
            </a:r>
            <a:endParaRPr lang="ko-KR" altLang="en-US" sz="9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Arial" panose="020B0604020202020204" pitchFamily="34" charset="0"/>
              <a:ea typeface="KoPub돋움체 Bold" panose="02020603020101020101" pitchFamily="18" charset="-127"/>
              <a:cs typeface="Arial" panose="020B0604020202020204" pitchFamily="34" charset="0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C438A570-77B3-486A-8942-5363DCE6120B}"/>
              </a:ext>
            </a:extLst>
          </p:cNvPr>
          <p:cNvSpPr/>
          <p:nvPr/>
        </p:nvSpPr>
        <p:spPr>
          <a:xfrm>
            <a:off x="6536412" y="1531714"/>
            <a:ext cx="2762783" cy="234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50 m </a:t>
            </a:r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거리 이내 동적객체 추출</a:t>
            </a:r>
          </a:p>
        </p:txBody>
      </p: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10FF046B-6D47-4EDE-83BF-E915BE56E697}"/>
              </a:ext>
            </a:extLst>
          </p:cNvPr>
          <p:cNvCxnSpPr>
            <a:cxnSpLocks/>
            <a:stCxn id="35" idx="2"/>
            <a:endCxn id="21" idx="0"/>
          </p:cNvCxnSpPr>
          <p:nvPr/>
        </p:nvCxnSpPr>
        <p:spPr>
          <a:xfrm flipH="1">
            <a:off x="7917803" y="1765714"/>
            <a:ext cx="1" cy="22528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순서도: 판단 44">
            <a:extLst>
              <a:ext uri="{FF2B5EF4-FFF2-40B4-BE49-F238E27FC236}">
                <a16:creationId xmlns:a16="http://schemas.microsoft.com/office/drawing/2014/main" id="{E768DE2F-EE07-43AA-8AB3-62EDBA7B4723}"/>
              </a:ext>
            </a:extLst>
          </p:cNvPr>
          <p:cNvSpPr/>
          <p:nvPr/>
        </p:nvSpPr>
        <p:spPr>
          <a:xfrm>
            <a:off x="6536412" y="3156111"/>
            <a:ext cx="2762782" cy="468000"/>
          </a:xfrm>
          <a:prstGeom prst="flowChartDecision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객체 출현 시간 </a:t>
            </a:r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&lt; 10s ?</a:t>
            </a:r>
            <a:endParaRPr lang="ko-KR" altLang="en-US" sz="105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069C8D19-745F-4527-9C74-63CE17B801D4}"/>
              </a:ext>
            </a:extLst>
          </p:cNvPr>
          <p:cNvCxnSpPr>
            <a:cxnSpLocks/>
          </p:cNvCxnSpPr>
          <p:nvPr/>
        </p:nvCxnSpPr>
        <p:spPr>
          <a:xfrm>
            <a:off x="7917803" y="2935829"/>
            <a:ext cx="0" cy="22028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순서도: 판단 49">
            <a:extLst>
              <a:ext uri="{FF2B5EF4-FFF2-40B4-BE49-F238E27FC236}">
                <a16:creationId xmlns:a16="http://schemas.microsoft.com/office/drawing/2014/main" id="{70A8E295-B8E5-488C-9DED-E5F367F5041D}"/>
              </a:ext>
            </a:extLst>
          </p:cNvPr>
          <p:cNvSpPr/>
          <p:nvPr/>
        </p:nvSpPr>
        <p:spPr>
          <a:xfrm>
            <a:off x="6536412" y="3864573"/>
            <a:ext cx="2762782" cy="468000"/>
          </a:xfrm>
          <a:prstGeom prst="flowChartDecision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객체간 최대 거리 </a:t>
            </a:r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&lt; 20m?</a:t>
            </a:r>
            <a:endParaRPr lang="ko-KR" altLang="en-US" sz="105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2BE5F555-0204-4DBE-ABE1-E67ABEF4DC53}"/>
              </a:ext>
            </a:extLst>
          </p:cNvPr>
          <p:cNvCxnSpPr>
            <a:cxnSpLocks/>
          </p:cNvCxnSpPr>
          <p:nvPr/>
        </p:nvCxnSpPr>
        <p:spPr>
          <a:xfrm>
            <a:off x="7917803" y="3624111"/>
            <a:ext cx="0" cy="22028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E2993AA0-9610-4B05-A495-F33BFA189506}"/>
              </a:ext>
            </a:extLst>
          </p:cNvPr>
          <p:cNvCxnSpPr>
            <a:cxnSpLocks/>
          </p:cNvCxnSpPr>
          <p:nvPr/>
        </p:nvCxnSpPr>
        <p:spPr>
          <a:xfrm>
            <a:off x="7917803" y="4332573"/>
            <a:ext cx="0" cy="22028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BDCFCF64-B791-4DA1-988F-B64A85B975B7}"/>
              </a:ext>
            </a:extLst>
          </p:cNvPr>
          <p:cNvCxnSpPr>
            <a:cxnSpLocks/>
          </p:cNvCxnSpPr>
          <p:nvPr/>
        </p:nvCxnSpPr>
        <p:spPr>
          <a:xfrm>
            <a:off x="7917803" y="4768937"/>
            <a:ext cx="0" cy="22028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타원 54">
            <a:extLst>
              <a:ext uri="{FF2B5EF4-FFF2-40B4-BE49-F238E27FC236}">
                <a16:creationId xmlns:a16="http://schemas.microsoft.com/office/drawing/2014/main" id="{28BDEF8B-180E-4415-865F-B90279507D59}"/>
              </a:ext>
            </a:extLst>
          </p:cNvPr>
          <p:cNvSpPr/>
          <p:nvPr/>
        </p:nvSpPr>
        <p:spPr>
          <a:xfrm>
            <a:off x="6277713" y="4704143"/>
            <a:ext cx="252000" cy="252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rPr>
              <a:t>5</a:t>
            </a:r>
            <a:endParaRPr lang="ko-KR" altLang="en-US" sz="9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Arial" panose="020B0604020202020204" pitchFamily="34" charset="0"/>
              <a:ea typeface="KoPub돋움체 Bold" panose="02020603020101020101" pitchFamily="18" charset="-127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직사각형 30">
                <a:extLst>
                  <a:ext uri="{FF2B5EF4-FFF2-40B4-BE49-F238E27FC236}">
                    <a16:creationId xmlns:a16="http://schemas.microsoft.com/office/drawing/2014/main" id="{2CEBEBF8-6070-45D8-B3AC-DDB62B64F2EA}"/>
                  </a:ext>
                </a:extLst>
              </p:cNvPr>
              <p:cNvSpPr/>
              <p:nvPr/>
            </p:nvSpPr>
            <p:spPr>
              <a:xfrm>
                <a:off x="381000" y="762414"/>
                <a:ext cx="9144000" cy="25278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120000"/>
                  <a:buFont typeface="+mj-ea"/>
                  <a:buAutoNum type="circleNumDbPlain" startAt="5"/>
                  <a:defRPr/>
                </a:pPr>
                <a:r>
                  <a:rPr lang="ko-KR" altLang="en-US" sz="1300" b="1" kern="0" dirty="0">
                    <a:ln>
                      <a:solidFill>
                        <a:schemeClr val="tx1">
                          <a:alpha val="30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객체간 거리 측정</a:t>
                </a:r>
                <a:endParaRPr lang="en-US" altLang="ko-KR" sz="130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90000"/>
                  <a:defRPr/>
                </a:pP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- </a:t>
                </a:r>
                <a14:m>
                  <m:oMath xmlns:m="http://schemas.openxmlformats.org/officeDocument/2006/math"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𝑀𝐴𝑋</m:t>
                    </m:r>
                    <m:d>
                      <m:dPr>
                        <m:ctrlP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𝑝𝑒𝑑</m:t>
                            </m:r>
                          </m:sub>
                        </m:sSub>
                      </m:e>
                    </m:d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&lt;20</m:t>
                    </m:r>
                  </m:oMath>
                </a14:m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인 경우 해당 영역을 통행 과다 환경으로 지정</a:t>
                </a:r>
                <a:b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</a:b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-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통행 과다 환경의 지정은 전역 경로 내 사람 객체 중 특장차와 가장 가까운</a:t>
                </a:r>
                <a:b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</a:b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사람과의 거리가 </a:t>
                </a: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30m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이내로 가까워 지는 경우</a:t>
                </a:r>
                <a:endParaRPr lang="en-US" altLang="ko-KR" sz="130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90000"/>
                  <a:defRPr/>
                </a:pP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cs typeface="Arial" panose="020B0604020202020204" pitchFamily="34" charset="0"/>
                  </a:rPr>
                  <a:t>  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cs typeface="Arial" panose="020B0604020202020204" pitchFamily="34" charset="0"/>
                  </a:rPr>
                  <a:t>특</a:t>
                </a:r>
                <a14:m>
                  <m:oMath xmlns:m="http://schemas.openxmlformats.org/officeDocument/2006/math">
                    <m:r>
                      <a:rPr lang="ko-KR" altLang="en-US" sz="1300" i="1" kern="0" dirty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장</m:t>
                    </m:r>
                    <m:r>
                      <a:rPr lang="ko-KR" altLang="en-US" sz="1300" i="1" kern="0" dirty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차</m:t>
                    </m:r>
                    <m:r>
                      <a:rPr lang="ko-KR" altLang="en-US" sz="1300" i="1" kern="0" dirty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와</m:t>
                    </m:r>
                    <m:r>
                      <a:rPr lang="en-US" altLang="ko-KR" sz="1300" b="0" i="1" kern="0" dirty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ko-KR" altLang="en-US" sz="1300" i="1" kern="0" dirty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사</m:t>
                    </m:r>
                    <m:r>
                      <a:rPr lang="ko-KR" altLang="en-US" sz="1300" i="1" kern="0" dirty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람</m:t>
                    </m:r>
                    <m:r>
                      <a:rPr lang="en-US" altLang="ko-KR" sz="1300" b="0" i="1" kern="0" dirty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ko-KR" altLang="en-US" sz="1300" i="1" kern="0" dirty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사</m:t>
                    </m:r>
                    <m:r>
                      <a:rPr lang="ko-KR" altLang="en-US" sz="1300" i="1" kern="0" dirty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이</m:t>
                    </m:r>
                    <m:r>
                      <a:rPr lang="ko-KR" altLang="en-US" sz="1300" i="1" kern="0" dirty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의</m:t>
                    </m:r>
                    <m:r>
                      <a:rPr lang="en-US" altLang="ko-KR" sz="1300" b="0" i="1" kern="0" dirty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ko-KR" altLang="en-US" sz="1300" i="1" kern="0" dirty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거</m:t>
                    </m:r>
                    <m:r>
                      <a:rPr lang="ko-KR" altLang="en-US" sz="1300" i="1" kern="0" dirty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리</m:t>
                    </m:r>
                    <m:r>
                      <a:rPr lang="en-US" altLang="ko-KR" sz="1300" b="0" i="1" kern="0" dirty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sSub>
                      <m:sSubPr>
                        <m:ctrlP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𝐷</m:t>
                        </m:r>
                      </m:e>
                      <m:sub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𝑒𝑔</m:t>
                        </m:r>
                        <m:sSub>
                          <m:sSubPr>
                            <m:ctrlP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𝑝𝑒𝑑</m:t>
                            </m:r>
                          </m:sub>
                        </m:sSub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𝑛</m:t>
                        </m:r>
                      </m:sub>
                    </m:sSub>
                    <m:r>
                      <a:rPr lang="en-US" altLang="ko-KR" sz="1300" i="1" ker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⃗"/>
                                    <m:ctrlPr>
                                      <a:rPr lang="en-US" altLang="ko-KR" sz="1300" i="1" kern="0">
                                        <a:ln>
                                          <a:solidFill>
                                            <a:schemeClr val="tx1">
                                              <a:alpha val="5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altLang="ko-KR" sz="1300" i="1" kern="0">
                                            <a:ln>
                                              <a:solidFill>
                                                <a:schemeClr val="tx1">
                                                  <a:alpha val="5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300" i="1" kern="0">
                                            <a:ln>
                                              <a:solidFill>
                                                <a:schemeClr val="tx1">
                                                  <a:alpha val="5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𝑃</m:t>
                                        </m:r>
                                      </m:e>
                                      <m:sub>
                                        <m:r>
                                          <a:rPr lang="en-US" altLang="ko-KR" sz="1300" i="1" kern="0">
                                            <a:ln>
                                              <a:solidFill>
                                                <a:schemeClr val="tx1">
                                                  <a:alpha val="5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𝑒𝑔𝑜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⃗"/>
                                    <m:ctrlPr>
                                      <a:rPr lang="en-US" altLang="ko-KR" sz="1300" i="1" kern="0">
                                        <a:ln>
                                          <a:solidFill>
                                            <a:schemeClr val="tx1">
                                              <a:alpha val="5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altLang="ko-KR" sz="1300" i="1" kern="0">
                                            <a:ln>
                                              <a:solidFill>
                                                <a:schemeClr val="tx1">
                                                  <a:alpha val="5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300" i="1" kern="0">
                                            <a:ln>
                                              <a:solidFill>
                                                <a:schemeClr val="tx1">
                                                  <a:alpha val="5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𝑃</m:t>
                                        </m:r>
                                      </m:e>
                                      <m:sub>
                                        <m:r>
                                          <a:rPr lang="en-US" altLang="ko-KR" sz="1300" b="0" i="1" kern="0" smtClean="0">
                                            <a:ln>
                                              <a:solidFill>
                                                <a:schemeClr val="tx1">
                                                  <a:alpha val="5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𝑝𝑒𝑑</m:t>
                                        </m:r>
                                        <m:r>
                                          <a:rPr lang="en-US" altLang="ko-KR" sz="1300" b="0" i="1" kern="0" smtClean="0">
                                            <a:ln>
                                              <a:solidFill>
                                                <a:schemeClr val="tx1">
                                                  <a:alpha val="5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,</m:t>
                                        </m:r>
                                        <m:r>
                                          <a:rPr lang="en-US" altLang="ko-KR" sz="1300" b="0" i="1" kern="0" smtClean="0">
                                            <a:ln>
                                              <a:solidFill>
                                                <a:schemeClr val="tx1">
                                                  <a:alpha val="5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endParaRPr lang="en-US" altLang="ko-KR" sz="130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90000"/>
                  <a:defRPr/>
                </a:pP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 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최소거리 </a:t>
                </a:r>
                <a14:m>
                  <m:oMath xmlns:m="http://schemas.openxmlformats.org/officeDocument/2006/math"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𝑀𝐼𝑁</m:t>
                    </m:r>
                    <m:d>
                      <m:dPr>
                        <m:ctrlP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𝑒𝑔</m:t>
                            </m:r>
                            <m:sSub>
                              <m:sSubPr>
                                <m:ctrlPr>
                                  <a:rPr lang="en-US" altLang="ko-KR" sz="1300" b="0" i="1" kern="0" smtClea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300" b="0" i="1" kern="0" smtClea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𝑜</m:t>
                                </m:r>
                              </m:e>
                              <m:sub>
                                <m:r>
                                  <a:rPr lang="en-US" altLang="ko-KR" sz="1300" b="0" i="1" kern="0" smtClea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𝑝𝑒𝑑</m:t>
                                </m:r>
                              </m:sub>
                            </m:sSub>
                          </m:sub>
                        </m:sSub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𝑛</m:t>
                        </m:r>
                      </m:e>
                    </m:d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&lt;30</m:t>
                    </m:r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𝑚</m:t>
                    </m:r>
                  </m:oMath>
                </a14:m>
                <a:endParaRPr lang="en-US" altLang="ko-KR" sz="130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/>
                  </a:solidFill>
                  <a:latin typeface="+mn-ea"/>
                  <a:cs typeface="Arial" panose="020B0604020202020204" pitchFamily="34" charset="0"/>
                </a:endParaRP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90000"/>
                  <a:defRPr/>
                </a:pPr>
                <a:endParaRPr lang="en-US" altLang="ko-KR" sz="130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1" name="직사각형 30">
                <a:extLst>
                  <a:ext uri="{FF2B5EF4-FFF2-40B4-BE49-F238E27FC236}">
                    <a16:creationId xmlns:a16="http://schemas.microsoft.com/office/drawing/2014/main" id="{2CEBEBF8-6070-45D8-B3AC-DDB62B64F2E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762414"/>
                <a:ext cx="9144000" cy="252787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타원 31">
            <a:extLst>
              <a:ext uri="{FF2B5EF4-FFF2-40B4-BE49-F238E27FC236}">
                <a16:creationId xmlns:a16="http://schemas.microsoft.com/office/drawing/2014/main" id="{5EFE599B-AFF1-45AA-8ACE-B4690710BFC3}"/>
              </a:ext>
            </a:extLst>
          </p:cNvPr>
          <p:cNvSpPr/>
          <p:nvPr/>
        </p:nvSpPr>
        <p:spPr>
          <a:xfrm>
            <a:off x="6277713" y="5027794"/>
            <a:ext cx="252000" cy="252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rPr>
              <a:t>6</a:t>
            </a:r>
            <a:endParaRPr lang="ko-KR" altLang="en-US" sz="9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Arial" panose="020B0604020202020204" pitchFamily="34" charset="0"/>
              <a:ea typeface="KoPub돋움체 Bold" panose="02020603020101020101" pitchFamily="18" charset="-127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직사각형 32">
                <a:extLst>
                  <a:ext uri="{FF2B5EF4-FFF2-40B4-BE49-F238E27FC236}">
                    <a16:creationId xmlns:a16="http://schemas.microsoft.com/office/drawing/2014/main" id="{68534C1A-4A13-4F08-94B8-32998456D068}"/>
                  </a:ext>
                </a:extLst>
              </p:cNvPr>
              <p:cNvSpPr/>
              <p:nvPr/>
            </p:nvSpPr>
            <p:spPr>
              <a:xfrm>
                <a:off x="381000" y="3335266"/>
                <a:ext cx="9144000" cy="9226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120000"/>
                  <a:buFont typeface="+mj-ea"/>
                  <a:buAutoNum type="circleNumDbPlain" startAt="5"/>
                  <a:defRPr/>
                </a:pPr>
                <a:r>
                  <a:rPr lang="en-US" altLang="ko-KR" sz="1300" b="1" kern="0" dirty="0">
                    <a:ln>
                      <a:solidFill>
                        <a:schemeClr val="tx1">
                          <a:alpha val="30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Confidence value(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300" b="1" i="1" kern="0" smtClean="0">
                            <a:ln>
                              <a:solidFill>
                                <a:schemeClr val="tx1"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300" b="1" i="1" kern="0" smtClean="0">
                            <a:ln>
                              <a:solidFill>
                                <a:schemeClr val="tx1"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𝑪</m:t>
                        </m:r>
                      </m:e>
                      <m:sub>
                        <m:r>
                          <a:rPr lang="en-US" altLang="ko-KR" sz="1300" b="1" i="1" kern="0" smtClean="0">
                            <a:ln>
                              <a:solidFill>
                                <a:schemeClr val="tx1"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𝟓</m:t>
                        </m:r>
                      </m:sub>
                    </m:sSub>
                    <m:r>
                      <a:rPr lang="en-US" altLang="ko-KR" sz="1300" b="1" i="1" kern="0" smtClean="0">
                        <a:ln>
                          <a:solidFill>
                            <a:schemeClr val="tx1"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ko-KR" altLang="en-US" sz="1300" b="1" kern="0" dirty="0">
                    <a:ln>
                      <a:solidFill>
                        <a:schemeClr val="tx1">
                          <a:alpha val="30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출력</a:t>
                </a:r>
                <a:endParaRPr lang="en-US" altLang="ko-KR" sz="130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90000"/>
                  <a:defRPr/>
                </a:pP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300" b="0" i="0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C</m:t>
                        </m:r>
                      </m:e>
                      <m:sub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5</m:t>
                        </m:r>
                      </m:sub>
                    </m:sSub>
                    <m:r>
                      <a:rPr lang="en-US" altLang="ko-KR" sz="1300" b="0" i="0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f>
                      <m:fPr>
                        <m:ctrlPr>
                          <a:rPr lang="en-US" altLang="ko-KR" sz="130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30</m:t>
                        </m:r>
                      </m:num>
                      <m:den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𝑀𝐼𝑁</m:t>
                        </m:r>
                        <m:d>
                          <m:dPr>
                            <m:ctrlP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𝑒𝑔</m:t>
                                </m:r>
                                <m:sSub>
                                  <m:sSubPr>
                                    <m:ctrlPr>
                                      <a:rPr lang="en-US" altLang="ko-KR" sz="1300" i="1" kern="0">
                                        <a:ln>
                                          <a:solidFill>
                                            <a:schemeClr val="tx1">
                                              <a:alpha val="5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300" i="1" kern="0">
                                        <a:ln>
                                          <a:solidFill>
                                            <a:schemeClr val="tx1">
                                              <a:alpha val="5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𝑜</m:t>
                                    </m:r>
                                  </m:e>
                                  <m:sub>
                                    <m:r>
                                      <a:rPr lang="en-US" altLang="ko-KR" sz="1300" i="1" kern="0">
                                        <a:ln>
                                          <a:solidFill>
                                            <a:schemeClr val="tx1">
                                              <a:alpha val="5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𝑝𝑒𝑑</m:t>
                                    </m:r>
                                  </m:sub>
                                </m:sSub>
                              </m:sub>
                            </m:sSub>
                            <m: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,</m:t>
                            </m:r>
                            <m: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𝑛</m:t>
                            </m:r>
                          </m:e>
                        </m:d>
                      </m:den>
                    </m:f>
                  </m:oMath>
                </a14:m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*0.7</a:t>
                </a:r>
              </a:p>
            </p:txBody>
          </p:sp>
        </mc:Choice>
        <mc:Fallback xmlns="">
          <p:sp>
            <p:nvSpPr>
              <p:cNvPr id="33" name="직사각형 32">
                <a:extLst>
                  <a:ext uri="{FF2B5EF4-FFF2-40B4-BE49-F238E27FC236}">
                    <a16:creationId xmlns:a16="http://schemas.microsoft.com/office/drawing/2014/main" id="{68534C1A-4A13-4F08-94B8-32998456D06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3335266"/>
                <a:ext cx="9144000" cy="92262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4314847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제목 1">
            <a:extLst>
              <a:ext uri="{FF2B5EF4-FFF2-40B4-BE49-F238E27FC236}">
                <a16:creationId xmlns:a16="http://schemas.microsoft.com/office/drawing/2014/main" id="{E2F6400F-1258-4E3F-8FAD-6B6BDAFA7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6</a:t>
            </a:r>
            <a:r>
              <a:rPr lang="ko-KR" altLang="en-US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주행 경로상 장애물 통행량이 과다한 환경</a:t>
            </a:r>
            <a:r>
              <a:rPr lang="en-US" altLang="ko-KR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(</a:t>
            </a:r>
            <a:r>
              <a:rPr lang="ko-KR" altLang="en-US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차량</a:t>
            </a:r>
            <a:r>
              <a:rPr lang="en-US" altLang="ko-KR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)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F55F954-5E86-475A-837F-2B8CED6C7DF1}" type="slidenum">
              <a:rPr lang="ko-KR" altLang="en-US" smtClean="0"/>
              <a:pPr/>
              <a:t>61</a:t>
            </a:fld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FB18FB4-5614-42BC-9E60-CC6EDE72E6A7}"/>
              </a:ext>
            </a:extLst>
          </p:cNvPr>
          <p:cNvSpPr/>
          <p:nvPr/>
        </p:nvSpPr>
        <p:spPr>
          <a:xfrm>
            <a:off x="284495" y="950860"/>
            <a:ext cx="3200971" cy="129703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주행 경로 상</a:t>
            </a:r>
            <a:endParaRPr lang="en-US" altLang="ko-KR" sz="12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예상 주행 전역 경로상 반경 </a:t>
            </a:r>
            <a:r>
              <a:rPr lang="en-US" altLang="ko-KR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15m </a:t>
            </a:r>
            <a:r>
              <a:rPr lang="ko-KR" altLang="en-US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이내</a:t>
            </a:r>
          </a:p>
          <a:p>
            <a:r>
              <a:rPr lang="en-US" altLang="ko-KR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     and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특장차 반경 </a:t>
            </a:r>
            <a:r>
              <a:rPr lang="en-US" altLang="ko-KR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FF0000"/>
                </a:solidFill>
              </a:rPr>
              <a:t>50m</a:t>
            </a:r>
            <a:r>
              <a:rPr lang="ko-KR" altLang="en-US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 범위 영역</a:t>
            </a:r>
          </a:p>
          <a:p>
            <a:r>
              <a:rPr lang="en-US" altLang="ko-KR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    (</a:t>
            </a:r>
            <a:r>
              <a:rPr lang="ko-KR" altLang="en-US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이미 지나온 전역 경로는 고려하지 않음</a:t>
            </a:r>
            <a:r>
              <a:rPr lang="en-US" altLang="ko-KR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)</a:t>
            </a:r>
          </a:p>
        </p:txBody>
      </p:sp>
      <p:pic>
        <p:nvPicPr>
          <p:cNvPr id="69" name="그림 68">
            <a:extLst>
              <a:ext uri="{FF2B5EF4-FFF2-40B4-BE49-F238E27FC236}">
                <a16:creationId xmlns:a16="http://schemas.microsoft.com/office/drawing/2014/main" id="{36D7D68F-38DF-4AF5-958E-777112E97AA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3335" y="774688"/>
            <a:ext cx="792000" cy="792000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B729D3C5-0EF9-4BEF-848E-87AEBE977B85}"/>
              </a:ext>
            </a:extLst>
          </p:cNvPr>
          <p:cNvGrpSpPr/>
          <p:nvPr/>
        </p:nvGrpSpPr>
        <p:grpSpPr>
          <a:xfrm>
            <a:off x="3832599" y="1147511"/>
            <a:ext cx="6010983" cy="5238414"/>
            <a:chOff x="3832599" y="1147511"/>
            <a:chExt cx="6010983" cy="5238414"/>
          </a:xfrm>
        </p:grpSpPr>
        <p:cxnSp>
          <p:nvCxnSpPr>
            <p:cNvPr id="51" name="직선 연결선 50">
              <a:extLst>
                <a:ext uri="{FF2B5EF4-FFF2-40B4-BE49-F238E27FC236}">
                  <a16:creationId xmlns:a16="http://schemas.microsoft.com/office/drawing/2014/main" id="{DAD70A84-7D21-494A-BF1D-530EDC1EAA9B}"/>
                </a:ext>
              </a:extLst>
            </p:cNvPr>
            <p:cNvCxnSpPr/>
            <p:nvPr/>
          </p:nvCxnSpPr>
          <p:spPr>
            <a:xfrm flipV="1">
              <a:off x="5650699" y="6076423"/>
              <a:ext cx="3600000" cy="0"/>
            </a:xfrm>
            <a:prstGeom prst="line">
              <a:avLst/>
            </a:prstGeom>
            <a:ln w="19050" cap="flat" cmpd="sng" algn="ctr">
              <a:solidFill>
                <a:schemeClr val="accent6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52" name="직선 연결선 51">
              <a:extLst>
                <a:ext uri="{FF2B5EF4-FFF2-40B4-BE49-F238E27FC236}">
                  <a16:creationId xmlns:a16="http://schemas.microsoft.com/office/drawing/2014/main" id="{5E05C528-9DB1-4503-8149-4E0AC217FDF6}"/>
                </a:ext>
              </a:extLst>
            </p:cNvPr>
            <p:cNvCxnSpPr/>
            <p:nvPr/>
          </p:nvCxnSpPr>
          <p:spPr>
            <a:xfrm flipV="1">
              <a:off x="5650699" y="4522117"/>
              <a:ext cx="3600000" cy="0"/>
            </a:xfrm>
            <a:prstGeom prst="line">
              <a:avLst/>
            </a:prstGeom>
            <a:ln w="19050" cap="flat" cmpd="sng" algn="ctr">
              <a:solidFill>
                <a:schemeClr val="accent6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53" name="직선 화살표 연결선 52">
              <a:extLst>
                <a:ext uri="{FF2B5EF4-FFF2-40B4-BE49-F238E27FC236}">
                  <a16:creationId xmlns:a16="http://schemas.microsoft.com/office/drawing/2014/main" id="{A6342B38-F3A3-40F9-8848-ED43311489CF}"/>
                </a:ext>
              </a:extLst>
            </p:cNvPr>
            <p:cNvCxnSpPr/>
            <p:nvPr/>
          </p:nvCxnSpPr>
          <p:spPr>
            <a:xfrm>
              <a:off x="4930699" y="5299270"/>
              <a:ext cx="4320000" cy="0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직선 화살표 연결선 53">
              <a:extLst>
                <a:ext uri="{FF2B5EF4-FFF2-40B4-BE49-F238E27FC236}">
                  <a16:creationId xmlns:a16="http://schemas.microsoft.com/office/drawing/2014/main" id="{4FFFD881-BC89-4023-95C2-FDE8FB0BF73B}"/>
                </a:ext>
              </a:extLst>
            </p:cNvPr>
            <p:cNvCxnSpPr/>
            <p:nvPr/>
          </p:nvCxnSpPr>
          <p:spPr>
            <a:xfrm flipV="1">
              <a:off x="8981945" y="5332775"/>
              <a:ext cx="0" cy="707139"/>
            </a:xfrm>
            <a:prstGeom prst="straightConnector1">
              <a:avLst/>
            </a:prstGeom>
            <a:ln w="3175">
              <a:prstDash val="dash"/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7FF2A08A-55BD-428B-BBC9-EFBA7A781202}"/>
                </a:ext>
              </a:extLst>
            </p:cNvPr>
            <p:cNvSpPr txBox="1"/>
            <p:nvPr/>
          </p:nvSpPr>
          <p:spPr>
            <a:xfrm>
              <a:off x="8433494" y="4762526"/>
              <a:ext cx="5484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latin typeface="+mn-ea"/>
                </a:rPr>
                <a:t>15m</a:t>
              </a:r>
              <a:endParaRPr lang="ko-KR" altLang="en-US" sz="1200" dirty="0">
                <a:latin typeface="+mn-ea"/>
              </a:endParaRPr>
            </a:p>
          </p:txBody>
        </p:sp>
        <p:cxnSp>
          <p:nvCxnSpPr>
            <p:cNvPr id="57" name="직선 화살표 연결선 56">
              <a:extLst>
                <a:ext uri="{FF2B5EF4-FFF2-40B4-BE49-F238E27FC236}">
                  <a16:creationId xmlns:a16="http://schemas.microsoft.com/office/drawing/2014/main" id="{53975996-4111-4E48-9E1F-23C1FAF56D3B}"/>
                </a:ext>
              </a:extLst>
            </p:cNvPr>
            <p:cNvCxnSpPr/>
            <p:nvPr/>
          </p:nvCxnSpPr>
          <p:spPr>
            <a:xfrm flipV="1">
              <a:off x="8984715" y="4547916"/>
              <a:ext cx="0" cy="707139"/>
            </a:xfrm>
            <a:prstGeom prst="straightConnector1">
              <a:avLst/>
            </a:prstGeom>
            <a:ln w="3175">
              <a:prstDash val="dash"/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BCB8364F-DFFB-4287-AF81-9CC538D6674E}"/>
                </a:ext>
              </a:extLst>
            </p:cNvPr>
            <p:cNvSpPr txBox="1"/>
            <p:nvPr/>
          </p:nvSpPr>
          <p:spPr>
            <a:xfrm>
              <a:off x="8433494" y="5549347"/>
              <a:ext cx="5484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latin typeface="+mn-ea"/>
                </a:rPr>
                <a:t>15m</a:t>
              </a:r>
              <a:endParaRPr lang="ko-KR" altLang="en-US" sz="1200" dirty="0">
                <a:latin typeface="+mn-ea"/>
              </a:endParaRPr>
            </a:p>
          </p:txBody>
        </p:sp>
        <p:cxnSp>
          <p:nvCxnSpPr>
            <p:cNvPr id="59" name="직선 화살표 연결선 58">
              <a:extLst>
                <a:ext uri="{FF2B5EF4-FFF2-40B4-BE49-F238E27FC236}">
                  <a16:creationId xmlns:a16="http://schemas.microsoft.com/office/drawing/2014/main" id="{E07E6031-F56C-407A-8195-1CA102E88511}"/>
                </a:ext>
              </a:extLst>
            </p:cNvPr>
            <p:cNvCxnSpPr>
              <a:stCxn id="88" idx="3"/>
              <a:endCxn id="61" idx="3"/>
            </p:cNvCxnSpPr>
            <p:nvPr/>
          </p:nvCxnSpPr>
          <p:spPr>
            <a:xfrm flipV="1">
              <a:off x="8440537" y="3990218"/>
              <a:ext cx="584682" cy="409251"/>
            </a:xfrm>
            <a:prstGeom prst="straightConnector1">
              <a:avLst/>
            </a:prstGeom>
            <a:ln w="3175">
              <a:prstDash val="dash"/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13608871-0315-4064-B025-A2CBD330198D}"/>
                    </a:ext>
                  </a:extLst>
                </p:cNvPr>
                <p:cNvSpPr txBox="1"/>
                <p:nvPr/>
              </p:nvSpPr>
              <p:spPr>
                <a:xfrm>
                  <a:off x="8198686" y="3937215"/>
                  <a:ext cx="703869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ko-KR" sz="1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</m:oMath>
                  </a14:m>
                  <a:r>
                    <a:rPr lang="en-US" altLang="ko-KR" sz="1200" dirty="0">
                      <a:latin typeface="+mn-ea"/>
                    </a:rPr>
                    <a:t> 30m</a:t>
                  </a:r>
                  <a:endParaRPr lang="ko-KR" altLang="en-US" sz="1200" dirty="0">
                    <a:latin typeface="+mn-ea"/>
                  </a:endParaRPr>
                </a:p>
              </p:txBody>
            </p:sp>
          </mc:Choice>
          <mc:Fallback xmlns="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13608871-0315-4064-B025-A2CBD33019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98686" y="3937215"/>
                  <a:ext cx="703869" cy="276999"/>
                </a:xfrm>
                <a:prstGeom prst="rect">
                  <a:avLst/>
                </a:prstGeom>
                <a:blipFill>
                  <a:blip r:embed="rId4"/>
                  <a:stretch>
                    <a:fillRect t="-4444" b="-15556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61" name="그림 60">
              <a:extLst>
                <a:ext uri="{FF2B5EF4-FFF2-40B4-BE49-F238E27FC236}">
                  <a16:creationId xmlns:a16="http://schemas.microsoft.com/office/drawing/2014/main" id="{30777544-A9DE-4063-941F-BEE07F307B2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9025219" y="3594218"/>
              <a:ext cx="792000" cy="792000"/>
            </a:xfrm>
            <a:prstGeom prst="rect">
              <a:avLst/>
            </a:prstGeom>
          </p:spPr>
        </p:pic>
        <p:cxnSp>
          <p:nvCxnSpPr>
            <p:cNvPr id="62" name="직선 연결선 61">
              <a:extLst>
                <a:ext uri="{FF2B5EF4-FFF2-40B4-BE49-F238E27FC236}">
                  <a16:creationId xmlns:a16="http://schemas.microsoft.com/office/drawing/2014/main" id="{A0BB5431-3680-40A6-B33E-F79F5BD9F20F}"/>
                </a:ext>
              </a:extLst>
            </p:cNvPr>
            <p:cNvCxnSpPr/>
            <p:nvPr/>
          </p:nvCxnSpPr>
          <p:spPr>
            <a:xfrm flipV="1">
              <a:off x="5649248" y="3346116"/>
              <a:ext cx="3600000" cy="0"/>
            </a:xfrm>
            <a:prstGeom prst="line">
              <a:avLst/>
            </a:prstGeom>
            <a:ln w="19050" cap="flat" cmpd="sng" algn="ctr">
              <a:solidFill>
                <a:schemeClr val="accent6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63" name="직선 연결선 62">
              <a:extLst>
                <a:ext uri="{FF2B5EF4-FFF2-40B4-BE49-F238E27FC236}">
                  <a16:creationId xmlns:a16="http://schemas.microsoft.com/office/drawing/2014/main" id="{36F9F688-976E-4475-BD27-3EF84374984B}"/>
                </a:ext>
              </a:extLst>
            </p:cNvPr>
            <p:cNvCxnSpPr/>
            <p:nvPr/>
          </p:nvCxnSpPr>
          <p:spPr>
            <a:xfrm flipV="1">
              <a:off x="5649248" y="1791810"/>
              <a:ext cx="3600000" cy="0"/>
            </a:xfrm>
            <a:prstGeom prst="line">
              <a:avLst/>
            </a:prstGeom>
            <a:ln w="19050" cap="flat" cmpd="sng" algn="ctr">
              <a:solidFill>
                <a:schemeClr val="accent6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64" name="직선 화살표 연결선 63">
              <a:extLst>
                <a:ext uri="{FF2B5EF4-FFF2-40B4-BE49-F238E27FC236}">
                  <a16:creationId xmlns:a16="http://schemas.microsoft.com/office/drawing/2014/main" id="{9977EE2D-DAF1-41D9-BEFE-419C78E3EB5F}"/>
                </a:ext>
              </a:extLst>
            </p:cNvPr>
            <p:cNvCxnSpPr/>
            <p:nvPr/>
          </p:nvCxnSpPr>
          <p:spPr>
            <a:xfrm>
              <a:off x="4929248" y="2568963"/>
              <a:ext cx="4320000" cy="0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직선 화살표 연결선 64">
              <a:extLst>
                <a:ext uri="{FF2B5EF4-FFF2-40B4-BE49-F238E27FC236}">
                  <a16:creationId xmlns:a16="http://schemas.microsoft.com/office/drawing/2014/main" id="{2160DAEB-289E-4ABF-92AA-F5E7329A270C}"/>
                </a:ext>
              </a:extLst>
            </p:cNvPr>
            <p:cNvCxnSpPr/>
            <p:nvPr/>
          </p:nvCxnSpPr>
          <p:spPr>
            <a:xfrm flipV="1">
              <a:off x="7947561" y="2602468"/>
              <a:ext cx="0" cy="707139"/>
            </a:xfrm>
            <a:prstGeom prst="straightConnector1">
              <a:avLst/>
            </a:prstGeom>
            <a:ln w="3175">
              <a:prstDash val="dash"/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95AF0258-4E49-4F87-9CC2-9C75CBF654F9}"/>
                </a:ext>
              </a:extLst>
            </p:cNvPr>
            <p:cNvSpPr txBox="1"/>
            <p:nvPr/>
          </p:nvSpPr>
          <p:spPr>
            <a:xfrm>
              <a:off x="7399110" y="2032219"/>
              <a:ext cx="5484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latin typeface="+mn-ea"/>
                </a:rPr>
                <a:t>15m</a:t>
              </a:r>
              <a:endParaRPr lang="ko-KR" altLang="en-US" sz="1200" dirty="0">
                <a:latin typeface="+mn-ea"/>
              </a:endParaRPr>
            </a:p>
          </p:txBody>
        </p:sp>
        <p:cxnSp>
          <p:nvCxnSpPr>
            <p:cNvPr id="67" name="직선 화살표 연결선 66">
              <a:extLst>
                <a:ext uri="{FF2B5EF4-FFF2-40B4-BE49-F238E27FC236}">
                  <a16:creationId xmlns:a16="http://schemas.microsoft.com/office/drawing/2014/main" id="{71C7FA0B-26BA-4AFF-8575-0DA21B4E73AC}"/>
                </a:ext>
              </a:extLst>
            </p:cNvPr>
            <p:cNvCxnSpPr/>
            <p:nvPr/>
          </p:nvCxnSpPr>
          <p:spPr>
            <a:xfrm flipV="1">
              <a:off x="7950331" y="1817609"/>
              <a:ext cx="0" cy="707139"/>
            </a:xfrm>
            <a:prstGeom prst="straightConnector1">
              <a:avLst/>
            </a:prstGeom>
            <a:ln w="3175">
              <a:prstDash val="dash"/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466E2A39-A058-4FB0-A1FA-2E8C012828D9}"/>
                </a:ext>
              </a:extLst>
            </p:cNvPr>
            <p:cNvSpPr txBox="1"/>
            <p:nvPr/>
          </p:nvSpPr>
          <p:spPr>
            <a:xfrm>
              <a:off x="7399110" y="2819040"/>
              <a:ext cx="5484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latin typeface="+mn-ea"/>
                </a:rPr>
                <a:t>15m</a:t>
              </a:r>
              <a:endParaRPr lang="ko-KR" altLang="en-US" sz="1200" dirty="0">
                <a:latin typeface="+mn-ea"/>
              </a:endParaRPr>
            </a:p>
          </p:txBody>
        </p:sp>
        <p:grpSp>
          <p:nvGrpSpPr>
            <p:cNvPr id="70" name="그룹 69">
              <a:extLst>
                <a:ext uri="{FF2B5EF4-FFF2-40B4-BE49-F238E27FC236}">
                  <a16:creationId xmlns:a16="http://schemas.microsoft.com/office/drawing/2014/main" id="{5E28363E-5339-46B4-888A-0A412E41DC4C}"/>
                </a:ext>
              </a:extLst>
            </p:cNvPr>
            <p:cNvGrpSpPr/>
            <p:nvPr/>
          </p:nvGrpSpPr>
          <p:grpSpPr>
            <a:xfrm>
              <a:off x="3919481" y="1485543"/>
              <a:ext cx="1989829" cy="2173308"/>
              <a:chOff x="4234778" y="2962285"/>
              <a:chExt cx="1989829" cy="2173308"/>
            </a:xfrm>
          </p:grpSpPr>
          <p:sp>
            <p:nvSpPr>
              <p:cNvPr id="71" name="모서리가 둥근 직사각형 22">
                <a:extLst>
                  <a:ext uri="{FF2B5EF4-FFF2-40B4-BE49-F238E27FC236}">
                    <a16:creationId xmlns:a16="http://schemas.microsoft.com/office/drawing/2014/main" id="{B7E1976C-F6F0-42C5-AF73-87C835C7C7B2}"/>
                  </a:ext>
                </a:extLst>
              </p:cNvPr>
              <p:cNvSpPr/>
              <p:nvPr/>
            </p:nvSpPr>
            <p:spPr>
              <a:xfrm>
                <a:off x="4789745" y="3581287"/>
                <a:ext cx="879895" cy="935304"/>
              </a:xfrm>
              <a:prstGeom prst="roundRect">
                <a:avLst/>
              </a:prstGeom>
              <a:ln>
                <a:solidFill>
                  <a:schemeClr val="accent5"/>
                </a:solidFill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200" dirty="0" err="1"/>
                  <a:t>특장차량</a:t>
                </a:r>
                <a:endParaRPr lang="ko-KR" altLang="en-US" sz="1200" dirty="0"/>
              </a:p>
            </p:txBody>
          </p:sp>
          <p:sp>
            <p:nvSpPr>
              <p:cNvPr id="72" name="모서리가 둥근 직사각형 23">
                <a:extLst>
                  <a:ext uri="{FF2B5EF4-FFF2-40B4-BE49-F238E27FC236}">
                    <a16:creationId xmlns:a16="http://schemas.microsoft.com/office/drawing/2014/main" id="{D72E0ECD-E85E-42DF-AFFB-C668FCE6CFD2}"/>
                  </a:ext>
                </a:extLst>
              </p:cNvPr>
              <p:cNvSpPr/>
              <p:nvPr/>
            </p:nvSpPr>
            <p:spPr>
              <a:xfrm>
                <a:off x="4234778" y="2962285"/>
                <a:ext cx="554967" cy="619002"/>
              </a:xfrm>
              <a:prstGeom prst="round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200" dirty="0" err="1"/>
                  <a:t>보조차량</a:t>
                </a:r>
                <a:endParaRPr lang="ko-KR" altLang="en-US" sz="1200" dirty="0"/>
              </a:p>
            </p:txBody>
          </p:sp>
          <p:sp>
            <p:nvSpPr>
              <p:cNvPr id="73" name="모서리가 둥근 직사각형 24">
                <a:extLst>
                  <a:ext uri="{FF2B5EF4-FFF2-40B4-BE49-F238E27FC236}">
                    <a16:creationId xmlns:a16="http://schemas.microsoft.com/office/drawing/2014/main" id="{F3251543-A8A9-4C35-86E9-AA87107B429F}"/>
                  </a:ext>
                </a:extLst>
              </p:cNvPr>
              <p:cNvSpPr/>
              <p:nvPr/>
            </p:nvSpPr>
            <p:spPr>
              <a:xfrm>
                <a:off x="5669640" y="2962285"/>
                <a:ext cx="554967" cy="619002"/>
              </a:xfrm>
              <a:prstGeom prst="round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200" dirty="0" err="1"/>
                  <a:t>보조차량</a:t>
                </a:r>
                <a:endParaRPr lang="ko-KR" altLang="en-US" sz="1200" dirty="0"/>
              </a:p>
            </p:txBody>
          </p:sp>
          <p:sp>
            <p:nvSpPr>
              <p:cNvPr id="74" name="모서리가 둥근 직사각형 25">
                <a:extLst>
                  <a:ext uri="{FF2B5EF4-FFF2-40B4-BE49-F238E27FC236}">
                    <a16:creationId xmlns:a16="http://schemas.microsoft.com/office/drawing/2014/main" id="{DD583DB8-F4BB-4072-9590-3A0635EB6FAB}"/>
                  </a:ext>
                </a:extLst>
              </p:cNvPr>
              <p:cNvSpPr/>
              <p:nvPr/>
            </p:nvSpPr>
            <p:spPr>
              <a:xfrm>
                <a:off x="4234778" y="4516591"/>
                <a:ext cx="554967" cy="619002"/>
              </a:xfrm>
              <a:prstGeom prst="round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200" dirty="0" err="1"/>
                  <a:t>보조차량</a:t>
                </a:r>
                <a:endParaRPr lang="ko-KR" altLang="en-US" sz="1200" dirty="0"/>
              </a:p>
            </p:txBody>
          </p:sp>
          <p:sp>
            <p:nvSpPr>
              <p:cNvPr id="75" name="모서리가 둥근 직사각형 26">
                <a:extLst>
                  <a:ext uri="{FF2B5EF4-FFF2-40B4-BE49-F238E27FC236}">
                    <a16:creationId xmlns:a16="http://schemas.microsoft.com/office/drawing/2014/main" id="{6A2CF9FC-EA1D-47F9-993C-786BDFCBC54E}"/>
                  </a:ext>
                </a:extLst>
              </p:cNvPr>
              <p:cNvSpPr/>
              <p:nvPr/>
            </p:nvSpPr>
            <p:spPr>
              <a:xfrm>
                <a:off x="5669639" y="4516591"/>
                <a:ext cx="554967" cy="619002"/>
              </a:xfrm>
              <a:prstGeom prst="round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200" dirty="0" err="1"/>
                  <a:t>보조차량</a:t>
                </a:r>
                <a:endParaRPr lang="ko-KR" altLang="en-US" sz="1200" dirty="0"/>
              </a:p>
            </p:txBody>
          </p:sp>
        </p:grpSp>
        <p:cxnSp>
          <p:nvCxnSpPr>
            <p:cNvPr id="76" name="직선 연결선 75">
              <a:extLst>
                <a:ext uri="{FF2B5EF4-FFF2-40B4-BE49-F238E27FC236}">
                  <a16:creationId xmlns:a16="http://schemas.microsoft.com/office/drawing/2014/main" id="{507453F8-9D2F-44FB-BEAB-E95292F598C1}"/>
                </a:ext>
              </a:extLst>
            </p:cNvPr>
            <p:cNvCxnSpPr/>
            <p:nvPr/>
          </p:nvCxnSpPr>
          <p:spPr>
            <a:xfrm>
              <a:off x="3832599" y="3742272"/>
              <a:ext cx="5760000" cy="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77" name="직선 화살표 연결선 76">
              <a:extLst>
                <a:ext uri="{FF2B5EF4-FFF2-40B4-BE49-F238E27FC236}">
                  <a16:creationId xmlns:a16="http://schemas.microsoft.com/office/drawing/2014/main" id="{7D26368A-FE79-4641-81DA-8D53CF96A78C}"/>
                </a:ext>
              </a:extLst>
            </p:cNvPr>
            <p:cNvCxnSpPr>
              <a:stCxn id="69" idx="3"/>
              <a:endCxn id="87" idx="3"/>
            </p:cNvCxnSpPr>
            <p:nvPr/>
          </p:nvCxnSpPr>
          <p:spPr>
            <a:xfrm>
              <a:off x="8465335" y="1170688"/>
              <a:ext cx="586247" cy="445021"/>
            </a:xfrm>
            <a:prstGeom prst="straightConnector1">
              <a:avLst/>
            </a:prstGeom>
            <a:ln w="3175">
              <a:prstDash val="dash"/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ED42072D-2DEB-470D-84F1-4FDD91DB686E}"/>
                    </a:ext>
                  </a:extLst>
                </p:cNvPr>
                <p:cNvSpPr txBox="1"/>
                <p:nvPr/>
              </p:nvSpPr>
              <p:spPr>
                <a:xfrm>
                  <a:off x="8630010" y="1147511"/>
                  <a:ext cx="703869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ko-KR" sz="1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</m:oMath>
                  </a14:m>
                  <a:r>
                    <a:rPr lang="en-US" altLang="ko-KR" sz="1200" dirty="0">
                      <a:latin typeface="+mn-ea"/>
                    </a:rPr>
                    <a:t> 30m</a:t>
                  </a:r>
                  <a:endParaRPr lang="ko-KR" altLang="en-US" sz="1200" dirty="0">
                    <a:latin typeface="+mn-ea"/>
                  </a:endParaRPr>
                </a:p>
              </p:txBody>
            </p:sp>
          </mc:Choice>
          <mc:Fallback xmlns=""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ED42072D-2DEB-470D-84F1-4FDD91DB68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30010" y="1147511"/>
                  <a:ext cx="703869" cy="276999"/>
                </a:xfrm>
                <a:prstGeom prst="rect">
                  <a:avLst/>
                </a:prstGeom>
                <a:blipFill>
                  <a:blip r:embed="rId5"/>
                  <a:stretch>
                    <a:fillRect t="-2174" b="-13043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79" name="그룹 78">
              <a:extLst>
                <a:ext uri="{FF2B5EF4-FFF2-40B4-BE49-F238E27FC236}">
                  <a16:creationId xmlns:a16="http://schemas.microsoft.com/office/drawing/2014/main" id="{B2E2C11E-86CA-4990-B5F1-6CAD3EAEE561}"/>
                </a:ext>
              </a:extLst>
            </p:cNvPr>
            <p:cNvGrpSpPr/>
            <p:nvPr/>
          </p:nvGrpSpPr>
          <p:grpSpPr>
            <a:xfrm>
              <a:off x="3919481" y="4212617"/>
              <a:ext cx="1989829" cy="2173308"/>
              <a:chOff x="4234778" y="2962285"/>
              <a:chExt cx="1989829" cy="2173308"/>
            </a:xfrm>
          </p:grpSpPr>
          <p:sp>
            <p:nvSpPr>
              <p:cNvPr id="80" name="모서리가 둥근 직사각형 36">
                <a:extLst>
                  <a:ext uri="{FF2B5EF4-FFF2-40B4-BE49-F238E27FC236}">
                    <a16:creationId xmlns:a16="http://schemas.microsoft.com/office/drawing/2014/main" id="{EA954AA4-ACC7-4B59-8C07-0384457AA962}"/>
                  </a:ext>
                </a:extLst>
              </p:cNvPr>
              <p:cNvSpPr/>
              <p:nvPr/>
            </p:nvSpPr>
            <p:spPr>
              <a:xfrm>
                <a:off x="4789745" y="3581287"/>
                <a:ext cx="879895" cy="935304"/>
              </a:xfrm>
              <a:prstGeom prst="roundRect">
                <a:avLst/>
              </a:prstGeom>
              <a:ln>
                <a:solidFill>
                  <a:schemeClr val="accent5"/>
                </a:solidFill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200" dirty="0" err="1"/>
                  <a:t>특장차량</a:t>
                </a:r>
                <a:endParaRPr lang="ko-KR" altLang="en-US" sz="1200" dirty="0"/>
              </a:p>
            </p:txBody>
          </p:sp>
          <p:sp>
            <p:nvSpPr>
              <p:cNvPr id="81" name="모서리가 둥근 직사각형 37">
                <a:extLst>
                  <a:ext uri="{FF2B5EF4-FFF2-40B4-BE49-F238E27FC236}">
                    <a16:creationId xmlns:a16="http://schemas.microsoft.com/office/drawing/2014/main" id="{4AB81CC2-587A-43C3-916F-1075374B9C18}"/>
                  </a:ext>
                </a:extLst>
              </p:cNvPr>
              <p:cNvSpPr/>
              <p:nvPr/>
            </p:nvSpPr>
            <p:spPr>
              <a:xfrm>
                <a:off x="4234778" y="2962285"/>
                <a:ext cx="554967" cy="619002"/>
              </a:xfrm>
              <a:prstGeom prst="round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200" dirty="0" err="1"/>
                  <a:t>보조차량</a:t>
                </a:r>
                <a:endParaRPr lang="ko-KR" altLang="en-US" sz="1200" dirty="0"/>
              </a:p>
            </p:txBody>
          </p:sp>
          <p:sp>
            <p:nvSpPr>
              <p:cNvPr id="82" name="모서리가 둥근 직사각형 38">
                <a:extLst>
                  <a:ext uri="{FF2B5EF4-FFF2-40B4-BE49-F238E27FC236}">
                    <a16:creationId xmlns:a16="http://schemas.microsoft.com/office/drawing/2014/main" id="{30D24A8A-1DD6-4147-A730-0106F99B5AF0}"/>
                  </a:ext>
                </a:extLst>
              </p:cNvPr>
              <p:cNvSpPr/>
              <p:nvPr/>
            </p:nvSpPr>
            <p:spPr>
              <a:xfrm>
                <a:off x="5669640" y="2962285"/>
                <a:ext cx="554967" cy="619002"/>
              </a:xfrm>
              <a:prstGeom prst="round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200" dirty="0" err="1"/>
                  <a:t>보조차량</a:t>
                </a:r>
                <a:endParaRPr lang="ko-KR" altLang="en-US" sz="1200" dirty="0"/>
              </a:p>
            </p:txBody>
          </p:sp>
          <p:sp>
            <p:nvSpPr>
              <p:cNvPr id="83" name="모서리가 둥근 직사각형 39">
                <a:extLst>
                  <a:ext uri="{FF2B5EF4-FFF2-40B4-BE49-F238E27FC236}">
                    <a16:creationId xmlns:a16="http://schemas.microsoft.com/office/drawing/2014/main" id="{3812D61F-870F-4376-A15E-DE57DCC6D0EE}"/>
                  </a:ext>
                </a:extLst>
              </p:cNvPr>
              <p:cNvSpPr/>
              <p:nvPr/>
            </p:nvSpPr>
            <p:spPr>
              <a:xfrm>
                <a:off x="4234778" y="4516591"/>
                <a:ext cx="554967" cy="619002"/>
              </a:xfrm>
              <a:prstGeom prst="round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200" dirty="0" err="1"/>
                  <a:t>보조차량</a:t>
                </a:r>
                <a:endParaRPr lang="ko-KR" altLang="en-US" sz="1200" dirty="0"/>
              </a:p>
            </p:txBody>
          </p:sp>
          <p:sp>
            <p:nvSpPr>
              <p:cNvPr id="84" name="모서리가 둥근 직사각형 40">
                <a:extLst>
                  <a:ext uri="{FF2B5EF4-FFF2-40B4-BE49-F238E27FC236}">
                    <a16:creationId xmlns:a16="http://schemas.microsoft.com/office/drawing/2014/main" id="{DCA1E467-3437-43DD-9050-80C54ED218AD}"/>
                  </a:ext>
                </a:extLst>
              </p:cNvPr>
              <p:cNvSpPr/>
              <p:nvPr/>
            </p:nvSpPr>
            <p:spPr>
              <a:xfrm>
                <a:off x="5669639" y="4516591"/>
                <a:ext cx="554967" cy="619002"/>
              </a:xfrm>
              <a:prstGeom prst="round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200" dirty="0" err="1"/>
                  <a:t>보조차량</a:t>
                </a:r>
                <a:endParaRPr lang="ko-KR" altLang="en-US" sz="1200" dirty="0"/>
              </a:p>
            </p:txBody>
          </p:sp>
        </p:grpSp>
        <p:cxnSp>
          <p:nvCxnSpPr>
            <p:cNvPr id="85" name="직선 화살표 연결선 84">
              <a:extLst>
                <a:ext uri="{FF2B5EF4-FFF2-40B4-BE49-F238E27FC236}">
                  <a16:creationId xmlns:a16="http://schemas.microsoft.com/office/drawing/2014/main" id="{A7F81BBD-9BB7-4D22-9C08-E127E0EB363E}"/>
                </a:ext>
              </a:extLst>
            </p:cNvPr>
            <p:cNvCxnSpPr>
              <a:stCxn id="80" idx="3"/>
              <a:endCxn id="88" idx="1"/>
            </p:cNvCxnSpPr>
            <p:nvPr/>
          </p:nvCxnSpPr>
          <p:spPr>
            <a:xfrm flipV="1">
              <a:off x="5354343" y="4399469"/>
              <a:ext cx="2294194" cy="899802"/>
            </a:xfrm>
            <a:prstGeom prst="straightConnector1">
              <a:avLst/>
            </a:prstGeom>
            <a:ln w="3175">
              <a:prstDash val="dash"/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DFDBE5A1-A445-4DEA-B05A-C041B85374C9}"/>
                    </a:ext>
                  </a:extLst>
                </p:cNvPr>
                <p:cNvSpPr txBox="1"/>
                <p:nvPr/>
              </p:nvSpPr>
              <p:spPr>
                <a:xfrm>
                  <a:off x="6464274" y="4748920"/>
                  <a:ext cx="703869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ko-KR" sz="1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</m:oMath>
                  </a14:m>
                  <a:r>
                    <a:rPr lang="en-US" altLang="ko-KR" sz="1200" dirty="0">
                      <a:latin typeface="+mn-ea"/>
                    </a:rPr>
                    <a:t> 40m</a:t>
                  </a:r>
                  <a:endParaRPr lang="ko-KR" altLang="en-US" sz="1200" dirty="0">
                    <a:latin typeface="+mn-ea"/>
                  </a:endParaRPr>
                </a:p>
              </p:txBody>
            </p:sp>
          </mc:Choice>
          <mc:Fallback xmlns=""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DFDBE5A1-A445-4DEA-B05A-C041B85374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64274" y="4748920"/>
                  <a:ext cx="703869" cy="276999"/>
                </a:xfrm>
                <a:prstGeom prst="rect">
                  <a:avLst/>
                </a:prstGeom>
                <a:blipFill>
                  <a:blip r:embed="rId6"/>
                  <a:stretch>
                    <a:fillRect t="-2222" b="-15556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87" name="그림 86">
              <a:extLst>
                <a:ext uri="{FF2B5EF4-FFF2-40B4-BE49-F238E27FC236}">
                  <a16:creationId xmlns:a16="http://schemas.microsoft.com/office/drawing/2014/main" id="{E2E028B8-6398-45B1-8471-AF1F6C4EAD7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9051582" y="1219709"/>
              <a:ext cx="792000" cy="792000"/>
            </a:xfrm>
            <a:prstGeom prst="rect">
              <a:avLst/>
            </a:prstGeom>
          </p:spPr>
        </p:pic>
        <p:pic>
          <p:nvPicPr>
            <p:cNvPr id="88" name="그림 87">
              <a:extLst>
                <a:ext uri="{FF2B5EF4-FFF2-40B4-BE49-F238E27FC236}">
                  <a16:creationId xmlns:a16="http://schemas.microsoft.com/office/drawing/2014/main" id="{F7F2C3FA-C64F-4427-9431-1C95E43F513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48537" y="4003469"/>
              <a:ext cx="792000" cy="792000"/>
            </a:xfrm>
            <a:prstGeom prst="rect">
              <a:avLst/>
            </a:prstGeom>
          </p:spPr>
        </p:pic>
      </p:grp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5EBD213A-0FA5-4E08-99C0-F6A9A229FA9F}"/>
              </a:ext>
            </a:extLst>
          </p:cNvPr>
          <p:cNvSpPr/>
          <p:nvPr/>
        </p:nvSpPr>
        <p:spPr>
          <a:xfrm>
            <a:off x="284495" y="2280437"/>
            <a:ext cx="3639803" cy="4435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장애물</a:t>
            </a:r>
            <a:endParaRPr lang="en-US" altLang="ko-KR" sz="12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차량</a:t>
            </a:r>
            <a:endParaRPr lang="en-US" altLang="ko-KR" sz="120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3BB73BD0-D833-49F7-B3A1-4808A55DA155}"/>
              </a:ext>
            </a:extLst>
          </p:cNvPr>
          <p:cNvSpPr/>
          <p:nvPr/>
        </p:nvSpPr>
        <p:spPr>
          <a:xfrm>
            <a:off x="284495" y="2724036"/>
            <a:ext cx="3639803" cy="4435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통행량</a:t>
            </a:r>
            <a:endParaRPr lang="en-US" altLang="ko-KR" sz="12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주행 경로 상에 접근하는 차량의 수</a:t>
            </a:r>
            <a:endParaRPr lang="en-US" altLang="ko-KR" sz="120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DBF27DE3-21DE-406C-81F0-1BC015FBCD4F}"/>
              </a:ext>
            </a:extLst>
          </p:cNvPr>
          <p:cNvSpPr/>
          <p:nvPr/>
        </p:nvSpPr>
        <p:spPr>
          <a:xfrm>
            <a:off x="284495" y="3167635"/>
            <a:ext cx="3830305" cy="9644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과다</a:t>
            </a:r>
            <a:endParaRPr lang="en-US" altLang="ko-KR" sz="12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주행 경로 반경 </a:t>
            </a:r>
            <a:r>
              <a:rPr lang="en-US" altLang="ko-KR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15m </a:t>
            </a:r>
            <a:r>
              <a:rPr lang="ko-KR" altLang="en-US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이내로 접근하는 차량의 </a:t>
            </a:r>
            <a:br>
              <a:rPr lang="en-US" altLang="ko-KR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</a:br>
            <a:r>
              <a:rPr lang="ko-KR" altLang="en-US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숫자가 </a:t>
            </a:r>
            <a:r>
              <a:rPr lang="en-US" altLang="ko-KR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10</a:t>
            </a:r>
            <a:r>
              <a:rPr lang="ko-KR" altLang="en-US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초 내에 </a:t>
            </a:r>
            <a:r>
              <a:rPr lang="en-US" altLang="ko-KR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2</a:t>
            </a:r>
            <a:r>
              <a:rPr lang="ko-KR" altLang="en-US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이상</a:t>
            </a:r>
          </a:p>
          <a:p>
            <a:r>
              <a:rPr lang="en-US" altLang="ko-KR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     and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해당하는 차량들 사이의 거리가 </a:t>
            </a:r>
            <a:r>
              <a:rPr lang="en-US" altLang="ko-KR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30m </a:t>
            </a:r>
            <a:r>
              <a:rPr lang="ko-KR" altLang="en-US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이하인 경우</a:t>
            </a:r>
            <a:endParaRPr lang="en-US" altLang="ko-KR" sz="120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B1029D9F-D11F-4CF5-BC61-DF8F412A815B}"/>
              </a:ext>
            </a:extLst>
          </p:cNvPr>
          <p:cNvSpPr/>
          <p:nvPr/>
        </p:nvSpPr>
        <p:spPr>
          <a:xfrm>
            <a:off x="284494" y="4220301"/>
            <a:ext cx="3639805" cy="9644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위험 환경 판단</a:t>
            </a:r>
            <a:endParaRPr lang="en-US" altLang="ko-KR" sz="12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예상 주행 </a:t>
            </a:r>
            <a:r>
              <a:rPr lang="ko-KR" altLang="en-US" sz="1200" dirty="0" err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경로상</a:t>
            </a:r>
            <a:r>
              <a:rPr lang="ko-KR" altLang="en-US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 통행량이 과다한 지점이 발생</a:t>
            </a:r>
            <a:r>
              <a:rPr lang="en-US" altLang="ko-KR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     and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해당 지점에 특장차가 </a:t>
            </a:r>
            <a:r>
              <a:rPr lang="en-US" altLang="ko-KR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40m </a:t>
            </a:r>
            <a:r>
              <a:rPr lang="ko-KR" altLang="en-US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이내로 </a:t>
            </a:r>
            <a:r>
              <a:rPr lang="ko-KR" altLang="en-US" sz="1200" dirty="0" err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접근시</a:t>
            </a:r>
            <a:r>
              <a:rPr lang="ko-KR" altLang="en-US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 위험 환경으로 판단</a:t>
            </a:r>
            <a:endParaRPr lang="en-US" altLang="ko-KR" sz="120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911C655F-6215-4497-BCF8-8F4E5891ACAF}"/>
              </a:ext>
            </a:extLst>
          </p:cNvPr>
          <p:cNvSpPr/>
          <p:nvPr/>
        </p:nvSpPr>
        <p:spPr>
          <a:xfrm>
            <a:off x="284493" y="5327989"/>
            <a:ext cx="3639805" cy="9644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위험 환경 </a:t>
            </a:r>
            <a:r>
              <a:rPr lang="ko-KR" altLang="en-US" sz="1200" dirty="0" err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판단시</a:t>
            </a:r>
            <a:r>
              <a:rPr lang="ko-KR" altLang="en-US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 </a:t>
            </a:r>
            <a:r>
              <a:rPr lang="en-US" altLang="ko-KR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3</a:t>
            </a:r>
            <a:r>
              <a:rPr lang="ko-KR" altLang="en-US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대의 작업 보조 차량이 통행량 과다 지역에 사전 진입하여 주행 </a:t>
            </a:r>
            <a:r>
              <a:rPr lang="ko-KR" altLang="en-US" sz="1200" dirty="0" err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경로상</a:t>
            </a:r>
            <a:r>
              <a:rPr lang="ko-KR" altLang="en-US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 특장차가 접근하는 방향을 제외한 나머지 </a:t>
            </a:r>
            <a:r>
              <a:rPr lang="en-US" altLang="ko-KR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3</a:t>
            </a:r>
            <a:r>
              <a:rPr lang="ko-KR" altLang="en-US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개의 방향에 진을 형성하고 추가로 진입하는 차량 통제</a:t>
            </a:r>
            <a:endParaRPr lang="en-US" altLang="ko-KR" sz="120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245819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제목 1">
            <a:extLst>
              <a:ext uri="{FF2B5EF4-FFF2-40B4-BE49-F238E27FC236}">
                <a16:creationId xmlns:a16="http://schemas.microsoft.com/office/drawing/2014/main" id="{4B31B27E-9560-40EC-BF86-0E5D280D8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6</a:t>
            </a:r>
            <a:r>
              <a:rPr lang="ko-KR" altLang="en-US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주행 경로상 장애물 통행량이 과다한 환경</a:t>
            </a:r>
            <a:r>
              <a:rPr lang="en-US" altLang="ko-KR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(</a:t>
            </a:r>
            <a:r>
              <a:rPr lang="ko-KR" altLang="en-US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차량</a:t>
            </a:r>
            <a:r>
              <a:rPr lang="en-US" altLang="ko-KR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)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F55F954-5E86-475A-837F-2B8CED6C7DF1}" type="slidenum">
              <a:rPr lang="ko-KR" altLang="en-US" smtClean="0"/>
              <a:pPr/>
              <a:t>62</a:t>
            </a:fld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E201407-F429-4E67-9869-9E9DE1FEAB42}"/>
              </a:ext>
            </a:extLst>
          </p:cNvPr>
          <p:cNvSpPr/>
          <p:nvPr/>
        </p:nvSpPr>
        <p:spPr>
          <a:xfrm>
            <a:off x="381000" y="873125"/>
            <a:ext cx="9144000" cy="94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5256" indent="-95256"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buFont typeface="Wingdings" panose="05000000000000000000" pitchFamily="2" charset="2"/>
              <a:buChar char="§"/>
              <a:defRPr/>
            </a:pPr>
            <a:r>
              <a:rPr lang="ko-KR" altLang="en-US" sz="1300" b="1" kern="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동적 객체 데이터 입력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데이터 시점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: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최신 시각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t(T_L3fusion)</a:t>
            </a: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L3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데이터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: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이동 장애물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vector (L3obstacle(L), L=0~255)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07A6FFEB-AF97-4372-B0EF-80FD19B197B5}"/>
                  </a:ext>
                </a:extLst>
              </p:cNvPr>
              <p:cNvSpPr/>
              <p:nvPr/>
            </p:nvSpPr>
            <p:spPr>
              <a:xfrm>
                <a:off x="381000" y="1899058"/>
                <a:ext cx="9144000" cy="26220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120000"/>
                  <a:buFont typeface="+mj-ea"/>
                  <a:buAutoNum type="circleNumDbPlain"/>
                  <a:defRPr/>
                </a:pPr>
                <a:r>
                  <a:rPr lang="ko-KR" altLang="en-US" sz="1300" b="1" kern="0" dirty="0">
                    <a:ln>
                      <a:solidFill>
                        <a:schemeClr val="tx1">
                          <a:alpha val="30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영역 내 </a:t>
                </a:r>
                <a:r>
                  <a:rPr lang="ko-KR" altLang="en-US" sz="1300" b="1" kern="0" dirty="0">
                    <a:ln>
                      <a:solidFill>
                        <a:schemeClr val="tx1">
                          <a:alpha val="30000"/>
                        </a:schemeClr>
                      </a:solidFill>
                    </a:ln>
                    <a:solidFill>
                      <a:schemeClr val="tx1"/>
                    </a:solidFill>
                    <a:latin typeface="+mn-ea"/>
                    <a:cs typeface="Arial" panose="020B0604020202020204" pitchFamily="34" charset="0"/>
                  </a:rPr>
                  <a:t>동적 객체</a:t>
                </a:r>
                <a:r>
                  <a:rPr lang="en-US" altLang="ko-KR" sz="1300" b="1" kern="0" dirty="0">
                    <a:ln>
                      <a:solidFill>
                        <a:schemeClr val="tx1">
                          <a:alpha val="30000"/>
                        </a:schemeClr>
                      </a:solidFill>
                    </a:ln>
                    <a:solidFill>
                      <a:schemeClr val="tx1"/>
                    </a:solidFill>
                    <a:latin typeface="+mn-ea"/>
                    <a:cs typeface="Arial" panose="020B0604020202020204" pitchFamily="34" charset="0"/>
                  </a:rPr>
                  <a:t>(</a:t>
                </a:r>
                <a:r>
                  <a:rPr lang="ko-KR" altLang="en-US" sz="1300" b="1" kern="0" dirty="0">
                    <a:ln>
                      <a:solidFill>
                        <a:schemeClr val="tx1">
                          <a:alpha val="30000"/>
                        </a:schemeClr>
                      </a:solidFill>
                    </a:ln>
                    <a:solidFill>
                      <a:schemeClr val="tx1"/>
                    </a:solidFill>
                    <a:latin typeface="+mn-ea"/>
                    <a:cs typeface="Arial" panose="020B0604020202020204" pitchFamily="34" charset="0"/>
                  </a:rPr>
                  <a:t>차량</a:t>
                </a:r>
                <a:r>
                  <a:rPr lang="en-US" altLang="ko-KR" sz="1300" b="1" kern="0" dirty="0">
                    <a:ln>
                      <a:solidFill>
                        <a:schemeClr val="tx1">
                          <a:alpha val="30000"/>
                        </a:schemeClr>
                      </a:solidFill>
                    </a:ln>
                    <a:solidFill>
                      <a:schemeClr val="tx1"/>
                    </a:solidFill>
                    <a:latin typeface="+mn-ea"/>
                    <a:cs typeface="Arial" panose="020B0604020202020204" pitchFamily="34" charset="0"/>
                  </a:rPr>
                  <a:t>)</a:t>
                </a:r>
                <a:r>
                  <a:rPr lang="ko-KR" altLang="en-US" sz="1300" b="1" kern="0" dirty="0">
                    <a:ln>
                      <a:solidFill>
                        <a:schemeClr val="tx1">
                          <a:alpha val="30000"/>
                        </a:schemeClr>
                      </a:solidFill>
                    </a:ln>
                    <a:solidFill>
                      <a:schemeClr val="tx1"/>
                    </a:solidFill>
                    <a:latin typeface="+mn-ea"/>
                    <a:cs typeface="Arial" panose="020B0604020202020204" pitchFamily="34" charset="0"/>
                  </a:rPr>
                  <a:t> 추출</a:t>
                </a:r>
                <a:endParaRPr lang="en-US" altLang="ko-KR" sz="1300" b="1" kern="0" dirty="0">
                  <a:ln>
                    <a:solidFill>
                      <a:schemeClr val="tx1">
                        <a:alpha val="30000"/>
                      </a:schemeClr>
                    </a:solidFill>
                  </a:ln>
                  <a:solidFill>
                    <a:schemeClr val="tx1"/>
                  </a:solidFill>
                  <a:latin typeface="+mn-ea"/>
                  <a:cs typeface="Arial" panose="020B0604020202020204" pitchFamily="34" charset="0"/>
                </a:endParaRP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120000"/>
                  <a:defRPr/>
                </a:pP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solidFill>
                      <a:schemeClr val="tx1"/>
                    </a:solidFill>
                    <a:latin typeface="+mn-ea"/>
                    <a:cs typeface="Arial" panose="020B0604020202020204" pitchFamily="34" charset="0"/>
                  </a:rPr>
                  <a:t>   -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solidFill>
                      <a:schemeClr val="tx1"/>
                    </a:solidFill>
                    <a:latin typeface="+mn-ea"/>
                    <a:cs typeface="Arial" panose="020B0604020202020204" pitchFamily="34" charset="0"/>
                  </a:rPr>
                  <a:t>데이터 시점 </a:t>
                </a: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solidFill>
                      <a:schemeClr val="tx1"/>
                    </a:solidFill>
                    <a:latin typeface="+mn-ea"/>
                    <a:cs typeface="Arial" panose="020B0604020202020204" pitchFamily="34" charset="0"/>
                  </a:rPr>
                  <a:t>: t(T_L3fusion)</a:t>
                </a:r>
                <a:b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solidFill>
                      <a:schemeClr val="tx1"/>
                    </a:solidFill>
                    <a:latin typeface="+mn-ea"/>
                    <a:cs typeface="Arial" panose="020B0604020202020204" pitchFamily="34" charset="0"/>
                  </a:rPr>
                </a:b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solidFill>
                      <a:schemeClr val="tx1"/>
                    </a:solidFill>
                    <a:latin typeface="+mn-ea"/>
                    <a:cs typeface="Arial" panose="020B0604020202020204" pitchFamily="34" charset="0"/>
                  </a:rPr>
                  <a:t>   -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solidFill>
                      <a:schemeClr val="tx1"/>
                    </a:solidFill>
                    <a:latin typeface="+mn-ea"/>
                    <a:cs typeface="Arial" panose="020B0604020202020204" pitchFamily="34" charset="0"/>
                  </a:rPr>
                  <a:t>이동 장애물 </a:t>
                </a: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solidFill>
                      <a:schemeClr val="tx1"/>
                    </a:solidFill>
                    <a:latin typeface="+mn-ea"/>
                    <a:cs typeface="Arial" panose="020B0604020202020204" pitchFamily="34" charset="0"/>
                  </a:rPr>
                  <a:t>vector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solidFill>
                      <a:schemeClr val="tx1"/>
                    </a:solidFill>
                    <a:latin typeface="+mn-ea"/>
                    <a:cs typeface="Arial" panose="020B0604020202020204" pitchFamily="34" charset="0"/>
                  </a:rPr>
                  <a:t>에서 </a:t>
                </a:r>
                <a:r>
                  <a:rPr lang="en-US" altLang="ko-KR" sz="1300" kern="0" dirty="0" err="1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solidFill>
                      <a:schemeClr val="tx1"/>
                    </a:solidFill>
                    <a:latin typeface="+mn-ea"/>
                    <a:cs typeface="Arial" panose="020B0604020202020204" pitchFamily="34" charset="0"/>
                  </a:rPr>
                  <a:t>objectclass</a:t>
                </a: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solidFill>
                      <a:schemeClr val="tx1"/>
                    </a:solidFill>
                    <a:latin typeface="+mn-ea"/>
                    <a:cs typeface="Arial" panose="020B0604020202020204" pitchFamily="34" charset="0"/>
                  </a:rPr>
                  <a:t>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solidFill>
                      <a:schemeClr val="tx1"/>
                    </a:solidFill>
                    <a:latin typeface="+mn-ea"/>
                    <a:cs typeface="Arial" panose="020B0604020202020204" pitchFamily="34" charset="0"/>
                  </a:rPr>
                  <a:t>기반 차량 객체 추출</a:t>
                </a:r>
                <a:endParaRPr lang="en-US" altLang="ko-KR" sz="130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/>
                  </a:solidFill>
                  <a:latin typeface="+mn-ea"/>
                  <a:cs typeface="Arial" panose="020B0604020202020204" pitchFamily="34" charset="0"/>
                </a:endParaRP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90000"/>
                  <a:defRPr/>
                </a:pP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solidFill>
                      <a:schemeClr val="tx1"/>
                    </a:solidFill>
                    <a:latin typeface="+mn-ea"/>
                    <a:cs typeface="Arial" panose="020B0604020202020204" pitchFamily="34" charset="0"/>
                  </a:rPr>
                  <a:t>   -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solidFill>
                      <a:schemeClr val="tx1"/>
                    </a:solidFill>
                    <a:latin typeface="+mn-ea"/>
                    <a:cs typeface="Arial" panose="020B0604020202020204" pitchFamily="34" charset="0"/>
                  </a:rPr>
                  <a:t>차량과 특장차 사이 거리 추정</a:t>
                </a:r>
                <a:endParaRPr lang="en-US" altLang="ko-KR" sz="130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/>
                  </a:solidFill>
                  <a:latin typeface="+mn-ea"/>
                  <a:cs typeface="Arial" panose="020B0604020202020204" pitchFamily="34" charset="0"/>
                </a:endParaRP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90000"/>
                  <a:defRPr/>
                </a:pP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solidFill>
                      <a:schemeClr val="tx1"/>
                    </a:solidFill>
                    <a:latin typeface="+mn-ea"/>
                    <a:cs typeface="Arial" panose="020B0604020202020204" pitchFamily="34" charset="0"/>
                  </a:rPr>
                  <a:t>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𝐷</m:t>
                        </m:r>
                      </m:e>
                      <m:sub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𝑒𝑔𝑜</m:t>
                        </m:r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_</m:t>
                        </m:r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𝑜𝑏𝑠</m:t>
                        </m:r>
                      </m:sub>
                    </m:sSub>
                    <m:r>
                      <a:rPr lang="en-US" altLang="ko-KR" sz="1300" i="1" ker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⃗"/>
                                    <m:ctrlPr>
                                      <a:rPr lang="en-US" altLang="ko-KR" sz="1300" i="1" kern="0">
                                        <a:ln>
                                          <a:solidFill>
                                            <a:schemeClr val="tx1">
                                              <a:alpha val="5000"/>
                                            </a:schemeClr>
                                          </a:solidFill>
                                        </a:ln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altLang="ko-KR" sz="1300" i="1" kern="0">
                                            <a:ln>
                                              <a:solidFill>
                                                <a:schemeClr val="tx1">
                                                  <a:alpha val="5000"/>
                                                </a:schemeClr>
                                              </a:solidFill>
                                            </a:ln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300" i="1" kern="0">
                                            <a:ln>
                                              <a:solidFill>
                                                <a:schemeClr val="tx1">
                                                  <a:alpha val="5000"/>
                                                </a:schemeClr>
                                              </a:solidFill>
                                            </a:ln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𝑃</m:t>
                                        </m:r>
                                      </m:e>
                                      <m:sub>
                                        <m:r>
                                          <a:rPr lang="en-US" altLang="ko-KR" sz="1300" i="1" kern="0">
                                            <a:ln>
                                              <a:solidFill>
                                                <a:schemeClr val="tx1">
                                                  <a:alpha val="5000"/>
                                                </a:schemeClr>
                                              </a:solidFill>
                                            </a:ln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𝑒𝑔𝑜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⃗"/>
                                    <m:ctrlPr>
                                      <a:rPr lang="en-US" altLang="ko-KR" sz="1300" i="1" kern="0">
                                        <a:ln>
                                          <a:solidFill>
                                            <a:schemeClr val="tx1">
                                              <a:alpha val="5000"/>
                                            </a:schemeClr>
                                          </a:solidFill>
                                        </a:ln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altLang="ko-KR" sz="1300" i="1" kern="0">
                                            <a:ln>
                                              <a:solidFill>
                                                <a:schemeClr val="tx1">
                                                  <a:alpha val="5000"/>
                                                </a:schemeClr>
                                              </a:solidFill>
                                            </a:ln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300" i="1" kern="0">
                                            <a:ln>
                                              <a:solidFill>
                                                <a:schemeClr val="tx1">
                                                  <a:alpha val="5000"/>
                                                </a:schemeClr>
                                              </a:solidFill>
                                            </a:ln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𝑃</m:t>
                                        </m:r>
                                      </m:e>
                                      <m:sub>
                                        <m:r>
                                          <a:rPr lang="en-US" altLang="ko-KR" sz="1300" i="1" kern="0">
                                            <a:ln>
                                              <a:solidFill>
                                                <a:schemeClr val="tx1">
                                                  <a:alpha val="5000"/>
                                                </a:schemeClr>
                                              </a:solidFill>
                                            </a:ln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𝑜𝑏𝑠</m:t>
                                        </m:r>
                                      </m:sub>
                                    </m:sSub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b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solidFill>
                      <a:schemeClr val="tx1"/>
                    </a:solidFill>
                    <a:latin typeface="+mn-ea"/>
                    <a:cs typeface="Arial" panose="020B0604020202020204" pitchFamily="34" charset="0"/>
                  </a:rPr>
                </a:b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solidFill>
                      <a:schemeClr val="tx1"/>
                    </a:solidFill>
                    <a:latin typeface="+mn-ea"/>
                    <a:cs typeface="Arial" panose="020B0604020202020204" pitchFamily="34" charset="0"/>
                  </a:rPr>
                  <a:t>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𝐷</m:t>
                        </m:r>
                      </m:e>
                      <m:sub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𝑒𝑔𝑜</m:t>
                        </m:r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_</m:t>
                        </m:r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𝑜𝑏𝑠</m:t>
                        </m:r>
                      </m:sub>
                    </m:sSub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&lt;50</m:t>
                    </m:r>
                  </m:oMath>
                </a14:m>
                <a:b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solidFill>
                      <a:schemeClr val="tx1"/>
                    </a:solidFill>
                    <a:latin typeface="+mn-ea"/>
                    <a:cs typeface="Arial" panose="020B0604020202020204" pitchFamily="34" charset="0"/>
                  </a:rPr>
                </a:b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solidFill>
                      <a:schemeClr val="tx1"/>
                    </a:solidFill>
                    <a:latin typeface="+mn-ea"/>
                    <a:cs typeface="Arial" panose="020B0604020202020204" pitchFamily="34" charset="0"/>
                  </a:rPr>
                  <a:t>   - Bit operation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solidFill>
                      <a:schemeClr val="tx1"/>
                    </a:solidFill>
                    <a:latin typeface="+mn-ea"/>
                    <a:cs typeface="Arial" panose="020B0604020202020204" pitchFamily="34" charset="0"/>
                  </a:rPr>
                  <a:t>기반 영역 내 차량 객체 </a:t>
                </a: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solidFill>
                      <a:schemeClr val="tx1"/>
                    </a:solidFill>
                    <a:latin typeface="+mn-ea"/>
                    <a:cs typeface="Arial" panose="020B0604020202020204" pitchFamily="34" charset="0"/>
                  </a:rPr>
                  <a:t>indexing</a:t>
                </a:r>
                <a:b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solidFill>
                      <a:schemeClr val="tx1"/>
                    </a:solidFill>
                    <a:latin typeface="+mn-ea"/>
                    <a:cs typeface="Arial" panose="020B0604020202020204" pitchFamily="34" charset="0"/>
                  </a:rPr>
                </a:b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solidFill>
                      <a:schemeClr val="tx1"/>
                    </a:solidFill>
                    <a:latin typeface="+mn-ea"/>
                    <a:cs typeface="Arial" panose="020B0604020202020204" pitchFamily="34" charset="0"/>
                  </a:rPr>
                  <a:t>    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solidFill>
                      <a:schemeClr val="tx1"/>
                    </a:solidFill>
                    <a:latin typeface="+mn-ea"/>
                    <a:cs typeface="Arial" panose="020B0604020202020204" pitchFamily="34" charset="0"/>
                  </a:rPr>
                  <a:t>영역 내 차량 객체 </a:t>
                </a: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solidFill>
                      <a:schemeClr val="tx1"/>
                    </a:solidFill>
                    <a:latin typeface="+mn-ea"/>
                    <a:cs typeface="Arial" panose="020B0604020202020204" pitchFamily="34" charset="0"/>
                  </a:rPr>
                  <a:t>=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solidFill>
                      <a:schemeClr val="tx1"/>
                    </a:solidFill>
                    <a:latin typeface="+mn-ea"/>
                    <a:cs typeface="Arial" panose="020B0604020202020204" pitchFamily="34" charset="0"/>
                  </a:rPr>
                  <a:t>차량 객체</a:t>
                </a: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solidFill>
                      <a:schemeClr val="tx1"/>
                    </a:solidFill>
                    <a:latin typeface="+mn-ea"/>
                    <a:cs typeface="Arial" panose="020B0604020202020204" pitchFamily="34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𝐷</m:t>
                        </m:r>
                      </m:e>
                      <m:sub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𝑒𝑔𝑜</m:t>
                        </m:r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_</m:t>
                        </m:r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𝑜𝑏𝑠</m:t>
                        </m:r>
                      </m:sub>
                    </m:sSub>
                    <m:r>
                      <a:rPr lang="en-US" altLang="ko-KR" sz="1300" i="1" ker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&lt;</m:t>
                    </m:r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5</m:t>
                    </m:r>
                    <m:r>
                      <a:rPr lang="en-US" altLang="ko-KR" sz="1300" i="1" ker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0</m:t>
                    </m:r>
                  </m:oMath>
                </a14:m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solidFill>
                      <a:schemeClr val="tx1"/>
                    </a:solidFill>
                    <a:latin typeface="+mn-ea"/>
                    <a:cs typeface="Arial" panose="020B0604020202020204" pitchFamily="34" charset="0"/>
                  </a:rPr>
                  <a:t>)</a:t>
                </a:r>
              </a:p>
            </p:txBody>
          </p:sp>
        </mc:Choice>
        <mc:Fallback xmlns=""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07A6FFEB-AF97-4372-B0EF-80FD19B197B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1899058"/>
                <a:ext cx="9144000" cy="26220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직사각형 10">
            <a:extLst>
              <a:ext uri="{FF2B5EF4-FFF2-40B4-BE49-F238E27FC236}">
                <a16:creationId xmlns:a16="http://schemas.microsoft.com/office/drawing/2014/main" id="{B519A2CE-9D34-47D9-9056-FF336494D367}"/>
              </a:ext>
            </a:extLst>
          </p:cNvPr>
          <p:cNvSpPr/>
          <p:nvPr/>
        </p:nvSpPr>
        <p:spPr>
          <a:xfrm>
            <a:off x="6536413" y="1005306"/>
            <a:ext cx="2762795" cy="234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동적</a:t>
            </a:r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객체 데이터 입력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6F2EA00-9E15-42C1-8BBB-D2CF834AA9BB}"/>
              </a:ext>
            </a:extLst>
          </p:cNvPr>
          <p:cNvSpPr/>
          <p:nvPr/>
        </p:nvSpPr>
        <p:spPr>
          <a:xfrm>
            <a:off x="6931524" y="2681068"/>
            <a:ext cx="1980000" cy="234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신규 객체 생성 빈도 측정</a:t>
            </a:r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933899B8-AB6B-477A-B627-A1F3C484643E}"/>
              </a:ext>
            </a:extLst>
          </p:cNvPr>
          <p:cNvCxnSpPr>
            <a:cxnSpLocks/>
          </p:cNvCxnSpPr>
          <p:nvPr/>
        </p:nvCxnSpPr>
        <p:spPr>
          <a:xfrm>
            <a:off x="7917803" y="1259393"/>
            <a:ext cx="0" cy="27232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왼쪽 중괄호 16">
            <a:extLst>
              <a:ext uri="{FF2B5EF4-FFF2-40B4-BE49-F238E27FC236}">
                <a16:creationId xmlns:a16="http://schemas.microsoft.com/office/drawing/2014/main" id="{59185AAE-C9FB-4844-8256-26BFE0EF9034}"/>
              </a:ext>
            </a:extLst>
          </p:cNvPr>
          <p:cNvSpPr/>
          <p:nvPr/>
        </p:nvSpPr>
        <p:spPr>
          <a:xfrm>
            <a:off x="6441358" y="2775380"/>
            <a:ext cx="128117" cy="608205"/>
          </a:xfrm>
          <a:prstGeom prst="leftBrace">
            <a:avLst>
              <a:gd name="adj1" fmla="val 250081"/>
              <a:gd name="adj2" fmla="val 50928"/>
            </a:avLst>
          </a:prstGeom>
          <a:ln w="190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77231350-730D-4576-8097-4FDC1F466236}"/>
              </a:ext>
            </a:extLst>
          </p:cNvPr>
          <p:cNvSpPr/>
          <p:nvPr/>
        </p:nvSpPr>
        <p:spPr>
          <a:xfrm>
            <a:off x="6253417" y="1531714"/>
            <a:ext cx="252000" cy="252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rPr>
              <a:t>1</a:t>
            </a:r>
            <a:endParaRPr lang="ko-KR" altLang="en-US" sz="9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Arial" panose="020B0604020202020204" pitchFamily="34" charset="0"/>
              <a:ea typeface="KoPub돋움체 Bold" panose="02020603020101020101" pitchFamily="18" charset="-127"/>
              <a:cs typeface="Arial" panose="020B0604020202020204" pitchFamily="34" charset="0"/>
            </a:endParaRP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5CBE47DF-E3CB-446F-89A7-BB389967B812}"/>
              </a:ext>
            </a:extLst>
          </p:cNvPr>
          <p:cNvSpPr/>
          <p:nvPr/>
        </p:nvSpPr>
        <p:spPr>
          <a:xfrm>
            <a:off x="6295986" y="2094657"/>
            <a:ext cx="252000" cy="252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rPr>
              <a:t>2</a:t>
            </a:r>
            <a:endParaRPr lang="ko-KR" altLang="en-US" sz="9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Arial" panose="020B0604020202020204" pitchFamily="34" charset="0"/>
              <a:ea typeface="KoPub돋움체 Bold" panose="02020603020101020101" pitchFamily="18" charset="-127"/>
              <a:cs typeface="Arial" panose="020B0604020202020204" pitchFamily="34" charset="0"/>
            </a:endParaRP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AA4942EF-56FC-4517-84F0-DE72A68414D6}"/>
              </a:ext>
            </a:extLst>
          </p:cNvPr>
          <p:cNvSpPr/>
          <p:nvPr/>
        </p:nvSpPr>
        <p:spPr>
          <a:xfrm>
            <a:off x="6277713" y="3972573"/>
            <a:ext cx="252000" cy="252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rPr>
              <a:t>4</a:t>
            </a:r>
            <a:endParaRPr lang="ko-KR" altLang="en-US" sz="9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Arial" panose="020B0604020202020204" pitchFamily="34" charset="0"/>
              <a:ea typeface="KoPub돋움체 Bold" panose="02020603020101020101" pitchFamily="18" charset="-127"/>
              <a:cs typeface="Arial" panose="020B0604020202020204" pitchFamily="34" charset="0"/>
            </a:endParaRPr>
          </a:p>
        </p:txBody>
      </p:sp>
      <p:sp>
        <p:nvSpPr>
          <p:cNvPr id="21" name="순서도: 판단 20">
            <a:extLst>
              <a:ext uri="{FF2B5EF4-FFF2-40B4-BE49-F238E27FC236}">
                <a16:creationId xmlns:a16="http://schemas.microsoft.com/office/drawing/2014/main" id="{3970E080-A6CC-4082-923B-E978510F0163}"/>
              </a:ext>
            </a:extLst>
          </p:cNvPr>
          <p:cNvSpPr/>
          <p:nvPr/>
        </p:nvSpPr>
        <p:spPr>
          <a:xfrm>
            <a:off x="6536412" y="1990997"/>
            <a:ext cx="2762782" cy="468000"/>
          </a:xfrm>
          <a:prstGeom prst="flowChartDecision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주행 경로 반경 </a:t>
            </a:r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15m </a:t>
            </a:r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이내</a:t>
            </a:r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?</a:t>
            </a:r>
            <a:endParaRPr lang="ko-KR" altLang="en-US" sz="105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5F5DF4E-154D-4703-9B9D-15F39CF737EE}"/>
              </a:ext>
            </a:extLst>
          </p:cNvPr>
          <p:cNvSpPr/>
          <p:nvPr/>
        </p:nvSpPr>
        <p:spPr>
          <a:xfrm>
            <a:off x="7309032" y="4530348"/>
            <a:ext cx="1217541" cy="234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통행 과다 환경 지정</a:t>
            </a:r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58B70EDC-B56F-492C-B71C-367DFEA3A168}"/>
              </a:ext>
            </a:extLst>
          </p:cNvPr>
          <p:cNvCxnSpPr>
            <a:cxnSpLocks/>
            <a:stCxn id="21" idx="2"/>
          </p:cNvCxnSpPr>
          <p:nvPr/>
        </p:nvCxnSpPr>
        <p:spPr>
          <a:xfrm>
            <a:off x="7917803" y="2458997"/>
            <a:ext cx="0" cy="22028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7F3E030-5B2F-4BFC-ADF4-833A62E2FDBC}"/>
              </a:ext>
            </a:extLst>
          </p:cNvPr>
          <p:cNvSpPr/>
          <p:nvPr/>
        </p:nvSpPr>
        <p:spPr>
          <a:xfrm>
            <a:off x="6932293" y="4989219"/>
            <a:ext cx="1980000" cy="234000"/>
          </a:xfrm>
          <a:prstGeom prst="rect">
            <a:avLst/>
          </a:prstGeom>
          <a:solidFill>
            <a:schemeClr val="bg1"/>
          </a:solidFill>
          <a:ln w="19050">
            <a:solidFill>
              <a:srgbClr val="007A00"/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Confidence</a:t>
            </a:r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value </a:t>
            </a:r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출력</a:t>
            </a: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1AF18A1C-B848-4651-B316-C0715FFEC2B1}"/>
              </a:ext>
            </a:extLst>
          </p:cNvPr>
          <p:cNvSpPr/>
          <p:nvPr/>
        </p:nvSpPr>
        <p:spPr>
          <a:xfrm>
            <a:off x="6169986" y="2952227"/>
            <a:ext cx="252000" cy="252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rPr>
              <a:t>3</a:t>
            </a:r>
            <a:endParaRPr lang="ko-KR" altLang="en-US" sz="9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Arial" panose="020B0604020202020204" pitchFamily="34" charset="0"/>
              <a:ea typeface="KoPub돋움체 Bold" panose="02020603020101020101" pitchFamily="18" charset="-127"/>
              <a:cs typeface="Arial" panose="020B0604020202020204" pitchFamily="34" charset="0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C438A570-77B3-486A-8942-5363DCE6120B}"/>
              </a:ext>
            </a:extLst>
          </p:cNvPr>
          <p:cNvSpPr/>
          <p:nvPr/>
        </p:nvSpPr>
        <p:spPr>
          <a:xfrm>
            <a:off x="6536412" y="1531714"/>
            <a:ext cx="2762783" cy="234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50m </a:t>
            </a:r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거리 이내 동적객체 추출</a:t>
            </a:r>
          </a:p>
        </p:txBody>
      </p: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10FF046B-6D47-4EDE-83BF-E915BE56E697}"/>
              </a:ext>
            </a:extLst>
          </p:cNvPr>
          <p:cNvCxnSpPr>
            <a:cxnSpLocks/>
            <a:stCxn id="35" idx="2"/>
            <a:endCxn id="21" idx="0"/>
          </p:cNvCxnSpPr>
          <p:nvPr/>
        </p:nvCxnSpPr>
        <p:spPr>
          <a:xfrm flipH="1">
            <a:off x="7917803" y="1765714"/>
            <a:ext cx="1" cy="22528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순서도: 판단 44">
            <a:extLst>
              <a:ext uri="{FF2B5EF4-FFF2-40B4-BE49-F238E27FC236}">
                <a16:creationId xmlns:a16="http://schemas.microsoft.com/office/drawing/2014/main" id="{E768DE2F-EE07-43AA-8AB3-62EDBA7B4723}"/>
              </a:ext>
            </a:extLst>
          </p:cNvPr>
          <p:cNvSpPr/>
          <p:nvPr/>
        </p:nvSpPr>
        <p:spPr>
          <a:xfrm>
            <a:off x="6536412" y="3156111"/>
            <a:ext cx="2762782" cy="468000"/>
          </a:xfrm>
          <a:prstGeom prst="flowChartDecision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객체 출현 시간 </a:t>
            </a:r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&lt; 10s ?</a:t>
            </a:r>
            <a:endParaRPr lang="ko-KR" altLang="en-US" sz="105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069C8D19-745F-4527-9C74-63CE17B801D4}"/>
              </a:ext>
            </a:extLst>
          </p:cNvPr>
          <p:cNvCxnSpPr>
            <a:cxnSpLocks/>
          </p:cNvCxnSpPr>
          <p:nvPr/>
        </p:nvCxnSpPr>
        <p:spPr>
          <a:xfrm>
            <a:off x="7917803" y="2935829"/>
            <a:ext cx="0" cy="22028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순서도: 판단 49">
            <a:extLst>
              <a:ext uri="{FF2B5EF4-FFF2-40B4-BE49-F238E27FC236}">
                <a16:creationId xmlns:a16="http://schemas.microsoft.com/office/drawing/2014/main" id="{70A8E295-B8E5-488C-9DED-E5F367F5041D}"/>
              </a:ext>
            </a:extLst>
          </p:cNvPr>
          <p:cNvSpPr/>
          <p:nvPr/>
        </p:nvSpPr>
        <p:spPr>
          <a:xfrm>
            <a:off x="6536412" y="3864573"/>
            <a:ext cx="2762782" cy="468000"/>
          </a:xfrm>
          <a:prstGeom prst="flowChartDecision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객체간 최대 거리 </a:t>
            </a:r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&lt; 30m?</a:t>
            </a:r>
            <a:endParaRPr lang="ko-KR" altLang="en-US" sz="105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2BE5F555-0204-4DBE-ABE1-E67ABEF4DC53}"/>
              </a:ext>
            </a:extLst>
          </p:cNvPr>
          <p:cNvCxnSpPr>
            <a:cxnSpLocks/>
          </p:cNvCxnSpPr>
          <p:nvPr/>
        </p:nvCxnSpPr>
        <p:spPr>
          <a:xfrm>
            <a:off x="7917803" y="3624111"/>
            <a:ext cx="0" cy="22028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E2993AA0-9610-4B05-A495-F33BFA189506}"/>
              </a:ext>
            </a:extLst>
          </p:cNvPr>
          <p:cNvCxnSpPr>
            <a:cxnSpLocks/>
          </p:cNvCxnSpPr>
          <p:nvPr/>
        </p:nvCxnSpPr>
        <p:spPr>
          <a:xfrm>
            <a:off x="7917803" y="4332573"/>
            <a:ext cx="0" cy="22028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BDCFCF64-B791-4DA1-988F-B64A85B975B7}"/>
              </a:ext>
            </a:extLst>
          </p:cNvPr>
          <p:cNvCxnSpPr>
            <a:cxnSpLocks/>
          </p:cNvCxnSpPr>
          <p:nvPr/>
        </p:nvCxnSpPr>
        <p:spPr>
          <a:xfrm>
            <a:off x="7917803" y="4768937"/>
            <a:ext cx="0" cy="22028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왼쪽 중괄호 53">
            <a:extLst>
              <a:ext uri="{FF2B5EF4-FFF2-40B4-BE49-F238E27FC236}">
                <a16:creationId xmlns:a16="http://schemas.microsoft.com/office/drawing/2014/main" id="{5985A675-02AF-4959-AA4C-1E654796B1AF}"/>
              </a:ext>
            </a:extLst>
          </p:cNvPr>
          <p:cNvSpPr/>
          <p:nvPr/>
        </p:nvSpPr>
        <p:spPr>
          <a:xfrm>
            <a:off x="6529713" y="4563705"/>
            <a:ext cx="128117" cy="608205"/>
          </a:xfrm>
          <a:prstGeom prst="leftBrace">
            <a:avLst>
              <a:gd name="adj1" fmla="val 250081"/>
              <a:gd name="adj2" fmla="val 50928"/>
            </a:avLst>
          </a:prstGeom>
          <a:ln w="190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타원 54">
            <a:extLst>
              <a:ext uri="{FF2B5EF4-FFF2-40B4-BE49-F238E27FC236}">
                <a16:creationId xmlns:a16="http://schemas.microsoft.com/office/drawing/2014/main" id="{28BDEF8B-180E-4415-865F-B90279507D59}"/>
              </a:ext>
            </a:extLst>
          </p:cNvPr>
          <p:cNvSpPr/>
          <p:nvPr/>
        </p:nvSpPr>
        <p:spPr>
          <a:xfrm>
            <a:off x="6277713" y="4704143"/>
            <a:ext cx="252000" cy="252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rPr>
              <a:t>5</a:t>
            </a:r>
            <a:endParaRPr lang="ko-KR" altLang="en-US" sz="9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Arial" panose="020B0604020202020204" pitchFamily="34" charset="0"/>
              <a:ea typeface="KoPub돋움체 Bold" panose="02020603020101020101" pitchFamily="18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338877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제목 1">
            <a:extLst>
              <a:ext uri="{FF2B5EF4-FFF2-40B4-BE49-F238E27FC236}">
                <a16:creationId xmlns:a16="http://schemas.microsoft.com/office/drawing/2014/main" id="{8C31F0AB-4FC8-4DEC-A935-AE03319F8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6</a:t>
            </a:r>
            <a:r>
              <a:rPr lang="ko-KR" altLang="en-US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주행 경로상 장애물 통행량이 과다한 환경</a:t>
            </a:r>
            <a:r>
              <a:rPr lang="en-US" altLang="ko-KR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(</a:t>
            </a:r>
            <a:r>
              <a:rPr lang="ko-KR" altLang="en-US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차량</a:t>
            </a:r>
            <a:r>
              <a:rPr lang="en-US" altLang="ko-KR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)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F55F954-5E86-475A-837F-2B8CED6C7DF1}" type="slidenum">
              <a:rPr lang="ko-KR" altLang="en-US" smtClean="0"/>
              <a:pPr/>
              <a:t>63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직사각형 27">
                <a:extLst>
                  <a:ext uri="{FF2B5EF4-FFF2-40B4-BE49-F238E27FC236}">
                    <a16:creationId xmlns:a16="http://schemas.microsoft.com/office/drawing/2014/main" id="{75605064-B31E-4FB3-8A46-86958A2A8E14}"/>
                  </a:ext>
                </a:extLst>
              </p:cNvPr>
              <p:cNvSpPr/>
              <p:nvPr/>
            </p:nvSpPr>
            <p:spPr>
              <a:xfrm>
                <a:off x="381000" y="792750"/>
                <a:ext cx="9144000" cy="49024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120000"/>
                  <a:buFont typeface="+mj-ea"/>
                  <a:buAutoNum type="circleNumDbPlain" startAt="2"/>
                  <a:defRPr/>
                </a:pPr>
                <a:r>
                  <a:rPr lang="ko-KR" altLang="en-US" sz="1300" b="1" kern="0" dirty="0">
                    <a:ln>
                      <a:solidFill>
                        <a:schemeClr val="tx1">
                          <a:alpha val="30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차량 </a:t>
                </a:r>
                <a:r>
                  <a:rPr lang="en-US" altLang="ko-KR" sz="1300" b="1" kern="0" dirty="0">
                    <a:ln>
                      <a:solidFill>
                        <a:schemeClr val="tx1">
                          <a:alpha val="30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– </a:t>
                </a:r>
                <a:r>
                  <a:rPr lang="ko-KR" altLang="en-US" sz="1300" b="1" kern="0" dirty="0">
                    <a:ln>
                      <a:solidFill>
                        <a:schemeClr val="tx1">
                          <a:alpha val="30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전역경로간 거리 추정</a:t>
                </a:r>
                <a:endParaRPr lang="en-US" altLang="ko-KR" sz="130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90000"/>
                  <a:defRPr/>
                </a:pP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  -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데이터 시점 </a:t>
                </a: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: t</a:t>
                </a: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90000"/>
                  <a:defRPr/>
                </a:pP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  -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특장차 전역 경로 </a:t>
                </a: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point set </a:t>
                </a:r>
                <a:b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</a:b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  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d>
                      <m:dPr>
                        <m:ctrlP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⋯,(</m:t>
                    </m:r>
                    <m:sSub>
                      <m:sSubPr>
                        <m:ctrlP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𝑛</m:t>
                        </m:r>
                      </m:sub>
                    </m:sSub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sSub>
                      <m:sSubPr>
                        <m:ctrlP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𝑛</m:t>
                        </m:r>
                      </m:sub>
                    </m:sSub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sSub>
                      <m:sSubPr>
                        <m:ctrlP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𝑧</m:t>
                        </m:r>
                      </m:e>
                      <m:sub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𝑛</m:t>
                        </m:r>
                      </m:sub>
                    </m:sSub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endParaRPr lang="en-US" altLang="ko-KR" sz="130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90000"/>
                  <a:defRPr/>
                </a:pP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  - (n-1)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세트의 직선 경로 영역 분할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𝑍</m:t>
                        </m:r>
                      </m:e>
                      <m:sub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~ </m:t>
                    </m:r>
                    <m:sSub>
                      <m:sSubPr>
                        <m:ctrlP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𝑍</m:t>
                        </m:r>
                      </m:e>
                      <m:sub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𝑛</m:t>
                        </m:r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−1</m:t>
                        </m:r>
                      </m:sub>
                    </m:sSub>
                  </m:oMath>
                </a14:m>
                <a:endParaRPr lang="en-US" altLang="ko-KR" sz="130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90000"/>
                  <a:defRPr/>
                </a:pP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 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𝑍</m:t>
                        </m:r>
                      </m:e>
                      <m:sub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영역과 차량 사이의 거리 추정</a:t>
                </a:r>
                <a:b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</a:b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    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시작점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300" b="0" i="0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Z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300" b="0" i="0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k</m:t>
                        </m:r>
                        <m:r>
                          <a:rPr lang="en-US" altLang="ko-KR" sz="1300" b="0" i="0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ko-KR" sz="1300" b="0" i="0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start</m:t>
                        </m:r>
                      </m:sub>
                    </m:sSub>
                    <m:d>
                      <m:dPr>
                        <m:ctrlP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종점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300" b="0" i="0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Z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300" b="0" i="0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k</m:t>
                        </m:r>
                        <m:r>
                          <a:rPr lang="en-US" altLang="ko-KR" sz="1300" b="0" i="0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ko-KR" sz="1300" b="0" i="0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end</m:t>
                        </m:r>
                      </m:sub>
                    </m:sSub>
                    <m:d>
                      <m:dPr>
                        <m:ctrlP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𝑘</m:t>
                            </m:r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+1</m:t>
                            </m:r>
                          </m:sub>
                        </m:sSub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𝑘</m:t>
                            </m:r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+1</m:t>
                            </m:r>
                          </m:sub>
                        </m:sSub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𝑘</m:t>
                            </m:r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+1</m:t>
                            </m:r>
                          </m:sub>
                        </m:sSub>
                      </m:e>
                    </m:d>
                  </m:oMath>
                </a14:m>
                <a:b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</a:b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    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장애물 위치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𝑜𝑏𝑠</m:t>
                        </m:r>
                      </m:sub>
                    </m:sSub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𝑦</m:t>
                    </m:r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𝑧</m:t>
                    </m:r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endParaRPr lang="en-US" altLang="ko-KR" sz="130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90000"/>
                  <a:defRPr/>
                </a:pP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cs typeface="Arial" panose="020B0604020202020204" pitchFamily="34" charset="0"/>
                  </a:rPr>
                  <a:t>      </a:t>
                </a:r>
                <a14:m>
                  <m:oMath xmlns:m="http://schemas.openxmlformats.org/officeDocument/2006/math">
                    <m:r>
                      <a:rPr lang="en-US" altLang="ko-KR" sz="1300" b="0" i="0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0&lt;</m:t>
                    </m:r>
                    <m:f>
                      <m:fPr>
                        <m:ctrlPr>
                          <a:rPr lang="en-US" altLang="ko-KR" sz="130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acc>
                          <m:accPr>
                            <m:chr m:val="⃗"/>
                            <m:ctrlP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𝑍</m:t>
                                </m:r>
                              </m:e>
                              <m:sub>
                                <m: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𝑘</m:t>
                                </m:r>
                                <m: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,</m:t>
                                </m:r>
                                <m: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𝑠𝑡𝑎𝑟𝑡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𝑍</m:t>
                                </m:r>
                              </m:e>
                              <m:sub>
                                <m: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𝑘</m:t>
                                </m:r>
                                <m: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,</m:t>
                                </m:r>
                                <m: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𝑒𝑛𝑑</m:t>
                                </m:r>
                              </m:sub>
                            </m:sSub>
                          </m:e>
                        </m:acc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∙ </m:t>
                        </m:r>
                        <m:acc>
                          <m:accPr>
                            <m:chr m:val="⃗"/>
                            <m:ctrlP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𝑍</m:t>
                                </m:r>
                              </m:e>
                              <m:sub>
                                <m: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𝑘</m:t>
                                </m:r>
                                <m: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,</m:t>
                                </m:r>
                                <m: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𝑠𝑡𝑎𝑟𝑡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𝑜𝑏𝑠</m:t>
                                </m:r>
                              </m:sub>
                            </m:sSub>
                          </m:e>
                        </m:acc>
                      </m:num>
                      <m:den>
                        <m:sSup>
                          <m:sSupPr>
                            <m:ctrlP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ko-KR" sz="1300" b="0" i="1" kern="0" smtClea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⃗"/>
                                    <m:ctrlPr>
                                      <a:rPr lang="en-US" altLang="ko-KR" sz="1300" i="1" kern="0">
                                        <a:ln>
                                          <a:solidFill>
                                            <a:schemeClr val="tx1">
                                              <a:alpha val="5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altLang="ko-KR" sz="1300" i="1" kern="0">
                                            <a:ln>
                                              <a:solidFill>
                                                <a:schemeClr val="tx1">
                                                  <a:alpha val="5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300" i="1" kern="0">
                                            <a:ln>
                                              <a:solidFill>
                                                <a:schemeClr val="tx1">
                                                  <a:alpha val="5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𝑍</m:t>
                                        </m:r>
                                      </m:e>
                                      <m:sub>
                                        <m:r>
                                          <a:rPr lang="en-US" altLang="ko-KR" sz="1300" i="1" kern="0">
                                            <a:ln>
                                              <a:solidFill>
                                                <a:schemeClr val="tx1">
                                                  <a:alpha val="5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𝑘</m:t>
                                        </m:r>
                                        <m:r>
                                          <a:rPr lang="en-US" altLang="ko-KR" sz="1300" i="1" kern="0">
                                            <a:ln>
                                              <a:solidFill>
                                                <a:schemeClr val="tx1">
                                                  <a:alpha val="5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,</m:t>
                                        </m:r>
                                        <m:r>
                                          <a:rPr lang="en-US" altLang="ko-KR" sz="1300" i="1" kern="0">
                                            <a:ln>
                                              <a:solidFill>
                                                <a:schemeClr val="tx1">
                                                  <a:alpha val="5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𝑠𝑡𝑎𝑟𝑡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300" i="1" kern="0">
                                            <a:ln>
                                              <a:solidFill>
                                                <a:schemeClr val="tx1">
                                                  <a:alpha val="5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300" i="1" kern="0">
                                            <a:ln>
                                              <a:solidFill>
                                                <a:schemeClr val="tx1">
                                                  <a:alpha val="5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𝑍</m:t>
                                        </m:r>
                                      </m:e>
                                      <m:sub>
                                        <m:r>
                                          <a:rPr lang="en-US" altLang="ko-KR" sz="1300" i="1" kern="0">
                                            <a:ln>
                                              <a:solidFill>
                                                <a:schemeClr val="tx1">
                                                  <a:alpha val="5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𝑘</m:t>
                                        </m:r>
                                        <m:r>
                                          <a:rPr lang="en-US" altLang="ko-KR" sz="1300" i="1" kern="0">
                                            <a:ln>
                                              <a:solidFill>
                                                <a:schemeClr val="tx1">
                                                  <a:alpha val="5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,</m:t>
                                        </m:r>
                                        <m:r>
                                          <a:rPr lang="en-US" altLang="ko-KR" sz="1300" i="1" kern="0">
                                            <a:ln>
                                              <a:solidFill>
                                                <a:schemeClr val="tx1">
                                                  <a:alpha val="5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𝑒𝑛𝑑</m:t>
                                        </m:r>
                                      </m:sub>
                                    </m:sSub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&lt;1</m:t>
                    </m:r>
                  </m:oMath>
                </a14:m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의 조건을 만족하는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𝑍</m:t>
                        </m:r>
                      </m:e>
                      <m:sub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𝑘</m:t>
                        </m:r>
                      </m:sub>
                    </m:sSub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</m:t>
                    </m:r>
                    <m:sSub>
                      <m:sSubPr>
                        <m:ctrlP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𝑜𝑏𝑠</m:t>
                        </m:r>
                      </m:sub>
                    </m:sSub>
                    <m:r>
                      <a:rPr lang="ko-KR" altLang="en-US" sz="1300" i="1" ker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에</m:t>
                    </m:r>
                  </m:oMath>
                </a14:m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대해</a:t>
                </a:r>
                <a:endParaRPr lang="en-US" altLang="ko-KR" sz="130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90000"/>
                  <a:defRPr/>
                </a:pP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    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장애물 </a:t>
                </a: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–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전역경로간 거리 </a:t>
                </a:r>
                <a:b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</a:b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300" b="0" i="0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D</m:t>
                        </m:r>
                      </m:e>
                      <m:sub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𝑡𝑟𝑎</m:t>
                        </m:r>
                        <m:r>
                          <a:rPr lang="en-US" altLang="ko-KR" sz="1300" b="0" i="0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_</m:t>
                        </m:r>
                        <m:r>
                          <m:rPr>
                            <m:sty m:val="p"/>
                          </m:rPr>
                          <a:rPr lang="en-US" altLang="ko-KR" sz="1300" b="0" i="0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obs</m:t>
                        </m:r>
                      </m:sub>
                    </m:sSub>
                    <m:r>
                      <a:rPr lang="en-US" altLang="ko-KR" sz="1300" b="0" i="0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altLang="ko-KR" sz="130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𝑍</m:t>
                                </m:r>
                              </m:e>
                              <m:sub>
                                <m: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𝑘</m:t>
                                </m:r>
                                <m: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,</m:t>
                                </m:r>
                                <m: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𝑠𝑡𝑎𝑟𝑡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𝑜𝑏𝑠</m:t>
                                </m:r>
                              </m:sub>
                            </m:sSub>
                          </m:e>
                        </m:acc>
                      </m:e>
                    </m:d>
                    <m:rad>
                      <m:radPr>
                        <m:degHide m:val="on"/>
                        <m:ctrlP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radPr>
                      <m:deg/>
                      <m:e>
                        <m:r>
                          <a:rPr lang="en-US" altLang="ko-KR" sz="1300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1−</m:t>
                        </m:r>
                        <m:sSup>
                          <m:sSupPr>
                            <m:ctrlP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ko-KR" sz="1300" i="1" kern="0">
                                        <a:ln>
                                          <a:solidFill>
                                            <a:schemeClr val="tx1">
                                              <a:alpha val="5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fPr>
                                  <m:num>
                                    <m:acc>
                                      <m:accPr>
                                        <m:chr m:val="⃗"/>
                                        <m:ctrlPr>
                                          <a:rPr lang="en-US" altLang="ko-KR" sz="1300" i="1" kern="0">
                                            <a:ln>
                                              <a:solidFill>
                                                <a:schemeClr val="tx1">
                                                  <a:alpha val="5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acc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ko-KR" sz="1300" i="1" kern="0">
                                                <a:ln>
                                                  <a:solidFill>
                                                    <a:schemeClr val="tx1">
                                                      <a:alpha val="5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cs typeface="Arial" panose="020B0604020202020204" pitchFamily="34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300" i="1" kern="0">
                                                <a:ln>
                                                  <a:solidFill>
                                                    <a:schemeClr val="tx1">
                                                      <a:alpha val="5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cs typeface="Arial" panose="020B0604020202020204" pitchFamily="34" charset="0"/>
                                              </a:rPr>
                                              <m:t>𝑍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300" i="1" kern="0">
                                                <a:ln>
                                                  <a:solidFill>
                                                    <a:schemeClr val="tx1">
                                                      <a:alpha val="5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cs typeface="Arial" panose="020B0604020202020204" pitchFamily="34" charset="0"/>
                                              </a:rPr>
                                              <m:t>𝑘</m:t>
                                            </m:r>
                                            <m:r>
                                              <a:rPr lang="en-US" altLang="ko-KR" sz="1300" i="1" kern="0">
                                                <a:ln>
                                                  <a:solidFill>
                                                    <a:schemeClr val="tx1">
                                                      <a:alpha val="5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cs typeface="Arial" panose="020B0604020202020204" pitchFamily="34" charset="0"/>
                                              </a:rPr>
                                              <m:t>,</m:t>
                                            </m:r>
                                            <m:r>
                                              <a:rPr lang="en-US" altLang="ko-KR" sz="1300" i="1" kern="0">
                                                <a:ln>
                                                  <a:solidFill>
                                                    <a:schemeClr val="tx1">
                                                      <a:alpha val="5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cs typeface="Arial" panose="020B0604020202020204" pitchFamily="34" charset="0"/>
                                              </a:rPr>
                                              <m:t>𝑠𝑡𝑎𝑟𝑡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lang="en-US" altLang="ko-KR" sz="1300" i="1" kern="0">
                                                <a:ln>
                                                  <a:solidFill>
                                                    <a:schemeClr val="tx1">
                                                      <a:alpha val="5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cs typeface="Arial" panose="020B0604020202020204" pitchFamily="34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300" i="1" kern="0">
                                                <a:ln>
                                                  <a:solidFill>
                                                    <a:schemeClr val="tx1">
                                                      <a:alpha val="5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cs typeface="Arial" panose="020B0604020202020204" pitchFamily="34" charset="0"/>
                                              </a:rPr>
                                              <m:t>𝑍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300" i="1" kern="0">
                                                <a:ln>
                                                  <a:solidFill>
                                                    <a:schemeClr val="tx1">
                                                      <a:alpha val="5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cs typeface="Arial" panose="020B0604020202020204" pitchFamily="34" charset="0"/>
                                              </a:rPr>
                                              <m:t>𝑘</m:t>
                                            </m:r>
                                            <m:r>
                                              <a:rPr lang="en-US" altLang="ko-KR" sz="1300" i="1" kern="0">
                                                <a:ln>
                                                  <a:solidFill>
                                                    <a:schemeClr val="tx1">
                                                      <a:alpha val="5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cs typeface="Arial" panose="020B0604020202020204" pitchFamily="34" charset="0"/>
                                              </a:rPr>
                                              <m:t>,</m:t>
                                            </m:r>
                                            <m:r>
                                              <a:rPr lang="en-US" altLang="ko-KR" sz="1300" i="1" kern="0">
                                                <a:ln>
                                                  <a:solidFill>
                                                    <a:schemeClr val="tx1">
                                                      <a:alpha val="5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cs typeface="Arial" panose="020B0604020202020204" pitchFamily="34" charset="0"/>
                                              </a:rPr>
                                              <m:t>𝑒𝑛𝑑</m:t>
                                            </m:r>
                                          </m:sub>
                                        </m:sSub>
                                      </m:e>
                                    </m:acc>
                                    <m:r>
                                      <a:rPr lang="en-US" altLang="ko-KR" sz="1300" i="1" kern="0">
                                        <a:ln>
                                          <a:solidFill>
                                            <a:schemeClr val="tx1">
                                              <a:alpha val="5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 ∙ </m:t>
                                    </m:r>
                                    <m:acc>
                                      <m:accPr>
                                        <m:chr m:val="⃗"/>
                                        <m:ctrlPr>
                                          <a:rPr lang="en-US" altLang="ko-KR" sz="1300" i="1" kern="0">
                                            <a:ln>
                                              <a:solidFill>
                                                <a:schemeClr val="tx1">
                                                  <a:alpha val="5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acc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ko-KR" sz="1300" i="1" kern="0">
                                                <a:ln>
                                                  <a:solidFill>
                                                    <a:schemeClr val="tx1">
                                                      <a:alpha val="5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cs typeface="Arial" panose="020B0604020202020204" pitchFamily="34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300" i="1" kern="0">
                                                <a:ln>
                                                  <a:solidFill>
                                                    <a:schemeClr val="tx1">
                                                      <a:alpha val="5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cs typeface="Arial" panose="020B0604020202020204" pitchFamily="34" charset="0"/>
                                              </a:rPr>
                                              <m:t>𝑍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300" i="1" kern="0">
                                                <a:ln>
                                                  <a:solidFill>
                                                    <a:schemeClr val="tx1">
                                                      <a:alpha val="5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cs typeface="Arial" panose="020B0604020202020204" pitchFamily="34" charset="0"/>
                                              </a:rPr>
                                              <m:t>𝑘</m:t>
                                            </m:r>
                                            <m:r>
                                              <a:rPr lang="en-US" altLang="ko-KR" sz="1300" i="1" kern="0">
                                                <a:ln>
                                                  <a:solidFill>
                                                    <a:schemeClr val="tx1">
                                                      <a:alpha val="5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cs typeface="Arial" panose="020B0604020202020204" pitchFamily="34" charset="0"/>
                                              </a:rPr>
                                              <m:t>,</m:t>
                                            </m:r>
                                            <m:r>
                                              <a:rPr lang="en-US" altLang="ko-KR" sz="1300" i="1" kern="0">
                                                <a:ln>
                                                  <a:solidFill>
                                                    <a:schemeClr val="tx1">
                                                      <a:alpha val="5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cs typeface="Arial" panose="020B0604020202020204" pitchFamily="34" charset="0"/>
                                              </a:rPr>
                                              <m:t>𝑠𝑡𝑎𝑟𝑡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lang="en-US" altLang="ko-KR" sz="1300" i="1" kern="0">
                                                <a:ln>
                                                  <a:solidFill>
                                                    <a:schemeClr val="tx1">
                                                      <a:alpha val="5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cs typeface="Arial" panose="020B0604020202020204" pitchFamily="34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300" i="1" kern="0">
                                                <a:ln>
                                                  <a:solidFill>
                                                    <a:schemeClr val="tx1">
                                                      <a:alpha val="5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cs typeface="Arial" panose="020B0604020202020204" pitchFamily="34" charset="0"/>
                                              </a:rPr>
                                              <m:t>𝑃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300" i="1" kern="0">
                                                <a:ln>
                                                  <a:solidFill>
                                                    <a:schemeClr val="tx1">
                                                      <a:alpha val="5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cs typeface="Arial" panose="020B0604020202020204" pitchFamily="34" charset="0"/>
                                              </a:rPr>
                                              <m:t>𝑜𝑏𝑠</m:t>
                                            </m:r>
                                          </m:sub>
                                        </m:sSub>
                                      </m:e>
                                    </m:acc>
                                  </m:num>
                                  <m:den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altLang="ko-KR" sz="1300" i="1" kern="0">
                                            <a:ln>
                                              <a:solidFill>
                                                <a:schemeClr val="tx1">
                                                  <a:alpha val="5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dPr>
                                      <m:e>
                                        <m:acc>
                                          <m:accPr>
                                            <m:chr m:val="⃗"/>
                                            <m:ctrlPr>
                                              <a:rPr lang="en-US" altLang="ko-KR" sz="1300" i="1" kern="0">
                                                <a:ln>
                                                  <a:solidFill>
                                                    <a:schemeClr val="tx1">
                                                      <a:alpha val="5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cs typeface="Arial" panose="020B0604020202020204" pitchFamily="34" charset="0"/>
                                              </a:rPr>
                                            </m:ctrlPr>
                                          </m:acc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ko-KR" sz="1300" i="1" kern="0">
                                                    <a:ln>
                                                      <a:solidFill>
                                                        <a:schemeClr val="tx1">
                                                          <a:alpha val="5000"/>
                                                        </a:schemeClr>
                                                      </a:solidFill>
                                                    </a:ln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ko-KR" sz="1300" i="1" kern="0">
                                                    <a:ln>
                                                      <a:solidFill>
                                                        <a:schemeClr val="tx1">
                                                          <a:alpha val="5000"/>
                                                        </a:schemeClr>
                                                      </a:solidFill>
                                                    </a:ln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𝑍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ko-KR" sz="1300" i="1" kern="0">
                                                    <a:ln>
                                                      <a:solidFill>
                                                        <a:schemeClr val="tx1">
                                                          <a:alpha val="5000"/>
                                                        </a:schemeClr>
                                                      </a:solidFill>
                                                    </a:ln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𝑘</m:t>
                                                </m:r>
                                                <m:r>
                                                  <a:rPr lang="en-US" altLang="ko-KR" sz="1300" i="1" kern="0">
                                                    <a:ln>
                                                      <a:solidFill>
                                                        <a:schemeClr val="tx1">
                                                          <a:alpha val="5000"/>
                                                        </a:schemeClr>
                                                      </a:solidFill>
                                                    </a:ln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,</m:t>
                                                </m:r>
                                                <m:r>
                                                  <a:rPr lang="en-US" altLang="ko-KR" sz="1300" i="1" kern="0">
                                                    <a:ln>
                                                      <a:solidFill>
                                                        <a:schemeClr val="tx1">
                                                          <a:alpha val="5000"/>
                                                        </a:schemeClr>
                                                      </a:solidFill>
                                                    </a:ln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𝑠𝑡𝑎𝑟𝑡</m:t>
                                                </m:r>
                                              </m:sub>
                                            </m:sSub>
                                            <m:sSub>
                                              <m:sSubPr>
                                                <m:ctrlPr>
                                                  <a:rPr lang="en-US" altLang="ko-KR" sz="1300" i="1" kern="0">
                                                    <a:ln>
                                                      <a:solidFill>
                                                        <a:schemeClr val="tx1">
                                                          <a:alpha val="5000"/>
                                                        </a:schemeClr>
                                                      </a:solidFill>
                                                    </a:ln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ko-KR" sz="1300" i="1" kern="0">
                                                    <a:ln>
                                                      <a:solidFill>
                                                        <a:schemeClr val="tx1">
                                                          <a:alpha val="5000"/>
                                                        </a:schemeClr>
                                                      </a:solidFill>
                                                    </a:ln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𝑍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ko-KR" sz="1300" i="1" kern="0">
                                                    <a:ln>
                                                      <a:solidFill>
                                                        <a:schemeClr val="tx1">
                                                          <a:alpha val="5000"/>
                                                        </a:schemeClr>
                                                      </a:solidFill>
                                                    </a:ln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𝑘</m:t>
                                                </m:r>
                                                <m:r>
                                                  <a:rPr lang="en-US" altLang="ko-KR" sz="1300" i="1" kern="0">
                                                    <a:ln>
                                                      <a:solidFill>
                                                        <a:schemeClr val="tx1">
                                                          <a:alpha val="5000"/>
                                                        </a:schemeClr>
                                                      </a:solidFill>
                                                    </a:ln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,</m:t>
                                                </m:r>
                                                <m:r>
                                                  <a:rPr lang="en-US" altLang="ko-KR" sz="1300" i="1" kern="0">
                                                    <a:ln>
                                                      <a:solidFill>
                                                        <a:schemeClr val="tx1">
                                                          <a:alpha val="5000"/>
                                                        </a:schemeClr>
                                                      </a:solidFill>
                                                    </a:ln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𝑒𝑛𝑑</m:t>
                                                </m:r>
                                              </m:sub>
                                            </m:sSub>
                                          </m:e>
                                        </m:acc>
                                      </m:e>
                                    </m:d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altLang="ko-KR" sz="1300" i="1" kern="0">
                                            <a:ln>
                                              <a:solidFill>
                                                <a:schemeClr val="tx1">
                                                  <a:alpha val="5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dPr>
                                      <m:e>
                                        <m:acc>
                                          <m:accPr>
                                            <m:chr m:val="⃗"/>
                                            <m:ctrlPr>
                                              <a:rPr lang="en-US" altLang="ko-KR" sz="1300" i="1" kern="0">
                                                <a:ln>
                                                  <a:solidFill>
                                                    <a:schemeClr val="tx1">
                                                      <a:alpha val="5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cs typeface="Arial" panose="020B0604020202020204" pitchFamily="34" charset="0"/>
                                              </a:rPr>
                                            </m:ctrlPr>
                                          </m:acc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ko-KR" sz="1300" i="1" kern="0">
                                                    <a:ln>
                                                      <a:solidFill>
                                                        <a:schemeClr val="tx1">
                                                          <a:alpha val="5000"/>
                                                        </a:schemeClr>
                                                      </a:solidFill>
                                                    </a:ln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ko-KR" sz="1300" i="1" kern="0">
                                                    <a:ln>
                                                      <a:solidFill>
                                                        <a:schemeClr val="tx1">
                                                          <a:alpha val="5000"/>
                                                        </a:schemeClr>
                                                      </a:solidFill>
                                                    </a:ln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𝑍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ko-KR" sz="1300" i="1" kern="0">
                                                    <a:ln>
                                                      <a:solidFill>
                                                        <a:schemeClr val="tx1">
                                                          <a:alpha val="5000"/>
                                                        </a:schemeClr>
                                                      </a:solidFill>
                                                    </a:ln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𝑘</m:t>
                                                </m:r>
                                                <m:r>
                                                  <a:rPr lang="en-US" altLang="ko-KR" sz="1300" i="1" kern="0">
                                                    <a:ln>
                                                      <a:solidFill>
                                                        <a:schemeClr val="tx1">
                                                          <a:alpha val="5000"/>
                                                        </a:schemeClr>
                                                      </a:solidFill>
                                                    </a:ln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,</m:t>
                                                </m:r>
                                                <m:r>
                                                  <a:rPr lang="en-US" altLang="ko-KR" sz="1300" i="1" kern="0">
                                                    <a:ln>
                                                      <a:solidFill>
                                                        <a:schemeClr val="tx1">
                                                          <a:alpha val="5000"/>
                                                        </a:schemeClr>
                                                      </a:solidFill>
                                                    </a:ln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𝑠𝑡𝑎𝑟𝑡</m:t>
                                                </m:r>
                                              </m:sub>
                                            </m:sSub>
                                            <m:sSub>
                                              <m:sSubPr>
                                                <m:ctrlPr>
                                                  <a:rPr lang="en-US" altLang="ko-KR" sz="1300" i="1" kern="0">
                                                    <a:ln>
                                                      <a:solidFill>
                                                        <a:schemeClr val="tx1">
                                                          <a:alpha val="5000"/>
                                                        </a:schemeClr>
                                                      </a:solidFill>
                                                    </a:ln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ko-KR" sz="1300" i="1" kern="0">
                                                    <a:ln>
                                                      <a:solidFill>
                                                        <a:schemeClr val="tx1">
                                                          <a:alpha val="5000"/>
                                                        </a:schemeClr>
                                                      </a:solidFill>
                                                    </a:ln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𝑃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ko-KR" sz="1300" i="1" kern="0">
                                                    <a:ln>
                                                      <a:solidFill>
                                                        <a:schemeClr val="tx1">
                                                          <a:alpha val="5000"/>
                                                        </a:schemeClr>
                                                      </a:solidFill>
                                                    </a:ln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𝑜𝑏𝑠</m:t>
                                                </m:r>
                                              </m:sub>
                                            </m:sSub>
                                          </m:e>
                                        </m:acc>
                                      </m:e>
                                    </m:d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endParaRPr lang="en-US" altLang="ko-KR" sz="130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90000"/>
                  <a:defRPr/>
                </a:pP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     </a:t>
                </a: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90000"/>
                  <a:defRPr/>
                </a:pP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300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D</m:t>
                        </m:r>
                      </m:e>
                      <m:sub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𝑡𝑟𝑎</m:t>
                        </m:r>
                        <m:r>
                          <a:rPr lang="en-US" altLang="ko-KR" sz="1300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_</m:t>
                        </m:r>
                        <m:r>
                          <m:rPr>
                            <m:sty m:val="p"/>
                          </m:rPr>
                          <a:rPr lang="en-US" altLang="ko-KR" sz="1300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obs</m:t>
                        </m:r>
                      </m:sub>
                    </m:sSub>
                  </m:oMath>
                </a14:m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&lt; 15m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인 차량에 대한 </a:t>
                </a: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indexing</a:t>
                </a:r>
                <a:b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</a:b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전역 경로 내 차량 객체 </a:t>
                </a: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=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영역 내 차량 객체</a:t>
                </a: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300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D</m:t>
                        </m:r>
                      </m:e>
                      <m:sub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𝑡𝑟𝑎</m:t>
                        </m:r>
                        <m:r>
                          <a:rPr lang="en-US" altLang="ko-KR" sz="1300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_</m:t>
                        </m:r>
                        <m:r>
                          <m:rPr>
                            <m:sty m:val="p"/>
                          </m:rPr>
                          <a:rPr lang="en-US" altLang="ko-KR" sz="1300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obs</m:t>
                        </m:r>
                      </m:sub>
                    </m:sSub>
                  </m:oMath>
                </a14:m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&lt; 15m)</a:t>
                </a:r>
              </a:p>
            </p:txBody>
          </p:sp>
        </mc:Choice>
        <mc:Fallback xmlns="">
          <p:sp>
            <p:nvSpPr>
              <p:cNvPr id="28" name="직사각형 27">
                <a:extLst>
                  <a:ext uri="{FF2B5EF4-FFF2-40B4-BE49-F238E27FC236}">
                    <a16:creationId xmlns:a16="http://schemas.microsoft.com/office/drawing/2014/main" id="{75605064-B31E-4FB3-8A46-86958A2A8E1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792750"/>
                <a:ext cx="9144000" cy="490249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직사각형 28">
            <a:extLst>
              <a:ext uri="{FF2B5EF4-FFF2-40B4-BE49-F238E27FC236}">
                <a16:creationId xmlns:a16="http://schemas.microsoft.com/office/drawing/2014/main" id="{6459ACCC-25D8-4CC0-A45B-67DB7CB703B1}"/>
              </a:ext>
            </a:extLst>
          </p:cNvPr>
          <p:cNvSpPr/>
          <p:nvPr/>
        </p:nvSpPr>
        <p:spPr>
          <a:xfrm>
            <a:off x="6536413" y="1005306"/>
            <a:ext cx="2762795" cy="234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동적</a:t>
            </a:r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객체 데이터 입력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3C48B1FF-1AE2-4739-8FCC-253333EA94BF}"/>
              </a:ext>
            </a:extLst>
          </p:cNvPr>
          <p:cNvSpPr/>
          <p:nvPr/>
        </p:nvSpPr>
        <p:spPr>
          <a:xfrm>
            <a:off x="6931524" y="2681068"/>
            <a:ext cx="1980000" cy="234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신규 객체 생성 빈도 측정</a:t>
            </a:r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3301BBF0-29D0-42EC-9456-75DE01F266DB}"/>
              </a:ext>
            </a:extLst>
          </p:cNvPr>
          <p:cNvCxnSpPr>
            <a:cxnSpLocks/>
          </p:cNvCxnSpPr>
          <p:nvPr/>
        </p:nvCxnSpPr>
        <p:spPr>
          <a:xfrm>
            <a:off x="7917803" y="1259393"/>
            <a:ext cx="0" cy="27232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왼쪽 중괄호 33">
            <a:extLst>
              <a:ext uri="{FF2B5EF4-FFF2-40B4-BE49-F238E27FC236}">
                <a16:creationId xmlns:a16="http://schemas.microsoft.com/office/drawing/2014/main" id="{45D32FE4-F497-41A5-8DF1-F2C697C823CC}"/>
              </a:ext>
            </a:extLst>
          </p:cNvPr>
          <p:cNvSpPr/>
          <p:nvPr/>
        </p:nvSpPr>
        <p:spPr>
          <a:xfrm>
            <a:off x="6441358" y="2775380"/>
            <a:ext cx="128117" cy="608205"/>
          </a:xfrm>
          <a:prstGeom prst="leftBrace">
            <a:avLst>
              <a:gd name="adj1" fmla="val 250081"/>
              <a:gd name="adj2" fmla="val 50928"/>
            </a:avLst>
          </a:prstGeom>
          <a:ln w="190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68E7A90B-89C3-43F3-A9F7-7351BD7670FE}"/>
              </a:ext>
            </a:extLst>
          </p:cNvPr>
          <p:cNvSpPr/>
          <p:nvPr/>
        </p:nvSpPr>
        <p:spPr>
          <a:xfrm>
            <a:off x="6253417" y="1531714"/>
            <a:ext cx="252000" cy="252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rPr>
              <a:t>1</a:t>
            </a:r>
            <a:endParaRPr lang="ko-KR" altLang="en-US" sz="9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Arial" panose="020B0604020202020204" pitchFamily="34" charset="0"/>
              <a:ea typeface="KoPub돋움체 Bold" panose="02020603020101020101" pitchFamily="18" charset="-127"/>
              <a:cs typeface="Arial" panose="020B0604020202020204" pitchFamily="34" charset="0"/>
            </a:endParaRPr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91841079-746F-4E04-9407-AE309C6ECC91}"/>
              </a:ext>
            </a:extLst>
          </p:cNvPr>
          <p:cNvSpPr/>
          <p:nvPr/>
        </p:nvSpPr>
        <p:spPr>
          <a:xfrm>
            <a:off x="6295986" y="2094657"/>
            <a:ext cx="252000" cy="252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rPr>
              <a:t>2</a:t>
            </a:r>
            <a:endParaRPr lang="ko-KR" altLang="en-US" sz="9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Arial" panose="020B0604020202020204" pitchFamily="34" charset="0"/>
              <a:ea typeface="KoPub돋움체 Bold" panose="02020603020101020101" pitchFamily="18" charset="-127"/>
              <a:cs typeface="Arial" panose="020B0604020202020204" pitchFamily="34" charset="0"/>
            </a:endParaRPr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68C1B8A9-F5A4-476E-AF5D-F395A3DFE8E9}"/>
              </a:ext>
            </a:extLst>
          </p:cNvPr>
          <p:cNvSpPr/>
          <p:nvPr/>
        </p:nvSpPr>
        <p:spPr>
          <a:xfrm>
            <a:off x="6277713" y="3972573"/>
            <a:ext cx="252000" cy="252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rPr>
              <a:t>4</a:t>
            </a:r>
            <a:endParaRPr lang="ko-KR" altLang="en-US" sz="9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Arial" panose="020B0604020202020204" pitchFamily="34" charset="0"/>
              <a:ea typeface="KoPub돋움체 Bold" panose="02020603020101020101" pitchFamily="18" charset="-127"/>
              <a:cs typeface="Arial" panose="020B0604020202020204" pitchFamily="34" charset="0"/>
            </a:endParaRPr>
          </a:p>
        </p:txBody>
      </p:sp>
      <p:sp>
        <p:nvSpPr>
          <p:cNvPr id="40" name="순서도: 판단 39">
            <a:extLst>
              <a:ext uri="{FF2B5EF4-FFF2-40B4-BE49-F238E27FC236}">
                <a16:creationId xmlns:a16="http://schemas.microsoft.com/office/drawing/2014/main" id="{16F00B14-4F40-46F5-A13E-36680A0E0396}"/>
              </a:ext>
            </a:extLst>
          </p:cNvPr>
          <p:cNvSpPr/>
          <p:nvPr/>
        </p:nvSpPr>
        <p:spPr>
          <a:xfrm>
            <a:off x="6536412" y="1990997"/>
            <a:ext cx="2762782" cy="468000"/>
          </a:xfrm>
          <a:prstGeom prst="flowChartDecision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주행 경로 반경 </a:t>
            </a:r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15m </a:t>
            </a:r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이내</a:t>
            </a:r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?</a:t>
            </a:r>
            <a:endParaRPr lang="ko-KR" altLang="en-US" sz="105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6BC437F3-0FBE-44EB-8B4F-716E315C2612}"/>
              </a:ext>
            </a:extLst>
          </p:cNvPr>
          <p:cNvSpPr/>
          <p:nvPr/>
        </p:nvSpPr>
        <p:spPr>
          <a:xfrm>
            <a:off x="7309032" y="4530348"/>
            <a:ext cx="1217541" cy="234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통행 과다 환경 지정</a:t>
            </a:r>
          </a:p>
        </p:txBody>
      </p: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99B86958-1ED5-4D60-BD56-B07105A1E8A3}"/>
              </a:ext>
            </a:extLst>
          </p:cNvPr>
          <p:cNvCxnSpPr>
            <a:cxnSpLocks/>
            <a:stCxn id="40" idx="2"/>
          </p:cNvCxnSpPr>
          <p:nvPr/>
        </p:nvCxnSpPr>
        <p:spPr>
          <a:xfrm>
            <a:off x="7917803" y="2458997"/>
            <a:ext cx="0" cy="22028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02771C0E-F4A1-4858-B128-59E72C6CE930}"/>
              </a:ext>
            </a:extLst>
          </p:cNvPr>
          <p:cNvSpPr/>
          <p:nvPr/>
        </p:nvSpPr>
        <p:spPr>
          <a:xfrm>
            <a:off x="6932293" y="4989219"/>
            <a:ext cx="1980000" cy="234000"/>
          </a:xfrm>
          <a:prstGeom prst="rect">
            <a:avLst/>
          </a:prstGeom>
          <a:solidFill>
            <a:schemeClr val="bg1"/>
          </a:solidFill>
          <a:ln w="19050">
            <a:solidFill>
              <a:srgbClr val="007A00"/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Confidence</a:t>
            </a:r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value </a:t>
            </a:r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출력</a:t>
            </a:r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DE1FA573-BA24-4DDA-8F4B-6DF08C79BEC0}"/>
              </a:ext>
            </a:extLst>
          </p:cNvPr>
          <p:cNvSpPr/>
          <p:nvPr/>
        </p:nvSpPr>
        <p:spPr>
          <a:xfrm>
            <a:off x="6169986" y="2952227"/>
            <a:ext cx="252000" cy="252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rPr>
              <a:t>3</a:t>
            </a:r>
            <a:endParaRPr lang="ko-KR" altLang="en-US" sz="9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Arial" panose="020B0604020202020204" pitchFamily="34" charset="0"/>
              <a:ea typeface="KoPub돋움체 Bold" panose="02020603020101020101" pitchFamily="18" charset="-127"/>
              <a:cs typeface="Arial" panose="020B0604020202020204" pitchFamily="34" charset="0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B5263C3D-178C-454E-B574-DF6C34198EA9}"/>
              </a:ext>
            </a:extLst>
          </p:cNvPr>
          <p:cNvSpPr/>
          <p:nvPr/>
        </p:nvSpPr>
        <p:spPr>
          <a:xfrm>
            <a:off x="6536412" y="1531714"/>
            <a:ext cx="2762783" cy="234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50m </a:t>
            </a:r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거리 이내 동적객체 추출</a:t>
            </a:r>
          </a:p>
        </p:txBody>
      </p: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D5E72370-5493-41F0-AB10-B558849EDFAD}"/>
              </a:ext>
            </a:extLst>
          </p:cNvPr>
          <p:cNvCxnSpPr>
            <a:cxnSpLocks/>
            <a:stCxn id="47" idx="2"/>
            <a:endCxn id="40" idx="0"/>
          </p:cNvCxnSpPr>
          <p:nvPr/>
        </p:nvCxnSpPr>
        <p:spPr>
          <a:xfrm flipH="1">
            <a:off x="7917803" y="1765714"/>
            <a:ext cx="1" cy="22528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순서도: 판단 48">
            <a:extLst>
              <a:ext uri="{FF2B5EF4-FFF2-40B4-BE49-F238E27FC236}">
                <a16:creationId xmlns:a16="http://schemas.microsoft.com/office/drawing/2014/main" id="{27EC1E6C-2ED1-403F-92E2-B447DB6BBE58}"/>
              </a:ext>
            </a:extLst>
          </p:cNvPr>
          <p:cNvSpPr/>
          <p:nvPr/>
        </p:nvSpPr>
        <p:spPr>
          <a:xfrm>
            <a:off x="6536412" y="3156111"/>
            <a:ext cx="2762782" cy="468000"/>
          </a:xfrm>
          <a:prstGeom prst="flowChartDecision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객체 출현 시간 </a:t>
            </a:r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&lt; 10s ?</a:t>
            </a:r>
            <a:endParaRPr lang="ko-KR" altLang="en-US" sz="105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FF892F73-B2B3-4927-9D88-AAF226ED287F}"/>
              </a:ext>
            </a:extLst>
          </p:cNvPr>
          <p:cNvCxnSpPr>
            <a:cxnSpLocks/>
          </p:cNvCxnSpPr>
          <p:nvPr/>
        </p:nvCxnSpPr>
        <p:spPr>
          <a:xfrm>
            <a:off x="7917803" y="2935829"/>
            <a:ext cx="0" cy="22028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순서도: 판단 56">
            <a:extLst>
              <a:ext uri="{FF2B5EF4-FFF2-40B4-BE49-F238E27FC236}">
                <a16:creationId xmlns:a16="http://schemas.microsoft.com/office/drawing/2014/main" id="{603C25B4-9A55-4E65-99A7-D2BD18207460}"/>
              </a:ext>
            </a:extLst>
          </p:cNvPr>
          <p:cNvSpPr/>
          <p:nvPr/>
        </p:nvSpPr>
        <p:spPr>
          <a:xfrm>
            <a:off x="6536412" y="3864573"/>
            <a:ext cx="2762782" cy="468000"/>
          </a:xfrm>
          <a:prstGeom prst="flowChartDecision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객체간 최대 거리 </a:t>
            </a:r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&lt; 30m?</a:t>
            </a:r>
            <a:endParaRPr lang="ko-KR" altLang="en-US" sz="105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F0B7B197-0CA8-4675-B403-983393DAF4C1}"/>
              </a:ext>
            </a:extLst>
          </p:cNvPr>
          <p:cNvCxnSpPr>
            <a:cxnSpLocks/>
          </p:cNvCxnSpPr>
          <p:nvPr/>
        </p:nvCxnSpPr>
        <p:spPr>
          <a:xfrm>
            <a:off x="7917803" y="3624111"/>
            <a:ext cx="0" cy="22028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D481962B-A7CC-4DFF-9FFF-5AC07361D56D}"/>
              </a:ext>
            </a:extLst>
          </p:cNvPr>
          <p:cNvCxnSpPr>
            <a:cxnSpLocks/>
          </p:cNvCxnSpPr>
          <p:nvPr/>
        </p:nvCxnSpPr>
        <p:spPr>
          <a:xfrm>
            <a:off x="7917803" y="4332573"/>
            <a:ext cx="0" cy="22028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AD388607-E5FA-4BB6-9861-654B41CF16D3}"/>
              </a:ext>
            </a:extLst>
          </p:cNvPr>
          <p:cNvCxnSpPr>
            <a:cxnSpLocks/>
          </p:cNvCxnSpPr>
          <p:nvPr/>
        </p:nvCxnSpPr>
        <p:spPr>
          <a:xfrm>
            <a:off x="7917803" y="4768937"/>
            <a:ext cx="0" cy="22028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왼쪽 중괄호 60">
            <a:extLst>
              <a:ext uri="{FF2B5EF4-FFF2-40B4-BE49-F238E27FC236}">
                <a16:creationId xmlns:a16="http://schemas.microsoft.com/office/drawing/2014/main" id="{F8AB2377-ABDD-4B36-BD56-9D4E6192FB42}"/>
              </a:ext>
            </a:extLst>
          </p:cNvPr>
          <p:cNvSpPr/>
          <p:nvPr/>
        </p:nvSpPr>
        <p:spPr>
          <a:xfrm>
            <a:off x="6529713" y="4563705"/>
            <a:ext cx="128117" cy="608205"/>
          </a:xfrm>
          <a:prstGeom prst="leftBrace">
            <a:avLst>
              <a:gd name="adj1" fmla="val 250081"/>
              <a:gd name="adj2" fmla="val 50928"/>
            </a:avLst>
          </a:prstGeom>
          <a:ln w="190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9CE934EB-37DE-4BAE-9564-BEB8A593CF0F}"/>
              </a:ext>
            </a:extLst>
          </p:cNvPr>
          <p:cNvSpPr/>
          <p:nvPr/>
        </p:nvSpPr>
        <p:spPr>
          <a:xfrm>
            <a:off x="6277713" y="4704143"/>
            <a:ext cx="252000" cy="252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rPr>
              <a:t>5</a:t>
            </a:r>
            <a:endParaRPr lang="ko-KR" altLang="en-US" sz="9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Arial" panose="020B0604020202020204" pitchFamily="34" charset="0"/>
              <a:ea typeface="KoPub돋움체 Bold" panose="02020603020101020101" pitchFamily="18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426907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제목 1">
            <a:extLst>
              <a:ext uri="{FF2B5EF4-FFF2-40B4-BE49-F238E27FC236}">
                <a16:creationId xmlns:a16="http://schemas.microsoft.com/office/drawing/2014/main" id="{D3620FFB-DBA2-4993-971C-CE2E38EF6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6</a:t>
            </a:r>
            <a:r>
              <a:rPr lang="ko-KR" altLang="en-US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주행 경로상 장애물 통행량이 과다한 환경</a:t>
            </a:r>
            <a:r>
              <a:rPr lang="en-US" altLang="ko-KR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(</a:t>
            </a:r>
            <a:r>
              <a:rPr lang="ko-KR" altLang="en-US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차량</a:t>
            </a:r>
            <a:r>
              <a:rPr lang="en-US" altLang="ko-KR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)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F55F954-5E86-475A-837F-2B8CED6C7DF1}" type="slidenum">
              <a:rPr lang="ko-KR" altLang="en-US" smtClean="0"/>
              <a:pPr/>
              <a:t>64</a:t>
            </a:fld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75605064-B31E-4FB3-8A46-86958A2A8E14}"/>
              </a:ext>
            </a:extLst>
          </p:cNvPr>
          <p:cNvSpPr/>
          <p:nvPr/>
        </p:nvSpPr>
        <p:spPr>
          <a:xfrm>
            <a:off x="381000" y="792750"/>
            <a:ext cx="9144000" cy="24021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120000"/>
              <a:buFont typeface="+mj-ea"/>
              <a:buAutoNum type="circleNumDbPlain" startAt="3"/>
              <a:defRPr/>
            </a:pPr>
            <a:r>
              <a:rPr lang="ko-KR" altLang="en-US" sz="1300" b="1" kern="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신규 객체 생성 빈도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데이터 시점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: t</a:t>
            </a: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전역 경로 내 차량 객체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vector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데이터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   (position, velocity, </a:t>
            </a:r>
            <a:r>
              <a:rPr lang="en-US" altLang="ko-KR" sz="1300" kern="0" dirty="0" err="1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classID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, timestamp … )</a:t>
            </a:r>
            <a:b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</a:b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첫 객체 생성시의 </a:t>
            </a:r>
            <a:r>
              <a:rPr lang="en-US" altLang="ko-KR" sz="1300" kern="0" dirty="0" err="1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classID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및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timestamp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기록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신규 객체 생성시의 </a:t>
            </a:r>
            <a:r>
              <a:rPr lang="en-US" altLang="ko-KR" sz="1300" kern="0" dirty="0" err="1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classID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및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timestamp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비교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신규 객체 생성시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timestamp –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이전 객체 생성시의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timestamp &lt; 10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인 경우</a:t>
            </a:r>
            <a:b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</a:b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영역내 객체간 거리 측정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직사각형 30">
                <a:extLst>
                  <a:ext uri="{FF2B5EF4-FFF2-40B4-BE49-F238E27FC236}">
                    <a16:creationId xmlns:a16="http://schemas.microsoft.com/office/drawing/2014/main" id="{2CEBEBF8-6070-45D8-B3AC-DDB62B64F2EA}"/>
                  </a:ext>
                </a:extLst>
              </p:cNvPr>
              <p:cNvSpPr/>
              <p:nvPr/>
            </p:nvSpPr>
            <p:spPr>
              <a:xfrm>
                <a:off x="381000" y="3214969"/>
                <a:ext cx="9144000" cy="28057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120000"/>
                  <a:buFont typeface="+mj-ea"/>
                  <a:buAutoNum type="circleNumDbPlain" startAt="4"/>
                  <a:defRPr/>
                </a:pPr>
                <a:r>
                  <a:rPr lang="ko-KR" altLang="en-US" sz="1300" b="1" kern="0" dirty="0">
                    <a:ln>
                      <a:solidFill>
                        <a:schemeClr val="tx1">
                          <a:alpha val="30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객체간 거리 측정</a:t>
                </a:r>
                <a:endParaRPr lang="en-US" altLang="ko-KR" sz="130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90000"/>
                  <a:defRPr/>
                </a:pP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  -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데이터 시점 </a:t>
                </a: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: t</a:t>
                </a: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90000"/>
                  <a:defRPr/>
                </a:pP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  -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전역 경로 내 차량 객체 </a:t>
                </a: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vector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데이터</a:t>
                </a:r>
                <a:endParaRPr lang="en-US" altLang="ko-KR" sz="130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90000"/>
                  <a:defRPr/>
                </a:pP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     (position, velocity, </a:t>
                </a:r>
                <a:r>
                  <a:rPr lang="en-US" altLang="ko-KR" sz="1300" kern="0" dirty="0" err="1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classID</a:t>
                </a: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, timestamp … )</a:t>
                </a:r>
                <a:b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</a:b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  - N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개의 전역 경로 내 차량 객체 위치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𝑣𝑒h</m:t>
                        </m:r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𝑛</m:t>
                        </m:r>
                      </m:sub>
                    </m:sSub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ctrlP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lang="en-US" altLang="ko-KR" sz="130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90000"/>
                  <a:defRPr/>
                </a:pP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  -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각 객체간 거리 추정</a:t>
                </a: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𝐷</m:t>
                        </m:r>
                      </m:e>
                      <m:sub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𝑣𝑒h</m:t>
                        </m:r>
                      </m:sub>
                    </m:sSub>
                    <m:r>
                      <a:rPr lang="en-US" altLang="ko-KR" sz="1300" i="1" ker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⃗"/>
                                    <m:ctrlPr>
                                      <a:rPr lang="en-US" altLang="ko-KR" sz="1300" i="1" kern="0">
                                        <a:ln>
                                          <a:solidFill>
                                            <a:schemeClr val="tx1">
                                              <a:alpha val="5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altLang="ko-KR" sz="1300" i="1" kern="0">
                                            <a:ln>
                                              <a:solidFill>
                                                <a:schemeClr val="tx1">
                                                  <a:alpha val="5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300" i="1" kern="0">
                                            <a:ln>
                                              <a:solidFill>
                                                <a:schemeClr val="tx1">
                                                  <a:alpha val="5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𝑃</m:t>
                                        </m:r>
                                      </m:e>
                                      <m:sub>
                                        <m:r>
                                          <a:rPr lang="en-US" altLang="ko-KR" sz="1300" b="0" i="1" kern="0" smtClean="0">
                                            <a:ln>
                                              <a:solidFill>
                                                <a:schemeClr val="tx1">
                                                  <a:alpha val="5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𝑣𝑒h</m:t>
                                        </m:r>
                                        <m:r>
                                          <a:rPr lang="en-US" altLang="ko-KR" sz="1300" b="0" i="1" kern="0" smtClean="0">
                                            <a:ln>
                                              <a:solidFill>
                                                <a:schemeClr val="tx1">
                                                  <a:alpha val="5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,</m:t>
                                        </m:r>
                                        <m:r>
                                          <a:rPr lang="en-US" altLang="ko-KR" sz="1300" b="0" i="1" kern="0" smtClean="0">
                                            <a:ln>
                                              <a:solidFill>
                                                <a:schemeClr val="tx1">
                                                  <a:alpha val="5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⃗"/>
                                    <m:ctrlPr>
                                      <a:rPr lang="en-US" altLang="ko-KR" sz="1300" i="1" kern="0">
                                        <a:ln>
                                          <a:solidFill>
                                            <a:schemeClr val="tx1">
                                              <a:alpha val="5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altLang="ko-KR" sz="1300" i="1" kern="0">
                                            <a:ln>
                                              <a:solidFill>
                                                <a:schemeClr val="tx1">
                                                  <a:alpha val="5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300" i="1" kern="0">
                                            <a:ln>
                                              <a:solidFill>
                                                <a:schemeClr val="tx1">
                                                  <a:alpha val="5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𝑃</m:t>
                                        </m:r>
                                      </m:e>
                                      <m:sub>
                                        <m:r>
                                          <a:rPr lang="en-US" altLang="ko-KR" sz="1300" b="0" i="1" kern="0" smtClean="0">
                                            <a:ln>
                                              <a:solidFill>
                                                <a:schemeClr val="tx1">
                                                  <a:alpha val="5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𝑣𝑒h</m:t>
                                        </m:r>
                                        <m:r>
                                          <a:rPr lang="en-US" altLang="ko-KR" sz="1300" b="0" i="1" kern="0" smtClean="0">
                                            <a:ln>
                                              <a:solidFill>
                                                <a:schemeClr val="tx1">
                                                  <a:alpha val="5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,</m:t>
                                        </m:r>
                                        <m:r>
                                          <a:rPr lang="en-US" altLang="ko-KR" sz="1300" b="0" i="1" kern="0" smtClean="0">
                                            <a:ln>
                                              <a:solidFill>
                                                <a:schemeClr val="tx1">
                                                  <a:alpha val="5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endParaRPr lang="en-US" altLang="ko-KR" sz="130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90000"/>
                  <a:defRPr/>
                </a:pP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     ( </a:t>
                </a:r>
                <a14:m>
                  <m:oMath xmlns:m="http://schemas.openxmlformats.org/officeDocument/2006/math">
                    <m:r>
                      <a:rPr lang="en-US" altLang="ko-KR" sz="1300" b="0" i="0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1</m:t>
                    </m:r>
                    <m:r>
                      <a:rPr lang="en-US" altLang="ko-KR" sz="130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≤</m:t>
                    </m:r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𝑗</m:t>
                    </m:r>
                    <m:r>
                      <a:rPr lang="en-US" altLang="ko-KR" sz="130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≤</m:t>
                    </m:r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𝑛</m:t>
                    </m:r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,   1≤</m:t>
                    </m:r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𝑘</m:t>
                    </m:r>
                    <m:r>
                      <a:rPr lang="en-US" altLang="ko-KR" sz="130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≤</m:t>
                    </m:r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𝑛</m:t>
                    </m:r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,  </m:t>
                    </m:r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𝑗</m:t>
                    </m:r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≠</m:t>
                    </m:r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𝑘</m:t>
                    </m:r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endParaRPr lang="en-US" altLang="ko-KR" sz="1300" b="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+mn-ea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90000"/>
                  <a:defRPr/>
                </a:pP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  - </a:t>
                </a:r>
                <a14:m>
                  <m:oMath xmlns:m="http://schemas.openxmlformats.org/officeDocument/2006/math"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𝑀𝐴𝑋</m:t>
                    </m:r>
                    <m:d>
                      <m:dPr>
                        <m:ctrlP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𝑣𝑒h</m:t>
                            </m:r>
                          </m:sub>
                        </m:sSub>
                      </m:e>
                    </m:d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&lt;30</m:t>
                    </m:r>
                  </m:oMath>
                </a14:m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인 경우 </a:t>
                </a:r>
                <a:endParaRPr lang="en-US" altLang="ko-KR" sz="130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1" name="직사각형 30">
                <a:extLst>
                  <a:ext uri="{FF2B5EF4-FFF2-40B4-BE49-F238E27FC236}">
                    <a16:creationId xmlns:a16="http://schemas.microsoft.com/office/drawing/2014/main" id="{2CEBEBF8-6070-45D8-B3AC-DDB62B64F2E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3214969"/>
                <a:ext cx="9144000" cy="280576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직사각형 31">
            <a:extLst>
              <a:ext uri="{FF2B5EF4-FFF2-40B4-BE49-F238E27FC236}">
                <a16:creationId xmlns:a16="http://schemas.microsoft.com/office/drawing/2014/main" id="{873F351D-C30B-4EB9-8437-594723761087}"/>
              </a:ext>
            </a:extLst>
          </p:cNvPr>
          <p:cNvSpPr/>
          <p:nvPr/>
        </p:nvSpPr>
        <p:spPr>
          <a:xfrm>
            <a:off x="6536413" y="1005306"/>
            <a:ext cx="2762795" cy="234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동적</a:t>
            </a:r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객체 데이터 입력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8E107028-99C6-455C-A1CC-36E75E26D1BC}"/>
              </a:ext>
            </a:extLst>
          </p:cNvPr>
          <p:cNvSpPr/>
          <p:nvPr/>
        </p:nvSpPr>
        <p:spPr>
          <a:xfrm>
            <a:off x="6931524" y="2681068"/>
            <a:ext cx="1980000" cy="234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신규 객체 생성 빈도 측정</a:t>
            </a:r>
          </a:p>
        </p:txBody>
      </p: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60E224F8-4C3B-47CE-95DD-2BE31064126C}"/>
              </a:ext>
            </a:extLst>
          </p:cNvPr>
          <p:cNvCxnSpPr>
            <a:cxnSpLocks/>
          </p:cNvCxnSpPr>
          <p:nvPr/>
        </p:nvCxnSpPr>
        <p:spPr>
          <a:xfrm>
            <a:off x="7917803" y="1259393"/>
            <a:ext cx="0" cy="27232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왼쪽 중괄호 35">
            <a:extLst>
              <a:ext uri="{FF2B5EF4-FFF2-40B4-BE49-F238E27FC236}">
                <a16:creationId xmlns:a16="http://schemas.microsoft.com/office/drawing/2014/main" id="{AFA7C5DA-3D08-42A9-A411-AFE21C83C0B4}"/>
              </a:ext>
            </a:extLst>
          </p:cNvPr>
          <p:cNvSpPr/>
          <p:nvPr/>
        </p:nvSpPr>
        <p:spPr>
          <a:xfrm>
            <a:off x="6441358" y="2775380"/>
            <a:ext cx="128117" cy="608205"/>
          </a:xfrm>
          <a:prstGeom prst="leftBrace">
            <a:avLst>
              <a:gd name="adj1" fmla="val 250081"/>
              <a:gd name="adj2" fmla="val 50928"/>
            </a:avLst>
          </a:prstGeom>
          <a:ln w="190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272F37A4-0DBF-4445-8AF8-55E97D4ACC5B}"/>
              </a:ext>
            </a:extLst>
          </p:cNvPr>
          <p:cNvSpPr/>
          <p:nvPr/>
        </p:nvSpPr>
        <p:spPr>
          <a:xfrm>
            <a:off x="6253417" y="1531714"/>
            <a:ext cx="252000" cy="252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rPr>
              <a:t>1</a:t>
            </a:r>
            <a:endParaRPr lang="ko-KR" altLang="en-US" sz="9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Arial" panose="020B0604020202020204" pitchFamily="34" charset="0"/>
              <a:ea typeface="KoPub돋움체 Bold" panose="02020603020101020101" pitchFamily="18" charset="-127"/>
              <a:cs typeface="Arial" panose="020B0604020202020204" pitchFamily="34" charset="0"/>
            </a:endParaRPr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1A6DBB75-B550-4E76-A039-BD86B5B8E905}"/>
              </a:ext>
            </a:extLst>
          </p:cNvPr>
          <p:cNvSpPr/>
          <p:nvPr/>
        </p:nvSpPr>
        <p:spPr>
          <a:xfrm>
            <a:off x="6295986" y="2094657"/>
            <a:ext cx="252000" cy="252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rPr>
              <a:t>2</a:t>
            </a:r>
            <a:endParaRPr lang="ko-KR" altLang="en-US" sz="9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Arial" panose="020B0604020202020204" pitchFamily="34" charset="0"/>
              <a:ea typeface="KoPub돋움체 Bold" panose="02020603020101020101" pitchFamily="18" charset="-127"/>
              <a:cs typeface="Arial" panose="020B0604020202020204" pitchFamily="34" charset="0"/>
            </a:endParaRPr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B55107FC-C86E-4B9E-AD28-F9BE8FE1E4A8}"/>
              </a:ext>
            </a:extLst>
          </p:cNvPr>
          <p:cNvSpPr/>
          <p:nvPr/>
        </p:nvSpPr>
        <p:spPr>
          <a:xfrm>
            <a:off x="6277713" y="3972573"/>
            <a:ext cx="252000" cy="252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rPr>
              <a:t>4</a:t>
            </a:r>
            <a:endParaRPr lang="ko-KR" altLang="en-US" sz="9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Arial" panose="020B0604020202020204" pitchFamily="34" charset="0"/>
              <a:ea typeface="KoPub돋움체 Bold" panose="02020603020101020101" pitchFamily="18" charset="-127"/>
              <a:cs typeface="Arial" panose="020B0604020202020204" pitchFamily="34" charset="0"/>
            </a:endParaRPr>
          </a:p>
        </p:txBody>
      </p:sp>
      <p:sp>
        <p:nvSpPr>
          <p:cNvPr id="41" name="순서도: 판단 40">
            <a:extLst>
              <a:ext uri="{FF2B5EF4-FFF2-40B4-BE49-F238E27FC236}">
                <a16:creationId xmlns:a16="http://schemas.microsoft.com/office/drawing/2014/main" id="{BCBAF5D8-F662-42C4-9351-B27302FD903F}"/>
              </a:ext>
            </a:extLst>
          </p:cNvPr>
          <p:cNvSpPr/>
          <p:nvPr/>
        </p:nvSpPr>
        <p:spPr>
          <a:xfrm>
            <a:off x="6536412" y="1990997"/>
            <a:ext cx="2762782" cy="468000"/>
          </a:xfrm>
          <a:prstGeom prst="flowChartDecision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주행 경로 반경 </a:t>
            </a:r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15m </a:t>
            </a:r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이내</a:t>
            </a:r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?</a:t>
            </a:r>
            <a:endParaRPr lang="ko-KR" altLang="en-US" sz="105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3E1A1681-6EF0-46DE-A2EF-731C0A0212B3}"/>
              </a:ext>
            </a:extLst>
          </p:cNvPr>
          <p:cNvSpPr/>
          <p:nvPr/>
        </p:nvSpPr>
        <p:spPr>
          <a:xfrm>
            <a:off x="7309032" y="4530348"/>
            <a:ext cx="1217541" cy="234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통행 과다 환경 지정</a:t>
            </a:r>
          </a:p>
        </p:txBody>
      </p: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23F2AD66-659E-4325-A3A6-3F9AA85FF68C}"/>
              </a:ext>
            </a:extLst>
          </p:cNvPr>
          <p:cNvCxnSpPr>
            <a:cxnSpLocks/>
            <a:stCxn id="41" idx="2"/>
          </p:cNvCxnSpPr>
          <p:nvPr/>
        </p:nvCxnSpPr>
        <p:spPr>
          <a:xfrm>
            <a:off x="7917803" y="2458997"/>
            <a:ext cx="0" cy="22028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C7BB0D60-D0AC-483B-AE51-35A387A0586B}"/>
              </a:ext>
            </a:extLst>
          </p:cNvPr>
          <p:cNvSpPr/>
          <p:nvPr/>
        </p:nvSpPr>
        <p:spPr>
          <a:xfrm>
            <a:off x="6932293" y="4989219"/>
            <a:ext cx="1980000" cy="234000"/>
          </a:xfrm>
          <a:prstGeom prst="rect">
            <a:avLst/>
          </a:prstGeom>
          <a:solidFill>
            <a:schemeClr val="bg1"/>
          </a:solidFill>
          <a:ln w="19050">
            <a:solidFill>
              <a:srgbClr val="007A00"/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Confidence</a:t>
            </a:r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value </a:t>
            </a:r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출력</a:t>
            </a:r>
          </a:p>
        </p:txBody>
      </p:sp>
      <p:sp>
        <p:nvSpPr>
          <p:cNvPr id="47" name="타원 46">
            <a:extLst>
              <a:ext uri="{FF2B5EF4-FFF2-40B4-BE49-F238E27FC236}">
                <a16:creationId xmlns:a16="http://schemas.microsoft.com/office/drawing/2014/main" id="{15E6C6ED-8147-489C-8A2B-54456EFC3AF9}"/>
              </a:ext>
            </a:extLst>
          </p:cNvPr>
          <p:cNvSpPr/>
          <p:nvPr/>
        </p:nvSpPr>
        <p:spPr>
          <a:xfrm>
            <a:off x="6169986" y="2952227"/>
            <a:ext cx="252000" cy="252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rPr>
              <a:t>3</a:t>
            </a:r>
            <a:endParaRPr lang="ko-KR" altLang="en-US" sz="9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Arial" panose="020B0604020202020204" pitchFamily="34" charset="0"/>
              <a:ea typeface="KoPub돋움체 Bold" panose="02020603020101020101" pitchFamily="18" charset="-127"/>
              <a:cs typeface="Arial" panose="020B0604020202020204" pitchFamily="34" charset="0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D0BD9E97-9059-4106-8EAC-1E4F098D142D}"/>
              </a:ext>
            </a:extLst>
          </p:cNvPr>
          <p:cNvSpPr/>
          <p:nvPr/>
        </p:nvSpPr>
        <p:spPr>
          <a:xfrm>
            <a:off x="6536412" y="1531714"/>
            <a:ext cx="2762783" cy="234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50m </a:t>
            </a:r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거리 이내 동적객체 추출</a:t>
            </a:r>
          </a:p>
        </p:txBody>
      </p: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8C09B446-3705-48D2-A649-565FEF6D3387}"/>
              </a:ext>
            </a:extLst>
          </p:cNvPr>
          <p:cNvCxnSpPr>
            <a:cxnSpLocks/>
            <a:stCxn id="48" idx="2"/>
            <a:endCxn id="41" idx="0"/>
          </p:cNvCxnSpPr>
          <p:nvPr/>
        </p:nvCxnSpPr>
        <p:spPr>
          <a:xfrm flipH="1">
            <a:off x="7917803" y="1765714"/>
            <a:ext cx="1" cy="22528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순서도: 판단 55">
            <a:extLst>
              <a:ext uri="{FF2B5EF4-FFF2-40B4-BE49-F238E27FC236}">
                <a16:creationId xmlns:a16="http://schemas.microsoft.com/office/drawing/2014/main" id="{E127C383-1FA2-497E-BCF6-423EBC471D6C}"/>
              </a:ext>
            </a:extLst>
          </p:cNvPr>
          <p:cNvSpPr/>
          <p:nvPr/>
        </p:nvSpPr>
        <p:spPr>
          <a:xfrm>
            <a:off x="6536412" y="3156111"/>
            <a:ext cx="2762782" cy="468000"/>
          </a:xfrm>
          <a:prstGeom prst="flowChartDecision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객체 출현 시간 </a:t>
            </a:r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&lt; 10s ?</a:t>
            </a:r>
            <a:endParaRPr lang="ko-KR" altLang="en-US" sz="105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4D8E36CB-A171-41D1-9873-A84DC9DA716D}"/>
              </a:ext>
            </a:extLst>
          </p:cNvPr>
          <p:cNvCxnSpPr>
            <a:cxnSpLocks/>
          </p:cNvCxnSpPr>
          <p:nvPr/>
        </p:nvCxnSpPr>
        <p:spPr>
          <a:xfrm>
            <a:off x="7917803" y="2935829"/>
            <a:ext cx="0" cy="22028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순서도: 판단 57">
            <a:extLst>
              <a:ext uri="{FF2B5EF4-FFF2-40B4-BE49-F238E27FC236}">
                <a16:creationId xmlns:a16="http://schemas.microsoft.com/office/drawing/2014/main" id="{4BA45B27-2861-488D-A551-DFF993037B62}"/>
              </a:ext>
            </a:extLst>
          </p:cNvPr>
          <p:cNvSpPr/>
          <p:nvPr/>
        </p:nvSpPr>
        <p:spPr>
          <a:xfrm>
            <a:off x="6536412" y="3864573"/>
            <a:ext cx="2762782" cy="468000"/>
          </a:xfrm>
          <a:prstGeom prst="flowChartDecision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객체간 최대 거리 </a:t>
            </a:r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&lt; 30m?</a:t>
            </a:r>
            <a:endParaRPr lang="ko-KR" altLang="en-US" sz="105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E11BD21D-2563-4CD9-9053-C47BEEFFAE7A}"/>
              </a:ext>
            </a:extLst>
          </p:cNvPr>
          <p:cNvCxnSpPr>
            <a:cxnSpLocks/>
          </p:cNvCxnSpPr>
          <p:nvPr/>
        </p:nvCxnSpPr>
        <p:spPr>
          <a:xfrm>
            <a:off x="7917803" y="3624111"/>
            <a:ext cx="0" cy="22028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300E8D73-4B3C-48D2-BA08-8F0DFB7895C7}"/>
              </a:ext>
            </a:extLst>
          </p:cNvPr>
          <p:cNvCxnSpPr>
            <a:cxnSpLocks/>
          </p:cNvCxnSpPr>
          <p:nvPr/>
        </p:nvCxnSpPr>
        <p:spPr>
          <a:xfrm>
            <a:off x="7917803" y="4332573"/>
            <a:ext cx="0" cy="22028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026E7D21-0688-428A-AF9D-354575516CA6}"/>
              </a:ext>
            </a:extLst>
          </p:cNvPr>
          <p:cNvCxnSpPr>
            <a:cxnSpLocks/>
          </p:cNvCxnSpPr>
          <p:nvPr/>
        </p:nvCxnSpPr>
        <p:spPr>
          <a:xfrm>
            <a:off x="7917803" y="4768937"/>
            <a:ext cx="0" cy="22028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왼쪽 중괄호 61">
            <a:extLst>
              <a:ext uri="{FF2B5EF4-FFF2-40B4-BE49-F238E27FC236}">
                <a16:creationId xmlns:a16="http://schemas.microsoft.com/office/drawing/2014/main" id="{E06D98DB-6EBC-40AD-81D5-DB8D452C5FAE}"/>
              </a:ext>
            </a:extLst>
          </p:cNvPr>
          <p:cNvSpPr/>
          <p:nvPr/>
        </p:nvSpPr>
        <p:spPr>
          <a:xfrm>
            <a:off x="6529713" y="4563705"/>
            <a:ext cx="128117" cy="608205"/>
          </a:xfrm>
          <a:prstGeom prst="leftBrace">
            <a:avLst>
              <a:gd name="adj1" fmla="val 250081"/>
              <a:gd name="adj2" fmla="val 50928"/>
            </a:avLst>
          </a:prstGeom>
          <a:ln w="190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타원 62">
            <a:extLst>
              <a:ext uri="{FF2B5EF4-FFF2-40B4-BE49-F238E27FC236}">
                <a16:creationId xmlns:a16="http://schemas.microsoft.com/office/drawing/2014/main" id="{EFCD13F2-FAC9-441C-BA2B-2EA31B619346}"/>
              </a:ext>
            </a:extLst>
          </p:cNvPr>
          <p:cNvSpPr/>
          <p:nvPr/>
        </p:nvSpPr>
        <p:spPr>
          <a:xfrm>
            <a:off x="6277713" y="4704143"/>
            <a:ext cx="252000" cy="252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rPr>
              <a:t>5</a:t>
            </a:r>
            <a:endParaRPr lang="ko-KR" altLang="en-US" sz="9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Arial" panose="020B0604020202020204" pitchFamily="34" charset="0"/>
              <a:ea typeface="KoPub돋움체 Bold" panose="02020603020101020101" pitchFamily="18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302944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제목 1">
            <a:extLst>
              <a:ext uri="{FF2B5EF4-FFF2-40B4-BE49-F238E27FC236}">
                <a16:creationId xmlns:a16="http://schemas.microsoft.com/office/drawing/2014/main" id="{D3620FFB-DBA2-4993-971C-CE2E38EF6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6</a:t>
            </a:r>
            <a:r>
              <a:rPr lang="ko-KR" altLang="en-US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주행 경로상 장애물 통행량이 과다한 환경</a:t>
            </a:r>
            <a:r>
              <a:rPr lang="en-US" altLang="ko-KR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(</a:t>
            </a:r>
            <a:r>
              <a:rPr lang="ko-KR" altLang="en-US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차량</a:t>
            </a:r>
            <a:r>
              <a:rPr lang="en-US" altLang="ko-KR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)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F55F954-5E86-475A-837F-2B8CED6C7DF1}" type="slidenum">
              <a:rPr lang="ko-KR" altLang="en-US" smtClean="0"/>
              <a:pPr/>
              <a:t>65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직사각형 30">
                <a:extLst>
                  <a:ext uri="{FF2B5EF4-FFF2-40B4-BE49-F238E27FC236}">
                    <a16:creationId xmlns:a16="http://schemas.microsoft.com/office/drawing/2014/main" id="{2CEBEBF8-6070-45D8-B3AC-DDB62B64F2EA}"/>
                  </a:ext>
                </a:extLst>
              </p:cNvPr>
              <p:cNvSpPr/>
              <p:nvPr/>
            </p:nvSpPr>
            <p:spPr>
              <a:xfrm>
                <a:off x="381000" y="762414"/>
                <a:ext cx="9144000" cy="25278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120000"/>
                  <a:buFont typeface="+mj-ea"/>
                  <a:buAutoNum type="circleNumDbPlain" startAt="5"/>
                  <a:defRPr/>
                </a:pPr>
                <a:r>
                  <a:rPr lang="ko-KR" altLang="en-US" sz="1300" b="1" kern="0" dirty="0">
                    <a:ln>
                      <a:solidFill>
                        <a:schemeClr val="tx1">
                          <a:alpha val="30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객체간 거리 측정</a:t>
                </a:r>
                <a:endParaRPr lang="en-US" altLang="ko-KR" sz="130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90000"/>
                  <a:defRPr/>
                </a:pP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- </a:t>
                </a:r>
                <a14:m>
                  <m:oMath xmlns:m="http://schemas.openxmlformats.org/officeDocument/2006/math"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𝑀𝐴𝑋</m:t>
                    </m:r>
                    <m:d>
                      <m:dPr>
                        <m:ctrlP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𝑝𝑒𝑑</m:t>
                            </m:r>
                          </m:sub>
                        </m:sSub>
                      </m:e>
                    </m:d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&lt;30</m:t>
                    </m:r>
                  </m:oMath>
                </a14:m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인 경우 해당 영역을 통행 과다 환경으로 지정</a:t>
                </a:r>
                <a:b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</a:b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-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통행 과다 환경의 지정은 전역 경로 내 사람 객체 중 특장차와 가장 가까운</a:t>
                </a:r>
                <a:b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</a:b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사람과의 거리가 </a:t>
                </a: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40m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이내로 가까워 지는 경우</a:t>
                </a:r>
                <a:endParaRPr lang="en-US" altLang="ko-KR" sz="130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90000"/>
                  <a:defRPr/>
                </a:pP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cs typeface="Arial" panose="020B0604020202020204" pitchFamily="34" charset="0"/>
                  </a:rPr>
                  <a:t>  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cs typeface="Arial" panose="020B0604020202020204" pitchFamily="34" charset="0"/>
                  </a:rPr>
                  <a:t>특</a:t>
                </a:r>
                <a14:m>
                  <m:oMath xmlns:m="http://schemas.openxmlformats.org/officeDocument/2006/math">
                    <m:r>
                      <a:rPr lang="ko-KR" altLang="en-US" sz="1300" i="1" kern="0" dirty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장</m:t>
                    </m:r>
                    <m:r>
                      <a:rPr lang="ko-KR" altLang="en-US" sz="1300" i="1" kern="0" dirty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차</m:t>
                    </m:r>
                    <m:r>
                      <a:rPr lang="ko-KR" altLang="en-US" sz="1300" i="1" kern="0" dirty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와</m:t>
                    </m:r>
                    <m:r>
                      <a:rPr lang="en-US" altLang="ko-KR" sz="1300" b="0" i="1" kern="0" dirty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ko-KR" altLang="en-US" sz="1300" i="1" kern="0" dirty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사</m:t>
                    </m:r>
                    <m:r>
                      <a:rPr lang="ko-KR" altLang="en-US" sz="1300" i="1" kern="0" dirty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람</m:t>
                    </m:r>
                    <m:r>
                      <a:rPr lang="en-US" altLang="ko-KR" sz="1300" b="0" i="1" kern="0" dirty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ko-KR" altLang="en-US" sz="1300" i="1" kern="0" dirty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사</m:t>
                    </m:r>
                    <m:r>
                      <a:rPr lang="ko-KR" altLang="en-US" sz="1300" i="1" kern="0" dirty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이</m:t>
                    </m:r>
                    <m:r>
                      <a:rPr lang="ko-KR" altLang="en-US" sz="1300" i="1" kern="0" dirty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의</m:t>
                    </m:r>
                    <m:r>
                      <a:rPr lang="en-US" altLang="ko-KR" sz="1300" b="0" i="1" kern="0" dirty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ko-KR" altLang="en-US" sz="1300" i="1" kern="0" dirty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거</m:t>
                    </m:r>
                    <m:r>
                      <a:rPr lang="ko-KR" altLang="en-US" sz="1300" i="1" kern="0" dirty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리</m:t>
                    </m:r>
                    <m:r>
                      <a:rPr lang="en-US" altLang="ko-KR" sz="1300" b="0" i="1" kern="0" dirty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sSub>
                      <m:sSubPr>
                        <m:ctrlP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𝐷</m:t>
                        </m:r>
                      </m:e>
                      <m:sub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𝑒𝑔</m:t>
                        </m:r>
                        <m:sSub>
                          <m:sSubPr>
                            <m:ctrlP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𝑣𝑒h</m:t>
                            </m:r>
                          </m:sub>
                        </m:sSub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𝑛</m:t>
                        </m:r>
                      </m:sub>
                    </m:sSub>
                    <m:r>
                      <a:rPr lang="en-US" altLang="ko-KR" sz="1300" i="1" ker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⃗"/>
                                    <m:ctrlPr>
                                      <a:rPr lang="en-US" altLang="ko-KR" sz="1300" i="1" kern="0">
                                        <a:ln>
                                          <a:solidFill>
                                            <a:schemeClr val="tx1">
                                              <a:alpha val="5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altLang="ko-KR" sz="1300" i="1" kern="0">
                                            <a:ln>
                                              <a:solidFill>
                                                <a:schemeClr val="tx1">
                                                  <a:alpha val="5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300" i="1" kern="0">
                                            <a:ln>
                                              <a:solidFill>
                                                <a:schemeClr val="tx1">
                                                  <a:alpha val="5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𝑃</m:t>
                                        </m:r>
                                      </m:e>
                                      <m:sub>
                                        <m:r>
                                          <a:rPr lang="en-US" altLang="ko-KR" sz="1300" i="1" kern="0">
                                            <a:ln>
                                              <a:solidFill>
                                                <a:schemeClr val="tx1">
                                                  <a:alpha val="5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𝑒𝑔𝑜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⃗"/>
                                    <m:ctrlPr>
                                      <a:rPr lang="en-US" altLang="ko-KR" sz="1300" i="1" kern="0">
                                        <a:ln>
                                          <a:solidFill>
                                            <a:schemeClr val="tx1">
                                              <a:alpha val="5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altLang="ko-KR" sz="1300" i="1" kern="0">
                                            <a:ln>
                                              <a:solidFill>
                                                <a:schemeClr val="tx1">
                                                  <a:alpha val="5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300" i="1" kern="0">
                                            <a:ln>
                                              <a:solidFill>
                                                <a:schemeClr val="tx1">
                                                  <a:alpha val="5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𝑃</m:t>
                                        </m:r>
                                      </m:e>
                                      <m:sub>
                                        <m:r>
                                          <a:rPr lang="en-US" altLang="ko-KR" sz="1300" b="0" i="1" kern="0" smtClean="0">
                                            <a:ln>
                                              <a:solidFill>
                                                <a:schemeClr val="tx1">
                                                  <a:alpha val="5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𝑣𝑒h</m:t>
                                        </m:r>
                                        <m:r>
                                          <a:rPr lang="en-US" altLang="ko-KR" sz="1300" b="0" i="1" kern="0" smtClean="0">
                                            <a:ln>
                                              <a:solidFill>
                                                <a:schemeClr val="tx1">
                                                  <a:alpha val="5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,</m:t>
                                        </m:r>
                                        <m:r>
                                          <a:rPr lang="en-US" altLang="ko-KR" sz="1300" b="0" i="1" kern="0" smtClean="0">
                                            <a:ln>
                                              <a:solidFill>
                                                <a:schemeClr val="tx1">
                                                  <a:alpha val="5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endParaRPr lang="en-US" altLang="ko-KR" sz="130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90000"/>
                  <a:defRPr/>
                </a:pP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 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최소거리 </a:t>
                </a:r>
                <a14:m>
                  <m:oMath xmlns:m="http://schemas.openxmlformats.org/officeDocument/2006/math"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𝑀𝐼𝑁</m:t>
                    </m:r>
                    <m:d>
                      <m:dPr>
                        <m:ctrlP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𝑒𝑔</m:t>
                            </m:r>
                            <m:sSub>
                              <m:sSubPr>
                                <m:ctrlPr>
                                  <a:rPr lang="en-US" altLang="ko-KR" sz="1300" b="0" i="1" kern="0" smtClea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300" b="0" i="1" kern="0" smtClea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𝑜</m:t>
                                </m:r>
                              </m:e>
                              <m:sub>
                                <m:r>
                                  <a:rPr lang="en-US" altLang="ko-KR" sz="1300" b="0" i="1" kern="0" smtClea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𝑣𝑒h</m:t>
                                </m:r>
                              </m:sub>
                            </m:sSub>
                          </m:sub>
                        </m:sSub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𝑛</m:t>
                        </m:r>
                      </m:e>
                    </m:d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&lt;40</m:t>
                    </m:r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𝑚</m:t>
                    </m:r>
                  </m:oMath>
                </a14:m>
                <a:endParaRPr lang="en-US" altLang="ko-KR" sz="130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90000"/>
                  <a:defRPr/>
                </a:pPr>
                <a:endParaRPr lang="en-US" altLang="ko-KR" sz="130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1" name="직사각형 30">
                <a:extLst>
                  <a:ext uri="{FF2B5EF4-FFF2-40B4-BE49-F238E27FC236}">
                    <a16:creationId xmlns:a16="http://schemas.microsoft.com/office/drawing/2014/main" id="{2CEBEBF8-6070-45D8-B3AC-DDB62B64F2E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762414"/>
                <a:ext cx="9144000" cy="252787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직사각형 32">
                <a:extLst>
                  <a:ext uri="{FF2B5EF4-FFF2-40B4-BE49-F238E27FC236}">
                    <a16:creationId xmlns:a16="http://schemas.microsoft.com/office/drawing/2014/main" id="{68534C1A-4A13-4F08-94B8-32998456D068}"/>
                  </a:ext>
                </a:extLst>
              </p:cNvPr>
              <p:cNvSpPr/>
              <p:nvPr/>
            </p:nvSpPr>
            <p:spPr>
              <a:xfrm>
                <a:off x="381000" y="3335266"/>
                <a:ext cx="9144000" cy="8826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120000"/>
                  <a:buFont typeface="+mj-ea"/>
                  <a:buAutoNum type="circleNumDbPlain" startAt="5"/>
                  <a:defRPr/>
                </a:pPr>
                <a:r>
                  <a:rPr lang="en-US" altLang="ko-KR" sz="1300" b="1" kern="0" dirty="0">
                    <a:ln>
                      <a:solidFill>
                        <a:schemeClr val="tx1">
                          <a:alpha val="30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Confidence value(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300" b="1" i="1" kern="0" smtClean="0">
                            <a:ln>
                              <a:solidFill>
                                <a:schemeClr val="tx1"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300" b="1" i="1" kern="0" smtClean="0">
                            <a:ln>
                              <a:solidFill>
                                <a:schemeClr val="tx1"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𝑪</m:t>
                        </m:r>
                      </m:e>
                      <m:sub>
                        <m:r>
                          <a:rPr lang="en-US" altLang="ko-KR" sz="1300" b="1" i="1" kern="0" smtClean="0">
                            <a:ln>
                              <a:solidFill>
                                <a:schemeClr val="tx1"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𝟔</m:t>
                        </m:r>
                      </m:sub>
                    </m:sSub>
                    <m:r>
                      <a:rPr lang="en-US" altLang="ko-KR" sz="1300" b="1" i="1" kern="0" smtClean="0">
                        <a:ln>
                          <a:solidFill>
                            <a:schemeClr val="tx1"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ko-KR" altLang="en-US" sz="1300" b="1" kern="0" dirty="0">
                    <a:ln>
                      <a:solidFill>
                        <a:schemeClr val="tx1">
                          <a:alpha val="30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출력</a:t>
                </a:r>
                <a:endParaRPr lang="en-US" altLang="ko-KR" sz="130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90000"/>
                  <a:defRPr/>
                </a:pP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300" b="0" i="0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C</m:t>
                        </m:r>
                      </m:e>
                      <m:sub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6</m:t>
                        </m:r>
                      </m:sub>
                    </m:sSub>
                    <m:r>
                      <a:rPr lang="en-US" altLang="ko-KR" sz="1300" b="0" i="0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f>
                      <m:fPr>
                        <m:ctrlPr>
                          <a:rPr lang="en-US" altLang="ko-KR" sz="130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40</m:t>
                        </m:r>
                      </m:num>
                      <m:den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𝑀𝐼𝑁</m:t>
                        </m:r>
                        <m:d>
                          <m:dPr>
                            <m:ctrlP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a:rPr lang="en-US" altLang="ko-KR" sz="1300" i="1" kern="0">
                                    <a:ln>
                                      <a:solidFill>
                                        <a:schemeClr val="tx1">
                                          <a:alpha val="5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𝑒𝑔</m:t>
                                </m:r>
                                <m:sSub>
                                  <m:sSubPr>
                                    <m:ctrlPr>
                                      <a:rPr lang="en-US" altLang="ko-KR" sz="1300" i="1" kern="0">
                                        <a:ln>
                                          <a:solidFill>
                                            <a:schemeClr val="tx1">
                                              <a:alpha val="5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300" i="1" kern="0">
                                        <a:ln>
                                          <a:solidFill>
                                            <a:schemeClr val="tx1">
                                              <a:alpha val="5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𝑜</m:t>
                                    </m:r>
                                  </m:e>
                                  <m:sub>
                                    <m:r>
                                      <a:rPr lang="en-US" altLang="ko-KR" sz="1300" b="0" i="1" kern="0" smtClean="0">
                                        <a:ln>
                                          <a:solidFill>
                                            <a:schemeClr val="tx1">
                                              <a:alpha val="5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𝑣𝑒h</m:t>
                                    </m:r>
                                  </m:sub>
                                </m:sSub>
                              </m:sub>
                            </m:sSub>
                            <m: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,</m:t>
                            </m:r>
                            <m: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𝑛</m:t>
                            </m:r>
                          </m:e>
                        </m:d>
                      </m:den>
                    </m:f>
                  </m:oMath>
                </a14:m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*0.7</a:t>
                </a:r>
              </a:p>
            </p:txBody>
          </p:sp>
        </mc:Choice>
        <mc:Fallback xmlns="">
          <p:sp>
            <p:nvSpPr>
              <p:cNvPr id="33" name="직사각형 32">
                <a:extLst>
                  <a:ext uri="{FF2B5EF4-FFF2-40B4-BE49-F238E27FC236}">
                    <a16:creationId xmlns:a16="http://schemas.microsoft.com/office/drawing/2014/main" id="{68534C1A-4A13-4F08-94B8-32998456D06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3335266"/>
                <a:ext cx="9144000" cy="88267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직사각형 27">
            <a:extLst>
              <a:ext uri="{FF2B5EF4-FFF2-40B4-BE49-F238E27FC236}">
                <a16:creationId xmlns:a16="http://schemas.microsoft.com/office/drawing/2014/main" id="{9AE09BDE-6F39-4BFA-A670-A5BA05622DE3}"/>
              </a:ext>
            </a:extLst>
          </p:cNvPr>
          <p:cNvSpPr/>
          <p:nvPr/>
        </p:nvSpPr>
        <p:spPr>
          <a:xfrm>
            <a:off x="6536413" y="1005306"/>
            <a:ext cx="2762795" cy="234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동적</a:t>
            </a:r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객체 데이터 입력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E64FF5E7-A045-4F01-BAB4-91A1EE1E1B08}"/>
              </a:ext>
            </a:extLst>
          </p:cNvPr>
          <p:cNvSpPr/>
          <p:nvPr/>
        </p:nvSpPr>
        <p:spPr>
          <a:xfrm>
            <a:off x="6931524" y="2681068"/>
            <a:ext cx="1980000" cy="234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신규 객체 생성 빈도 측정</a:t>
            </a:r>
          </a:p>
        </p:txBody>
      </p: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9404775F-B4FE-40B7-BF4A-F9611B5090A7}"/>
              </a:ext>
            </a:extLst>
          </p:cNvPr>
          <p:cNvCxnSpPr>
            <a:cxnSpLocks/>
          </p:cNvCxnSpPr>
          <p:nvPr/>
        </p:nvCxnSpPr>
        <p:spPr>
          <a:xfrm>
            <a:off x="7917803" y="1259393"/>
            <a:ext cx="0" cy="27232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왼쪽 중괄호 36">
            <a:extLst>
              <a:ext uri="{FF2B5EF4-FFF2-40B4-BE49-F238E27FC236}">
                <a16:creationId xmlns:a16="http://schemas.microsoft.com/office/drawing/2014/main" id="{AE49B760-3B56-4754-B5BE-2478E8ADE80C}"/>
              </a:ext>
            </a:extLst>
          </p:cNvPr>
          <p:cNvSpPr/>
          <p:nvPr/>
        </p:nvSpPr>
        <p:spPr>
          <a:xfrm>
            <a:off x="6441358" y="2775380"/>
            <a:ext cx="128117" cy="608205"/>
          </a:xfrm>
          <a:prstGeom prst="leftBrace">
            <a:avLst>
              <a:gd name="adj1" fmla="val 250081"/>
              <a:gd name="adj2" fmla="val 50928"/>
            </a:avLst>
          </a:prstGeom>
          <a:ln w="190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01B07988-46CA-4331-A976-9EA642325ED7}"/>
              </a:ext>
            </a:extLst>
          </p:cNvPr>
          <p:cNvSpPr/>
          <p:nvPr/>
        </p:nvSpPr>
        <p:spPr>
          <a:xfrm>
            <a:off x="6253417" y="1531714"/>
            <a:ext cx="252000" cy="252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rPr>
              <a:t>1</a:t>
            </a:r>
            <a:endParaRPr lang="ko-KR" altLang="en-US" sz="9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Arial" panose="020B0604020202020204" pitchFamily="34" charset="0"/>
              <a:ea typeface="KoPub돋움체 Bold" panose="02020603020101020101" pitchFamily="18" charset="-127"/>
              <a:cs typeface="Arial" panose="020B0604020202020204" pitchFamily="34" charset="0"/>
            </a:endParaRPr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7F085D24-85AB-4F16-BFBD-9CE57E11A9C4}"/>
              </a:ext>
            </a:extLst>
          </p:cNvPr>
          <p:cNvSpPr/>
          <p:nvPr/>
        </p:nvSpPr>
        <p:spPr>
          <a:xfrm>
            <a:off x="6295986" y="2094657"/>
            <a:ext cx="252000" cy="252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rPr>
              <a:t>2</a:t>
            </a:r>
            <a:endParaRPr lang="ko-KR" altLang="en-US" sz="9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Arial" panose="020B0604020202020204" pitchFamily="34" charset="0"/>
              <a:ea typeface="KoPub돋움체 Bold" panose="02020603020101020101" pitchFamily="18" charset="-127"/>
              <a:cs typeface="Arial" panose="020B0604020202020204" pitchFamily="34" charset="0"/>
            </a:endParaRPr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7F2DD257-7E96-429D-890C-82C7EBE79CD0}"/>
              </a:ext>
            </a:extLst>
          </p:cNvPr>
          <p:cNvSpPr/>
          <p:nvPr/>
        </p:nvSpPr>
        <p:spPr>
          <a:xfrm>
            <a:off x="6277713" y="3972573"/>
            <a:ext cx="252000" cy="252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rPr>
              <a:t>4</a:t>
            </a:r>
            <a:endParaRPr lang="ko-KR" altLang="en-US" sz="9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Arial" panose="020B0604020202020204" pitchFamily="34" charset="0"/>
              <a:ea typeface="KoPub돋움체 Bold" panose="02020603020101020101" pitchFamily="18" charset="-127"/>
              <a:cs typeface="Arial" panose="020B0604020202020204" pitchFamily="34" charset="0"/>
            </a:endParaRPr>
          </a:p>
        </p:txBody>
      </p:sp>
      <p:sp>
        <p:nvSpPr>
          <p:cNvPr id="42" name="순서도: 판단 41">
            <a:extLst>
              <a:ext uri="{FF2B5EF4-FFF2-40B4-BE49-F238E27FC236}">
                <a16:creationId xmlns:a16="http://schemas.microsoft.com/office/drawing/2014/main" id="{07BC925A-8F97-4B81-8A4D-5989832798C8}"/>
              </a:ext>
            </a:extLst>
          </p:cNvPr>
          <p:cNvSpPr/>
          <p:nvPr/>
        </p:nvSpPr>
        <p:spPr>
          <a:xfrm>
            <a:off x="6536412" y="1990997"/>
            <a:ext cx="2762782" cy="468000"/>
          </a:xfrm>
          <a:prstGeom prst="flowChartDecision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주행 경로 반경 </a:t>
            </a:r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15m </a:t>
            </a:r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이내</a:t>
            </a:r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?</a:t>
            </a:r>
            <a:endParaRPr lang="ko-KR" altLang="en-US" sz="105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E7E1B778-1F27-4E44-9123-A6030F761C83}"/>
              </a:ext>
            </a:extLst>
          </p:cNvPr>
          <p:cNvSpPr/>
          <p:nvPr/>
        </p:nvSpPr>
        <p:spPr>
          <a:xfrm>
            <a:off x="7309032" y="4530348"/>
            <a:ext cx="1217541" cy="234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통행 과다 환경 지정</a:t>
            </a:r>
          </a:p>
        </p:txBody>
      </p: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FC609015-5E5E-40DD-B7D9-5FE06BFD49EA}"/>
              </a:ext>
            </a:extLst>
          </p:cNvPr>
          <p:cNvCxnSpPr>
            <a:cxnSpLocks/>
            <a:stCxn id="42" idx="2"/>
          </p:cNvCxnSpPr>
          <p:nvPr/>
        </p:nvCxnSpPr>
        <p:spPr>
          <a:xfrm>
            <a:off x="7917803" y="2458997"/>
            <a:ext cx="0" cy="22028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E1FB5261-A13C-46FB-B9F1-CE4F3A51210D}"/>
              </a:ext>
            </a:extLst>
          </p:cNvPr>
          <p:cNvSpPr/>
          <p:nvPr/>
        </p:nvSpPr>
        <p:spPr>
          <a:xfrm>
            <a:off x="6932293" y="4989219"/>
            <a:ext cx="1980000" cy="234000"/>
          </a:xfrm>
          <a:prstGeom prst="rect">
            <a:avLst/>
          </a:prstGeom>
          <a:solidFill>
            <a:schemeClr val="bg1"/>
          </a:solidFill>
          <a:ln w="19050">
            <a:solidFill>
              <a:srgbClr val="007A00"/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Confidence</a:t>
            </a:r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value </a:t>
            </a:r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출력</a:t>
            </a:r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17BF0B48-82C6-4B71-A60B-46804789AA3E}"/>
              </a:ext>
            </a:extLst>
          </p:cNvPr>
          <p:cNvSpPr/>
          <p:nvPr/>
        </p:nvSpPr>
        <p:spPr>
          <a:xfrm>
            <a:off x="6169986" y="2952227"/>
            <a:ext cx="252000" cy="252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rPr>
              <a:t>3</a:t>
            </a:r>
            <a:endParaRPr lang="ko-KR" altLang="en-US" sz="9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Arial" panose="020B0604020202020204" pitchFamily="34" charset="0"/>
              <a:ea typeface="KoPub돋움체 Bold" panose="02020603020101020101" pitchFamily="18" charset="-127"/>
              <a:cs typeface="Arial" panose="020B0604020202020204" pitchFamily="34" charset="0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4B055D2F-5354-44D7-BCAC-F12FBEC69491}"/>
              </a:ext>
            </a:extLst>
          </p:cNvPr>
          <p:cNvSpPr/>
          <p:nvPr/>
        </p:nvSpPr>
        <p:spPr>
          <a:xfrm>
            <a:off x="6536412" y="1531714"/>
            <a:ext cx="2762783" cy="234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50m </a:t>
            </a:r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거리 이내 동적객체 추출</a:t>
            </a:r>
          </a:p>
        </p:txBody>
      </p: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B7C8CDA1-3D7A-4D1F-8638-95377BA9A5CF}"/>
              </a:ext>
            </a:extLst>
          </p:cNvPr>
          <p:cNvCxnSpPr>
            <a:cxnSpLocks/>
            <a:stCxn id="49" idx="2"/>
            <a:endCxn id="42" idx="0"/>
          </p:cNvCxnSpPr>
          <p:nvPr/>
        </p:nvCxnSpPr>
        <p:spPr>
          <a:xfrm flipH="1">
            <a:off x="7917803" y="1765714"/>
            <a:ext cx="1" cy="22528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순서도: 판단 55">
            <a:extLst>
              <a:ext uri="{FF2B5EF4-FFF2-40B4-BE49-F238E27FC236}">
                <a16:creationId xmlns:a16="http://schemas.microsoft.com/office/drawing/2014/main" id="{6CE2C3DC-B6BC-4D9B-8D6C-C74FEB1A2BB1}"/>
              </a:ext>
            </a:extLst>
          </p:cNvPr>
          <p:cNvSpPr/>
          <p:nvPr/>
        </p:nvSpPr>
        <p:spPr>
          <a:xfrm>
            <a:off x="6536412" y="3156111"/>
            <a:ext cx="2762782" cy="468000"/>
          </a:xfrm>
          <a:prstGeom prst="flowChartDecision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객체 출현 시간 </a:t>
            </a:r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&lt; 10s ?</a:t>
            </a:r>
            <a:endParaRPr lang="ko-KR" altLang="en-US" sz="105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6BBDAC61-B837-4882-B548-30B7DF8A3C77}"/>
              </a:ext>
            </a:extLst>
          </p:cNvPr>
          <p:cNvCxnSpPr>
            <a:cxnSpLocks/>
          </p:cNvCxnSpPr>
          <p:nvPr/>
        </p:nvCxnSpPr>
        <p:spPr>
          <a:xfrm>
            <a:off x="7917803" y="2935829"/>
            <a:ext cx="0" cy="22028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순서도: 판단 57">
            <a:extLst>
              <a:ext uri="{FF2B5EF4-FFF2-40B4-BE49-F238E27FC236}">
                <a16:creationId xmlns:a16="http://schemas.microsoft.com/office/drawing/2014/main" id="{B5A350C6-554F-4DEB-8DDA-33C0D619F7D0}"/>
              </a:ext>
            </a:extLst>
          </p:cNvPr>
          <p:cNvSpPr/>
          <p:nvPr/>
        </p:nvSpPr>
        <p:spPr>
          <a:xfrm>
            <a:off x="6536412" y="3864573"/>
            <a:ext cx="2762782" cy="468000"/>
          </a:xfrm>
          <a:prstGeom prst="flowChartDecision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객체간 최대 거리 </a:t>
            </a:r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&lt; 30m?</a:t>
            </a:r>
            <a:endParaRPr lang="ko-KR" altLang="en-US" sz="105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834C38DB-8892-46A8-8F1A-E29C6B65AED3}"/>
              </a:ext>
            </a:extLst>
          </p:cNvPr>
          <p:cNvCxnSpPr>
            <a:cxnSpLocks/>
          </p:cNvCxnSpPr>
          <p:nvPr/>
        </p:nvCxnSpPr>
        <p:spPr>
          <a:xfrm>
            <a:off x="7917803" y="3624111"/>
            <a:ext cx="0" cy="22028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A2C1077D-704C-4332-816A-4200839C2E89}"/>
              </a:ext>
            </a:extLst>
          </p:cNvPr>
          <p:cNvCxnSpPr>
            <a:cxnSpLocks/>
          </p:cNvCxnSpPr>
          <p:nvPr/>
        </p:nvCxnSpPr>
        <p:spPr>
          <a:xfrm>
            <a:off x="7917803" y="4332573"/>
            <a:ext cx="0" cy="22028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76B8E620-A4F5-456D-A03C-E92BE1E1AA1A}"/>
              </a:ext>
            </a:extLst>
          </p:cNvPr>
          <p:cNvCxnSpPr>
            <a:cxnSpLocks/>
          </p:cNvCxnSpPr>
          <p:nvPr/>
        </p:nvCxnSpPr>
        <p:spPr>
          <a:xfrm>
            <a:off x="7917803" y="4768937"/>
            <a:ext cx="0" cy="22028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왼쪽 중괄호 61">
            <a:extLst>
              <a:ext uri="{FF2B5EF4-FFF2-40B4-BE49-F238E27FC236}">
                <a16:creationId xmlns:a16="http://schemas.microsoft.com/office/drawing/2014/main" id="{309E1767-4FC0-4000-9F9B-EC30001DD3D4}"/>
              </a:ext>
            </a:extLst>
          </p:cNvPr>
          <p:cNvSpPr/>
          <p:nvPr/>
        </p:nvSpPr>
        <p:spPr>
          <a:xfrm>
            <a:off x="6529713" y="4563705"/>
            <a:ext cx="128117" cy="608205"/>
          </a:xfrm>
          <a:prstGeom prst="leftBrace">
            <a:avLst>
              <a:gd name="adj1" fmla="val 250081"/>
              <a:gd name="adj2" fmla="val 50928"/>
            </a:avLst>
          </a:prstGeom>
          <a:ln w="190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타원 62">
            <a:extLst>
              <a:ext uri="{FF2B5EF4-FFF2-40B4-BE49-F238E27FC236}">
                <a16:creationId xmlns:a16="http://schemas.microsoft.com/office/drawing/2014/main" id="{6D3098E8-ACB4-420D-890C-F029DADA6ACA}"/>
              </a:ext>
            </a:extLst>
          </p:cNvPr>
          <p:cNvSpPr/>
          <p:nvPr/>
        </p:nvSpPr>
        <p:spPr>
          <a:xfrm>
            <a:off x="6277713" y="4704143"/>
            <a:ext cx="252000" cy="252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rPr>
              <a:t>5</a:t>
            </a:r>
            <a:endParaRPr lang="ko-KR" altLang="en-US" sz="9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Arial" panose="020B0604020202020204" pitchFamily="34" charset="0"/>
              <a:ea typeface="KoPub돋움체 Bold" panose="02020603020101020101" pitchFamily="18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644402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7. </a:t>
            </a:r>
            <a:r>
              <a:rPr lang="ko-KR" altLang="en-US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미개척 지역 주행 환경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F55F954-5E86-475A-837F-2B8CED6C7DF1}" type="slidenum">
              <a:rPr lang="ko-KR" altLang="en-US" smtClean="0"/>
              <a:pPr/>
              <a:t>66</a:t>
            </a:fld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6EB9BC6-D7CB-4677-BBA3-54AABC15EF84}"/>
              </a:ext>
            </a:extLst>
          </p:cNvPr>
          <p:cNvSpPr/>
          <p:nvPr/>
        </p:nvSpPr>
        <p:spPr>
          <a:xfrm>
            <a:off x="381000" y="880151"/>
            <a:ext cx="9144000" cy="1259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5256" indent="-95256"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buFont typeface="Wingdings" panose="05000000000000000000" pitchFamily="2" charset="2"/>
              <a:buChar char="§"/>
              <a:defRPr/>
            </a:pPr>
            <a:r>
              <a:rPr lang="ko-KR" altLang="en-US" sz="1300" b="1" kern="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개요</a:t>
            </a:r>
            <a:endParaRPr lang="en-US" altLang="ko-KR" sz="1300" b="1" kern="0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동적 지도가 생성되지 않은 영역으로의 주행 환경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지도가 생성되지 않은 지역은 장애물 위치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등 파악이 불가능하여 특장차 </a:t>
            </a:r>
            <a:r>
              <a:rPr lang="ko-KR" altLang="en-US" sz="1300" kern="0" dirty="0" err="1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주행시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빈번한 정차 및 위험 상황 발생 가능성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작업 보조차량을 이용한 사전 탐사로 지도 확보를 통한 위험 환경 극복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F6D8215-33CD-4738-89E9-A326B0961459}"/>
              </a:ext>
            </a:extLst>
          </p:cNvPr>
          <p:cNvSpPr/>
          <p:nvPr/>
        </p:nvSpPr>
        <p:spPr>
          <a:xfrm>
            <a:off x="381000" y="2292216"/>
            <a:ext cx="9144000" cy="1258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5256" indent="-95256"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buFont typeface="Wingdings" panose="05000000000000000000" pitchFamily="2" charset="2"/>
              <a:buChar char="§"/>
              <a:defRPr/>
            </a:pPr>
            <a:r>
              <a:rPr lang="ko-KR" altLang="en-US" sz="1300" b="1" kern="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알고리즘</a:t>
            </a:r>
            <a:endParaRPr lang="en-US" altLang="ko-KR" sz="1300" b="1" kern="0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특장차 목적지 </a:t>
            </a:r>
            <a:r>
              <a:rPr lang="ko-KR" altLang="en-US" sz="1300" kern="0" dirty="0" err="1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입력시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해당 경로에 대한 지도 생성 여부 판단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(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노면 데이터 유무를 통한 판단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)</a:t>
            </a: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지도가 </a:t>
            </a:r>
            <a:r>
              <a:rPr lang="ko-KR" altLang="en-US" sz="1300" kern="0" dirty="0" err="1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없을경우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,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특장차 정지 및 작업 보조 차량의 </a:t>
            </a:r>
            <a:r>
              <a:rPr lang="ko-KR" altLang="en-US" sz="1300" kern="0" dirty="0" err="1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선진입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(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작업 보조차량의 자율주행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)</a:t>
            </a: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  -&gt;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동적 지도 생성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329477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7. </a:t>
            </a:r>
            <a:r>
              <a:rPr lang="ko-KR" altLang="en-US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미개척 지역 주행 환경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F55F954-5E86-475A-837F-2B8CED6C7DF1}" type="slidenum">
              <a:rPr lang="ko-KR" altLang="en-US" smtClean="0"/>
              <a:pPr/>
              <a:t>67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직사각형 14">
                <a:extLst>
                  <a:ext uri="{FF2B5EF4-FFF2-40B4-BE49-F238E27FC236}">
                    <a16:creationId xmlns:a16="http://schemas.microsoft.com/office/drawing/2014/main" id="{C615A857-C362-419F-B4CE-CA23FF9AD103}"/>
                  </a:ext>
                </a:extLst>
              </p:cNvPr>
              <p:cNvSpPr/>
              <p:nvPr/>
            </p:nvSpPr>
            <p:spPr>
              <a:xfrm>
                <a:off x="270239" y="1101560"/>
                <a:ext cx="5112507" cy="187121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1200" b="1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</a:rPr>
                  <a:t>미개척 지역</a:t>
                </a:r>
                <a:endParaRPr lang="en-US" altLang="ko-KR" sz="12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20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</a:rPr>
                  <a:t>전역 경로생성시 </a:t>
                </a:r>
                <a:r>
                  <a:rPr lang="ko-KR" altLang="en-US" sz="1200" b="1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</a:rPr>
                  <a:t>전역경로 중심선 기준 반경 </a:t>
                </a:r>
                <a:r>
                  <a:rPr lang="en-US" altLang="ko-KR" sz="1200" b="1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</a:rPr>
                  <a:t>4 m </a:t>
                </a:r>
                <a:r>
                  <a:rPr lang="ko-KR" altLang="en-US" sz="1200" b="1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</a:rPr>
                  <a:t>이내</a:t>
                </a:r>
                <a:r>
                  <a:rPr lang="en-US" altLang="ko-KR" sz="1200" b="1" baseline="3000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</a:rPr>
                  <a:t>*</a:t>
                </a:r>
                <a:r>
                  <a:rPr lang="ko-KR" altLang="en-US" sz="1200" b="1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</a:rPr>
                  <a:t> </a:t>
                </a:r>
                <a:r>
                  <a:rPr lang="ko-KR" altLang="en-US" sz="120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</a:rPr>
                  <a:t>영역에 대한 노면데이터 확인</a:t>
                </a:r>
                <a:endParaRPr lang="en-US" altLang="ko-KR" sz="120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</a:endParaRPr>
              </a:p>
              <a:p>
                <a:r>
                  <a:rPr lang="en-US" altLang="ko-KR" sz="120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</a:rPr>
                  <a:t>*</a:t>
                </a:r>
                <a:r>
                  <a:rPr lang="ko-KR" altLang="en-US" sz="120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</a:rPr>
                  <a:t>해당 반경은 특장차의 전폭 </a:t>
                </a:r>
                <a:r>
                  <a:rPr lang="en-US" altLang="ko-KR" sz="120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</a:rPr>
                  <a:t>5 m</a:t>
                </a:r>
                <a:r>
                  <a:rPr lang="ko-KR" altLang="en-US" sz="120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</a:rPr>
                  <a:t>를 고려하여 전폭의 절반</a:t>
                </a:r>
                <a:r>
                  <a:rPr lang="en-US" altLang="ko-KR" sz="120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</a:rPr>
                  <a:t>(2.5 m)</a:t>
                </a:r>
                <a:r>
                  <a:rPr lang="ko-KR" altLang="en-US" sz="120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</a:rPr>
                  <a:t>에 주행 안전거리 </a:t>
                </a:r>
                <a:r>
                  <a:rPr lang="en-US" altLang="ko-KR" sz="120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</a:rPr>
                  <a:t>1.5 m</a:t>
                </a:r>
                <a:r>
                  <a:rPr lang="ko-KR" altLang="en-US" sz="120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</a:rPr>
                  <a:t>를 추가하여 산정</a:t>
                </a:r>
                <a:r>
                  <a:rPr lang="en-US" altLang="ko-KR" sz="120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</a:rPr>
                  <a:t>.</a:t>
                </a:r>
                <a:r>
                  <a:rPr lang="en-US" altLang="ko-KR" sz="120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 </a:t>
                </a:r>
                <a:r>
                  <a:rPr lang="en-US" altLang="ko-KR" sz="1200" b="1" baseline="3000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</a:rPr>
                  <a:t> </a:t>
                </a:r>
                <a:r>
                  <a:rPr lang="ko-KR" altLang="en-US" sz="120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</a:rPr>
                  <a:t>전</a:t>
                </a:r>
                <a14:m>
                  <m:oMath xmlns:m="http://schemas.openxmlformats.org/officeDocument/2006/math">
                    <m:r>
                      <a:rPr lang="ko-KR" altLang="en-US" sz="1200" i="1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역경로</m:t>
                    </m:r>
                    <m:r>
                      <a:rPr lang="en-US" altLang="ko-KR" sz="12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sz="12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반경거리</m:t>
                    </m:r>
                    <m:r>
                      <a:rPr lang="en-US" altLang="ko-KR" sz="12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f>
                      <m:fPr>
                        <m:ctrlPr>
                          <a:rPr lang="en-US" altLang="ko-KR" sz="1200" i="1" dirty="0">
                            <a:ln>
                              <a:solidFill>
                                <a:schemeClr val="tx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ko-KR" altLang="en-US" sz="1200" dirty="0">
                            <a:ln>
                              <a:solidFill>
                                <a:schemeClr val="tx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전폭</m:t>
                        </m:r>
                      </m:num>
                      <m:den>
                        <m:r>
                          <a:rPr lang="en-US" altLang="ko-KR" sz="1200" dirty="0">
                            <a:ln>
                              <a:solidFill>
                                <a:schemeClr val="tx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ko-KR" sz="12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 </m:t>
                    </m:r>
                    <m:r>
                      <a:rPr lang="ko-KR" altLang="en-US" sz="12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안전거리</m:t>
                    </m:r>
                  </m:oMath>
                </a14:m>
                <a:endParaRPr lang="en-US" altLang="ko-KR" sz="120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endParaRPr lang="en-US" altLang="ko-KR" sz="120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20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</a:rPr>
                  <a:t>목적지 </a:t>
                </a:r>
                <a:r>
                  <a:rPr lang="ko-KR" altLang="en-US" sz="1200" b="1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</a:rPr>
                  <a:t>기준 반경 </a:t>
                </a:r>
                <a:r>
                  <a:rPr lang="en-US" altLang="ko-KR" sz="1200" b="1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</a:rPr>
                  <a:t>20 m </a:t>
                </a:r>
                <a:r>
                  <a:rPr lang="ko-KR" altLang="en-US" sz="1200" b="1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</a:rPr>
                  <a:t>이내</a:t>
                </a:r>
                <a:r>
                  <a:rPr lang="en-US" altLang="ko-KR" sz="1200" b="1" baseline="3000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</a:rPr>
                  <a:t>**</a:t>
                </a:r>
                <a:r>
                  <a:rPr lang="ko-KR" altLang="en-US" sz="1200" b="1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</a:rPr>
                  <a:t> </a:t>
                </a:r>
                <a:r>
                  <a:rPr lang="ko-KR" altLang="en-US" sz="120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</a:rPr>
                  <a:t>영역에 대한 노면데이터 확인</a:t>
                </a:r>
                <a:endParaRPr lang="en-US" altLang="ko-KR" sz="120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</a:endParaRPr>
              </a:p>
              <a:p>
                <a:r>
                  <a:rPr lang="en-US" altLang="ko-KR" sz="120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</a:rPr>
                  <a:t>**</a:t>
                </a:r>
                <a:r>
                  <a:rPr lang="ko-KR" altLang="en-US" sz="120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</a:rPr>
                  <a:t>해당 반경은 특장차의 작업반경 </a:t>
                </a:r>
                <a:r>
                  <a:rPr lang="en-US" altLang="ko-KR" sz="120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</a:rPr>
                  <a:t>19 m</a:t>
                </a:r>
                <a:r>
                  <a:rPr lang="ko-KR" altLang="en-US" sz="120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</a:rPr>
                  <a:t>를 고려하여 산정</a:t>
                </a:r>
                <a:endParaRPr lang="en-US" altLang="ko-KR" sz="120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</a:endParaRPr>
              </a:p>
              <a:p>
                <a:endParaRPr lang="en-US" altLang="ko-KR" sz="120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20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</a:rPr>
                  <a:t>각 전역경로에 포함된 </a:t>
                </a:r>
                <a:r>
                  <a:rPr lang="ko-KR" altLang="en-US" sz="1200" dirty="0" err="1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</a:rPr>
                  <a:t>그리드셀의</a:t>
                </a:r>
                <a:r>
                  <a:rPr lang="ko-KR" altLang="en-US" sz="120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</a:rPr>
                  <a:t> </a:t>
                </a:r>
                <a:r>
                  <a:rPr lang="en-US" altLang="ko-KR" sz="120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</a:rPr>
                  <a:t>70% </a:t>
                </a:r>
                <a:r>
                  <a:rPr lang="ko-KR" altLang="en-US" sz="120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</a:rPr>
                  <a:t>이상이 </a:t>
                </a:r>
                <a:r>
                  <a:rPr lang="ko-KR" altLang="en-US" sz="1200" dirty="0" err="1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</a:rPr>
                  <a:t>미스캔</a:t>
                </a:r>
                <a:r>
                  <a:rPr lang="ko-KR" altLang="en-US" sz="120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</a:rPr>
                  <a:t> 지역일시 미개척지역 위험환경 판단</a:t>
                </a:r>
                <a:endParaRPr lang="en-US" altLang="ko-KR" sz="120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altLang="ko-KR" sz="120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직사각형 14">
                <a:extLst>
                  <a:ext uri="{FF2B5EF4-FFF2-40B4-BE49-F238E27FC236}">
                    <a16:creationId xmlns:a16="http://schemas.microsoft.com/office/drawing/2014/main" id="{C615A857-C362-419F-B4CE-CA23FF9AD10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239" y="1101560"/>
                <a:ext cx="5112507" cy="1871218"/>
              </a:xfrm>
              <a:prstGeom prst="rect">
                <a:avLst/>
              </a:prstGeom>
              <a:blipFill>
                <a:blip r:embed="rId3"/>
                <a:stretch>
                  <a:fillRect t="-11401" b="-228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직사각형 15">
            <a:extLst>
              <a:ext uri="{FF2B5EF4-FFF2-40B4-BE49-F238E27FC236}">
                <a16:creationId xmlns:a16="http://schemas.microsoft.com/office/drawing/2014/main" id="{48CECACE-512C-452F-BF35-432900491765}"/>
              </a:ext>
            </a:extLst>
          </p:cNvPr>
          <p:cNvSpPr/>
          <p:nvPr/>
        </p:nvSpPr>
        <p:spPr>
          <a:xfrm>
            <a:off x="342076" y="3075969"/>
            <a:ext cx="5407964" cy="9067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위험 환경 판단</a:t>
            </a:r>
            <a:endParaRPr lang="en-US" altLang="ko-KR" sz="12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미개척지역으로 판단되는 경우 위험 환경으로 판단</a:t>
            </a:r>
            <a:endParaRPr lang="en-US" altLang="ko-KR" sz="120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작업 보조차량이 </a:t>
            </a:r>
            <a:r>
              <a:rPr lang="ko-KR" altLang="en-US" sz="1200" dirty="0" err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선진입하여</a:t>
            </a:r>
            <a:r>
              <a:rPr lang="ko-KR" altLang="en-US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 노면 데이터를 스캔하면 해당 위험 해소</a:t>
            </a:r>
            <a:endParaRPr lang="en-US" altLang="ko-KR" sz="120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직사각형 83">
                <a:extLst>
                  <a:ext uri="{FF2B5EF4-FFF2-40B4-BE49-F238E27FC236}">
                    <a16:creationId xmlns:a16="http://schemas.microsoft.com/office/drawing/2014/main" id="{59452EE3-B90A-D1F7-4F37-FE6465DEABD8}"/>
                  </a:ext>
                </a:extLst>
              </p:cNvPr>
              <p:cNvSpPr/>
              <p:nvPr/>
            </p:nvSpPr>
            <p:spPr>
              <a:xfrm>
                <a:off x="7493000" y="855680"/>
                <a:ext cx="2138878" cy="1871218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120000"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900" b="0" i="1" kern="0" dirty="0" smtClean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텔</m:t>
                      </m:r>
                      <m:r>
                        <a:rPr lang="ko-KR" altLang="en-US" sz="900" i="1" kern="0" dirty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레</m:t>
                      </m:r>
                      <m:r>
                        <a:rPr lang="ko-KR" altLang="en-US" sz="900" i="1" kern="0" dirty="0" smtClean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스</m:t>
                      </m:r>
                      <m:r>
                        <a:rPr lang="ko-KR" altLang="en-US" sz="900" i="1" kern="0" dirty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코</m:t>
                      </m:r>
                      <m:r>
                        <a:rPr lang="ko-KR" altLang="en-US" sz="900" i="1" kern="0" dirty="0" smtClean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픽</m:t>
                      </m:r>
                      <m:r>
                        <a:rPr lang="en-US" altLang="ko-KR" sz="900" b="0" i="1" kern="0" dirty="0" smtClean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ko-KR" altLang="en-US" sz="900" i="1" kern="0" dirty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핸</m:t>
                      </m:r>
                      <m:r>
                        <a:rPr lang="ko-KR" altLang="en-US" sz="900" i="1" kern="0" dirty="0" smtClean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들</m:t>
                      </m:r>
                      <m:r>
                        <a:rPr lang="ko-KR" altLang="en-US" sz="900" i="1" kern="0" dirty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러</m:t>
                      </m:r>
                      <m:r>
                        <a:rPr lang="en-US" altLang="ko-KR" sz="900" b="0" i="1" kern="0" dirty="0" smtClean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ko-KR" altLang="en-US" sz="900" i="1" kern="0" dirty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주</m:t>
                      </m:r>
                      <m:r>
                        <a:rPr lang="ko-KR" altLang="en-US" sz="900" i="1" kern="0" dirty="0" smtClean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요</m:t>
                      </m:r>
                      <m:r>
                        <a:rPr lang="en-US" altLang="ko-KR" sz="900" b="0" i="1" kern="0" dirty="0" smtClean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ko-KR" altLang="en-US" sz="900" i="1" kern="0" dirty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제</m:t>
                      </m:r>
                      <m:r>
                        <a:rPr lang="ko-KR" altLang="en-US" sz="900" i="1" kern="0" dirty="0" smtClean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원</m:t>
                      </m:r>
                    </m:oMath>
                  </m:oMathPara>
                </a14:m>
                <a:endParaRPr lang="en-US" altLang="ko-KR" sz="900" i="1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rgbClr val="C00000"/>
                  </a:solidFill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120000"/>
                  <a:defRPr/>
                </a:pPr>
                <a:endParaRPr lang="en-US" altLang="ko-KR" sz="900" i="1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rgbClr val="C00000"/>
                  </a:solidFill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marL="171450" indent="-171450"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120000"/>
                  <a:buFont typeface="Arial" panose="020B0604020202020204" pitchFamily="34" charset="0"/>
                  <a:buChar char="•"/>
                  <a:defRPr/>
                </a:pPr>
                <a:r>
                  <a:rPr lang="ko-KR" altLang="en-US" sz="9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solidFill>
                      <a:srgbClr val="C00000"/>
                    </a:solidFill>
                    <a:latin typeface="Cambria Math" panose="02040503050406030204" pitchFamily="18" charset="0"/>
                    <a:cs typeface="Arial" panose="020B0604020202020204" pitchFamily="34" charset="0"/>
                  </a:rPr>
                  <a:t>작업높이</a:t>
                </a:r>
                <a:r>
                  <a:rPr lang="en-US" altLang="ko-KR" sz="9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solidFill>
                      <a:srgbClr val="C00000"/>
                    </a:solidFill>
                    <a:latin typeface="Cambria Math" panose="02040503050406030204" pitchFamily="18" charset="0"/>
                    <a:cs typeface="Arial" panose="020B0604020202020204" pitchFamily="34" charset="0"/>
                  </a:rPr>
                  <a:t>: 23m</a:t>
                </a:r>
              </a:p>
              <a:p>
                <a:pPr marL="171450" indent="-171450"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120000"/>
                  <a:buFont typeface="Arial" panose="020B0604020202020204" pitchFamily="34" charset="0"/>
                  <a:buChar char="•"/>
                  <a:defRPr/>
                </a:pPr>
                <a:r>
                  <a:rPr lang="ko-KR" altLang="en-US" sz="9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solidFill>
                      <a:srgbClr val="C00000"/>
                    </a:solidFill>
                    <a:latin typeface="Cambria Math" panose="02040503050406030204" pitchFamily="18" charset="0"/>
                    <a:cs typeface="Arial" panose="020B0604020202020204" pitchFamily="34" charset="0"/>
                  </a:rPr>
                  <a:t>작업하중</a:t>
                </a:r>
                <a:r>
                  <a:rPr lang="en-US" altLang="ko-KR" sz="9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solidFill>
                      <a:srgbClr val="C00000"/>
                    </a:solidFill>
                    <a:latin typeface="Cambria Math" panose="02040503050406030204" pitchFamily="18" charset="0"/>
                    <a:cs typeface="Arial" panose="020B0604020202020204" pitchFamily="34" charset="0"/>
                  </a:rPr>
                  <a:t>: 4ton</a:t>
                </a:r>
              </a:p>
              <a:p>
                <a:pPr marL="171450" indent="-171450"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120000"/>
                  <a:buFont typeface="Arial" panose="020B0604020202020204" pitchFamily="34" charset="0"/>
                  <a:buChar char="•"/>
                  <a:defRPr/>
                </a:pPr>
                <a:r>
                  <a:rPr lang="ko-KR" altLang="en-US" sz="9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solidFill>
                      <a:srgbClr val="C00000"/>
                    </a:solidFill>
                    <a:latin typeface="Cambria Math" panose="02040503050406030204" pitchFamily="18" charset="0"/>
                    <a:cs typeface="Arial" panose="020B0604020202020204" pitchFamily="34" charset="0"/>
                  </a:rPr>
                  <a:t>작업반경</a:t>
                </a:r>
                <a:r>
                  <a:rPr lang="en-US" altLang="ko-KR" sz="9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solidFill>
                      <a:srgbClr val="C00000"/>
                    </a:solidFill>
                    <a:latin typeface="Cambria Math" panose="02040503050406030204" pitchFamily="18" charset="0"/>
                    <a:cs typeface="Arial" panose="020B0604020202020204" pitchFamily="34" charset="0"/>
                  </a:rPr>
                  <a:t>: 19m</a:t>
                </a:r>
              </a:p>
              <a:p>
                <a:pPr marL="171450" indent="-171450"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120000"/>
                  <a:buFont typeface="Arial" panose="020B0604020202020204" pitchFamily="34" charset="0"/>
                  <a:buChar char="•"/>
                  <a:defRPr/>
                </a:pPr>
                <a:r>
                  <a:rPr lang="ko-KR" altLang="en-US" sz="9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solidFill>
                      <a:srgbClr val="C00000"/>
                    </a:solidFill>
                    <a:latin typeface="Cambria Math" panose="02040503050406030204" pitchFamily="18" charset="0"/>
                    <a:cs typeface="Arial" panose="020B0604020202020204" pitchFamily="34" charset="0"/>
                  </a:rPr>
                  <a:t>전장</a:t>
                </a:r>
                <a:r>
                  <a:rPr lang="en-US" altLang="ko-KR" sz="9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solidFill>
                      <a:srgbClr val="C00000"/>
                    </a:solidFill>
                    <a:latin typeface="Cambria Math" panose="02040503050406030204" pitchFamily="18" charset="0"/>
                    <a:cs typeface="Arial" panose="020B0604020202020204" pitchFamily="34" charset="0"/>
                  </a:rPr>
                  <a:t>: 9.25m</a:t>
                </a:r>
              </a:p>
              <a:p>
                <a:pPr marL="171450" indent="-171450"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120000"/>
                  <a:buFont typeface="Arial" panose="020B0604020202020204" pitchFamily="34" charset="0"/>
                  <a:buChar char="•"/>
                  <a:defRPr/>
                </a:pPr>
                <a:r>
                  <a:rPr lang="ko-KR" altLang="en-US" sz="9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solidFill>
                      <a:srgbClr val="C00000"/>
                    </a:solidFill>
                    <a:latin typeface="Cambria Math" panose="02040503050406030204" pitchFamily="18" charset="0"/>
                    <a:cs typeface="Arial" panose="020B0604020202020204" pitchFamily="34" charset="0"/>
                  </a:rPr>
                  <a:t>전폭</a:t>
                </a:r>
                <a:r>
                  <a:rPr lang="en-US" altLang="ko-KR" sz="9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solidFill>
                      <a:srgbClr val="C00000"/>
                    </a:solidFill>
                    <a:latin typeface="Cambria Math" panose="02040503050406030204" pitchFamily="18" charset="0"/>
                    <a:cs typeface="Arial" panose="020B0604020202020204" pitchFamily="34" charset="0"/>
                  </a:rPr>
                  <a:t>: 5m</a:t>
                </a:r>
              </a:p>
              <a:p>
                <a:pPr marL="171450" indent="-171450"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120000"/>
                  <a:buFont typeface="Arial" panose="020B0604020202020204" pitchFamily="34" charset="0"/>
                  <a:buChar char="•"/>
                  <a:defRPr/>
                </a:pPr>
                <a:r>
                  <a:rPr lang="ko-KR" altLang="en-US" sz="9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solidFill>
                      <a:srgbClr val="C00000"/>
                    </a:solidFill>
                    <a:latin typeface="Cambria Math" panose="02040503050406030204" pitchFamily="18" charset="0"/>
                    <a:cs typeface="Arial" panose="020B0604020202020204" pitchFamily="34" charset="0"/>
                  </a:rPr>
                  <a:t>전고</a:t>
                </a:r>
                <a:r>
                  <a:rPr lang="en-US" altLang="ko-KR" sz="9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solidFill>
                      <a:srgbClr val="C00000"/>
                    </a:solidFill>
                    <a:latin typeface="Cambria Math" panose="02040503050406030204" pitchFamily="18" charset="0"/>
                    <a:cs typeface="Arial" panose="020B0604020202020204" pitchFamily="34" charset="0"/>
                  </a:rPr>
                  <a:t>: 2.9m</a:t>
                </a:r>
              </a:p>
            </p:txBody>
          </p:sp>
        </mc:Choice>
        <mc:Fallback xmlns="">
          <p:sp>
            <p:nvSpPr>
              <p:cNvPr id="84" name="직사각형 83">
                <a:extLst>
                  <a:ext uri="{FF2B5EF4-FFF2-40B4-BE49-F238E27FC236}">
                    <a16:creationId xmlns:a16="http://schemas.microsoft.com/office/drawing/2014/main" id="{59452EE3-B90A-D1F7-4F37-FE6465DEAB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3000" y="855680"/>
                <a:ext cx="2138878" cy="187121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3" name="그룹 92">
            <a:extLst>
              <a:ext uri="{FF2B5EF4-FFF2-40B4-BE49-F238E27FC236}">
                <a16:creationId xmlns:a16="http://schemas.microsoft.com/office/drawing/2014/main" id="{0D95E856-6D19-EB93-D85E-C63C5D499755}"/>
              </a:ext>
            </a:extLst>
          </p:cNvPr>
          <p:cNvGrpSpPr/>
          <p:nvPr/>
        </p:nvGrpSpPr>
        <p:grpSpPr>
          <a:xfrm>
            <a:off x="2271526" y="3598523"/>
            <a:ext cx="6116198" cy="2603136"/>
            <a:chOff x="1758740" y="3550397"/>
            <a:chExt cx="6116198" cy="2603136"/>
          </a:xfrm>
        </p:grpSpPr>
        <p:sp>
          <p:nvSpPr>
            <p:cNvPr id="9" name="자유형: 도형 8">
              <a:extLst>
                <a:ext uri="{FF2B5EF4-FFF2-40B4-BE49-F238E27FC236}">
                  <a16:creationId xmlns:a16="http://schemas.microsoft.com/office/drawing/2014/main" id="{0571AF09-F8EB-5F4C-C44A-D9622EE19E95}"/>
                </a:ext>
              </a:extLst>
            </p:cNvPr>
            <p:cNvSpPr/>
            <p:nvPr/>
          </p:nvSpPr>
          <p:spPr>
            <a:xfrm>
              <a:off x="2247535" y="4062334"/>
              <a:ext cx="3915697" cy="1474839"/>
            </a:xfrm>
            <a:custGeom>
              <a:avLst/>
              <a:gdLst>
                <a:gd name="connsiteX0" fmla="*/ 95864 w 3915697"/>
                <a:gd name="connsiteY0" fmla="*/ 464574 h 1474839"/>
                <a:gd name="connsiteX1" fmla="*/ 2057400 w 3915697"/>
                <a:gd name="connsiteY1" fmla="*/ 486697 h 1474839"/>
                <a:gd name="connsiteX2" fmla="*/ 3060290 w 3915697"/>
                <a:gd name="connsiteY2" fmla="*/ 0 h 1474839"/>
                <a:gd name="connsiteX3" fmla="*/ 3915697 w 3915697"/>
                <a:gd name="connsiteY3" fmla="*/ 376084 h 1474839"/>
                <a:gd name="connsiteX4" fmla="*/ 3620729 w 3915697"/>
                <a:gd name="connsiteY4" fmla="*/ 1165123 h 1474839"/>
                <a:gd name="connsiteX5" fmla="*/ 3082413 w 3915697"/>
                <a:gd name="connsiteY5" fmla="*/ 921774 h 1474839"/>
                <a:gd name="connsiteX6" fmla="*/ 2168013 w 3915697"/>
                <a:gd name="connsiteY6" fmla="*/ 1474839 h 1474839"/>
                <a:gd name="connsiteX7" fmla="*/ 169606 w 3915697"/>
                <a:gd name="connsiteY7" fmla="*/ 1467465 h 1474839"/>
                <a:gd name="connsiteX8" fmla="*/ 0 w 3915697"/>
                <a:gd name="connsiteY8" fmla="*/ 1467465 h 1474839"/>
                <a:gd name="connsiteX9" fmla="*/ 95864 w 3915697"/>
                <a:gd name="connsiteY9" fmla="*/ 464574 h 1474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915697" h="1474839">
                  <a:moveTo>
                    <a:pt x="95864" y="464574"/>
                  </a:moveTo>
                  <a:lnTo>
                    <a:pt x="2057400" y="486697"/>
                  </a:lnTo>
                  <a:lnTo>
                    <a:pt x="3060290" y="0"/>
                  </a:lnTo>
                  <a:lnTo>
                    <a:pt x="3915697" y="376084"/>
                  </a:lnTo>
                  <a:lnTo>
                    <a:pt x="3620729" y="1165123"/>
                  </a:lnTo>
                  <a:lnTo>
                    <a:pt x="3082413" y="921774"/>
                  </a:lnTo>
                  <a:lnTo>
                    <a:pt x="2168013" y="1474839"/>
                  </a:lnTo>
                  <a:lnTo>
                    <a:pt x="169606" y="1467465"/>
                  </a:lnTo>
                  <a:lnTo>
                    <a:pt x="0" y="1467465"/>
                  </a:lnTo>
                  <a:lnTo>
                    <a:pt x="95864" y="464574"/>
                  </a:ln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2CE7AE97-A0F9-07D3-FACF-177D90F06FB3}"/>
                </a:ext>
              </a:extLst>
            </p:cNvPr>
            <p:cNvGrpSpPr/>
            <p:nvPr/>
          </p:nvGrpSpPr>
          <p:grpSpPr>
            <a:xfrm>
              <a:off x="1758740" y="3980225"/>
              <a:ext cx="6116198" cy="2173308"/>
              <a:chOff x="1658688" y="1168192"/>
              <a:chExt cx="6116198" cy="2173308"/>
            </a:xfrm>
          </p:grpSpPr>
          <p:sp>
            <p:nvSpPr>
              <p:cNvPr id="28" name="타원 27">
                <a:extLst>
                  <a:ext uri="{FF2B5EF4-FFF2-40B4-BE49-F238E27FC236}">
                    <a16:creationId xmlns:a16="http://schemas.microsoft.com/office/drawing/2014/main" id="{C9D8D942-95C2-D5FE-404F-EC9303646DB5}"/>
                  </a:ext>
                </a:extLst>
              </p:cNvPr>
              <p:cNvSpPr/>
              <p:nvPr/>
            </p:nvSpPr>
            <p:spPr>
              <a:xfrm>
                <a:off x="5710049" y="1511983"/>
                <a:ext cx="1740396" cy="1829517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grpSp>
            <p:nvGrpSpPr>
              <p:cNvPr id="29" name="그룹 28">
                <a:extLst>
                  <a:ext uri="{FF2B5EF4-FFF2-40B4-BE49-F238E27FC236}">
                    <a16:creationId xmlns:a16="http://schemas.microsoft.com/office/drawing/2014/main" id="{1FC892D9-5BF5-614E-9A68-706F79F79641}"/>
                  </a:ext>
                </a:extLst>
              </p:cNvPr>
              <p:cNvGrpSpPr/>
              <p:nvPr/>
            </p:nvGrpSpPr>
            <p:grpSpPr>
              <a:xfrm>
                <a:off x="1658688" y="1168192"/>
                <a:ext cx="3541191" cy="2173308"/>
                <a:chOff x="3409495" y="2099261"/>
                <a:chExt cx="3541191" cy="2173308"/>
              </a:xfrm>
            </p:grpSpPr>
            <p:cxnSp>
              <p:nvCxnSpPr>
                <p:cNvPr id="37" name="직선 연결선 36">
                  <a:extLst>
                    <a:ext uri="{FF2B5EF4-FFF2-40B4-BE49-F238E27FC236}">
                      <a16:creationId xmlns:a16="http://schemas.microsoft.com/office/drawing/2014/main" id="{AED4F5D0-271D-B51C-7138-A88B6DC091B4}"/>
                    </a:ext>
                  </a:extLst>
                </p:cNvPr>
                <p:cNvCxnSpPr/>
                <p:nvPr/>
              </p:nvCxnSpPr>
              <p:spPr>
                <a:xfrm flipV="1">
                  <a:off x="4038715" y="3660745"/>
                  <a:ext cx="2042275" cy="5313"/>
                </a:xfrm>
                <a:prstGeom prst="line">
                  <a:avLst/>
                </a:prstGeom>
                <a:ln w="19050" cap="flat" cmpd="sng" algn="ctr">
                  <a:solidFill>
                    <a:schemeClr val="accent6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직선 연결선 37">
                  <a:extLst>
                    <a:ext uri="{FF2B5EF4-FFF2-40B4-BE49-F238E27FC236}">
                      <a16:creationId xmlns:a16="http://schemas.microsoft.com/office/drawing/2014/main" id="{8BB926F9-7F4F-7519-9B4B-20DA3DE1FDE1}"/>
                    </a:ext>
                  </a:extLst>
                </p:cNvPr>
                <p:cNvCxnSpPr/>
                <p:nvPr/>
              </p:nvCxnSpPr>
              <p:spPr>
                <a:xfrm flipV="1">
                  <a:off x="3866937" y="2669410"/>
                  <a:ext cx="2130151" cy="5314"/>
                </a:xfrm>
                <a:prstGeom prst="line">
                  <a:avLst/>
                </a:prstGeom>
                <a:ln w="19050" cap="flat" cmpd="sng" algn="ctr">
                  <a:solidFill>
                    <a:schemeClr val="accent6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직선 화살표 연결선 38">
                  <a:extLst>
                    <a:ext uri="{FF2B5EF4-FFF2-40B4-BE49-F238E27FC236}">
                      <a16:creationId xmlns:a16="http://schemas.microsoft.com/office/drawing/2014/main" id="{ACFE4866-7C83-E44A-F067-AB8AD7C0F25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395506" y="3181533"/>
                  <a:ext cx="1685484" cy="0"/>
                </a:xfrm>
                <a:prstGeom prst="straightConnector1">
                  <a:avLst/>
                </a:prstGeom>
                <a:ln w="38100">
                  <a:solidFill>
                    <a:schemeClr val="accent6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253C53F0-DEDE-7917-7AFE-A7895F73260E}"/>
                    </a:ext>
                  </a:extLst>
                </p:cNvPr>
                <p:cNvSpPr txBox="1"/>
                <p:nvPr/>
              </p:nvSpPr>
              <p:spPr>
                <a:xfrm>
                  <a:off x="5547664" y="3269722"/>
                  <a:ext cx="548451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ko-KR" sz="1200" dirty="0">
                      <a:latin typeface="+mn-ea"/>
                    </a:rPr>
                    <a:t>4m</a:t>
                  </a:r>
                  <a:endParaRPr lang="ko-KR" altLang="en-US" sz="1200" dirty="0">
                    <a:latin typeface="+mn-ea"/>
                  </a:endParaRPr>
                </a:p>
              </p:txBody>
            </p:sp>
            <p:grpSp>
              <p:nvGrpSpPr>
                <p:cNvPr id="41" name="그룹 40">
                  <a:extLst>
                    <a:ext uri="{FF2B5EF4-FFF2-40B4-BE49-F238E27FC236}">
                      <a16:creationId xmlns:a16="http://schemas.microsoft.com/office/drawing/2014/main" id="{AE37FB85-843E-3EFF-042C-32C2BD91FF33}"/>
                    </a:ext>
                  </a:extLst>
                </p:cNvPr>
                <p:cNvGrpSpPr/>
                <p:nvPr/>
              </p:nvGrpSpPr>
              <p:grpSpPr>
                <a:xfrm>
                  <a:off x="3409495" y="2099261"/>
                  <a:ext cx="1989829" cy="2173308"/>
                  <a:chOff x="4234778" y="2962285"/>
                  <a:chExt cx="1989829" cy="2173308"/>
                </a:xfrm>
              </p:grpSpPr>
              <p:sp>
                <p:nvSpPr>
                  <p:cNvPr id="46" name="모서리가 둥근 직사각형 38">
                    <a:extLst>
                      <a:ext uri="{FF2B5EF4-FFF2-40B4-BE49-F238E27FC236}">
                        <a16:creationId xmlns:a16="http://schemas.microsoft.com/office/drawing/2014/main" id="{DF652561-86E7-D7DD-2733-08E65EF88A66}"/>
                      </a:ext>
                    </a:extLst>
                  </p:cNvPr>
                  <p:cNvSpPr/>
                  <p:nvPr/>
                </p:nvSpPr>
                <p:spPr>
                  <a:xfrm>
                    <a:off x="4789745" y="3581287"/>
                    <a:ext cx="879895" cy="935304"/>
                  </a:xfrm>
                  <a:prstGeom prst="roundRect">
                    <a:avLst/>
                  </a:prstGeom>
                  <a:ln>
                    <a:solidFill>
                      <a:schemeClr val="accent5"/>
                    </a:solidFill>
                  </a:ln>
                </p:spPr>
                <p:style>
                  <a:lnRef idx="2">
                    <a:schemeClr val="accent5">
                      <a:shade val="50000"/>
                    </a:schemeClr>
                  </a:lnRef>
                  <a:fillRef idx="1">
                    <a:schemeClr val="accent5"/>
                  </a:fillRef>
                  <a:effectRef idx="0">
                    <a:schemeClr val="accent5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200" dirty="0" err="1"/>
                      <a:t>특장차량</a:t>
                    </a:r>
                    <a:endParaRPr lang="ko-KR" altLang="en-US" sz="1200" dirty="0"/>
                  </a:p>
                </p:txBody>
              </p:sp>
              <p:sp>
                <p:nvSpPr>
                  <p:cNvPr id="47" name="모서리가 둥근 직사각형 39">
                    <a:extLst>
                      <a:ext uri="{FF2B5EF4-FFF2-40B4-BE49-F238E27FC236}">
                        <a16:creationId xmlns:a16="http://schemas.microsoft.com/office/drawing/2014/main" id="{CA5E3BC6-3109-ACEE-1EB5-7EB4FCFBC1C9}"/>
                      </a:ext>
                    </a:extLst>
                  </p:cNvPr>
                  <p:cNvSpPr/>
                  <p:nvPr/>
                </p:nvSpPr>
                <p:spPr>
                  <a:xfrm>
                    <a:off x="4234778" y="2962285"/>
                    <a:ext cx="554967" cy="619002"/>
                  </a:xfrm>
                  <a:prstGeom prst="roundRect">
                    <a:avLst/>
                  </a:prstGeom>
                  <a:solidFill>
                    <a:schemeClr val="accent5">
                      <a:lumMod val="60000"/>
                      <a:lumOff val="40000"/>
                    </a:schemeClr>
                  </a:solidFill>
                  <a:ln>
                    <a:solidFill>
                      <a:schemeClr val="accent5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5">
                      <a:shade val="50000"/>
                    </a:schemeClr>
                  </a:lnRef>
                  <a:fillRef idx="1">
                    <a:schemeClr val="accent5"/>
                  </a:fillRef>
                  <a:effectRef idx="0">
                    <a:schemeClr val="accent5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200" dirty="0" err="1"/>
                      <a:t>보조차량</a:t>
                    </a:r>
                    <a:endParaRPr lang="ko-KR" altLang="en-US" sz="1200" dirty="0"/>
                  </a:p>
                </p:txBody>
              </p:sp>
              <p:sp>
                <p:nvSpPr>
                  <p:cNvPr id="48" name="모서리가 둥근 직사각형 41">
                    <a:extLst>
                      <a:ext uri="{FF2B5EF4-FFF2-40B4-BE49-F238E27FC236}">
                        <a16:creationId xmlns:a16="http://schemas.microsoft.com/office/drawing/2014/main" id="{5DAB54C3-F73A-0AEC-88ED-2600A7345368}"/>
                      </a:ext>
                    </a:extLst>
                  </p:cNvPr>
                  <p:cNvSpPr/>
                  <p:nvPr/>
                </p:nvSpPr>
                <p:spPr>
                  <a:xfrm>
                    <a:off x="5669640" y="2962285"/>
                    <a:ext cx="554967" cy="619002"/>
                  </a:xfrm>
                  <a:prstGeom prst="roundRect">
                    <a:avLst/>
                  </a:prstGeom>
                  <a:solidFill>
                    <a:schemeClr val="accent5">
                      <a:lumMod val="60000"/>
                      <a:lumOff val="40000"/>
                    </a:schemeClr>
                  </a:solidFill>
                  <a:ln>
                    <a:solidFill>
                      <a:schemeClr val="accent5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5">
                      <a:shade val="50000"/>
                    </a:schemeClr>
                  </a:lnRef>
                  <a:fillRef idx="1">
                    <a:schemeClr val="accent5"/>
                  </a:fillRef>
                  <a:effectRef idx="0">
                    <a:schemeClr val="accent5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200" dirty="0" err="1"/>
                      <a:t>보조차량</a:t>
                    </a:r>
                    <a:endParaRPr lang="ko-KR" altLang="en-US" sz="1200" dirty="0"/>
                  </a:p>
                </p:txBody>
              </p:sp>
              <p:sp>
                <p:nvSpPr>
                  <p:cNvPr id="49" name="모서리가 둥근 직사각형 42">
                    <a:extLst>
                      <a:ext uri="{FF2B5EF4-FFF2-40B4-BE49-F238E27FC236}">
                        <a16:creationId xmlns:a16="http://schemas.microsoft.com/office/drawing/2014/main" id="{6935D235-191D-3847-D98A-B67E60D9EDDA}"/>
                      </a:ext>
                    </a:extLst>
                  </p:cNvPr>
                  <p:cNvSpPr/>
                  <p:nvPr/>
                </p:nvSpPr>
                <p:spPr>
                  <a:xfrm>
                    <a:off x="4234778" y="4516591"/>
                    <a:ext cx="554967" cy="619002"/>
                  </a:xfrm>
                  <a:prstGeom prst="roundRect">
                    <a:avLst/>
                  </a:prstGeom>
                  <a:solidFill>
                    <a:schemeClr val="accent5">
                      <a:lumMod val="60000"/>
                      <a:lumOff val="40000"/>
                    </a:schemeClr>
                  </a:solidFill>
                  <a:ln>
                    <a:solidFill>
                      <a:schemeClr val="accent5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5">
                      <a:shade val="50000"/>
                    </a:schemeClr>
                  </a:lnRef>
                  <a:fillRef idx="1">
                    <a:schemeClr val="accent5"/>
                  </a:fillRef>
                  <a:effectRef idx="0">
                    <a:schemeClr val="accent5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200" dirty="0" err="1"/>
                      <a:t>보조차량</a:t>
                    </a:r>
                    <a:endParaRPr lang="ko-KR" altLang="en-US" sz="1200" dirty="0"/>
                  </a:p>
                </p:txBody>
              </p:sp>
              <p:sp>
                <p:nvSpPr>
                  <p:cNvPr id="50" name="모서리가 둥근 직사각형 43">
                    <a:extLst>
                      <a:ext uri="{FF2B5EF4-FFF2-40B4-BE49-F238E27FC236}">
                        <a16:creationId xmlns:a16="http://schemas.microsoft.com/office/drawing/2014/main" id="{C7E640FB-95C2-792E-AD5C-C210ED8876BA}"/>
                      </a:ext>
                    </a:extLst>
                  </p:cNvPr>
                  <p:cNvSpPr/>
                  <p:nvPr/>
                </p:nvSpPr>
                <p:spPr>
                  <a:xfrm>
                    <a:off x="5669639" y="4516591"/>
                    <a:ext cx="554967" cy="619002"/>
                  </a:xfrm>
                  <a:prstGeom prst="roundRect">
                    <a:avLst/>
                  </a:prstGeom>
                  <a:solidFill>
                    <a:schemeClr val="accent5">
                      <a:lumMod val="60000"/>
                      <a:lumOff val="40000"/>
                    </a:schemeClr>
                  </a:solidFill>
                  <a:ln>
                    <a:solidFill>
                      <a:schemeClr val="accent5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5">
                      <a:shade val="50000"/>
                    </a:schemeClr>
                  </a:lnRef>
                  <a:fillRef idx="1">
                    <a:schemeClr val="accent5"/>
                  </a:fillRef>
                  <a:effectRef idx="0">
                    <a:schemeClr val="accent5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200" dirty="0" err="1"/>
                      <a:t>보조차량</a:t>
                    </a:r>
                    <a:endParaRPr lang="ko-KR" altLang="en-US" sz="1200" dirty="0"/>
                  </a:p>
                </p:txBody>
              </p:sp>
            </p:grpSp>
            <p:cxnSp>
              <p:nvCxnSpPr>
                <p:cNvPr id="42" name="직선 화살표 연결선 41">
                  <a:extLst>
                    <a:ext uri="{FF2B5EF4-FFF2-40B4-BE49-F238E27FC236}">
                      <a16:creationId xmlns:a16="http://schemas.microsoft.com/office/drawing/2014/main" id="{00CA12D0-46A1-C833-C3EC-D4D3048F22E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005806" y="2639069"/>
                  <a:ext cx="944880" cy="549643"/>
                </a:xfrm>
                <a:prstGeom prst="straightConnector1">
                  <a:avLst/>
                </a:prstGeom>
                <a:ln w="38100">
                  <a:solidFill>
                    <a:srgbClr val="C0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직선 연결선 42">
                  <a:extLst>
                    <a:ext uri="{FF2B5EF4-FFF2-40B4-BE49-F238E27FC236}">
                      <a16:creationId xmlns:a16="http://schemas.microsoft.com/office/drawing/2014/main" id="{C718A692-EB5B-EFE1-EB88-ED52AC468A2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955524" y="2184778"/>
                  <a:ext cx="995162" cy="484632"/>
                </a:xfrm>
                <a:prstGeom prst="line">
                  <a:avLst/>
                </a:prstGeom>
                <a:ln w="19050" cap="flat" cmpd="sng" algn="ctr">
                  <a:solidFill>
                    <a:schemeClr val="accent6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직선 화살표 연결선 43">
                  <a:extLst>
                    <a:ext uri="{FF2B5EF4-FFF2-40B4-BE49-F238E27FC236}">
                      <a16:creationId xmlns:a16="http://schemas.microsoft.com/office/drawing/2014/main" id="{D658FCA4-4859-99DB-2D20-206892C8488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5660556" y="2669410"/>
                  <a:ext cx="7741" cy="487734"/>
                </a:xfrm>
                <a:prstGeom prst="straightConnector1">
                  <a:avLst/>
                </a:prstGeom>
                <a:ln w="3175">
                  <a:prstDash val="dash"/>
                  <a:headEnd type="triangle"/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997228CC-263E-9B1B-B99A-D9148529643A}"/>
                    </a:ext>
                  </a:extLst>
                </p:cNvPr>
                <p:cNvSpPr txBox="1"/>
                <p:nvPr/>
              </p:nvSpPr>
              <p:spPr>
                <a:xfrm>
                  <a:off x="5549535" y="2772601"/>
                  <a:ext cx="548451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ko-KR" sz="1200" dirty="0">
                      <a:latin typeface="+mn-ea"/>
                    </a:rPr>
                    <a:t>4m</a:t>
                  </a:r>
                  <a:endParaRPr lang="ko-KR" altLang="en-US" sz="1200" dirty="0">
                    <a:latin typeface="+mn-ea"/>
                  </a:endParaRPr>
                </a:p>
              </p:txBody>
            </p:sp>
          </p:grpSp>
          <p:cxnSp>
            <p:nvCxnSpPr>
              <p:cNvPr id="30" name="직선 화살표 연결선 29">
                <a:extLst>
                  <a:ext uri="{FF2B5EF4-FFF2-40B4-BE49-F238E27FC236}">
                    <a16:creationId xmlns:a16="http://schemas.microsoft.com/office/drawing/2014/main" id="{0CA360CB-F7B9-8BF7-BE76-D8F4807DE02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78196" y="1727803"/>
                <a:ext cx="1457831" cy="665125"/>
              </a:xfrm>
              <a:prstGeom prst="straightConnector1">
                <a:avLst/>
              </a:prstGeom>
              <a:ln w="38100">
                <a:solidFill>
                  <a:schemeClr val="accent6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직선 연결선 30">
                <a:extLst>
                  <a:ext uri="{FF2B5EF4-FFF2-40B4-BE49-F238E27FC236}">
                    <a16:creationId xmlns:a16="http://schemas.microsoft.com/office/drawing/2014/main" id="{9280C804-9DEA-0727-96FB-3EEE2ABD89D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11242" y="2183225"/>
                <a:ext cx="880167" cy="538073"/>
              </a:xfrm>
              <a:prstGeom prst="line">
                <a:avLst/>
              </a:prstGeom>
              <a:ln w="19050" cap="flat" cmpd="sng" algn="ctr">
                <a:solidFill>
                  <a:schemeClr val="accent6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2" name="직선 연결선 31">
                <a:extLst>
                  <a:ext uri="{FF2B5EF4-FFF2-40B4-BE49-F238E27FC236}">
                    <a16:creationId xmlns:a16="http://schemas.microsoft.com/office/drawing/2014/main" id="{8F01F235-3807-7FB9-2588-930DD3A4351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78196" y="1258613"/>
                <a:ext cx="944880" cy="423504"/>
              </a:xfrm>
              <a:prstGeom prst="line">
                <a:avLst/>
              </a:prstGeom>
              <a:ln w="19050" cap="flat" cmpd="sng" algn="ctr">
                <a:solidFill>
                  <a:schemeClr val="accent6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1807E4CC-EFC4-A48D-898A-5B795D0AEB34}"/>
                  </a:ext>
                </a:extLst>
              </p:cNvPr>
              <p:cNvSpPr txBox="1"/>
              <p:nvPr/>
            </p:nvSpPr>
            <p:spPr>
              <a:xfrm>
                <a:off x="6443835" y="2264462"/>
                <a:ext cx="113927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200" dirty="0">
                    <a:latin typeface="+mn-ea"/>
                  </a:rPr>
                  <a:t>작업 지점</a:t>
                </a: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FBBD4E63-A1B0-46C4-2237-59F406F0F80F}"/>
                  </a:ext>
                </a:extLst>
              </p:cNvPr>
              <p:cNvSpPr txBox="1"/>
              <p:nvPr/>
            </p:nvSpPr>
            <p:spPr>
              <a:xfrm>
                <a:off x="5892623" y="1891796"/>
                <a:ext cx="188226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dirty="0">
                    <a:latin typeface="+mn-ea"/>
                  </a:rPr>
                  <a:t>20m </a:t>
                </a: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77EE645-7045-619F-8D99-5AC8A56505E9}"/>
                  </a:ext>
                </a:extLst>
              </p:cNvPr>
              <p:cNvSpPr txBox="1"/>
              <p:nvPr/>
            </p:nvSpPr>
            <p:spPr>
              <a:xfrm>
                <a:off x="2953048" y="1933807"/>
                <a:ext cx="113927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200" dirty="0">
                    <a:latin typeface="+mn-ea"/>
                  </a:rPr>
                  <a:t>전역 경로</a:t>
                </a:r>
              </a:p>
            </p:txBody>
          </p:sp>
        </p:grp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483B510E-6A4D-8164-0979-8418E64590FD}"/>
                </a:ext>
              </a:extLst>
            </p:cNvPr>
            <p:cNvSpPr txBox="1"/>
            <p:nvPr/>
          </p:nvSpPr>
          <p:spPr>
            <a:xfrm>
              <a:off x="5997409" y="4478671"/>
              <a:ext cx="136477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dirty="0">
                  <a:latin typeface="+mn-ea"/>
                </a:rPr>
                <a:t>노면 스캔 영역</a:t>
              </a:r>
            </a:p>
          </p:txBody>
        </p:sp>
        <p:cxnSp>
          <p:nvCxnSpPr>
            <p:cNvPr id="52" name="직선 화살표 연결선 51">
              <a:extLst>
                <a:ext uri="{FF2B5EF4-FFF2-40B4-BE49-F238E27FC236}">
                  <a16:creationId xmlns:a16="http://schemas.microsoft.com/office/drawing/2014/main" id="{6EEA3C65-D2E9-B4E3-7ECE-6CDF2366113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09800" y="5076495"/>
              <a:ext cx="1" cy="465214"/>
            </a:xfrm>
            <a:prstGeom prst="straightConnector1">
              <a:avLst/>
            </a:prstGeom>
            <a:ln w="3175">
              <a:prstDash val="dash"/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3" name="직선 화살표 연결선 52">
              <a:extLst>
                <a:ext uri="{FF2B5EF4-FFF2-40B4-BE49-F238E27FC236}">
                  <a16:creationId xmlns:a16="http://schemas.microsoft.com/office/drawing/2014/main" id="{34810B4E-32A8-C50E-B238-F6613AA43F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87926" y="4817813"/>
              <a:ext cx="736470" cy="374395"/>
            </a:xfrm>
            <a:prstGeom prst="straightConnector1">
              <a:avLst/>
            </a:prstGeom>
            <a:ln w="3175">
              <a:prstDash val="dash"/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83" name="모서리가 둥근 직사각형 14">
              <a:extLst>
                <a:ext uri="{FF2B5EF4-FFF2-40B4-BE49-F238E27FC236}">
                  <a16:creationId xmlns:a16="http://schemas.microsoft.com/office/drawing/2014/main" id="{3EE49285-0D73-60DD-213B-410FE7F4310A}"/>
                </a:ext>
              </a:extLst>
            </p:cNvPr>
            <p:cNvSpPr/>
            <p:nvPr/>
          </p:nvSpPr>
          <p:spPr>
            <a:xfrm>
              <a:off x="4473301" y="5044463"/>
              <a:ext cx="763953" cy="369670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/>
                <a:t>미개척 영역</a:t>
              </a:r>
            </a:p>
          </p:txBody>
        </p:sp>
        <p:cxnSp>
          <p:nvCxnSpPr>
            <p:cNvPr id="85" name="직선 연결선 84">
              <a:extLst>
                <a:ext uri="{FF2B5EF4-FFF2-40B4-BE49-F238E27FC236}">
                  <a16:creationId xmlns:a16="http://schemas.microsoft.com/office/drawing/2014/main" id="{5E3DB91D-6E0E-796A-0A2F-788327448184}"/>
                </a:ext>
              </a:extLst>
            </p:cNvPr>
            <p:cNvCxnSpPr>
              <a:cxnSpLocks/>
            </p:cNvCxnSpPr>
            <p:nvPr/>
          </p:nvCxnSpPr>
          <p:spPr>
            <a:xfrm>
              <a:off x="4333303" y="4070646"/>
              <a:ext cx="35241" cy="1999954"/>
            </a:xfrm>
            <a:prstGeom prst="line">
              <a:avLst/>
            </a:prstGeom>
            <a:ln w="19050" cap="flat" cmpd="sng" algn="ctr">
              <a:solidFill>
                <a:schemeClr val="accent6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0" name="직선 연결선 89">
              <a:extLst>
                <a:ext uri="{FF2B5EF4-FFF2-40B4-BE49-F238E27FC236}">
                  <a16:creationId xmlns:a16="http://schemas.microsoft.com/office/drawing/2014/main" id="{7C5CD7B1-B735-3FE6-B411-A1CE08E1EB12}"/>
                </a:ext>
              </a:extLst>
            </p:cNvPr>
            <p:cNvCxnSpPr>
              <a:cxnSpLocks/>
            </p:cNvCxnSpPr>
            <p:nvPr/>
          </p:nvCxnSpPr>
          <p:spPr>
            <a:xfrm>
              <a:off x="5271858" y="3550397"/>
              <a:ext cx="35241" cy="1999954"/>
            </a:xfrm>
            <a:prstGeom prst="line">
              <a:avLst/>
            </a:prstGeom>
            <a:ln w="19050" cap="flat" cmpd="sng" algn="ctr">
              <a:solidFill>
                <a:schemeClr val="accent6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92CCCEE7-53C2-0E2A-F5E2-EBB908D4AF0F}"/>
                </a:ext>
              </a:extLst>
            </p:cNvPr>
            <p:cNvSpPr txBox="1"/>
            <p:nvPr/>
          </p:nvSpPr>
          <p:spPr>
            <a:xfrm rot="19908703">
              <a:off x="4121850" y="4529054"/>
              <a:ext cx="136477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50" dirty="0">
                  <a:solidFill>
                    <a:srgbClr val="FF0000"/>
                  </a:solidFill>
                  <a:latin typeface="+mn-ea"/>
                </a:rPr>
                <a:t>위험한 전역경로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5810534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D226B5-358D-0D7C-3E71-0665C2E4D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127ACE-64E6-A959-00C5-03955A6B9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7. </a:t>
            </a:r>
            <a:r>
              <a:rPr lang="ko-KR" altLang="en-US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미개척 지역 주행 환경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B3BA8BA-1FF1-2F51-D8C0-9E378F4283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F55F954-5E86-475A-837F-2B8CED6C7DF1}" type="slidenum">
              <a:rPr lang="ko-KR" altLang="en-US" smtClean="0"/>
              <a:pPr/>
              <a:t>68</a:t>
            </a:fld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9E6A053C-53AE-F564-DF3B-247D869E496A}"/>
              </a:ext>
            </a:extLst>
          </p:cNvPr>
          <p:cNvSpPr/>
          <p:nvPr/>
        </p:nvSpPr>
        <p:spPr>
          <a:xfrm>
            <a:off x="5544961" y="2012938"/>
            <a:ext cx="2762795" cy="234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전역 경로 </a:t>
            </a:r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point set </a:t>
            </a:r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입력</a:t>
            </a:r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350A8EA7-C04E-0B4D-41BC-A226F63FB11A}"/>
              </a:ext>
            </a:extLst>
          </p:cNvPr>
          <p:cNvCxnSpPr>
            <a:cxnSpLocks/>
          </p:cNvCxnSpPr>
          <p:nvPr/>
        </p:nvCxnSpPr>
        <p:spPr>
          <a:xfrm>
            <a:off x="6926351" y="2267025"/>
            <a:ext cx="0" cy="56136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타원 30">
            <a:extLst>
              <a:ext uri="{FF2B5EF4-FFF2-40B4-BE49-F238E27FC236}">
                <a16:creationId xmlns:a16="http://schemas.microsoft.com/office/drawing/2014/main" id="{A144E99D-E180-4056-BB67-7A903707BCB3}"/>
              </a:ext>
            </a:extLst>
          </p:cNvPr>
          <p:cNvSpPr/>
          <p:nvPr/>
        </p:nvSpPr>
        <p:spPr>
          <a:xfrm>
            <a:off x="5261965" y="2539346"/>
            <a:ext cx="252000" cy="252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rPr>
              <a:t>1</a:t>
            </a:r>
            <a:endParaRPr lang="ko-KR" altLang="en-US" sz="9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Arial" panose="020B0604020202020204" pitchFamily="34" charset="0"/>
              <a:ea typeface="KoPub돋움체 Bold" panose="02020603020101020101" pitchFamily="18" charset="-127"/>
              <a:cs typeface="Arial" panose="020B0604020202020204" pitchFamily="34" charset="0"/>
            </a:endParaRPr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874E7173-9A35-6A9C-9E8D-201F7C1EB6BA}"/>
              </a:ext>
            </a:extLst>
          </p:cNvPr>
          <p:cNvSpPr/>
          <p:nvPr/>
        </p:nvSpPr>
        <p:spPr>
          <a:xfrm>
            <a:off x="5304534" y="3102289"/>
            <a:ext cx="252000" cy="252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rPr>
              <a:t>2</a:t>
            </a:r>
            <a:endParaRPr lang="ko-KR" altLang="en-US" sz="9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Arial" panose="020B0604020202020204" pitchFamily="34" charset="0"/>
              <a:ea typeface="KoPub돋움체 Bold" panose="02020603020101020101" pitchFamily="18" charset="-127"/>
              <a:cs typeface="Arial" panose="020B0604020202020204" pitchFamily="34" charset="0"/>
            </a:endParaRPr>
          </a:p>
        </p:txBody>
      </p:sp>
      <p:sp>
        <p:nvSpPr>
          <p:cNvPr id="34" name="순서도: 판단 33">
            <a:extLst>
              <a:ext uri="{FF2B5EF4-FFF2-40B4-BE49-F238E27FC236}">
                <a16:creationId xmlns:a16="http://schemas.microsoft.com/office/drawing/2014/main" id="{A8B79E34-CFD1-4272-C86A-5D5A22C53227}"/>
              </a:ext>
            </a:extLst>
          </p:cNvPr>
          <p:cNvSpPr/>
          <p:nvPr/>
        </p:nvSpPr>
        <p:spPr>
          <a:xfrm>
            <a:off x="5544960" y="2844170"/>
            <a:ext cx="2762782" cy="468000"/>
          </a:xfrm>
          <a:prstGeom prst="flowChartDecision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주행 경로상 미개척 영역 존재</a:t>
            </a:r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?</a:t>
            </a:r>
            <a:endParaRPr lang="ko-KR" altLang="en-US" sz="105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8B2CE490-FFA2-D7B4-C26B-C3AC4BEABAA8}"/>
              </a:ext>
            </a:extLst>
          </p:cNvPr>
          <p:cNvSpPr/>
          <p:nvPr/>
        </p:nvSpPr>
        <p:spPr>
          <a:xfrm>
            <a:off x="6317580" y="3532452"/>
            <a:ext cx="1217541" cy="234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위험환경 판단</a:t>
            </a:r>
          </a:p>
        </p:txBody>
      </p: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36840DA3-14B0-7D98-39B9-7CE2469BEED3}"/>
              </a:ext>
            </a:extLst>
          </p:cNvPr>
          <p:cNvCxnSpPr>
            <a:cxnSpLocks/>
            <a:stCxn id="34" idx="2"/>
          </p:cNvCxnSpPr>
          <p:nvPr/>
        </p:nvCxnSpPr>
        <p:spPr>
          <a:xfrm>
            <a:off x="6926351" y="3312170"/>
            <a:ext cx="0" cy="22028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직사각형 48">
                <a:extLst>
                  <a:ext uri="{FF2B5EF4-FFF2-40B4-BE49-F238E27FC236}">
                    <a16:creationId xmlns:a16="http://schemas.microsoft.com/office/drawing/2014/main" id="{DD38770E-2727-58B6-682A-E8E202D5041D}"/>
                  </a:ext>
                </a:extLst>
              </p:cNvPr>
              <p:cNvSpPr/>
              <p:nvPr/>
            </p:nvSpPr>
            <p:spPr>
              <a:xfrm>
                <a:off x="381000" y="873125"/>
                <a:ext cx="9144000" cy="14680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95256" indent="-95256"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90000"/>
                  <a:buFont typeface="Wingdings" panose="05000000000000000000" pitchFamily="2" charset="2"/>
                  <a:buChar char="§"/>
                  <a:defRPr/>
                </a:pPr>
                <a:r>
                  <a:rPr lang="ko-KR" altLang="en-US" sz="1300" b="1" kern="0" dirty="0">
                    <a:ln>
                      <a:solidFill>
                        <a:schemeClr val="tx1">
                          <a:alpha val="30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전역 경로 </a:t>
                </a:r>
                <a:r>
                  <a:rPr lang="en-US" altLang="ko-KR" sz="1300" b="1" kern="0" dirty="0">
                    <a:ln>
                      <a:solidFill>
                        <a:schemeClr val="tx1">
                          <a:alpha val="30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point set </a:t>
                </a:r>
                <a:r>
                  <a:rPr lang="ko-KR" altLang="en-US" sz="1300" b="1" kern="0" dirty="0">
                    <a:ln>
                      <a:solidFill>
                        <a:schemeClr val="tx1">
                          <a:alpha val="30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입력</a:t>
                </a:r>
                <a:endParaRPr lang="en-US" altLang="ko-KR" sz="130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90000"/>
                  <a:defRPr/>
                </a:pP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  -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데이터 시점 </a:t>
                </a: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: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최신 시각 </a:t>
                </a: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t</a:t>
                </a: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90000"/>
                  <a:defRPr/>
                </a:pP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  -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전역 경로 </a:t>
                </a: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point set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입력 </a:t>
                </a: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(vector type)</a:t>
                </a:r>
                <a:b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</a:b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  -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특장차 전역 경로 </a:t>
                </a: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point set </a:t>
                </a:r>
                <a:b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</a:b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  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ko-KR" sz="1300" i="1" ker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d>
                      <m:dPr>
                        <m:ctrlP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ko-KR" sz="130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</m:t>
                        </m:r>
                      </m:e>
                    </m:d>
                    <m:r>
                      <a:rPr lang="en-US" altLang="ko-KR" sz="1300" i="1" ker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r>
                      <a:rPr lang="en-US" altLang="ko-KR" sz="1300" i="1" ker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⋯,(</m:t>
                    </m:r>
                    <m:sSub>
                      <m:sSubPr>
                        <m:ctrlP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𝑛</m:t>
                        </m:r>
                      </m:sub>
                    </m:sSub>
                    <m:r>
                      <a:rPr lang="en-US" altLang="ko-KR" sz="1300" i="1" ker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sSub>
                      <m:sSubPr>
                        <m:ctrlP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𝑛</m:t>
                        </m:r>
                      </m:sub>
                    </m:sSub>
                    <m:r>
                      <a:rPr lang="en-US" altLang="ko-KR" sz="1300" i="1" ker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endParaRPr lang="en-US" altLang="ko-KR" sz="130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9" name="직사각형 48">
                <a:extLst>
                  <a:ext uri="{FF2B5EF4-FFF2-40B4-BE49-F238E27FC236}">
                    <a16:creationId xmlns:a16="http://schemas.microsoft.com/office/drawing/2014/main" id="{DD38770E-2727-58B6-682A-E8E202D5041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873125"/>
                <a:ext cx="9144000" cy="14680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직사각형 49">
            <a:extLst>
              <a:ext uri="{FF2B5EF4-FFF2-40B4-BE49-F238E27FC236}">
                <a16:creationId xmlns:a16="http://schemas.microsoft.com/office/drawing/2014/main" id="{6BCCEFAC-357D-4AD7-0839-E744AAC665B2}"/>
              </a:ext>
            </a:extLst>
          </p:cNvPr>
          <p:cNvSpPr/>
          <p:nvPr/>
        </p:nvSpPr>
        <p:spPr>
          <a:xfrm>
            <a:off x="381000" y="2387322"/>
            <a:ext cx="9144000" cy="896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120000"/>
              <a:buFont typeface="+mj-ea"/>
              <a:buAutoNum type="circleNumDbPlain"/>
              <a:defRPr/>
            </a:pPr>
            <a:r>
              <a:rPr lang="ko-KR" altLang="en-US" sz="1300" b="1" kern="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노면 정보 지도 입력</a:t>
            </a:r>
            <a:endParaRPr lang="en-US" altLang="ko-KR" sz="1300" b="1" kern="0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12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데이터 시점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: t(T_L1fusion)</a:t>
            </a:r>
            <a:b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</a:b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시점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t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에서의 노면 지도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(L1)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데이터 반영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E5092468-6F5E-F967-B031-10A61DB01EF3}"/>
              </a:ext>
            </a:extLst>
          </p:cNvPr>
          <p:cNvSpPr/>
          <p:nvPr/>
        </p:nvSpPr>
        <p:spPr>
          <a:xfrm>
            <a:off x="8345755" y="2306176"/>
            <a:ext cx="1179245" cy="561363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5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노면 정보 지도 입력</a:t>
            </a:r>
            <a:endParaRPr lang="ko-KR" altLang="en-US" sz="105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0B095C95-82E2-2824-728F-6DBF083FD79A}"/>
              </a:ext>
            </a:extLst>
          </p:cNvPr>
          <p:cNvCxnSpPr>
            <a:cxnSpLocks/>
            <a:stCxn id="51" idx="1"/>
          </p:cNvCxnSpPr>
          <p:nvPr/>
        </p:nvCxnSpPr>
        <p:spPr>
          <a:xfrm flipH="1">
            <a:off x="6926350" y="2586858"/>
            <a:ext cx="141940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직사각형 52">
                <a:extLst>
                  <a:ext uri="{FF2B5EF4-FFF2-40B4-BE49-F238E27FC236}">
                    <a16:creationId xmlns:a16="http://schemas.microsoft.com/office/drawing/2014/main" id="{135566F2-DC88-CE5C-F21E-0D8FE91E0FA4}"/>
                  </a:ext>
                </a:extLst>
              </p:cNvPr>
              <p:cNvSpPr/>
              <p:nvPr/>
            </p:nvSpPr>
            <p:spPr>
              <a:xfrm>
                <a:off x="381001" y="3407437"/>
                <a:ext cx="4572000" cy="30233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120000"/>
                  <a:buFont typeface="+mj-ea"/>
                  <a:buAutoNum type="circleNumDbPlain" startAt="2"/>
                  <a:defRPr/>
                </a:pPr>
                <a:r>
                  <a:rPr lang="ko-KR" altLang="en-US" sz="1300" b="1" kern="0" dirty="0">
                    <a:ln>
                      <a:solidFill>
                        <a:schemeClr val="tx1">
                          <a:alpha val="30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주행 경로상 미개척 영역 판단</a:t>
                </a:r>
                <a:endParaRPr lang="en-US" altLang="ko-KR" sz="1300" b="1" kern="0" dirty="0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  <a:p>
                <a:pPr marL="88900"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120000"/>
                  <a:defRPr/>
                </a:pPr>
                <a:r>
                  <a:rPr lang="en-US" altLang="ko-KR" sz="1300" b="1" kern="0" dirty="0">
                    <a:ln>
                      <a:solidFill>
                        <a:schemeClr val="tx1">
                          <a:alpha val="30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i) </a:t>
                </a:r>
                <a:r>
                  <a:rPr lang="ko-KR" altLang="en-US" sz="1300" b="1" kern="0" dirty="0">
                    <a:ln>
                      <a:solidFill>
                        <a:schemeClr val="tx1">
                          <a:alpha val="30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전역경로 노면 상태 확인</a:t>
                </a:r>
                <a:endParaRPr lang="en-US" altLang="ko-KR" sz="1300" b="1" kern="0" dirty="0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  <a:p>
                <a:pPr marL="88900"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120000"/>
                  <a:defRPr/>
                </a:pP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  - (n-1)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세트의 직선 경로 영역 분할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𝑍</m:t>
                        </m:r>
                      </m:e>
                      <m:sub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ko-KR" sz="1300" i="1" ker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~ </m:t>
                    </m:r>
                    <m:sSub>
                      <m:sSubPr>
                        <m:ctrlP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𝑍</m:t>
                        </m:r>
                      </m:e>
                      <m:sub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𝑛</m:t>
                        </m:r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−1</m:t>
                        </m:r>
                      </m:sub>
                    </m:sSub>
                  </m:oMath>
                </a14:m>
                <a:b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</a:b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  - n-1 set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의 전역 경로 </a:t>
                </a: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point set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간 직선 도출</a:t>
                </a:r>
                <a:b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</a:b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                  </a:t>
                </a:r>
                <a14:m>
                  <m:oMath xmlns:m="http://schemas.openxmlformats.org/officeDocument/2006/math">
                    <m:r>
                      <a:rPr lang="en-US" altLang="ko-KR" sz="1300" i="1" ker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𝑦</m:t>
                    </m:r>
                    <m:r>
                      <a:rPr lang="en-US" altLang="ko-KR" sz="1300" i="1" ker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f>
                      <m:fPr>
                        <m:ctrlP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𝑛</m:t>
                            </m:r>
                            <m: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+1</m:t>
                            </m:r>
                          </m:sub>
                        </m:sSub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𝑛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𝑛</m:t>
                            </m:r>
                            <m: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+1</m:t>
                            </m:r>
                          </m:sub>
                        </m:sSub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𝑛</m:t>
                            </m:r>
                          </m:sub>
                        </m:sSub>
                      </m:den>
                    </m:f>
                    <m:d>
                      <m:dPr>
                        <m:ctrlP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altLang="ko-KR" sz="1300" i="1" ker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sSub>
                      <m:sSubPr>
                        <m:ctrlP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𝑛</m:t>
                        </m:r>
                      </m:sub>
                    </m:sSub>
                    <m:r>
                      <a:rPr lang="en-US" altLang="ko-KR" sz="1300" ker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endParaRPr lang="en-US" altLang="ko-KR" sz="130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  <a:p>
                <a:pPr marL="88900"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120000"/>
                  <a:defRPr/>
                </a:pP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  -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해당 직선의 </a:t>
                </a:r>
                <a14:m>
                  <m:oMath xmlns:m="http://schemas.openxmlformats.org/officeDocument/2006/math">
                    <m:r>
                      <a:rPr lang="en-US" altLang="ko-KR" sz="1300" i="1" ker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±</m:t>
                    </m:r>
                  </m:oMath>
                </a14:m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5m (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기울기가 </a:t>
                </a: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1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이 아닌 경우</a:t>
                </a: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): </a:t>
                </a:r>
              </a:p>
              <a:p>
                <a:pPr marL="88900"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120000"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ko-KR" sz="1300" i="1" kern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𝑦</m:t>
                      </m:r>
                      <m:r>
                        <a:rPr lang="en-US" altLang="ko-KR" sz="1300" i="1" kern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300" i="1" ker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ko-KR" sz="1300" i="1" kern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300" i="1" kern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ko-KR" sz="1300" i="1" kern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𝑛</m:t>
                              </m:r>
                              <m:r>
                                <a:rPr lang="en-US" altLang="ko-KR" sz="1300" i="1" kern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altLang="ko-KR" sz="1300" i="1" ker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sz="1300" i="1" kern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300" i="1" kern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ko-KR" sz="1300" i="1" kern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𝑛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ko-KR" sz="1300" i="1" kern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300" i="1" kern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sz="1300" i="1" kern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𝑛</m:t>
                              </m:r>
                              <m:r>
                                <a:rPr lang="en-US" altLang="ko-KR" sz="1300" i="1" kern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altLang="ko-KR" sz="1300" i="1" ker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sz="1300" i="1" kern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300" i="1" kern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sz="1300" i="1" kern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𝑛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en-US" altLang="ko-KR" sz="1300" i="1" ker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altLang="ko-KR" sz="1300" i="1" ker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  <m:r>
                            <a:rPr lang="en-US" altLang="ko-KR" sz="1300" i="1" ker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sz="1300" i="1" kern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300" i="1" kern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sz="1300" i="1" kern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altLang="ko-KR" sz="1300" i="1" kern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1300" i="1" ker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ko-KR" sz="1300" i="1" ker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ko-KR" sz="1300" i="1" ker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𝑛</m:t>
                          </m:r>
                        </m:sub>
                      </m:sSub>
                      <m:r>
                        <a:rPr lang="en-US" altLang="ko-KR" sz="1300" i="1" kern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±</m:t>
                      </m:r>
                      <m:r>
                        <a:rPr lang="en-US" altLang="ko-KR" sz="1300" b="0" i="1" kern="0" smtClean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4</m:t>
                      </m:r>
                      <m:r>
                        <a:rPr lang="en-US" altLang="ko-KR" sz="1300" i="1" kern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0 </m:t>
                      </m:r>
                    </m:oMath>
                  </m:oMathPara>
                </a14:m>
                <a:endParaRPr lang="en-US" altLang="ko-KR" sz="130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+mn-ea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marL="88900"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120000"/>
                  <a:defRPr/>
                </a:pP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  -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해당 직선의 </a:t>
                </a:r>
                <a14:m>
                  <m:oMath xmlns:m="http://schemas.openxmlformats.org/officeDocument/2006/math">
                    <m:r>
                      <a:rPr lang="en-US" altLang="ko-KR" sz="1300" i="1" ker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±</m:t>
                    </m:r>
                  </m:oMath>
                </a14:m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5m (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기울기가 </a:t>
                </a: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1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인 경우</a:t>
                </a: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):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= </m:t>
                        </m:r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𝑛</m:t>
                        </m:r>
                      </m:sub>
                    </m:sSub>
                    <m:r>
                      <a:rPr lang="en-US" altLang="ko-KR" sz="1300" i="1" ker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±</m:t>
                    </m:r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4</m:t>
                    </m:r>
                    <m:r>
                      <a:rPr lang="en-US" altLang="ko-KR" sz="1300" i="1" ker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0 </m:t>
                    </m:r>
                  </m:oMath>
                </a14:m>
                <a:endParaRPr lang="en-US" altLang="ko-KR" sz="130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+mn-ea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marL="88900"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120000"/>
                  <a:defRPr/>
                </a:pP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  -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해당 직선들로 둘러 쌓인 </a:t>
                </a: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grid cell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의 노면 정보 스캔</a:t>
                </a:r>
                <a:endParaRPr lang="en-US" altLang="ko-KR" sz="130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3" name="직사각형 52">
                <a:extLst>
                  <a:ext uri="{FF2B5EF4-FFF2-40B4-BE49-F238E27FC236}">
                    <a16:creationId xmlns:a16="http://schemas.microsoft.com/office/drawing/2014/main" id="{135566F2-DC88-CE5C-F21E-0D8FE91E0FA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1" y="3407437"/>
                <a:ext cx="4572000" cy="302339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3543563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7. </a:t>
            </a:r>
            <a:r>
              <a:rPr lang="ko-KR" altLang="en-US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미개척 지역 주행 환경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F55F954-5E86-475A-837F-2B8CED6C7DF1}" type="slidenum">
              <a:rPr lang="ko-KR" altLang="en-US" smtClean="0"/>
              <a:pPr/>
              <a:t>69</a:t>
            </a:fld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9B376484-42EB-4E05-AB43-0EA43DDEFF30}"/>
              </a:ext>
            </a:extLst>
          </p:cNvPr>
          <p:cNvSpPr/>
          <p:nvPr/>
        </p:nvSpPr>
        <p:spPr>
          <a:xfrm>
            <a:off x="5708509" y="1992886"/>
            <a:ext cx="2762795" cy="234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전역 경로 </a:t>
            </a:r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point set </a:t>
            </a:r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입력</a:t>
            </a:r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6F975BE8-128D-4637-9110-0D3E81A2C56F}"/>
              </a:ext>
            </a:extLst>
          </p:cNvPr>
          <p:cNvCxnSpPr>
            <a:cxnSpLocks/>
          </p:cNvCxnSpPr>
          <p:nvPr/>
        </p:nvCxnSpPr>
        <p:spPr>
          <a:xfrm>
            <a:off x="7089899" y="2246973"/>
            <a:ext cx="0" cy="56136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타원 30">
            <a:extLst>
              <a:ext uri="{FF2B5EF4-FFF2-40B4-BE49-F238E27FC236}">
                <a16:creationId xmlns:a16="http://schemas.microsoft.com/office/drawing/2014/main" id="{91B1E868-5DDB-40EE-8B09-819C7D94CC97}"/>
              </a:ext>
            </a:extLst>
          </p:cNvPr>
          <p:cNvSpPr/>
          <p:nvPr/>
        </p:nvSpPr>
        <p:spPr>
          <a:xfrm>
            <a:off x="5425513" y="2519294"/>
            <a:ext cx="252000" cy="252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rPr>
              <a:t>1</a:t>
            </a:r>
            <a:endParaRPr lang="ko-KR" altLang="en-US" sz="9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Arial" panose="020B0604020202020204" pitchFamily="34" charset="0"/>
              <a:ea typeface="KoPub돋움체 Bold" panose="02020603020101020101" pitchFamily="18" charset="-127"/>
              <a:cs typeface="Arial" panose="020B0604020202020204" pitchFamily="34" charset="0"/>
            </a:endParaRPr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7FE1202A-47E4-4793-B8CC-E53FC9614E3C}"/>
              </a:ext>
            </a:extLst>
          </p:cNvPr>
          <p:cNvSpPr/>
          <p:nvPr/>
        </p:nvSpPr>
        <p:spPr>
          <a:xfrm>
            <a:off x="5468082" y="3082237"/>
            <a:ext cx="252000" cy="252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rPr>
              <a:t>2</a:t>
            </a:r>
            <a:endParaRPr lang="ko-KR" altLang="en-US" sz="9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Arial" panose="020B0604020202020204" pitchFamily="34" charset="0"/>
              <a:ea typeface="KoPub돋움체 Bold" panose="02020603020101020101" pitchFamily="18" charset="-127"/>
              <a:cs typeface="Arial" panose="020B0604020202020204" pitchFamily="34" charset="0"/>
            </a:endParaRPr>
          </a:p>
        </p:txBody>
      </p:sp>
      <p:sp>
        <p:nvSpPr>
          <p:cNvPr id="34" name="순서도: 판단 33">
            <a:extLst>
              <a:ext uri="{FF2B5EF4-FFF2-40B4-BE49-F238E27FC236}">
                <a16:creationId xmlns:a16="http://schemas.microsoft.com/office/drawing/2014/main" id="{35F6A19C-E983-4845-BC31-DEBF7E4FF961}"/>
              </a:ext>
            </a:extLst>
          </p:cNvPr>
          <p:cNvSpPr/>
          <p:nvPr/>
        </p:nvSpPr>
        <p:spPr>
          <a:xfrm>
            <a:off x="5708508" y="2824118"/>
            <a:ext cx="2762782" cy="468000"/>
          </a:xfrm>
          <a:prstGeom prst="flowChartDecision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주행 경로상 미개척 영역 존재</a:t>
            </a:r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?</a:t>
            </a:r>
            <a:endParaRPr lang="ko-KR" altLang="en-US" sz="105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01B271C8-8035-492B-BFCE-54436BBBF73A}"/>
              </a:ext>
            </a:extLst>
          </p:cNvPr>
          <p:cNvSpPr/>
          <p:nvPr/>
        </p:nvSpPr>
        <p:spPr>
          <a:xfrm>
            <a:off x="6481128" y="3512400"/>
            <a:ext cx="1217541" cy="234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위험환경 판단</a:t>
            </a:r>
          </a:p>
        </p:txBody>
      </p: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275B1623-9F15-4A3F-91E2-64BEF7980227}"/>
              </a:ext>
            </a:extLst>
          </p:cNvPr>
          <p:cNvCxnSpPr>
            <a:cxnSpLocks/>
            <a:stCxn id="34" idx="2"/>
          </p:cNvCxnSpPr>
          <p:nvPr/>
        </p:nvCxnSpPr>
        <p:spPr>
          <a:xfrm>
            <a:off x="7089899" y="3292118"/>
            <a:ext cx="0" cy="22028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직사각형 48">
                <a:extLst>
                  <a:ext uri="{FF2B5EF4-FFF2-40B4-BE49-F238E27FC236}">
                    <a16:creationId xmlns:a16="http://schemas.microsoft.com/office/drawing/2014/main" id="{27C49109-A77C-4235-99BE-4F6D293F0EF3}"/>
                  </a:ext>
                </a:extLst>
              </p:cNvPr>
              <p:cNvSpPr/>
              <p:nvPr/>
            </p:nvSpPr>
            <p:spPr>
              <a:xfrm>
                <a:off x="381000" y="873125"/>
                <a:ext cx="9144000" cy="18672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120000"/>
                  <a:defRPr/>
                </a:pPr>
                <a:r>
                  <a:rPr lang="en-US" altLang="ko-KR" sz="1300" b="1" kern="0" dirty="0">
                    <a:ln>
                      <a:solidFill>
                        <a:schemeClr val="tx1">
                          <a:alpha val="30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ii)</a:t>
                </a:r>
                <a:r>
                  <a:rPr lang="ko-KR" altLang="en-US" sz="1300" b="1" kern="0" dirty="0">
                    <a:ln>
                      <a:solidFill>
                        <a:schemeClr val="tx1">
                          <a:alpha val="30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작업지점 노면 상태 확인</a:t>
                </a:r>
                <a:endParaRPr lang="en-US" altLang="ko-KR" sz="1300" b="1" kern="0" dirty="0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120000"/>
                  <a:defRPr/>
                </a:pP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   - </a:t>
                </a:r>
                <a14:m>
                  <m:oMath xmlns:m="http://schemas.openxmlformats.org/officeDocument/2006/math">
                    <m:r>
                      <a:rPr lang="en-US" altLang="ko-KR" sz="1300" ker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US" altLang="ko-KR" sz="1300" i="1" ker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sSub>
                      <m:sSubPr>
                        <m:ctrlP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𝑛</m:t>
                        </m:r>
                      </m:sub>
                    </m:sSub>
                    <m:r>
                      <a:rPr lang="en-US" altLang="ko-KR" sz="1300" i="1" ker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sSub>
                      <m:sSubPr>
                        <m:ctrlP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𝑛</m:t>
                        </m:r>
                      </m:sub>
                    </m:sSub>
                    <m:r>
                      <a:rPr lang="en-US" altLang="ko-KR" sz="1300" i="1" ker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n-US" altLang="ko-KR" sz="1300" b="1" kern="0" dirty="0">
                    <a:ln>
                      <a:solidFill>
                        <a:schemeClr val="tx1">
                          <a:alpha val="30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기준 반경 </a:t>
                </a: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5m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인 원의 방정식 도출</a:t>
                </a: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:</a:t>
                </a: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120000"/>
                  <a:defRPr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          (</m:t>
                        </m:r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)</m:t>
                        </m:r>
                      </m:e>
                      <m:sup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+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(</m:t>
                        </m:r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𝑦</m:t>
                        </m:r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)</m:t>
                        </m:r>
                      </m:e>
                      <m:sup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20</m:t>
                        </m:r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0</m:t>
                        </m:r>
                      </m:e>
                      <m:sup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   </a:t>
                </a: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120000"/>
                  <a:defRPr/>
                </a:pP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   -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해당</a:t>
                </a: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원으로 둘러 쌓인 </a:t>
                </a: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grid cell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의 노면정보 스캔</a:t>
                </a:r>
                <a:endParaRPr lang="en-US" altLang="ko-KR" sz="130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120000"/>
                  <a:defRPr/>
                </a:pPr>
                <a:endParaRPr lang="en-US" altLang="ko-KR" sz="130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120000"/>
                  <a:defRPr/>
                </a:pPr>
                <a:endParaRPr lang="en-US" altLang="ko-KR" sz="130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9" name="직사각형 48">
                <a:extLst>
                  <a:ext uri="{FF2B5EF4-FFF2-40B4-BE49-F238E27FC236}">
                    <a16:creationId xmlns:a16="http://schemas.microsoft.com/office/drawing/2014/main" id="{27C49109-A77C-4235-99BE-4F6D293F0EF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873125"/>
                <a:ext cx="9144000" cy="186724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직사각형 50">
            <a:extLst>
              <a:ext uri="{FF2B5EF4-FFF2-40B4-BE49-F238E27FC236}">
                <a16:creationId xmlns:a16="http://schemas.microsoft.com/office/drawing/2014/main" id="{92306736-E332-4359-987D-55B6FB2FE60B}"/>
              </a:ext>
            </a:extLst>
          </p:cNvPr>
          <p:cNvSpPr/>
          <p:nvPr/>
        </p:nvSpPr>
        <p:spPr>
          <a:xfrm>
            <a:off x="8509303" y="2286124"/>
            <a:ext cx="1179245" cy="561363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5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노면 정보 지도 입력</a:t>
            </a:r>
            <a:endParaRPr lang="ko-KR" altLang="en-US" sz="105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1C99D4A5-DCBF-47CF-B41D-93573978BF4A}"/>
              </a:ext>
            </a:extLst>
          </p:cNvPr>
          <p:cNvCxnSpPr>
            <a:cxnSpLocks/>
            <a:stCxn id="51" idx="1"/>
          </p:cNvCxnSpPr>
          <p:nvPr/>
        </p:nvCxnSpPr>
        <p:spPr>
          <a:xfrm flipH="1">
            <a:off x="7089898" y="2566806"/>
            <a:ext cx="141940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직사각형 4">
                <a:extLst>
                  <a:ext uri="{FF2B5EF4-FFF2-40B4-BE49-F238E27FC236}">
                    <a16:creationId xmlns:a16="http://schemas.microsoft.com/office/drawing/2014/main" id="{906CA74E-44FB-0D43-4036-AB30115295BA}"/>
                  </a:ext>
                </a:extLst>
              </p:cNvPr>
              <p:cNvSpPr/>
              <p:nvPr/>
            </p:nvSpPr>
            <p:spPr>
              <a:xfrm>
                <a:off x="260231" y="2651062"/>
                <a:ext cx="4692770" cy="18159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120000"/>
                  <a:buFont typeface="+mj-ea"/>
                  <a:buAutoNum type="circleNumDbPlain" startAt="3"/>
                  <a:defRPr/>
                </a:pPr>
                <a:r>
                  <a:rPr lang="ko-KR" altLang="en-US" sz="1300" b="1" kern="0" dirty="0">
                    <a:ln>
                      <a:solidFill>
                        <a:schemeClr val="tx1">
                          <a:alpha val="30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미개척 지역 판단 </a:t>
                </a:r>
                <a:endParaRPr lang="en-US" altLang="ko-KR" sz="1300" b="1" kern="0" dirty="0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  <a:p>
                <a:pPr marL="177800"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120000"/>
                  <a:defRPr/>
                </a:pP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-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각 전역경로 </a:t>
                </a: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segment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예</a:t>
                </a:r>
                <a14:m>
                  <m:oMath xmlns:m="http://schemas.openxmlformats.org/officeDocument/2006/math">
                    <m:r>
                      <a:rPr lang="en-US" altLang="ko-KR" sz="1300" kern="0" dirty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:</m:t>
                    </m:r>
                    <m:r>
                      <a:rPr lang="en-US" altLang="ko-KR" sz="1300" b="0" i="0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d>
                      <m:dPr>
                        <m:ctrlP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ko-KR" sz="1300" i="1" ker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d>
                      <m:dPr>
                        <m:ctrlP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ko-KR" altLang="en-US" sz="1300" i="1" ker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는</m:t>
                    </m:r>
                  </m:oMath>
                </a14:m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한 </a:t>
                </a: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segment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</a:t>
                </a:r>
                <a:endParaRPr lang="en-US" altLang="ko-KR" sz="130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  <a:p>
                <a:pPr marL="177800"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120000"/>
                  <a:defRPr/>
                </a:pP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내의 총 </a:t>
                </a:r>
                <a:r>
                  <a:rPr lang="ko-KR" altLang="en-US" sz="1300" kern="0" dirty="0" err="1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그리드셀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개수의 </a:t>
                </a: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70%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이상이 </a:t>
                </a:r>
                <a:r>
                  <a:rPr lang="ko-KR" altLang="en-US" sz="1300" kern="0" dirty="0" err="1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미스캔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노면 </a:t>
                </a: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(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노면 값 </a:t>
                </a: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255)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일시</a:t>
                </a:r>
                <a:endParaRPr lang="en-US" altLang="ko-KR" sz="130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  <a:p>
                <a:pPr marL="177800"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120000"/>
                  <a:defRPr/>
                </a:pP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-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해당 전역경로는 미개척 지역으로 위험환경 판단</a:t>
                </a: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</a:t>
                </a:r>
              </a:p>
              <a:p>
                <a:pPr marL="177800"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120000"/>
                  <a:defRPr/>
                </a:pPr>
                <a:endParaRPr lang="en-US" altLang="ko-KR" sz="130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직사각형 4">
                <a:extLst>
                  <a:ext uri="{FF2B5EF4-FFF2-40B4-BE49-F238E27FC236}">
                    <a16:creationId xmlns:a16="http://schemas.microsoft.com/office/drawing/2014/main" id="{906CA74E-44FB-0D43-4036-AB30115295B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231" y="2651062"/>
                <a:ext cx="4692770" cy="181594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9523804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8BF34-8ED8-7236-AAD8-68BDC7C1C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B6C01113-3920-587A-9525-310E53306954}"/>
              </a:ext>
            </a:extLst>
          </p:cNvPr>
          <p:cNvSpPr/>
          <p:nvPr/>
        </p:nvSpPr>
        <p:spPr>
          <a:xfrm>
            <a:off x="2132243" y="1250301"/>
            <a:ext cx="3915697" cy="1474839"/>
          </a:xfrm>
          <a:custGeom>
            <a:avLst/>
            <a:gdLst>
              <a:gd name="connsiteX0" fmla="*/ 95864 w 3915697"/>
              <a:gd name="connsiteY0" fmla="*/ 464574 h 1474839"/>
              <a:gd name="connsiteX1" fmla="*/ 2057400 w 3915697"/>
              <a:gd name="connsiteY1" fmla="*/ 486697 h 1474839"/>
              <a:gd name="connsiteX2" fmla="*/ 3060290 w 3915697"/>
              <a:gd name="connsiteY2" fmla="*/ 0 h 1474839"/>
              <a:gd name="connsiteX3" fmla="*/ 3915697 w 3915697"/>
              <a:gd name="connsiteY3" fmla="*/ 376084 h 1474839"/>
              <a:gd name="connsiteX4" fmla="*/ 3620729 w 3915697"/>
              <a:gd name="connsiteY4" fmla="*/ 1165123 h 1474839"/>
              <a:gd name="connsiteX5" fmla="*/ 3082413 w 3915697"/>
              <a:gd name="connsiteY5" fmla="*/ 921774 h 1474839"/>
              <a:gd name="connsiteX6" fmla="*/ 2168013 w 3915697"/>
              <a:gd name="connsiteY6" fmla="*/ 1474839 h 1474839"/>
              <a:gd name="connsiteX7" fmla="*/ 169606 w 3915697"/>
              <a:gd name="connsiteY7" fmla="*/ 1467465 h 1474839"/>
              <a:gd name="connsiteX8" fmla="*/ 0 w 3915697"/>
              <a:gd name="connsiteY8" fmla="*/ 1467465 h 1474839"/>
              <a:gd name="connsiteX9" fmla="*/ 95864 w 3915697"/>
              <a:gd name="connsiteY9" fmla="*/ 464574 h 1474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915697" h="1474839">
                <a:moveTo>
                  <a:pt x="95864" y="464574"/>
                </a:moveTo>
                <a:lnTo>
                  <a:pt x="2057400" y="486697"/>
                </a:lnTo>
                <a:lnTo>
                  <a:pt x="3060290" y="0"/>
                </a:lnTo>
                <a:lnTo>
                  <a:pt x="3915697" y="376084"/>
                </a:lnTo>
                <a:lnTo>
                  <a:pt x="3620729" y="1165123"/>
                </a:lnTo>
                <a:lnTo>
                  <a:pt x="3082413" y="921774"/>
                </a:lnTo>
                <a:lnTo>
                  <a:pt x="2168013" y="1474839"/>
                </a:lnTo>
                <a:lnTo>
                  <a:pt x="169606" y="1467465"/>
                </a:lnTo>
                <a:lnTo>
                  <a:pt x="0" y="1467465"/>
                </a:lnTo>
                <a:lnTo>
                  <a:pt x="95864" y="464574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49FC092-5F5B-A4A4-44EA-D7B74081A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846" y="229251"/>
            <a:ext cx="9121492" cy="369332"/>
          </a:xfrm>
        </p:spPr>
        <p:txBody>
          <a:bodyPr/>
          <a:lstStyle/>
          <a:p>
            <a:r>
              <a:rPr lang="en-US" altLang="ko-KR" sz="24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8. </a:t>
            </a:r>
            <a:r>
              <a:rPr lang="ko-KR" altLang="en-US" sz="24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단차가 있는 주행 환경 </a:t>
            </a:r>
            <a:r>
              <a:rPr lang="en-US" altLang="ko-KR" sz="24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: </a:t>
            </a:r>
            <a:r>
              <a:rPr lang="ko-KR" altLang="en-US" sz="20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전역경로 및 작업지점 근방의 노면상태가 </a:t>
            </a:r>
            <a:r>
              <a:rPr lang="ko-KR" altLang="en-US" sz="2000" dirty="0" err="1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불균일</a:t>
            </a:r>
            <a:r>
              <a:rPr lang="ko-KR" altLang="en-US" sz="20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할 경우</a:t>
            </a:r>
            <a:endParaRPr lang="ko-KR" altLang="en-US" sz="240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5399F4D-9D53-282A-4CA0-283D41C85E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F55F954-5E86-475A-837F-2B8CED6C7DF1}" type="slidenum">
              <a:rPr lang="ko-KR" altLang="en-US" smtClean="0"/>
              <a:pPr/>
              <a:t>70</a:t>
            </a:fld>
            <a:endParaRPr lang="ko-KR" altLang="en-US"/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C00BA707-30CB-B5FA-A254-ABB95F0D6B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3695614"/>
              </p:ext>
            </p:extLst>
          </p:nvPr>
        </p:nvGraphicFramePr>
        <p:xfrm>
          <a:off x="752742" y="3594871"/>
          <a:ext cx="8064497" cy="29642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91444">
                  <a:extLst>
                    <a:ext uri="{9D8B030D-6E8A-4147-A177-3AD203B41FA5}">
                      <a16:colId xmlns:a16="http://schemas.microsoft.com/office/drawing/2014/main" val="4068469479"/>
                    </a:ext>
                  </a:extLst>
                </a:gridCol>
                <a:gridCol w="6073053">
                  <a:extLst>
                    <a:ext uri="{9D8B030D-6E8A-4147-A177-3AD203B41FA5}">
                      <a16:colId xmlns:a16="http://schemas.microsoft.com/office/drawing/2014/main" val="72431706"/>
                    </a:ext>
                  </a:extLst>
                </a:gridCol>
              </a:tblGrid>
              <a:tr h="4048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#8 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시나리오 개요 </a:t>
                      </a:r>
                    </a:p>
                  </a:txBody>
                  <a:tcPr marL="80649" marR="80649" marT="40325" marB="4032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(7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번 미개척 지역 주행환경에서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)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 개척된 노면 기준으로 전역경로 생성이 이루어졌다 해도 이동중 및 작업중 차량의 전도를 야기할 수 있는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불균일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/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경사노면에 대한 대응이 필요 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+mj-lt"/>
                        <a:ea typeface="+mn-ea"/>
                      </a:endParaRPr>
                    </a:p>
                  </a:txBody>
                  <a:tcPr marL="80649" marR="80649" marT="40325" marB="40325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8272158"/>
                  </a:ext>
                </a:extLst>
              </a:tr>
              <a:tr h="41883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시나리오</a:t>
                      </a:r>
                      <a:r>
                        <a:rPr lang="en-US" altLang="ko-KR" sz="1000" b="1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 </a:t>
                      </a:r>
                      <a:r>
                        <a:rPr lang="ko-KR" altLang="en-US" sz="1000" b="1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실행 조건 </a:t>
                      </a:r>
                      <a:endParaRPr lang="en-US" altLang="ko-KR" sz="1000" b="1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j-lt"/>
                        <a:ea typeface="+mn-ea"/>
                      </a:endParaRPr>
                    </a:p>
                    <a:p>
                      <a:pPr algn="ctr" latinLnBrk="1"/>
                      <a:r>
                        <a:rPr lang="en-US" altLang="ko-KR" sz="1000" b="1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(trigger condition)</a:t>
                      </a:r>
                      <a:endParaRPr lang="ko-KR" altLang="en-US" sz="1000" b="1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j-lt"/>
                        <a:ea typeface="+mn-ea"/>
                      </a:endParaRPr>
                    </a:p>
                  </a:txBody>
                  <a:tcPr marL="80649" marR="80649" marT="40325" marB="4032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Tx/>
                        <a:buNone/>
                      </a:pPr>
                      <a:r>
                        <a:rPr lang="ko-KR" altLang="en-US" sz="10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전역경로 </a:t>
                      </a:r>
                      <a:r>
                        <a:rPr lang="ko-KR" altLang="en-US" sz="1000" dirty="0" err="1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수신시</a:t>
                      </a:r>
                      <a:r>
                        <a:rPr lang="ko-KR" altLang="en-US" sz="10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 최초 </a:t>
                      </a:r>
                      <a:r>
                        <a:rPr lang="en-US" altLang="ko-KR" sz="10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1</a:t>
                      </a:r>
                      <a:r>
                        <a:rPr lang="ko-KR" altLang="en-US" sz="10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회 실행</a:t>
                      </a:r>
                      <a:endParaRPr lang="en-US" altLang="ko-KR" sz="10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j-lt"/>
                        <a:ea typeface="+mn-ea"/>
                      </a:endParaRPr>
                    </a:p>
                  </a:txBody>
                  <a:tcPr marL="80649" marR="80649" marT="40325" marB="40325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273523"/>
                  </a:ext>
                </a:extLst>
              </a:tr>
              <a:tr h="1458778">
                <a:tc>
                  <a:txBody>
                    <a:bodyPr/>
                    <a:lstStyle/>
                    <a:p>
                      <a:pPr marL="0" marR="0" indent="0" algn="ctr" defTabSz="103674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dirty="0" err="1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판단로직</a:t>
                      </a:r>
                      <a:endParaRPr lang="ko-KR" altLang="en-US" sz="1000" b="1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j-lt"/>
                        <a:ea typeface="+mn-ea"/>
                      </a:endParaRPr>
                    </a:p>
                  </a:txBody>
                  <a:tcPr marL="80649" marR="80649" marT="40325" marB="4032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Tx/>
                        <a:buNone/>
                      </a:pPr>
                      <a:r>
                        <a:rPr lang="en-US" altLang="ko-KR" sz="1000" kern="12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lang="ko-KR" altLang="en-US" sz="1000" kern="12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노면 정보 스캔 </a:t>
                      </a:r>
                      <a:r>
                        <a:rPr lang="en-US" altLang="ko-KR" sz="1000" kern="12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1000" kern="1200" dirty="0" err="1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road_z</a:t>
                      </a:r>
                      <a:r>
                        <a:rPr lang="en-US" altLang="ko-KR" sz="1000" kern="12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000" kern="12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n-US" altLang="ko-KR" sz="1000" kern="12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000" kern="12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전역경로 좌우 </a:t>
                      </a:r>
                      <a:r>
                        <a:rPr lang="en-US" altLang="ko-KR" sz="1000" kern="12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10m </a:t>
                      </a:r>
                      <a:r>
                        <a:rPr lang="ko-KR" altLang="en-US" sz="1000" kern="12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띠 영역</a:t>
                      </a:r>
                      <a:r>
                        <a:rPr lang="en-US" altLang="ko-KR" sz="1000" kern="12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kern="12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노면 스캔</a:t>
                      </a:r>
                      <a:endParaRPr lang="en-US" altLang="ko-KR" sz="1000" kern="12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000" kern="12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작업지점 </a:t>
                      </a:r>
                      <a:r>
                        <a:rPr lang="en-US" altLang="ko-KR" sz="1000" kern="12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전역경로 마지막 </a:t>
                      </a:r>
                      <a:r>
                        <a:rPr lang="en-US" altLang="ko-KR" sz="1000" kern="1200" dirty="0" err="1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x,y</a:t>
                      </a:r>
                      <a:r>
                        <a:rPr lang="en-US" altLang="ko-KR" sz="1000" kern="12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kern="12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값</a:t>
                      </a:r>
                      <a:r>
                        <a:rPr lang="en-US" altLang="ko-KR" sz="1000" kern="12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000" kern="12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반경 </a:t>
                      </a:r>
                      <a:r>
                        <a:rPr lang="en-US" altLang="ko-KR" sz="1000" kern="12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20m </a:t>
                      </a:r>
                      <a:r>
                        <a:rPr lang="ko-KR" altLang="en-US" sz="1000" kern="12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이내 노면 스캔</a:t>
                      </a:r>
                      <a:endParaRPr lang="en-US" altLang="ko-KR" sz="1000" kern="12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indent="-171450" algn="l" latinLnBrk="1">
                        <a:buFontTx/>
                        <a:buChar char="-"/>
                      </a:pPr>
                      <a:endParaRPr lang="en-US" altLang="ko-KR" sz="10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j-lt"/>
                        <a:ea typeface="+mn-ea"/>
                      </a:endParaRPr>
                    </a:p>
                    <a:p>
                      <a:pPr algn="l" latinLnBrk="1"/>
                      <a:r>
                        <a:rPr lang="en-US" altLang="ko-KR" sz="10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2. </a:t>
                      </a:r>
                      <a:r>
                        <a:rPr lang="ko-KR" altLang="en-US" sz="1000" dirty="0" err="1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스캔된</a:t>
                      </a:r>
                      <a:r>
                        <a:rPr lang="ko-KR" altLang="en-US" sz="10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 노면에 한해 차량 제어의 불안정성을 야기하는 노면의 </a:t>
                      </a:r>
                      <a:r>
                        <a:rPr lang="ko-KR" altLang="en-US" sz="1000" dirty="0" err="1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불균일</a:t>
                      </a:r>
                      <a:r>
                        <a:rPr lang="ko-KR" altLang="en-US" sz="10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 상태를 판단</a:t>
                      </a:r>
                      <a:endParaRPr lang="en-US" altLang="ko-KR" sz="10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j-lt"/>
                        <a:ea typeface="+mn-ea"/>
                      </a:endParaRPr>
                    </a:p>
                    <a:p>
                      <a:pPr marL="0" indent="0" algn="l" latinLnBrk="1">
                        <a:buFontTx/>
                        <a:buNone/>
                      </a:pPr>
                      <a:r>
                        <a:rPr lang="en-US" altLang="ko-KR" sz="1000" dirty="0" err="1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i</a:t>
                      </a:r>
                      <a:r>
                        <a:rPr lang="en-US" altLang="ko-KR" sz="10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) Seed cell </a:t>
                      </a:r>
                      <a:r>
                        <a:rPr lang="ko-KR" altLang="en-US" sz="10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추출 </a:t>
                      </a:r>
                      <a:r>
                        <a:rPr lang="en-US" altLang="ko-KR" sz="10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(|</a:t>
                      </a:r>
                      <a:r>
                        <a:rPr lang="ko-KR" altLang="en-US" sz="10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높이</a:t>
                      </a:r>
                      <a:r>
                        <a:rPr lang="en-US" altLang="ko-KR" sz="10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|</a:t>
                      </a:r>
                      <a:r>
                        <a:rPr lang="ko-KR" altLang="en-US" sz="10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 </a:t>
                      </a:r>
                      <a:r>
                        <a:rPr lang="en-US" altLang="ko-KR" sz="10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&gt; 0.5m</a:t>
                      </a:r>
                      <a:r>
                        <a:rPr lang="ko-KR" altLang="en-US" sz="10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인 </a:t>
                      </a:r>
                      <a:r>
                        <a:rPr lang="ko-KR" altLang="en-US" sz="1000" dirty="0" err="1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그리드셀</a:t>
                      </a:r>
                      <a:r>
                        <a:rPr lang="en-US" altLang="ko-KR" sz="10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)</a:t>
                      </a:r>
                      <a:endParaRPr lang="en-US" altLang="ko-KR" sz="1000" dirty="0"/>
                    </a:p>
                    <a:p>
                      <a:pPr marL="0" indent="0" algn="l" latinLnBrk="1">
                        <a:buFontTx/>
                        <a:buNone/>
                      </a:pPr>
                      <a:r>
                        <a:rPr lang="en-US" altLang="ko-KR" sz="1000" dirty="0"/>
                        <a:t>ii) Seed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cell </a:t>
                      </a:r>
                      <a:r>
                        <a:rPr lang="ko-KR" altLang="en-US" sz="1000" dirty="0"/>
                        <a:t>주변으로 군집화 </a:t>
                      </a:r>
                      <a:r>
                        <a:rPr lang="en-US" altLang="ko-KR" sz="1000" dirty="0"/>
                        <a:t>(</a:t>
                      </a:r>
                      <a:r>
                        <a:rPr lang="ko-KR" altLang="en-US" sz="1000" dirty="0"/>
                        <a:t>주변 셀 중 높이 차이가 작은 셀을 반복적으로 포함시켜</a:t>
                      </a:r>
                      <a:br>
                        <a:rPr lang="ko-KR" altLang="en-US" sz="1000" dirty="0"/>
                      </a:br>
                      <a:r>
                        <a:rPr lang="ko-KR" altLang="en-US" sz="1000" dirty="0"/>
                        <a:t>하나의 지형</a:t>
                      </a:r>
                      <a:r>
                        <a:rPr lang="en-US" altLang="ko-KR" sz="1000" dirty="0"/>
                        <a:t>(</a:t>
                      </a:r>
                      <a:r>
                        <a:rPr lang="ko-KR" altLang="en-US" sz="1000" dirty="0"/>
                        <a:t>예</a:t>
                      </a:r>
                      <a:r>
                        <a:rPr lang="en-US" altLang="ko-KR" sz="1000" dirty="0"/>
                        <a:t>: </a:t>
                      </a:r>
                      <a:r>
                        <a:rPr lang="ko-KR" altLang="en-US" sz="1000" dirty="0"/>
                        <a:t>모래언덕</a:t>
                      </a:r>
                      <a:r>
                        <a:rPr lang="en-US" altLang="ko-KR" sz="1000" dirty="0"/>
                        <a:t>)</a:t>
                      </a:r>
                      <a:r>
                        <a:rPr lang="ko-KR" altLang="en-US" sz="1000" dirty="0"/>
                        <a:t>을 형성하는 셀 집합을 생성하는 과정</a:t>
                      </a:r>
                      <a:r>
                        <a:rPr lang="en-US" altLang="ko-KR" sz="1000" dirty="0"/>
                        <a:t>)</a:t>
                      </a:r>
                    </a:p>
                    <a:p>
                      <a:pPr marL="0" indent="0" algn="l" latinLnBrk="1">
                        <a:buFontTx/>
                        <a:buNone/>
                      </a:pPr>
                      <a:r>
                        <a:rPr lang="en-US" altLang="ko-KR" sz="10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iii) </a:t>
                      </a:r>
                      <a:r>
                        <a:rPr lang="ko-KR" altLang="en-US" sz="1000" dirty="0" err="1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군집화된</a:t>
                      </a:r>
                      <a:r>
                        <a:rPr lang="ko-KR" altLang="en-US" sz="10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 지형의 </a:t>
                      </a:r>
                      <a:r>
                        <a:rPr lang="en-US" altLang="ko-KR" sz="10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slope </a:t>
                      </a:r>
                      <a:r>
                        <a:rPr lang="ko-KR" altLang="en-US" sz="10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계산 </a:t>
                      </a:r>
                      <a:endParaRPr lang="en-US" altLang="ko-KR" sz="10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j-lt"/>
                        <a:ea typeface="+mn-ea"/>
                      </a:endParaRPr>
                    </a:p>
                  </a:txBody>
                  <a:tcPr marL="80649" marR="80649" marT="40325" marB="40325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918334"/>
                  </a:ext>
                </a:extLst>
              </a:tr>
              <a:tr h="340919">
                <a:tc>
                  <a:txBody>
                    <a:bodyPr/>
                    <a:lstStyle/>
                    <a:p>
                      <a:pPr marL="0" marR="0" indent="0" algn="ctr" defTabSz="103674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위험판단 여부</a:t>
                      </a:r>
                    </a:p>
                  </a:txBody>
                  <a:tcPr marL="80649" marR="80649" marT="40325" marB="4032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 err="1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isHazard</a:t>
                      </a:r>
                      <a:r>
                        <a:rPr lang="en-US" altLang="ko-KR" sz="10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 </a:t>
                      </a:r>
                      <a:r>
                        <a:rPr lang="ko-KR" altLang="en-US" sz="10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플래그가</a:t>
                      </a:r>
                      <a:r>
                        <a:rPr lang="en-US" altLang="ko-KR" sz="10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 true </a:t>
                      </a:r>
                      <a:endParaRPr lang="ko-KR" altLang="en-US" sz="10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j-lt"/>
                        <a:ea typeface="+mn-ea"/>
                      </a:endParaRPr>
                    </a:p>
                  </a:txBody>
                  <a:tcPr marL="80649" marR="80649" marT="40325" marB="40325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7609690"/>
                  </a:ext>
                </a:extLst>
              </a:tr>
              <a:tr h="34091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대응전략</a:t>
                      </a:r>
                    </a:p>
                  </a:txBody>
                  <a:tcPr marL="80649" marR="80649" marT="40325" marB="4032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경로 생성 모듈이 새로운 경로를 생성</a:t>
                      </a:r>
                    </a:p>
                  </a:txBody>
                  <a:tcPr marL="80649" marR="80649" marT="40325" marB="40325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9116267"/>
                  </a:ext>
                </a:extLst>
              </a:tr>
            </a:tbl>
          </a:graphicData>
        </a:graphic>
      </p:graphicFrame>
      <p:grpSp>
        <p:nvGrpSpPr>
          <p:cNvPr id="81" name="그룹 80">
            <a:extLst>
              <a:ext uri="{FF2B5EF4-FFF2-40B4-BE49-F238E27FC236}">
                <a16:creationId xmlns:a16="http://schemas.microsoft.com/office/drawing/2014/main" id="{56E99222-C58F-94F5-F7C3-2946E8293741}"/>
              </a:ext>
            </a:extLst>
          </p:cNvPr>
          <p:cNvGrpSpPr/>
          <p:nvPr/>
        </p:nvGrpSpPr>
        <p:grpSpPr>
          <a:xfrm>
            <a:off x="1643448" y="1168192"/>
            <a:ext cx="6116198" cy="2173308"/>
            <a:chOff x="1658688" y="1168192"/>
            <a:chExt cx="6116198" cy="2173308"/>
          </a:xfrm>
        </p:grpSpPr>
        <p:sp>
          <p:nvSpPr>
            <p:cNvPr id="64" name="타원 63">
              <a:extLst>
                <a:ext uri="{FF2B5EF4-FFF2-40B4-BE49-F238E27FC236}">
                  <a16:creationId xmlns:a16="http://schemas.microsoft.com/office/drawing/2014/main" id="{68EB39DD-B7B7-17D9-5967-098EDB5D6289}"/>
                </a:ext>
              </a:extLst>
            </p:cNvPr>
            <p:cNvSpPr/>
            <p:nvPr/>
          </p:nvSpPr>
          <p:spPr>
            <a:xfrm>
              <a:off x="5710049" y="1511983"/>
              <a:ext cx="1740396" cy="1829517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D3D227D3-3807-D76B-F2F3-0B8084925438}"/>
                </a:ext>
              </a:extLst>
            </p:cNvPr>
            <p:cNvGrpSpPr/>
            <p:nvPr/>
          </p:nvGrpSpPr>
          <p:grpSpPr>
            <a:xfrm>
              <a:off x="1658688" y="1168192"/>
              <a:ext cx="3541191" cy="2173308"/>
              <a:chOff x="3409495" y="2099261"/>
              <a:chExt cx="3541191" cy="2173308"/>
            </a:xfrm>
          </p:grpSpPr>
          <p:cxnSp>
            <p:nvCxnSpPr>
              <p:cNvPr id="7" name="직선 연결선 6">
                <a:extLst>
                  <a:ext uri="{FF2B5EF4-FFF2-40B4-BE49-F238E27FC236}">
                    <a16:creationId xmlns:a16="http://schemas.microsoft.com/office/drawing/2014/main" id="{C7C9EECE-8B0A-EA68-1D6F-FF28DB0F2FC7}"/>
                  </a:ext>
                </a:extLst>
              </p:cNvPr>
              <p:cNvCxnSpPr/>
              <p:nvPr/>
            </p:nvCxnSpPr>
            <p:spPr>
              <a:xfrm flipV="1">
                <a:off x="4038715" y="3660745"/>
                <a:ext cx="2042275" cy="5313"/>
              </a:xfrm>
              <a:prstGeom prst="line">
                <a:avLst/>
              </a:prstGeom>
              <a:ln w="19050" cap="flat" cmpd="sng" algn="ctr">
                <a:solidFill>
                  <a:schemeClr val="accent6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8" name="직선 연결선 7">
                <a:extLst>
                  <a:ext uri="{FF2B5EF4-FFF2-40B4-BE49-F238E27FC236}">
                    <a16:creationId xmlns:a16="http://schemas.microsoft.com/office/drawing/2014/main" id="{8303181C-E1ED-C37A-EEC0-E93F1B72A7C7}"/>
                  </a:ext>
                </a:extLst>
              </p:cNvPr>
              <p:cNvCxnSpPr/>
              <p:nvPr/>
            </p:nvCxnSpPr>
            <p:spPr>
              <a:xfrm flipV="1">
                <a:off x="3866937" y="2669410"/>
                <a:ext cx="2130151" cy="5314"/>
              </a:xfrm>
              <a:prstGeom prst="line">
                <a:avLst/>
              </a:prstGeom>
              <a:ln w="19050" cap="flat" cmpd="sng" algn="ctr">
                <a:solidFill>
                  <a:schemeClr val="accent6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9" name="직선 화살표 연결선 8">
                <a:extLst>
                  <a:ext uri="{FF2B5EF4-FFF2-40B4-BE49-F238E27FC236}">
                    <a16:creationId xmlns:a16="http://schemas.microsoft.com/office/drawing/2014/main" id="{456E3C2A-AB82-50F0-B352-5195B919482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95506" y="3181533"/>
                <a:ext cx="1685484" cy="0"/>
              </a:xfrm>
              <a:prstGeom prst="straightConnector1">
                <a:avLst/>
              </a:prstGeom>
              <a:ln w="38100">
                <a:solidFill>
                  <a:schemeClr val="accent6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CCFD5D2-32DB-EE52-01A1-884B48648411}"/>
                  </a:ext>
                </a:extLst>
              </p:cNvPr>
              <p:cNvSpPr txBox="1"/>
              <p:nvPr/>
            </p:nvSpPr>
            <p:spPr>
              <a:xfrm>
                <a:off x="5547664" y="3269722"/>
                <a:ext cx="54845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dirty="0">
                    <a:latin typeface="+mn-ea"/>
                  </a:rPr>
                  <a:t>10m</a:t>
                </a:r>
                <a:endParaRPr lang="ko-KR" altLang="en-US" sz="1200" dirty="0">
                  <a:latin typeface="+mn-ea"/>
                </a:endParaRPr>
              </a:p>
            </p:txBody>
          </p:sp>
          <p:grpSp>
            <p:nvGrpSpPr>
              <p:cNvPr id="18" name="그룹 17">
                <a:extLst>
                  <a:ext uri="{FF2B5EF4-FFF2-40B4-BE49-F238E27FC236}">
                    <a16:creationId xmlns:a16="http://schemas.microsoft.com/office/drawing/2014/main" id="{DBA14D85-F976-57AF-C9F3-B0686721945D}"/>
                  </a:ext>
                </a:extLst>
              </p:cNvPr>
              <p:cNvGrpSpPr/>
              <p:nvPr/>
            </p:nvGrpSpPr>
            <p:grpSpPr>
              <a:xfrm>
                <a:off x="3409495" y="2099261"/>
                <a:ext cx="1989829" cy="2173308"/>
                <a:chOff x="4234778" y="2962285"/>
                <a:chExt cx="1989829" cy="2173308"/>
              </a:xfrm>
            </p:grpSpPr>
            <p:sp>
              <p:nvSpPr>
                <p:cNvPr id="19" name="모서리가 둥근 직사각형 38">
                  <a:extLst>
                    <a:ext uri="{FF2B5EF4-FFF2-40B4-BE49-F238E27FC236}">
                      <a16:creationId xmlns:a16="http://schemas.microsoft.com/office/drawing/2014/main" id="{E298878B-9B09-DCD2-E16C-F7C361BA744C}"/>
                    </a:ext>
                  </a:extLst>
                </p:cNvPr>
                <p:cNvSpPr/>
                <p:nvPr/>
              </p:nvSpPr>
              <p:spPr>
                <a:xfrm>
                  <a:off x="4789745" y="3581287"/>
                  <a:ext cx="879895" cy="935304"/>
                </a:xfrm>
                <a:prstGeom prst="roundRect">
                  <a:avLst/>
                </a:prstGeom>
                <a:ln>
                  <a:solidFill>
                    <a:schemeClr val="accent5"/>
                  </a:solidFill>
                </a:ln>
              </p:spPr>
              <p:style>
                <a:lnRef idx="2">
                  <a:schemeClr val="accent5">
                    <a:shade val="50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200" dirty="0" err="1"/>
                    <a:t>특장차량</a:t>
                  </a:r>
                  <a:endParaRPr lang="ko-KR" altLang="en-US" sz="1200" dirty="0"/>
                </a:p>
              </p:txBody>
            </p:sp>
            <p:sp>
              <p:nvSpPr>
                <p:cNvPr id="20" name="모서리가 둥근 직사각형 39">
                  <a:extLst>
                    <a:ext uri="{FF2B5EF4-FFF2-40B4-BE49-F238E27FC236}">
                      <a16:creationId xmlns:a16="http://schemas.microsoft.com/office/drawing/2014/main" id="{9E5860F1-F4F1-913A-318B-694468ABA12A}"/>
                    </a:ext>
                  </a:extLst>
                </p:cNvPr>
                <p:cNvSpPr/>
                <p:nvPr/>
              </p:nvSpPr>
              <p:spPr>
                <a:xfrm>
                  <a:off x="4234778" y="2962285"/>
                  <a:ext cx="554967" cy="619002"/>
                </a:xfrm>
                <a:prstGeom prst="round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>
                  <a:solidFill>
                    <a:schemeClr val="accent5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5">
                    <a:shade val="50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200" dirty="0" err="1"/>
                    <a:t>보조차량</a:t>
                  </a:r>
                  <a:endParaRPr lang="ko-KR" altLang="en-US" sz="1200" dirty="0"/>
                </a:p>
              </p:txBody>
            </p:sp>
            <p:sp>
              <p:nvSpPr>
                <p:cNvPr id="21" name="모서리가 둥근 직사각형 41">
                  <a:extLst>
                    <a:ext uri="{FF2B5EF4-FFF2-40B4-BE49-F238E27FC236}">
                      <a16:creationId xmlns:a16="http://schemas.microsoft.com/office/drawing/2014/main" id="{3922DFBE-E5DA-B9A1-E3F1-5F0E5A2EBF6E}"/>
                    </a:ext>
                  </a:extLst>
                </p:cNvPr>
                <p:cNvSpPr/>
                <p:nvPr/>
              </p:nvSpPr>
              <p:spPr>
                <a:xfrm>
                  <a:off x="5669640" y="2962285"/>
                  <a:ext cx="554967" cy="619002"/>
                </a:xfrm>
                <a:prstGeom prst="round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>
                  <a:solidFill>
                    <a:schemeClr val="accent5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5">
                    <a:shade val="50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200" dirty="0" err="1"/>
                    <a:t>보조차량</a:t>
                  </a:r>
                  <a:endParaRPr lang="ko-KR" altLang="en-US" sz="1200" dirty="0"/>
                </a:p>
              </p:txBody>
            </p:sp>
            <p:sp>
              <p:nvSpPr>
                <p:cNvPr id="22" name="모서리가 둥근 직사각형 42">
                  <a:extLst>
                    <a:ext uri="{FF2B5EF4-FFF2-40B4-BE49-F238E27FC236}">
                      <a16:creationId xmlns:a16="http://schemas.microsoft.com/office/drawing/2014/main" id="{D9235B13-84FD-7E2C-EC1D-8B1F9FB17CE4}"/>
                    </a:ext>
                  </a:extLst>
                </p:cNvPr>
                <p:cNvSpPr/>
                <p:nvPr/>
              </p:nvSpPr>
              <p:spPr>
                <a:xfrm>
                  <a:off x="4234778" y="4516591"/>
                  <a:ext cx="554967" cy="619002"/>
                </a:xfrm>
                <a:prstGeom prst="round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>
                  <a:solidFill>
                    <a:schemeClr val="accent5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5">
                    <a:shade val="50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200" dirty="0" err="1"/>
                    <a:t>보조차량</a:t>
                  </a:r>
                  <a:endParaRPr lang="ko-KR" altLang="en-US" sz="1200" dirty="0"/>
                </a:p>
              </p:txBody>
            </p:sp>
            <p:sp>
              <p:nvSpPr>
                <p:cNvPr id="23" name="모서리가 둥근 직사각형 43">
                  <a:extLst>
                    <a:ext uri="{FF2B5EF4-FFF2-40B4-BE49-F238E27FC236}">
                      <a16:creationId xmlns:a16="http://schemas.microsoft.com/office/drawing/2014/main" id="{008882AE-BC43-8988-B370-2C9DC943CECF}"/>
                    </a:ext>
                  </a:extLst>
                </p:cNvPr>
                <p:cNvSpPr/>
                <p:nvPr/>
              </p:nvSpPr>
              <p:spPr>
                <a:xfrm>
                  <a:off x="5669639" y="4516591"/>
                  <a:ext cx="554967" cy="619002"/>
                </a:xfrm>
                <a:prstGeom prst="round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>
                  <a:solidFill>
                    <a:schemeClr val="accent5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5">
                    <a:shade val="50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200" dirty="0" err="1"/>
                    <a:t>보조차량</a:t>
                  </a:r>
                  <a:endParaRPr lang="ko-KR" altLang="en-US" sz="1200" dirty="0"/>
                </a:p>
              </p:txBody>
            </p:sp>
          </p:grpSp>
          <p:cxnSp>
            <p:nvCxnSpPr>
              <p:cNvPr id="24" name="직선 화살표 연결선 23">
                <a:extLst>
                  <a:ext uri="{FF2B5EF4-FFF2-40B4-BE49-F238E27FC236}">
                    <a16:creationId xmlns:a16="http://schemas.microsoft.com/office/drawing/2014/main" id="{F0E4DCDF-1BF1-981E-2C37-5F6A4744803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005806" y="2639069"/>
                <a:ext cx="944880" cy="549643"/>
              </a:xfrm>
              <a:prstGeom prst="straightConnector1">
                <a:avLst/>
              </a:prstGeom>
              <a:ln w="38100">
                <a:solidFill>
                  <a:schemeClr val="accent6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직선 연결선 25">
                <a:extLst>
                  <a:ext uri="{FF2B5EF4-FFF2-40B4-BE49-F238E27FC236}">
                    <a16:creationId xmlns:a16="http://schemas.microsoft.com/office/drawing/2014/main" id="{14E98500-37E6-4F29-531B-AC5999409A1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955524" y="2184778"/>
                <a:ext cx="995162" cy="484632"/>
              </a:xfrm>
              <a:prstGeom prst="line">
                <a:avLst/>
              </a:prstGeom>
              <a:ln w="19050" cap="flat" cmpd="sng" algn="ctr">
                <a:solidFill>
                  <a:schemeClr val="accent6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27" name="직선 화살표 연결선 26">
                <a:extLst>
                  <a:ext uri="{FF2B5EF4-FFF2-40B4-BE49-F238E27FC236}">
                    <a16:creationId xmlns:a16="http://schemas.microsoft.com/office/drawing/2014/main" id="{3DE6016E-3567-5EC0-3AB0-425ABA5D840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660556" y="2669410"/>
                <a:ext cx="7741" cy="487734"/>
              </a:xfrm>
              <a:prstGeom prst="straightConnector1">
                <a:avLst/>
              </a:prstGeom>
              <a:ln w="3175">
                <a:prstDash val="dash"/>
                <a:headEnd type="triangle"/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2300D89-555F-E6B3-961A-0DD2C429ACB6}"/>
                  </a:ext>
                </a:extLst>
              </p:cNvPr>
              <p:cNvSpPr txBox="1"/>
              <p:nvPr/>
            </p:nvSpPr>
            <p:spPr>
              <a:xfrm>
                <a:off x="5549535" y="2772601"/>
                <a:ext cx="54845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dirty="0">
                    <a:latin typeface="+mn-ea"/>
                  </a:rPr>
                  <a:t>10m</a:t>
                </a:r>
                <a:endParaRPr lang="ko-KR" altLang="en-US" sz="1200" dirty="0">
                  <a:latin typeface="+mn-ea"/>
                </a:endParaRPr>
              </a:p>
            </p:txBody>
          </p:sp>
        </p:grpSp>
        <p:cxnSp>
          <p:nvCxnSpPr>
            <p:cNvPr id="28" name="직선 화살표 연결선 27">
              <a:extLst>
                <a:ext uri="{FF2B5EF4-FFF2-40B4-BE49-F238E27FC236}">
                  <a16:creationId xmlns:a16="http://schemas.microsoft.com/office/drawing/2014/main" id="{3A5E38FB-B3E5-1904-C98A-1F7275142932}"/>
                </a:ext>
              </a:extLst>
            </p:cNvPr>
            <p:cNvCxnSpPr>
              <a:cxnSpLocks/>
            </p:cNvCxnSpPr>
            <p:nvPr/>
          </p:nvCxnSpPr>
          <p:spPr>
            <a:xfrm>
              <a:off x="5178196" y="1727803"/>
              <a:ext cx="1457831" cy="665125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직선 연결선 36">
              <a:extLst>
                <a:ext uri="{FF2B5EF4-FFF2-40B4-BE49-F238E27FC236}">
                  <a16:creationId xmlns:a16="http://schemas.microsoft.com/office/drawing/2014/main" id="{4B644160-30E2-5D54-A473-AEDCF47420E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11242" y="2183225"/>
              <a:ext cx="880167" cy="538073"/>
            </a:xfrm>
            <a:prstGeom prst="line">
              <a:avLst/>
            </a:prstGeom>
            <a:ln w="19050" cap="flat" cmpd="sng" algn="ctr">
              <a:solidFill>
                <a:schemeClr val="accent6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3" name="직선 연결선 42">
              <a:extLst>
                <a:ext uri="{FF2B5EF4-FFF2-40B4-BE49-F238E27FC236}">
                  <a16:creationId xmlns:a16="http://schemas.microsoft.com/office/drawing/2014/main" id="{9D5FAA3A-C261-DEF4-BF39-48C2C251D5E5}"/>
                </a:ext>
              </a:extLst>
            </p:cNvPr>
            <p:cNvCxnSpPr>
              <a:cxnSpLocks/>
            </p:cNvCxnSpPr>
            <p:nvPr/>
          </p:nvCxnSpPr>
          <p:spPr>
            <a:xfrm>
              <a:off x="5178196" y="1258613"/>
              <a:ext cx="944880" cy="423504"/>
            </a:xfrm>
            <a:prstGeom prst="line">
              <a:avLst/>
            </a:prstGeom>
            <a:ln w="19050" cap="flat" cmpd="sng" algn="ctr">
              <a:solidFill>
                <a:schemeClr val="accent6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7" name="직선 연결선 46">
              <a:extLst>
                <a:ext uri="{FF2B5EF4-FFF2-40B4-BE49-F238E27FC236}">
                  <a16:creationId xmlns:a16="http://schemas.microsoft.com/office/drawing/2014/main" id="{E86B5EB2-092A-B90C-801B-B229CB0DF876}"/>
                </a:ext>
              </a:extLst>
            </p:cNvPr>
            <p:cNvCxnSpPr>
              <a:cxnSpLocks/>
              <a:endCxn id="5" idx="4"/>
            </p:cNvCxnSpPr>
            <p:nvPr/>
          </p:nvCxnSpPr>
          <p:spPr>
            <a:xfrm>
              <a:off x="5173729" y="2173332"/>
              <a:ext cx="594483" cy="242092"/>
            </a:xfrm>
            <a:prstGeom prst="line">
              <a:avLst/>
            </a:prstGeom>
            <a:ln w="19050" cap="flat" cmpd="sng" algn="ctr">
              <a:solidFill>
                <a:schemeClr val="accent6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965DBAA8-10DE-51BD-1CC0-0C83BA57CDD8}"/>
                </a:ext>
              </a:extLst>
            </p:cNvPr>
            <p:cNvSpPr txBox="1"/>
            <p:nvPr/>
          </p:nvSpPr>
          <p:spPr>
            <a:xfrm>
              <a:off x="6443835" y="2264462"/>
              <a:ext cx="113927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dirty="0">
                  <a:latin typeface="+mn-ea"/>
                </a:rPr>
                <a:t>작업 지점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C402C857-A843-AC7E-9D04-44030A714308}"/>
                </a:ext>
              </a:extLst>
            </p:cNvPr>
            <p:cNvSpPr txBox="1"/>
            <p:nvPr/>
          </p:nvSpPr>
          <p:spPr>
            <a:xfrm>
              <a:off x="5892623" y="1891796"/>
              <a:ext cx="188226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latin typeface="+mn-ea"/>
                </a:rPr>
                <a:t>20m 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4B59EB7A-E5AF-8E88-83F5-4727097CD5E6}"/>
                </a:ext>
              </a:extLst>
            </p:cNvPr>
            <p:cNvSpPr txBox="1"/>
            <p:nvPr/>
          </p:nvSpPr>
          <p:spPr>
            <a:xfrm>
              <a:off x="2953048" y="1933807"/>
              <a:ext cx="113927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dirty="0">
                  <a:latin typeface="+mn-ea"/>
                </a:rPr>
                <a:t>전역 경로</a:t>
              </a: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8A96AFD3-1C0A-58C1-A651-2CCCA858B565}"/>
              </a:ext>
            </a:extLst>
          </p:cNvPr>
          <p:cNvSpPr txBox="1"/>
          <p:nvPr/>
        </p:nvSpPr>
        <p:spPr>
          <a:xfrm rot="19794854">
            <a:off x="4215354" y="1534564"/>
            <a:ext cx="11392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latin typeface="+mn-ea"/>
              </a:rPr>
              <a:t>노면 스캔 영역</a:t>
            </a: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810C04DA-1FE0-A2C3-03E8-394D0635BDFB}"/>
              </a:ext>
            </a:extLst>
          </p:cNvPr>
          <p:cNvCxnSpPr>
            <a:cxnSpLocks/>
          </p:cNvCxnSpPr>
          <p:nvPr/>
        </p:nvCxnSpPr>
        <p:spPr>
          <a:xfrm flipV="1">
            <a:off x="3894508" y="2264462"/>
            <a:ext cx="1" cy="465214"/>
          </a:xfrm>
          <a:prstGeom prst="straightConnector1">
            <a:avLst/>
          </a:prstGeom>
          <a:ln w="3175">
            <a:prstDash val="dash"/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5F9D987E-5146-F81C-ED1D-86E5D13C52BD}"/>
              </a:ext>
            </a:extLst>
          </p:cNvPr>
          <p:cNvCxnSpPr>
            <a:cxnSpLocks/>
          </p:cNvCxnSpPr>
          <p:nvPr/>
        </p:nvCxnSpPr>
        <p:spPr>
          <a:xfrm flipV="1">
            <a:off x="6572634" y="2005780"/>
            <a:ext cx="736470" cy="374395"/>
          </a:xfrm>
          <a:prstGeom prst="straightConnector1">
            <a:avLst/>
          </a:prstGeom>
          <a:ln w="3175">
            <a:prstDash val="dash"/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100923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4B839F-496F-3F95-E27F-0A9F989B4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FBB3372-3498-522B-3B96-A4F06ECC8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F55F954-5E86-475A-837F-2B8CED6C7DF1}" type="slidenum">
              <a:rPr lang="ko-KR" altLang="en-US" smtClean="0"/>
              <a:pPr/>
              <a:t>71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직사각형 48">
                <a:extLst>
                  <a:ext uri="{FF2B5EF4-FFF2-40B4-BE49-F238E27FC236}">
                    <a16:creationId xmlns:a16="http://schemas.microsoft.com/office/drawing/2014/main" id="{D8019469-5D6E-E5F1-BCF0-74E7BABE2B52}"/>
                  </a:ext>
                </a:extLst>
              </p:cNvPr>
              <p:cNvSpPr/>
              <p:nvPr/>
            </p:nvSpPr>
            <p:spPr>
              <a:xfrm>
                <a:off x="487878" y="1071148"/>
                <a:ext cx="9144000" cy="11535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95256" indent="-95256"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90000"/>
                  <a:buFont typeface="Wingdings" panose="05000000000000000000" pitchFamily="2" charset="2"/>
                  <a:buChar char="§"/>
                  <a:defRPr/>
                </a:pPr>
                <a:r>
                  <a:rPr lang="ko-KR" altLang="en-US" sz="1300" b="1" kern="0" dirty="0">
                    <a:ln>
                      <a:solidFill>
                        <a:schemeClr val="tx1">
                          <a:alpha val="30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전역 경로 </a:t>
                </a:r>
                <a:r>
                  <a:rPr lang="en-US" altLang="ko-KR" sz="1300" b="1" kern="0" dirty="0">
                    <a:ln>
                      <a:solidFill>
                        <a:schemeClr val="tx1">
                          <a:alpha val="30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point set </a:t>
                </a:r>
                <a:r>
                  <a:rPr lang="ko-KR" altLang="en-US" sz="1300" b="1" kern="0" dirty="0">
                    <a:ln>
                      <a:solidFill>
                        <a:schemeClr val="tx1">
                          <a:alpha val="30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입력</a:t>
                </a:r>
                <a:endParaRPr lang="en-US" altLang="ko-KR" sz="130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90000"/>
                  <a:defRPr/>
                </a:pP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  -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데이터 시점 </a:t>
                </a: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: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최신 시각 </a:t>
                </a: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t</a:t>
                </a:r>
                <a:b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</a:b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  -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특장차 전역 경로 </a:t>
                </a: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point set </a:t>
                </a:r>
                <a:b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</a:b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  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sz="130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</m:t>
                        </m:r>
                      </m:e>
                    </m:d>
                    <m:r>
                      <a:rPr lang="en-US" altLang="ko-KR" sz="1300" i="1" ker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d>
                      <m:dPr>
                        <m:ctrlP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ko-KR" sz="130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</m:t>
                        </m:r>
                      </m:e>
                    </m:d>
                    <m:r>
                      <a:rPr lang="en-US" altLang="ko-KR" sz="1300" i="1" ker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r>
                      <a:rPr lang="en-US" altLang="ko-KR" sz="1300" i="1" ker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⋯,(</m:t>
                    </m:r>
                    <m:sSub>
                      <m:sSubPr>
                        <m:ctrlP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𝑛</m:t>
                        </m:r>
                      </m:sub>
                    </m:sSub>
                    <m:r>
                      <a:rPr lang="en-US" altLang="ko-KR" sz="1300" i="1" ker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sSub>
                      <m:sSubPr>
                        <m:ctrlP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𝑛</m:t>
                        </m:r>
                      </m:sub>
                    </m:sSub>
                    <m:r>
                      <a:rPr lang="en-US" altLang="ko-KR" sz="1300" i="1" ker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endParaRPr lang="en-US" altLang="ko-KR" sz="130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9" name="직사각형 48">
                <a:extLst>
                  <a:ext uri="{FF2B5EF4-FFF2-40B4-BE49-F238E27FC236}">
                    <a16:creationId xmlns:a16="http://schemas.microsoft.com/office/drawing/2014/main" id="{D8019469-5D6E-E5F1-BCF0-74E7BABE2B5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878" y="1071148"/>
                <a:ext cx="9144000" cy="115352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직사각형 49">
            <a:extLst>
              <a:ext uri="{FF2B5EF4-FFF2-40B4-BE49-F238E27FC236}">
                <a16:creationId xmlns:a16="http://schemas.microsoft.com/office/drawing/2014/main" id="{DC0390F3-CB77-FDE8-C664-6F8BED72FD60}"/>
              </a:ext>
            </a:extLst>
          </p:cNvPr>
          <p:cNvSpPr/>
          <p:nvPr/>
        </p:nvSpPr>
        <p:spPr>
          <a:xfrm>
            <a:off x="487878" y="2339819"/>
            <a:ext cx="9144000" cy="896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120000"/>
              <a:buFont typeface="+mj-ea"/>
              <a:buAutoNum type="circleNumDbPlain"/>
              <a:defRPr/>
            </a:pPr>
            <a:r>
              <a:rPr lang="ko-KR" altLang="en-US" sz="1300" b="1" kern="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노면 정보 지도 입력</a:t>
            </a:r>
            <a:endParaRPr lang="en-US" altLang="ko-KR" sz="1300" b="1" kern="0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12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데이터 시점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: t(T_L1fusion)</a:t>
            </a:r>
            <a:b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</a:b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시점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t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에서의 노면 지도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(L1)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데이터 반영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직사각형 52">
                <a:extLst>
                  <a:ext uri="{FF2B5EF4-FFF2-40B4-BE49-F238E27FC236}">
                    <a16:creationId xmlns:a16="http://schemas.microsoft.com/office/drawing/2014/main" id="{FD8D74E4-6046-E134-75D4-74E627EC36D5}"/>
                  </a:ext>
                </a:extLst>
              </p:cNvPr>
              <p:cNvSpPr/>
              <p:nvPr/>
            </p:nvSpPr>
            <p:spPr>
              <a:xfrm>
                <a:off x="498235" y="3365210"/>
                <a:ext cx="4634605" cy="32834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120000"/>
                  <a:buFont typeface="+mj-ea"/>
                  <a:buAutoNum type="circleNumDbPlain" startAt="2"/>
                  <a:defRPr/>
                </a:pPr>
                <a:r>
                  <a:rPr lang="ko-KR" altLang="en-US" sz="1300" b="1" kern="0" dirty="0">
                    <a:ln>
                      <a:solidFill>
                        <a:schemeClr val="tx1">
                          <a:alpha val="30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해당 노면 스캔</a:t>
                </a:r>
                <a:endParaRPr lang="en-US" altLang="ko-KR" sz="1300" b="1" kern="0" dirty="0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  <a:p>
                <a:pPr marL="88900"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120000"/>
                  <a:defRPr/>
                </a:pPr>
                <a:r>
                  <a:rPr lang="en-US" altLang="ko-KR" sz="1300" b="1" kern="0" dirty="0" err="1">
                    <a:ln>
                      <a:solidFill>
                        <a:schemeClr val="tx1">
                          <a:alpha val="30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i</a:t>
                </a:r>
                <a:r>
                  <a:rPr lang="en-US" altLang="ko-KR" sz="1300" b="1" kern="0" dirty="0">
                    <a:ln>
                      <a:solidFill>
                        <a:schemeClr val="tx1">
                          <a:alpha val="30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) </a:t>
                </a:r>
                <a:r>
                  <a:rPr lang="ko-KR" altLang="en-US" sz="1300" b="1" kern="0" dirty="0">
                    <a:ln>
                      <a:solidFill>
                        <a:schemeClr val="tx1">
                          <a:alpha val="30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전역경로 노면 상태 확인</a:t>
                </a:r>
                <a:endParaRPr lang="en-US" altLang="ko-KR" sz="1300" b="1" kern="0" dirty="0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  <a:p>
                <a:pPr marL="88900"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120000"/>
                  <a:defRPr/>
                </a:pP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  - (n-1)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세트의 직선 경로 영역 분할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𝑍</m:t>
                        </m:r>
                      </m:e>
                      <m:sub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ko-KR" sz="1300" i="1" ker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~ </m:t>
                    </m:r>
                    <m:sSub>
                      <m:sSubPr>
                        <m:ctrlP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𝑍</m:t>
                        </m:r>
                      </m:e>
                      <m:sub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𝑛</m:t>
                        </m:r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−1</m:t>
                        </m:r>
                      </m:sub>
                    </m:sSub>
                  </m:oMath>
                </a14:m>
                <a:b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</a:b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  - n-1 set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의 전역 경로 </a:t>
                </a: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point set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간 직선 도출</a:t>
                </a:r>
                <a:b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</a:b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                  </a:t>
                </a:r>
                <a14:m>
                  <m:oMath xmlns:m="http://schemas.openxmlformats.org/officeDocument/2006/math"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𝑦</m:t>
                    </m:r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f>
                      <m:fPr>
                        <m:ctrlP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𝑛</m:t>
                            </m:r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+1</m:t>
                            </m:r>
                          </m:sub>
                        </m:sSub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𝑛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𝑛</m:t>
                            </m:r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+1</m:t>
                            </m:r>
                          </m:sub>
                        </m:sSub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𝑛</m:t>
                            </m:r>
                          </m:sub>
                        </m:sSub>
                      </m:den>
                    </m:f>
                    <m:d>
                      <m:dPr>
                        <m:ctrlP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sSub>
                      <m:sSubPr>
                        <m:ctrlP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𝑛</m:t>
                        </m:r>
                      </m:sub>
                    </m:sSub>
                    <m:r>
                      <a:rPr lang="en-US" altLang="ko-KR" sz="1300" b="0" i="0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endParaRPr lang="en-US" altLang="ko-KR" sz="130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  <a:p>
                <a:pPr marL="88900"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120000"/>
                  <a:defRPr/>
                </a:pP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  -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해당 직선의 </a:t>
                </a:r>
                <a14:m>
                  <m:oMath xmlns:m="http://schemas.openxmlformats.org/officeDocument/2006/math"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±</m:t>
                    </m:r>
                  </m:oMath>
                </a14:m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5m (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기울기가 </a:t>
                </a: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1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이 아닌 경우</a:t>
                </a: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): </a:t>
                </a:r>
              </a:p>
              <a:p>
                <a:pPr marL="88900"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120000"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300" i="1" kern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𝑦</m:t>
                      </m:r>
                      <m:r>
                        <a:rPr lang="en-US" altLang="ko-KR" sz="1300" i="1" kern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300" i="1" ker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ko-KR" sz="1300" i="1" kern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300" i="1" kern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ko-KR" sz="1300" i="1" kern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𝑛</m:t>
                              </m:r>
                              <m:r>
                                <a:rPr lang="en-US" altLang="ko-KR" sz="1300" i="1" kern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altLang="ko-KR" sz="1300" i="1" ker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sz="1300" i="1" kern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300" i="1" kern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ko-KR" sz="1300" i="1" kern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𝑛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ko-KR" sz="1300" i="1" kern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300" i="1" kern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sz="1300" i="1" kern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𝑛</m:t>
                              </m:r>
                              <m:r>
                                <a:rPr lang="en-US" altLang="ko-KR" sz="1300" i="1" kern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altLang="ko-KR" sz="1300" i="1" ker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sz="1300" i="1" kern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300" i="1" kern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sz="1300" i="1" kern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𝑛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en-US" altLang="ko-KR" sz="1300" i="1" ker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altLang="ko-KR" sz="1300" i="1" ker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  <m:r>
                            <a:rPr lang="en-US" altLang="ko-KR" sz="1300" i="1" ker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sz="1300" i="1" kern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300" i="1" kern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sz="1300" i="1" kern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altLang="ko-KR" sz="1300" i="1" kern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1300" i="1" ker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ko-KR" sz="1300" i="1" ker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ko-KR" sz="1300" i="1" ker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𝑛</m:t>
                          </m:r>
                        </m:sub>
                      </m:sSub>
                      <m:r>
                        <a:rPr lang="en-US" altLang="ko-KR" sz="1300" b="0" i="1" kern="0" smtClean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±100 </m:t>
                      </m:r>
                    </m:oMath>
                  </m:oMathPara>
                </a14:m>
                <a:endParaRPr lang="en-US" altLang="ko-KR" sz="1300" b="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+mn-ea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marL="88900"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120000"/>
                  <a:defRPr/>
                </a:pP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  -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해당 직선의 </a:t>
                </a:r>
                <a14:m>
                  <m:oMath xmlns:m="http://schemas.openxmlformats.org/officeDocument/2006/math"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±</m:t>
                    </m:r>
                  </m:oMath>
                </a14:m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5m (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기울기가 </a:t>
                </a: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1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인 경우</a:t>
                </a: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):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= </m:t>
                        </m:r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𝑛</m:t>
                        </m:r>
                      </m:sub>
                    </m:sSub>
                    <m:r>
                      <a:rPr lang="en-US" altLang="ko-KR" sz="1300" i="1" ker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±</m:t>
                    </m:r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10</m:t>
                    </m:r>
                    <m:r>
                      <a:rPr lang="en-US" altLang="ko-KR" sz="1300" i="1" ker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0</m:t>
                    </m:r>
                    <m:r>
                      <a:rPr lang="en-US" altLang="ko-KR" sz="13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endParaRPr lang="en-US" altLang="ko-KR" sz="1300" b="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+mn-ea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marL="88900"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120000"/>
                  <a:defRPr/>
                </a:pP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  -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해당 직선들로 둘러 쌓인 </a:t>
                </a: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grid cell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의 노면 정보 스캔</a:t>
                </a:r>
                <a:b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</a:br>
                <a:endParaRPr lang="en-US" altLang="ko-KR" sz="130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3" name="직사각형 52">
                <a:extLst>
                  <a:ext uri="{FF2B5EF4-FFF2-40B4-BE49-F238E27FC236}">
                    <a16:creationId xmlns:a16="http://schemas.microsoft.com/office/drawing/2014/main" id="{FD8D74E4-6046-E134-75D4-74E627EC36D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235" y="3365210"/>
                <a:ext cx="4634605" cy="328346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57C2D3EA-A315-EF5E-45CC-04AC6E39D8AA}"/>
              </a:ext>
            </a:extLst>
          </p:cNvPr>
          <p:cNvSpPr/>
          <p:nvPr/>
        </p:nvSpPr>
        <p:spPr>
          <a:xfrm>
            <a:off x="114054" y="726549"/>
            <a:ext cx="9144000" cy="3216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5256" indent="-95256"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buFont typeface="Wingdings" panose="05000000000000000000" pitchFamily="2" charset="2"/>
              <a:buChar char="§"/>
              <a:defRPr/>
            </a:pPr>
            <a:r>
              <a:rPr lang="ko-KR" altLang="en-US" sz="1300" b="1" kern="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</a:t>
            </a:r>
            <a:r>
              <a:rPr lang="ko-KR" altLang="en-US" sz="1300" b="1" kern="0" dirty="0" err="1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판단로직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706758D5-49FB-6FB5-0B68-2A97A4051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846" y="229251"/>
            <a:ext cx="9121492" cy="369332"/>
          </a:xfrm>
        </p:spPr>
        <p:txBody>
          <a:bodyPr/>
          <a:lstStyle/>
          <a:p>
            <a:r>
              <a:rPr lang="en-US" altLang="ko-KR" sz="24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8. </a:t>
            </a:r>
            <a:r>
              <a:rPr lang="ko-KR" altLang="en-US" sz="24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단차가 있는 주행 환경 </a:t>
            </a:r>
            <a:r>
              <a:rPr lang="en-US" altLang="ko-KR" sz="24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: </a:t>
            </a:r>
            <a:r>
              <a:rPr lang="ko-KR" altLang="en-US" sz="20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전역경로 및 작업지점 근방의 노면상태가 </a:t>
            </a:r>
            <a:r>
              <a:rPr lang="ko-KR" altLang="en-US" sz="2000" dirty="0" err="1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불균일</a:t>
            </a:r>
            <a:r>
              <a:rPr lang="ko-KR" altLang="en-US" sz="20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할 경우</a:t>
            </a:r>
            <a:endParaRPr lang="ko-KR" altLang="en-US" sz="240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C16CE645-2115-0DBA-68E6-CCE4BC0E94D3}"/>
              </a:ext>
            </a:extLst>
          </p:cNvPr>
          <p:cNvGrpSpPr/>
          <p:nvPr/>
        </p:nvGrpSpPr>
        <p:grpSpPr>
          <a:xfrm>
            <a:off x="4588075" y="1244875"/>
            <a:ext cx="4642968" cy="4678962"/>
            <a:chOff x="4588075" y="1244875"/>
            <a:chExt cx="4642968" cy="4678962"/>
          </a:xfrm>
        </p:grpSpPr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3B51841C-9A81-2ADF-19CB-622C254AB1DE}"/>
                </a:ext>
              </a:extLst>
            </p:cNvPr>
            <p:cNvSpPr/>
            <p:nvPr/>
          </p:nvSpPr>
          <p:spPr>
            <a:xfrm>
              <a:off x="5559662" y="1244875"/>
              <a:ext cx="2762795" cy="2340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5">
                  <a:lumMod val="75000"/>
                </a:schemeClr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새로운 전역 경로 </a:t>
              </a:r>
              <a:r>
                <a:rPr lang="en-US" altLang="ko-KR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point set </a:t>
              </a:r>
              <a:r>
                <a:rPr lang="ko-KR" altLang="en-US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입력</a:t>
              </a:r>
            </a:p>
          </p:txBody>
        </p:sp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963A6B15-92CF-7B5B-DC3A-6E051A65A779}"/>
                </a:ext>
              </a:extLst>
            </p:cNvPr>
            <p:cNvSpPr/>
            <p:nvPr/>
          </p:nvSpPr>
          <p:spPr>
            <a:xfrm>
              <a:off x="6617757" y="1518762"/>
              <a:ext cx="252000" cy="252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9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Arial" panose="020B0604020202020204" pitchFamily="34" charset="0"/>
                  <a:ea typeface="KoPub돋움체 Bold" panose="02020603020101020101" pitchFamily="18" charset="-127"/>
                  <a:cs typeface="Arial" panose="020B0604020202020204" pitchFamily="34" charset="0"/>
                </a:rPr>
                <a:t>1</a:t>
              </a:r>
              <a:endParaRPr lang="ko-KR" altLang="en-US" sz="9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5" name="순서도: 판단 4">
              <a:extLst>
                <a:ext uri="{FF2B5EF4-FFF2-40B4-BE49-F238E27FC236}">
                  <a16:creationId xmlns:a16="http://schemas.microsoft.com/office/drawing/2014/main" id="{784D829C-510C-29F8-49EC-83F4B448BE3E}"/>
                </a:ext>
              </a:extLst>
            </p:cNvPr>
            <p:cNvSpPr/>
            <p:nvPr/>
          </p:nvSpPr>
          <p:spPr>
            <a:xfrm>
              <a:off x="4942520" y="2195642"/>
              <a:ext cx="1938529" cy="484848"/>
            </a:xfrm>
            <a:prstGeom prst="flowChartDecision">
              <a:avLst/>
            </a:prstGeom>
            <a:solidFill>
              <a:schemeClr val="bg1"/>
            </a:solidFill>
            <a:ln w="19050">
              <a:solidFill>
                <a:schemeClr val="accent5">
                  <a:lumMod val="75000"/>
                </a:schemeClr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  <a:p>
              <a:pPr algn="ctr"/>
              <a:r>
                <a:rPr lang="ko-KR" altLang="en-US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전역경로 노면 상태 확인 </a:t>
              </a:r>
              <a:endPara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  <a:p>
              <a:pPr algn="ctr"/>
              <a:endPara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64F90ACC-CBF0-43BB-12F9-364317BDF921}"/>
                </a:ext>
              </a:extLst>
            </p:cNvPr>
            <p:cNvSpPr/>
            <p:nvPr/>
          </p:nvSpPr>
          <p:spPr>
            <a:xfrm>
              <a:off x="5767549" y="3171843"/>
              <a:ext cx="2348494" cy="2340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5">
                  <a:lumMod val="75000"/>
                </a:schemeClr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노면의 </a:t>
              </a:r>
              <a:r>
                <a:rPr lang="ko-KR" altLang="en-US" sz="1050" dirty="0" err="1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불균일함</a:t>
              </a:r>
              <a:r>
                <a:rPr lang="ko-KR" altLang="en-US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 및 위험성 판단</a:t>
              </a:r>
            </a:p>
          </p:txBody>
        </p:sp>
        <p:cxnSp>
          <p:nvCxnSpPr>
            <p:cNvPr id="8" name="직선 화살표 연결선 7">
              <a:extLst>
                <a:ext uri="{FF2B5EF4-FFF2-40B4-BE49-F238E27FC236}">
                  <a16:creationId xmlns:a16="http://schemas.microsoft.com/office/drawing/2014/main" id="{A4B4530E-9F7F-1F12-CFBD-42DEA16E0069}"/>
                </a:ext>
              </a:extLst>
            </p:cNvPr>
            <p:cNvCxnSpPr>
              <a:cxnSpLocks/>
              <a:stCxn id="5" idx="2"/>
            </p:cNvCxnSpPr>
            <p:nvPr/>
          </p:nvCxnSpPr>
          <p:spPr>
            <a:xfrm>
              <a:off x="5911785" y="2680490"/>
              <a:ext cx="0" cy="49135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화살표 연결선 8">
              <a:extLst>
                <a:ext uri="{FF2B5EF4-FFF2-40B4-BE49-F238E27FC236}">
                  <a16:creationId xmlns:a16="http://schemas.microsoft.com/office/drawing/2014/main" id="{A3E0F31B-B247-06B4-5775-4E9A44EDCC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41059" y="1621076"/>
              <a:ext cx="1600659" cy="1057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순서도: 판단 9">
              <a:extLst>
                <a:ext uri="{FF2B5EF4-FFF2-40B4-BE49-F238E27FC236}">
                  <a16:creationId xmlns:a16="http://schemas.microsoft.com/office/drawing/2014/main" id="{89A29511-91C4-A6FA-BCE6-75C2C7BAA17C}"/>
                </a:ext>
              </a:extLst>
            </p:cNvPr>
            <p:cNvSpPr/>
            <p:nvPr/>
          </p:nvSpPr>
          <p:spPr>
            <a:xfrm>
              <a:off x="6983494" y="2185257"/>
              <a:ext cx="1938529" cy="484848"/>
            </a:xfrm>
            <a:prstGeom prst="flowChartDecision">
              <a:avLst/>
            </a:prstGeom>
            <a:solidFill>
              <a:schemeClr val="bg1"/>
            </a:solidFill>
            <a:ln w="19050">
              <a:solidFill>
                <a:schemeClr val="accent5">
                  <a:lumMod val="75000"/>
                </a:schemeClr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  <a:p>
              <a:pPr algn="ctr"/>
              <a:r>
                <a:rPr lang="ko-KR" altLang="en-US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작업지점 노면 상태 확인 </a:t>
              </a:r>
              <a:endPara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  <a:p>
              <a:pPr algn="ctr"/>
              <a:endPara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cxnSp>
          <p:nvCxnSpPr>
            <p:cNvPr id="11" name="연결선: 꺾임 10">
              <a:extLst>
                <a:ext uri="{FF2B5EF4-FFF2-40B4-BE49-F238E27FC236}">
                  <a16:creationId xmlns:a16="http://schemas.microsoft.com/office/drawing/2014/main" id="{D9E405A9-CB8C-614C-FBD1-971018F107FA}"/>
                </a:ext>
              </a:extLst>
            </p:cNvPr>
            <p:cNvCxnSpPr>
              <a:stCxn id="2" idx="2"/>
              <a:endCxn id="5" idx="0"/>
            </p:cNvCxnSpPr>
            <p:nvPr/>
          </p:nvCxnSpPr>
          <p:spPr>
            <a:xfrm rot="5400000">
              <a:off x="6068040" y="1322621"/>
              <a:ext cx="716767" cy="1029275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연결선: 꺾임 11">
              <a:extLst>
                <a:ext uri="{FF2B5EF4-FFF2-40B4-BE49-F238E27FC236}">
                  <a16:creationId xmlns:a16="http://schemas.microsoft.com/office/drawing/2014/main" id="{4E6C59EA-300C-8AAA-7D60-F0A78BAAC5D0}"/>
                </a:ext>
              </a:extLst>
            </p:cNvPr>
            <p:cNvCxnSpPr>
              <a:cxnSpLocks/>
              <a:stCxn id="2" idx="2"/>
              <a:endCxn id="10" idx="0"/>
            </p:cNvCxnSpPr>
            <p:nvPr/>
          </p:nvCxnSpPr>
          <p:spPr>
            <a:xfrm rot="16200000" flipH="1">
              <a:off x="7093718" y="1326216"/>
              <a:ext cx="706382" cy="1011699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B93719C2-BF96-BA6D-83DD-8AB1A0A1F3C8}"/>
                </a:ext>
              </a:extLst>
            </p:cNvPr>
            <p:cNvSpPr/>
            <p:nvPr/>
          </p:nvSpPr>
          <p:spPr>
            <a:xfrm>
              <a:off x="6389248" y="5145125"/>
              <a:ext cx="1121864" cy="2340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5">
                  <a:lumMod val="75000"/>
                </a:schemeClr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050" dirty="0" err="1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isHazard</a:t>
              </a:r>
              <a:r>
                <a:rPr lang="en-US" altLang="ko-KR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 = true</a:t>
              </a:r>
            </a:p>
          </p:txBody>
        </p:sp>
        <p:cxnSp>
          <p:nvCxnSpPr>
            <p:cNvPr id="15" name="직선 화살표 연결선 14">
              <a:extLst>
                <a:ext uri="{FF2B5EF4-FFF2-40B4-BE49-F238E27FC236}">
                  <a16:creationId xmlns:a16="http://schemas.microsoft.com/office/drawing/2014/main" id="{6991B00A-CAEB-5BE4-95FD-B08CC4E96EF0}"/>
                </a:ext>
              </a:extLst>
            </p:cNvPr>
            <p:cNvCxnSpPr>
              <a:cxnSpLocks/>
              <a:stCxn id="10" idx="2"/>
            </p:cNvCxnSpPr>
            <p:nvPr/>
          </p:nvCxnSpPr>
          <p:spPr>
            <a:xfrm flipH="1">
              <a:off x="7952758" y="2670105"/>
              <a:ext cx="1" cy="50173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A0095D19-70F1-0007-33D3-F23AB086A5D6}"/>
                </a:ext>
              </a:extLst>
            </p:cNvPr>
            <p:cNvSpPr/>
            <p:nvPr/>
          </p:nvSpPr>
          <p:spPr>
            <a:xfrm>
              <a:off x="6246552" y="5689837"/>
              <a:ext cx="1408843" cy="2340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5">
                  <a:lumMod val="75000"/>
                </a:schemeClr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작업 경로 재생성 요청</a:t>
              </a:r>
              <a:endPara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9805D2BA-82E0-3AB2-DC60-2AEDC47D085D}"/>
                </a:ext>
              </a:extLst>
            </p:cNvPr>
            <p:cNvSpPr/>
            <p:nvPr/>
          </p:nvSpPr>
          <p:spPr>
            <a:xfrm>
              <a:off x="4588075" y="2296639"/>
              <a:ext cx="252000" cy="252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9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Arial" panose="020B0604020202020204" pitchFamily="34" charset="0"/>
                  <a:ea typeface="KoPub돋움체 Bold" panose="02020603020101020101" pitchFamily="18" charset="-127"/>
                  <a:cs typeface="Arial" panose="020B0604020202020204" pitchFamily="34" charset="0"/>
                </a:rPr>
                <a:t>2</a:t>
              </a:r>
              <a:endParaRPr lang="ko-KR" altLang="en-US" sz="9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6B4599BB-B790-4488-FD7F-E4152448D642}"/>
                </a:ext>
              </a:extLst>
            </p:cNvPr>
            <p:cNvSpPr/>
            <p:nvPr/>
          </p:nvSpPr>
          <p:spPr>
            <a:xfrm>
              <a:off x="8541719" y="1340394"/>
              <a:ext cx="689324" cy="56136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5">
                  <a:lumMod val="75000"/>
                </a:schemeClr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노면 정보 </a:t>
              </a:r>
              <a:endPara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  <a:p>
              <a:pPr algn="ctr"/>
              <a:r>
                <a:rPr lang="ko-KR" altLang="en-US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지도 입력</a:t>
              </a:r>
            </a:p>
          </p:txBody>
        </p:sp>
        <p:sp>
          <p:nvSpPr>
            <p:cNvPr id="19" name="순서도: 판단 18">
              <a:extLst>
                <a:ext uri="{FF2B5EF4-FFF2-40B4-BE49-F238E27FC236}">
                  <a16:creationId xmlns:a16="http://schemas.microsoft.com/office/drawing/2014/main" id="{78836D80-F514-7FAF-5791-D92D950AAF55}"/>
                </a:ext>
              </a:extLst>
            </p:cNvPr>
            <p:cNvSpPr/>
            <p:nvPr/>
          </p:nvSpPr>
          <p:spPr>
            <a:xfrm>
              <a:off x="6222722" y="3642836"/>
              <a:ext cx="1432673" cy="352951"/>
            </a:xfrm>
            <a:prstGeom prst="flowChartDecision">
              <a:avLst/>
            </a:prstGeom>
            <a:solidFill>
              <a:schemeClr val="bg1"/>
            </a:solidFill>
            <a:ln w="19050">
              <a:solidFill>
                <a:schemeClr val="accent5">
                  <a:lumMod val="75000"/>
                </a:schemeClr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|</a:t>
              </a:r>
              <a:r>
                <a:rPr lang="el-GR" altLang="ko-KR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△</a:t>
              </a:r>
              <a:r>
                <a:rPr lang="en-US" altLang="ko-KR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h| ≥ 50cm?</a:t>
              </a:r>
              <a:r>
                <a:rPr lang="ko-KR" altLang="en-US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 </a:t>
              </a:r>
            </a:p>
          </p:txBody>
        </p:sp>
        <p:sp>
          <p:nvSpPr>
            <p:cNvPr id="20" name="순서도: 판단 19">
              <a:extLst>
                <a:ext uri="{FF2B5EF4-FFF2-40B4-BE49-F238E27FC236}">
                  <a16:creationId xmlns:a16="http://schemas.microsoft.com/office/drawing/2014/main" id="{6E6F5DD5-A462-FFF8-2DFA-375247F16E1B}"/>
                </a:ext>
              </a:extLst>
            </p:cNvPr>
            <p:cNvSpPr/>
            <p:nvPr/>
          </p:nvSpPr>
          <p:spPr>
            <a:xfrm>
              <a:off x="6229057" y="4553975"/>
              <a:ext cx="1432673" cy="352951"/>
            </a:xfrm>
            <a:prstGeom prst="flowChartDecision">
              <a:avLst/>
            </a:prstGeom>
            <a:solidFill>
              <a:schemeClr val="bg1"/>
            </a:solidFill>
            <a:ln w="19050">
              <a:solidFill>
                <a:schemeClr val="accent5">
                  <a:lumMod val="75000"/>
                </a:schemeClr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기울기</a:t>
              </a:r>
              <a:r>
                <a:rPr lang="en-US" altLang="ko-KR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 ≥ 80%</a:t>
              </a:r>
              <a:endPara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4036ED20-5990-AC0F-815A-9BF744481527}"/>
                </a:ext>
              </a:extLst>
            </p:cNvPr>
            <p:cNvSpPr/>
            <p:nvPr/>
          </p:nvSpPr>
          <p:spPr>
            <a:xfrm>
              <a:off x="5461667" y="2993707"/>
              <a:ext cx="252000" cy="252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9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Arial" panose="020B0604020202020204" pitchFamily="34" charset="0"/>
                  <a:ea typeface="KoPub돋움체 Bold" panose="02020603020101020101" pitchFamily="18" charset="-127"/>
                  <a:cs typeface="Arial" panose="020B0604020202020204" pitchFamily="34" charset="0"/>
                </a:rPr>
                <a:t>3</a:t>
              </a:r>
              <a:endParaRPr lang="ko-KR" altLang="en-US" sz="9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D0B4A5A2-559D-9DF2-DBDC-D6238E7F6641}"/>
                </a:ext>
              </a:extLst>
            </p:cNvPr>
            <p:cNvSpPr/>
            <p:nvPr/>
          </p:nvSpPr>
          <p:spPr>
            <a:xfrm>
              <a:off x="6379759" y="4136280"/>
              <a:ext cx="1121864" cy="2340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5">
                  <a:lumMod val="75000"/>
                </a:schemeClr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지역 군집화</a:t>
              </a:r>
              <a:endPara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cxnSp>
          <p:nvCxnSpPr>
            <p:cNvPr id="47" name="직선 화살표 연결선 46">
              <a:extLst>
                <a:ext uri="{FF2B5EF4-FFF2-40B4-BE49-F238E27FC236}">
                  <a16:creationId xmlns:a16="http://schemas.microsoft.com/office/drawing/2014/main" id="{FD87DCB5-82CC-030B-C96F-8B3376CDC5BF}"/>
                </a:ext>
              </a:extLst>
            </p:cNvPr>
            <p:cNvCxnSpPr>
              <a:cxnSpLocks/>
              <a:stCxn id="19" idx="2"/>
              <a:endCxn id="34" idx="0"/>
            </p:cNvCxnSpPr>
            <p:nvPr/>
          </p:nvCxnSpPr>
          <p:spPr>
            <a:xfrm>
              <a:off x="6939059" y="3995787"/>
              <a:ext cx="1632" cy="14049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직선 화살표 연결선 51">
              <a:extLst>
                <a:ext uri="{FF2B5EF4-FFF2-40B4-BE49-F238E27FC236}">
                  <a16:creationId xmlns:a16="http://schemas.microsoft.com/office/drawing/2014/main" id="{51A174F0-6AB1-109A-7BDB-AA77E8F114BA}"/>
                </a:ext>
              </a:extLst>
            </p:cNvPr>
            <p:cNvCxnSpPr>
              <a:cxnSpLocks/>
              <a:stCxn id="6" idx="2"/>
              <a:endCxn id="19" idx="0"/>
            </p:cNvCxnSpPr>
            <p:nvPr/>
          </p:nvCxnSpPr>
          <p:spPr>
            <a:xfrm flipH="1">
              <a:off x="6939059" y="3405843"/>
              <a:ext cx="2737" cy="23699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직선 화살표 연결선 56">
              <a:extLst>
                <a:ext uri="{FF2B5EF4-FFF2-40B4-BE49-F238E27FC236}">
                  <a16:creationId xmlns:a16="http://schemas.microsoft.com/office/drawing/2014/main" id="{C22069CA-E1AB-2726-DC86-B02845AE03F3}"/>
                </a:ext>
              </a:extLst>
            </p:cNvPr>
            <p:cNvCxnSpPr>
              <a:cxnSpLocks/>
              <a:stCxn id="34" idx="2"/>
              <a:endCxn id="20" idx="0"/>
            </p:cNvCxnSpPr>
            <p:nvPr/>
          </p:nvCxnSpPr>
          <p:spPr>
            <a:xfrm>
              <a:off x="6940691" y="4370280"/>
              <a:ext cx="4703" cy="18369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직선 화살표 연결선 60">
              <a:extLst>
                <a:ext uri="{FF2B5EF4-FFF2-40B4-BE49-F238E27FC236}">
                  <a16:creationId xmlns:a16="http://schemas.microsoft.com/office/drawing/2014/main" id="{02F8F26F-6CED-ECDF-7842-6084E263ABF8}"/>
                </a:ext>
              </a:extLst>
            </p:cNvPr>
            <p:cNvCxnSpPr>
              <a:cxnSpLocks/>
              <a:stCxn id="20" idx="2"/>
              <a:endCxn id="13" idx="0"/>
            </p:cNvCxnSpPr>
            <p:nvPr/>
          </p:nvCxnSpPr>
          <p:spPr>
            <a:xfrm>
              <a:off x="6945394" y="4906926"/>
              <a:ext cx="4786" cy="23819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직선 화살표 연결선 67">
              <a:extLst>
                <a:ext uri="{FF2B5EF4-FFF2-40B4-BE49-F238E27FC236}">
                  <a16:creationId xmlns:a16="http://schemas.microsoft.com/office/drawing/2014/main" id="{BC1DCFC7-F295-828F-184F-9BFD99E91C9D}"/>
                </a:ext>
              </a:extLst>
            </p:cNvPr>
            <p:cNvCxnSpPr>
              <a:cxnSpLocks/>
              <a:stCxn id="13" idx="2"/>
              <a:endCxn id="16" idx="0"/>
            </p:cNvCxnSpPr>
            <p:nvPr/>
          </p:nvCxnSpPr>
          <p:spPr>
            <a:xfrm>
              <a:off x="6950180" y="5379125"/>
              <a:ext cx="794" cy="31071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0963391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933895-4E4E-1024-F42F-AE56FB9E1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5FB75CA-DB77-E243-AC27-3C61BFDC2B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F55F954-5E86-475A-837F-2B8CED6C7DF1}" type="slidenum">
              <a:rPr lang="ko-KR" altLang="en-US" smtClean="0"/>
              <a:pPr/>
              <a:t>72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직사각형 52">
                <a:extLst>
                  <a:ext uri="{FF2B5EF4-FFF2-40B4-BE49-F238E27FC236}">
                    <a16:creationId xmlns:a16="http://schemas.microsoft.com/office/drawing/2014/main" id="{17BC9803-FF97-34C0-E298-4B0EB5E1E112}"/>
                  </a:ext>
                </a:extLst>
              </p:cNvPr>
              <p:cNvSpPr/>
              <p:nvPr/>
            </p:nvSpPr>
            <p:spPr>
              <a:xfrm>
                <a:off x="452525" y="1027999"/>
                <a:ext cx="3935491" cy="18672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120000"/>
                  <a:defRPr/>
                </a:pPr>
                <a:r>
                  <a:rPr lang="en-US" altLang="ko-KR" sz="1300" b="1" kern="0" dirty="0">
                    <a:ln>
                      <a:solidFill>
                        <a:schemeClr val="tx1">
                          <a:alpha val="30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ii)</a:t>
                </a:r>
                <a:r>
                  <a:rPr lang="ko-KR" altLang="en-US" sz="1300" b="1" kern="0" dirty="0">
                    <a:ln>
                      <a:solidFill>
                        <a:schemeClr val="tx1">
                          <a:alpha val="30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작업지점 노면 상태 확인</a:t>
                </a:r>
                <a:endParaRPr lang="en-US" altLang="ko-KR" sz="1300" b="1" kern="0" dirty="0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120000"/>
                  <a:defRPr/>
                </a:pP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   - </a:t>
                </a:r>
                <a14:m>
                  <m:oMath xmlns:m="http://schemas.openxmlformats.org/officeDocument/2006/math">
                    <m:r>
                      <a:rPr lang="en-US" altLang="ko-KR" sz="1300" b="0" i="0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US" altLang="ko-KR" sz="130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sSub>
                      <m:sSubPr>
                        <m:ctrlP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𝑛</m:t>
                        </m:r>
                      </m:sub>
                    </m:sSub>
                    <m:r>
                      <a:rPr lang="en-US" altLang="ko-KR" sz="1300" i="1" ker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sSub>
                      <m:sSubPr>
                        <m:ctrlP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𝑛</m:t>
                        </m:r>
                      </m:sub>
                    </m:sSub>
                    <m:r>
                      <a:rPr lang="en-US" altLang="ko-KR" sz="1300" i="1" ker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n-US" altLang="ko-KR" sz="1300" b="1" kern="0" dirty="0">
                    <a:ln>
                      <a:solidFill>
                        <a:schemeClr val="tx1">
                          <a:alpha val="30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기준 반경 </a:t>
                </a: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20m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인 원의 방정식 도출</a:t>
                </a: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:</a:t>
                </a: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120000"/>
                  <a:defRPr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          (</m:t>
                        </m:r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)</m:t>
                        </m:r>
                      </m:e>
                      <m:sup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+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(</m:t>
                        </m:r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𝑦</m:t>
                        </m:r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sz="1300" b="0" i="1" kern="0" smtClea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sz="1300" i="1" kern="0">
                                <a:ln>
                                  <a:solidFill>
                                    <a:schemeClr val="tx1">
                                      <a:alpha val="5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)</m:t>
                        </m:r>
                      </m:e>
                      <m:sup>
                        <m:r>
                          <a:rPr lang="en-US" altLang="ko-KR" sz="1300" i="1" ker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30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200</m:t>
                        </m:r>
                      </m:e>
                      <m:sup>
                        <m:r>
                          <a:rPr lang="en-US" altLang="ko-KR" sz="13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   </a:t>
                </a: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120000"/>
                  <a:defRPr/>
                </a:pP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   -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해당</a:t>
                </a: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원으로 둘러 쌓인 </a:t>
                </a:r>
                <a:r>
                  <a:rPr lang="en-US" altLang="ko-KR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grid cell</a:t>
                </a:r>
                <a:r>
                  <a:rPr lang="ko-KR" altLang="en-US" sz="13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의 노면정보 스캔</a:t>
                </a:r>
                <a:endParaRPr lang="en-US" altLang="ko-KR" sz="130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120000"/>
                  <a:defRPr/>
                </a:pPr>
                <a:endParaRPr lang="en-US" altLang="ko-KR" sz="1300" b="1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120000"/>
                  <a:defRPr/>
                </a:pPr>
                <a:endParaRPr lang="en-US" altLang="ko-KR" sz="130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3" name="직사각형 52">
                <a:extLst>
                  <a:ext uri="{FF2B5EF4-FFF2-40B4-BE49-F238E27FC236}">
                    <a16:creationId xmlns:a16="http://schemas.microsoft.com/office/drawing/2014/main" id="{17BC9803-FF97-34C0-E298-4B0EB5E1E11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525" y="1027999"/>
                <a:ext cx="3935491" cy="186724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425261B3-0664-1EC2-0AD1-44034C6EA9B2}"/>
              </a:ext>
            </a:extLst>
          </p:cNvPr>
          <p:cNvSpPr/>
          <p:nvPr/>
        </p:nvSpPr>
        <p:spPr>
          <a:xfrm>
            <a:off x="114054" y="726549"/>
            <a:ext cx="9144000" cy="3216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5256" indent="-95256"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buFont typeface="Wingdings" panose="05000000000000000000" pitchFamily="2" charset="2"/>
              <a:buChar char="§"/>
              <a:defRPr/>
            </a:pPr>
            <a:r>
              <a:rPr lang="ko-KR" altLang="en-US" sz="1300" b="1" kern="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</a:t>
            </a:r>
            <a:r>
              <a:rPr lang="ko-KR" altLang="en-US" sz="1300" b="1" kern="0" dirty="0" err="1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판단로직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D5B10AD9-5D50-CE9D-ABA2-BD870B6C7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846" y="229251"/>
            <a:ext cx="9121492" cy="369332"/>
          </a:xfrm>
        </p:spPr>
        <p:txBody>
          <a:bodyPr/>
          <a:lstStyle/>
          <a:p>
            <a:r>
              <a:rPr lang="en-US" altLang="ko-KR" sz="24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8. </a:t>
            </a:r>
            <a:r>
              <a:rPr lang="ko-KR" altLang="en-US" sz="24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단차가 있는 주행 환경 </a:t>
            </a:r>
            <a:r>
              <a:rPr lang="en-US" altLang="ko-KR" sz="24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: </a:t>
            </a:r>
            <a:r>
              <a:rPr lang="ko-KR" altLang="en-US" sz="20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전역경로 및 작업지점 근방의 노면상태가 </a:t>
            </a:r>
            <a:r>
              <a:rPr lang="ko-KR" altLang="en-US" sz="2000" dirty="0" err="1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불균일</a:t>
            </a:r>
            <a:r>
              <a:rPr lang="ko-KR" altLang="en-US" sz="20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할 경우</a:t>
            </a:r>
            <a:endParaRPr lang="ko-KR" altLang="en-US" sz="240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59AD0785-7ECB-3103-8A7B-209F97BD035E}"/>
              </a:ext>
            </a:extLst>
          </p:cNvPr>
          <p:cNvSpPr/>
          <p:nvPr/>
        </p:nvSpPr>
        <p:spPr>
          <a:xfrm>
            <a:off x="440267" y="2377074"/>
            <a:ext cx="5260792" cy="3684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120000"/>
              <a:buFont typeface="+mj-ea"/>
              <a:buAutoNum type="circleNumDbPlain" startAt="3"/>
              <a:defRPr/>
            </a:pPr>
            <a:r>
              <a:rPr lang="ko-KR" altLang="en-US" sz="1300" b="1" kern="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노면의 </a:t>
            </a:r>
            <a:r>
              <a:rPr lang="ko-KR" altLang="en-US" sz="1300" b="1" kern="0" dirty="0" err="1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불균일함</a:t>
            </a:r>
            <a:r>
              <a:rPr lang="ko-KR" altLang="en-US" sz="1300" b="1" kern="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및 위험성 판단</a:t>
            </a:r>
            <a:endParaRPr lang="en-US" altLang="ko-KR" sz="1300" b="1" kern="0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marL="177800"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120000"/>
              <a:defRPr/>
            </a:pPr>
            <a:r>
              <a:rPr lang="en-US" altLang="ko-KR" sz="1300" b="1" kern="0" dirty="0" err="1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i</a:t>
            </a:r>
            <a:r>
              <a:rPr lang="en-US" altLang="ko-KR" sz="1300" b="1" kern="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) seed</a:t>
            </a:r>
            <a:r>
              <a:rPr lang="ko-KR" altLang="en-US" sz="1300" b="1" kern="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</a:t>
            </a:r>
            <a:r>
              <a:rPr lang="en-US" altLang="ko-KR" sz="1300" b="1" kern="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cell</a:t>
            </a:r>
            <a:r>
              <a:rPr lang="ko-KR" altLang="en-US" sz="1300" b="1" kern="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</a:t>
            </a:r>
            <a:r>
              <a:rPr lang="en-US" altLang="ko-KR" sz="1300" b="1" kern="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|</a:t>
            </a:r>
            <a:r>
              <a:rPr lang="ko-KR" altLang="en-US" sz="1300" b="1" kern="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△</a:t>
            </a:r>
            <a:r>
              <a:rPr lang="en-US" altLang="ko-KR" sz="1300" b="1" kern="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h| ≥ 50cm</a:t>
            </a:r>
          </a:p>
          <a:p>
            <a:pPr marL="177800"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12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스캔 영역 내 높이가 일정 값 이상인 셀을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seed cell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로 지정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marL="177800"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120000"/>
              <a:defRPr/>
            </a:pPr>
            <a:r>
              <a:rPr lang="en-US" altLang="ko-KR" sz="1300" b="1" kern="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ii) </a:t>
            </a:r>
            <a:r>
              <a:rPr lang="ko-KR" altLang="en-US" sz="1300" b="1" kern="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지역군집화 </a:t>
            </a:r>
            <a:r>
              <a:rPr lang="en-US" altLang="ko-KR" sz="1300" b="1" kern="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(clustering)</a:t>
            </a:r>
          </a:p>
          <a:p>
            <a:pPr marL="177800"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12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- seed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cell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주변 셀 스캔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.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높이 차이가 작은 셀을 반복적으로 포함해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clustering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진행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marL="177800"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120000"/>
              <a:defRPr/>
            </a:pPr>
            <a:r>
              <a:rPr lang="en-US" altLang="ko-KR" sz="1300" b="1" kern="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iii) </a:t>
            </a:r>
            <a:r>
              <a:rPr lang="ko-KR" altLang="en-US" sz="1300" b="1" kern="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해당 지역 기울기 </a:t>
            </a:r>
            <a:r>
              <a:rPr lang="en-US" altLang="ko-KR" sz="1300" b="1" kern="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≥ 80%</a:t>
            </a:r>
          </a:p>
          <a:p>
            <a:pPr marL="177800"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12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- </a:t>
            </a:r>
            <a:r>
              <a:rPr lang="ko-KR" altLang="en-US" sz="1300" kern="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지역 내 최고점</a:t>
            </a:r>
            <a:r>
              <a:rPr lang="en-US" altLang="ko-KR" sz="1300" kern="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(peak)</a:t>
            </a:r>
            <a:r>
              <a:rPr lang="ko-KR" altLang="en-US" sz="1300" kern="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과 </a:t>
            </a:r>
            <a:r>
              <a:rPr lang="ko-KR" altLang="en-US" sz="1300" kern="0" dirty="0" err="1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경계점</a:t>
            </a:r>
            <a:r>
              <a:rPr lang="ko-KR" altLang="en-US" sz="1300" kern="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</a:t>
            </a:r>
            <a:r>
              <a:rPr lang="en-US" altLang="ko-KR" sz="1300" kern="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(boundary)</a:t>
            </a:r>
            <a:r>
              <a:rPr lang="ko-KR" altLang="en-US" sz="1300" kern="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찾기</a:t>
            </a:r>
            <a:endParaRPr lang="en-US" altLang="ko-KR" sz="1300" kern="0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marL="177800"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120000"/>
              <a:defRPr/>
            </a:pPr>
            <a:r>
              <a:rPr lang="en-US" altLang="ko-KR" sz="1300" dirty="0"/>
              <a:t>- </a:t>
            </a:r>
            <a:r>
              <a:rPr lang="en-US" altLang="ko-KR" sz="1300" dirty="0" err="1"/>
              <a:t>Δh</a:t>
            </a:r>
            <a:r>
              <a:rPr lang="en-US" altLang="ko-KR" sz="1300" dirty="0"/>
              <a:t> = </a:t>
            </a:r>
            <a:r>
              <a:rPr lang="en-US" altLang="ko-KR" sz="1300" dirty="0" err="1"/>
              <a:t>h_peak</a:t>
            </a:r>
            <a:r>
              <a:rPr lang="en-US" altLang="ko-KR" sz="1300" dirty="0"/>
              <a:t> − </a:t>
            </a:r>
            <a:r>
              <a:rPr lang="en-US" altLang="ko-KR" sz="1300" dirty="0" err="1"/>
              <a:t>h_ground</a:t>
            </a:r>
            <a:endParaRPr lang="en-US" altLang="ko-KR" sz="1300" dirty="0"/>
          </a:p>
          <a:p>
            <a:pPr marL="177800"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120000"/>
              <a:defRPr/>
            </a:pPr>
            <a:r>
              <a:rPr lang="en-US" altLang="ko-KR" sz="1300" dirty="0"/>
              <a:t>- </a:t>
            </a:r>
            <a:r>
              <a:rPr lang="el-GR" altLang="ko-KR" sz="1300" dirty="0"/>
              <a:t>Δ</a:t>
            </a:r>
            <a:r>
              <a:rPr lang="en-US" altLang="ko-KR" sz="1300" dirty="0"/>
              <a:t>d = distance(peak, boundary)</a:t>
            </a:r>
          </a:p>
          <a:p>
            <a:pPr marL="177800"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12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- slope = </a:t>
            </a:r>
            <a:r>
              <a:rPr lang="en-US" altLang="ko-KR" sz="1300" kern="0" dirty="0" err="1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atan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(</a:t>
            </a:r>
            <a:r>
              <a:rPr lang="el-GR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Δ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h / </a:t>
            </a:r>
            <a:r>
              <a:rPr lang="el-GR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Δ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d)  </a:t>
            </a:r>
          </a:p>
          <a:p>
            <a:pPr marL="177800"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12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if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slope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≥ 0.8 →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경사도가 위험 수준으로 위험으로</a:t>
            </a:r>
            <a:r>
              <a:rPr lang="ko-KR" altLang="en-US" sz="1300" b="1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위험환경 판단</a:t>
            </a:r>
            <a:endParaRPr lang="en-US" altLang="ko-KR" sz="1300" b="1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D3E5F2EF-F15C-EFFB-5EC1-867D55AD5CB8}"/>
              </a:ext>
            </a:extLst>
          </p:cNvPr>
          <p:cNvGrpSpPr/>
          <p:nvPr/>
        </p:nvGrpSpPr>
        <p:grpSpPr>
          <a:xfrm>
            <a:off x="4627344" y="967289"/>
            <a:ext cx="4642968" cy="4678962"/>
            <a:chOff x="4588075" y="1244875"/>
            <a:chExt cx="4642968" cy="4678962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8C45D16D-8F41-42D9-FB46-55AEA8BE948B}"/>
                </a:ext>
              </a:extLst>
            </p:cNvPr>
            <p:cNvSpPr/>
            <p:nvPr/>
          </p:nvSpPr>
          <p:spPr>
            <a:xfrm>
              <a:off x="5559662" y="1244875"/>
              <a:ext cx="2762795" cy="2340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5">
                  <a:lumMod val="75000"/>
                </a:schemeClr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새로운 전역 경로 </a:t>
              </a:r>
              <a:r>
                <a:rPr lang="en-US" altLang="ko-KR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point set </a:t>
              </a:r>
              <a:r>
                <a:rPr lang="ko-KR" altLang="en-US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입력</a:t>
              </a:r>
            </a:p>
          </p:txBody>
        </p:sp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272EF21E-C7CE-E2BF-BF6C-CBD7C550E124}"/>
                </a:ext>
              </a:extLst>
            </p:cNvPr>
            <p:cNvSpPr/>
            <p:nvPr/>
          </p:nvSpPr>
          <p:spPr>
            <a:xfrm>
              <a:off x="6617757" y="1518762"/>
              <a:ext cx="252000" cy="252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9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Arial" panose="020B0604020202020204" pitchFamily="34" charset="0"/>
                  <a:ea typeface="KoPub돋움체 Bold" panose="02020603020101020101" pitchFamily="18" charset="-127"/>
                  <a:cs typeface="Arial" panose="020B0604020202020204" pitchFamily="34" charset="0"/>
                </a:rPr>
                <a:t>1</a:t>
              </a:r>
              <a:endParaRPr lang="ko-KR" altLang="en-US" sz="9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9" name="순서도: 판단 8">
              <a:extLst>
                <a:ext uri="{FF2B5EF4-FFF2-40B4-BE49-F238E27FC236}">
                  <a16:creationId xmlns:a16="http://schemas.microsoft.com/office/drawing/2014/main" id="{7E1A6B22-10B6-5601-7C0E-992216016D98}"/>
                </a:ext>
              </a:extLst>
            </p:cNvPr>
            <p:cNvSpPr/>
            <p:nvPr/>
          </p:nvSpPr>
          <p:spPr>
            <a:xfrm>
              <a:off x="4942520" y="2195642"/>
              <a:ext cx="1938529" cy="484848"/>
            </a:xfrm>
            <a:prstGeom prst="flowChartDecision">
              <a:avLst/>
            </a:prstGeom>
            <a:solidFill>
              <a:schemeClr val="bg1"/>
            </a:solidFill>
            <a:ln w="19050">
              <a:solidFill>
                <a:schemeClr val="accent5">
                  <a:lumMod val="75000"/>
                </a:schemeClr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  <a:p>
              <a:pPr algn="ctr"/>
              <a:r>
                <a:rPr lang="ko-KR" altLang="en-US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전역경로 노면 상태 확인 </a:t>
              </a:r>
              <a:endPara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  <a:p>
              <a:pPr algn="ctr"/>
              <a:endPara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1E9DB8EA-2D23-17E1-1C13-FDB1171C7034}"/>
                </a:ext>
              </a:extLst>
            </p:cNvPr>
            <p:cNvSpPr/>
            <p:nvPr/>
          </p:nvSpPr>
          <p:spPr>
            <a:xfrm>
              <a:off x="5767549" y="3171843"/>
              <a:ext cx="2348494" cy="2340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5">
                  <a:lumMod val="75000"/>
                </a:schemeClr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노면의 </a:t>
              </a:r>
              <a:r>
                <a:rPr lang="ko-KR" altLang="en-US" sz="1050" dirty="0" err="1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불균일함</a:t>
              </a:r>
              <a:r>
                <a:rPr lang="ko-KR" altLang="en-US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 및 위험성 판단</a:t>
              </a:r>
            </a:p>
          </p:txBody>
        </p:sp>
        <p:cxnSp>
          <p:nvCxnSpPr>
            <p:cNvPr id="15" name="직선 화살표 연결선 14">
              <a:extLst>
                <a:ext uri="{FF2B5EF4-FFF2-40B4-BE49-F238E27FC236}">
                  <a16:creationId xmlns:a16="http://schemas.microsoft.com/office/drawing/2014/main" id="{FDE2E3F6-887F-3B7F-9B4E-7E960AB83188}"/>
                </a:ext>
              </a:extLst>
            </p:cNvPr>
            <p:cNvCxnSpPr>
              <a:cxnSpLocks/>
              <a:stCxn id="9" idx="2"/>
            </p:cNvCxnSpPr>
            <p:nvPr/>
          </p:nvCxnSpPr>
          <p:spPr>
            <a:xfrm>
              <a:off x="5911785" y="2680490"/>
              <a:ext cx="0" cy="49135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화살표 연결선 15">
              <a:extLst>
                <a:ext uri="{FF2B5EF4-FFF2-40B4-BE49-F238E27FC236}">
                  <a16:creationId xmlns:a16="http://schemas.microsoft.com/office/drawing/2014/main" id="{68DA790C-6D96-6069-6904-77EAE3ABB63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41059" y="1621076"/>
              <a:ext cx="1600659" cy="1057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순서도: 판단 16">
              <a:extLst>
                <a:ext uri="{FF2B5EF4-FFF2-40B4-BE49-F238E27FC236}">
                  <a16:creationId xmlns:a16="http://schemas.microsoft.com/office/drawing/2014/main" id="{3C0FB124-CC37-895E-422E-2A8803384C2B}"/>
                </a:ext>
              </a:extLst>
            </p:cNvPr>
            <p:cNvSpPr/>
            <p:nvPr/>
          </p:nvSpPr>
          <p:spPr>
            <a:xfrm>
              <a:off x="6983494" y="2185257"/>
              <a:ext cx="1938529" cy="484848"/>
            </a:xfrm>
            <a:prstGeom prst="flowChartDecision">
              <a:avLst/>
            </a:prstGeom>
            <a:solidFill>
              <a:schemeClr val="bg1"/>
            </a:solidFill>
            <a:ln w="19050">
              <a:solidFill>
                <a:schemeClr val="accent5">
                  <a:lumMod val="75000"/>
                </a:schemeClr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  <a:p>
              <a:pPr algn="ctr"/>
              <a:r>
                <a:rPr lang="ko-KR" altLang="en-US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작업지점 노면 상태 확인 </a:t>
              </a:r>
              <a:endPara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  <a:p>
              <a:pPr algn="ctr"/>
              <a:endPara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cxnSp>
          <p:nvCxnSpPr>
            <p:cNvPr id="18" name="연결선: 꺾임 17">
              <a:extLst>
                <a:ext uri="{FF2B5EF4-FFF2-40B4-BE49-F238E27FC236}">
                  <a16:creationId xmlns:a16="http://schemas.microsoft.com/office/drawing/2014/main" id="{19DC66BB-63C0-84B9-2E4F-FBD33E3F7ADB}"/>
                </a:ext>
              </a:extLst>
            </p:cNvPr>
            <p:cNvCxnSpPr>
              <a:stCxn id="6" idx="2"/>
              <a:endCxn id="9" idx="0"/>
            </p:cNvCxnSpPr>
            <p:nvPr/>
          </p:nvCxnSpPr>
          <p:spPr>
            <a:xfrm rot="5400000">
              <a:off x="6068040" y="1322621"/>
              <a:ext cx="716767" cy="1029275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연결선: 꺾임 19">
              <a:extLst>
                <a:ext uri="{FF2B5EF4-FFF2-40B4-BE49-F238E27FC236}">
                  <a16:creationId xmlns:a16="http://schemas.microsoft.com/office/drawing/2014/main" id="{063DB923-B44C-FFEB-C359-72111E4F0C09}"/>
                </a:ext>
              </a:extLst>
            </p:cNvPr>
            <p:cNvCxnSpPr>
              <a:cxnSpLocks/>
              <a:stCxn id="6" idx="2"/>
              <a:endCxn id="17" idx="0"/>
            </p:cNvCxnSpPr>
            <p:nvPr/>
          </p:nvCxnSpPr>
          <p:spPr>
            <a:xfrm rot="16200000" flipH="1">
              <a:off x="7093718" y="1326216"/>
              <a:ext cx="706382" cy="1011699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A400049E-21A2-ED13-4600-E757D889F860}"/>
                </a:ext>
              </a:extLst>
            </p:cNvPr>
            <p:cNvSpPr/>
            <p:nvPr/>
          </p:nvSpPr>
          <p:spPr>
            <a:xfrm>
              <a:off x="6389248" y="5145125"/>
              <a:ext cx="1121864" cy="2340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5">
                  <a:lumMod val="75000"/>
                </a:schemeClr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050" dirty="0" err="1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isHazard</a:t>
              </a:r>
              <a:r>
                <a:rPr lang="en-US" altLang="ko-KR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 = true</a:t>
              </a:r>
            </a:p>
          </p:txBody>
        </p:sp>
        <p:cxnSp>
          <p:nvCxnSpPr>
            <p:cNvPr id="25" name="직선 화살표 연결선 24">
              <a:extLst>
                <a:ext uri="{FF2B5EF4-FFF2-40B4-BE49-F238E27FC236}">
                  <a16:creationId xmlns:a16="http://schemas.microsoft.com/office/drawing/2014/main" id="{FEA83839-034D-479A-82EC-851F16C2A727}"/>
                </a:ext>
              </a:extLst>
            </p:cNvPr>
            <p:cNvCxnSpPr>
              <a:cxnSpLocks/>
              <a:stCxn id="17" idx="2"/>
            </p:cNvCxnSpPr>
            <p:nvPr/>
          </p:nvCxnSpPr>
          <p:spPr>
            <a:xfrm flipH="1">
              <a:off x="7952758" y="2670105"/>
              <a:ext cx="1" cy="50173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0195CBFB-C35D-71EA-A48D-243FB7301EE9}"/>
                </a:ext>
              </a:extLst>
            </p:cNvPr>
            <p:cNvSpPr/>
            <p:nvPr/>
          </p:nvSpPr>
          <p:spPr>
            <a:xfrm>
              <a:off x="6246552" y="5689837"/>
              <a:ext cx="1408843" cy="2340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5">
                  <a:lumMod val="75000"/>
                </a:schemeClr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작업 경로 재생성 요청</a:t>
              </a:r>
              <a:endPara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5671CB5F-C8A9-CD8D-E34A-AA36B7E8CF34}"/>
                </a:ext>
              </a:extLst>
            </p:cNvPr>
            <p:cNvSpPr/>
            <p:nvPr/>
          </p:nvSpPr>
          <p:spPr>
            <a:xfrm>
              <a:off x="4588075" y="2296639"/>
              <a:ext cx="252000" cy="252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9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Arial" panose="020B0604020202020204" pitchFamily="34" charset="0"/>
                  <a:ea typeface="KoPub돋움체 Bold" panose="02020603020101020101" pitchFamily="18" charset="-127"/>
                  <a:cs typeface="Arial" panose="020B0604020202020204" pitchFamily="34" charset="0"/>
                </a:rPr>
                <a:t>2</a:t>
              </a:r>
              <a:endParaRPr lang="ko-KR" altLang="en-US" sz="9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358A0275-7AE0-8809-EB55-66A55E169C8C}"/>
                </a:ext>
              </a:extLst>
            </p:cNvPr>
            <p:cNvSpPr/>
            <p:nvPr/>
          </p:nvSpPr>
          <p:spPr>
            <a:xfrm>
              <a:off x="8541719" y="1340394"/>
              <a:ext cx="689324" cy="56136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5">
                  <a:lumMod val="75000"/>
                </a:schemeClr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노면 정보 </a:t>
              </a:r>
              <a:endPara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  <a:p>
              <a:pPr algn="ctr"/>
              <a:r>
                <a:rPr lang="ko-KR" altLang="en-US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지도 입력</a:t>
              </a:r>
            </a:p>
          </p:txBody>
        </p:sp>
        <p:sp>
          <p:nvSpPr>
            <p:cNvPr id="32" name="순서도: 판단 31">
              <a:extLst>
                <a:ext uri="{FF2B5EF4-FFF2-40B4-BE49-F238E27FC236}">
                  <a16:creationId xmlns:a16="http://schemas.microsoft.com/office/drawing/2014/main" id="{98D277AF-B25B-D827-B1A7-2D710BC801A6}"/>
                </a:ext>
              </a:extLst>
            </p:cNvPr>
            <p:cNvSpPr/>
            <p:nvPr/>
          </p:nvSpPr>
          <p:spPr>
            <a:xfrm>
              <a:off x="6222722" y="3642836"/>
              <a:ext cx="1432673" cy="352951"/>
            </a:xfrm>
            <a:prstGeom prst="flowChartDecision">
              <a:avLst/>
            </a:prstGeom>
            <a:solidFill>
              <a:schemeClr val="bg1"/>
            </a:solidFill>
            <a:ln w="19050">
              <a:solidFill>
                <a:schemeClr val="accent5">
                  <a:lumMod val="75000"/>
                </a:schemeClr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|</a:t>
              </a:r>
              <a:r>
                <a:rPr lang="el-GR" altLang="ko-KR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△</a:t>
              </a:r>
              <a:r>
                <a:rPr lang="en-US" altLang="ko-KR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h| ≥ 50cm?</a:t>
              </a:r>
              <a:r>
                <a:rPr lang="ko-KR" altLang="en-US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 </a:t>
              </a:r>
            </a:p>
          </p:txBody>
        </p:sp>
        <p:sp>
          <p:nvSpPr>
            <p:cNvPr id="33" name="순서도: 판단 32">
              <a:extLst>
                <a:ext uri="{FF2B5EF4-FFF2-40B4-BE49-F238E27FC236}">
                  <a16:creationId xmlns:a16="http://schemas.microsoft.com/office/drawing/2014/main" id="{99F2F204-58AB-7555-CE90-A1BCF0D9452E}"/>
                </a:ext>
              </a:extLst>
            </p:cNvPr>
            <p:cNvSpPr/>
            <p:nvPr/>
          </p:nvSpPr>
          <p:spPr>
            <a:xfrm>
              <a:off x="6229057" y="4553975"/>
              <a:ext cx="1432673" cy="352951"/>
            </a:xfrm>
            <a:prstGeom prst="flowChartDecision">
              <a:avLst/>
            </a:prstGeom>
            <a:solidFill>
              <a:schemeClr val="bg1"/>
            </a:solidFill>
            <a:ln w="19050">
              <a:solidFill>
                <a:schemeClr val="accent5">
                  <a:lumMod val="75000"/>
                </a:schemeClr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기울기</a:t>
              </a:r>
              <a:r>
                <a:rPr lang="en-US" altLang="ko-KR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 ≥ 80%</a:t>
              </a:r>
              <a:endPara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54A0C841-E73F-C511-C49F-61D3180837CD}"/>
                </a:ext>
              </a:extLst>
            </p:cNvPr>
            <p:cNvSpPr/>
            <p:nvPr/>
          </p:nvSpPr>
          <p:spPr>
            <a:xfrm>
              <a:off x="5461667" y="2993707"/>
              <a:ext cx="252000" cy="252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9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Arial" panose="020B0604020202020204" pitchFamily="34" charset="0"/>
                  <a:ea typeface="KoPub돋움체 Bold" panose="02020603020101020101" pitchFamily="18" charset="-127"/>
                  <a:cs typeface="Arial" panose="020B0604020202020204" pitchFamily="34" charset="0"/>
                </a:rPr>
                <a:t>3</a:t>
              </a:r>
              <a:endParaRPr lang="ko-KR" altLang="en-US" sz="9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58CB22B2-853D-BFC8-BCC5-95BDA927E87D}"/>
                </a:ext>
              </a:extLst>
            </p:cNvPr>
            <p:cNvSpPr/>
            <p:nvPr/>
          </p:nvSpPr>
          <p:spPr>
            <a:xfrm>
              <a:off x="6379759" y="4136280"/>
              <a:ext cx="1121864" cy="2340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5">
                  <a:lumMod val="75000"/>
                </a:schemeClr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지역 군집화</a:t>
              </a:r>
              <a:endPara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cxnSp>
          <p:nvCxnSpPr>
            <p:cNvPr id="42" name="직선 화살표 연결선 41">
              <a:extLst>
                <a:ext uri="{FF2B5EF4-FFF2-40B4-BE49-F238E27FC236}">
                  <a16:creationId xmlns:a16="http://schemas.microsoft.com/office/drawing/2014/main" id="{4CA44102-8D23-E307-5610-0B3F67654A7A}"/>
                </a:ext>
              </a:extLst>
            </p:cNvPr>
            <p:cNvCxnSpPr>
              <a:cxnSpLocks/>
              <a:stCxn id="32" idx="2"/>
              <a:endCxn id="39" idx="0"/>
            </p:cNvCxnSpPr>
            <p:nvPr/>
          </p:nvCxnSpPr>
          <p:spPr>
            <a:xfrm>
              <a:off x="6939059" y="3995787"/>
              <a:ext cx="1632" cy="14049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직선 화살표 연결선 42">
              <a:extLst>
                <a:ext uri="{FF2B5EF4-FFF2-40B4-BE49-F238E27FC236}">
                  <a16:creationId xmlns:a16="http://schemas.microsoft.com/office/drawing/2014/main" id="{1B97B54E-EA84-1FEA-5A30-8B83AB8B2872}"/>
                </a:ext>
              </a:extLst>
            </p:cNvPr>
            <p:cNvCxnSpPr>
              <a:cxnSpLocks/>
              <a:stCxn id="13" idx="2"/>
              <a:endCxn id="32" idx="0"/>
            </p:cNvCxnSpPr>
            <p:nvPr/>
          </p:nvCxnSpPr>
          <p:spPr>
            <a:xfrm flipH="1">
              <a:off x="6939059" y="3405843"/>
              <a:ext cx="2737" cy="23699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직선 화살표 연결선 45">
              <a:extLst>
                <a:ext uri="{FF2B5EF4-FFF2-40B4-BE49-F238E27FC236}">
                  <a16:creationId xmlns:a16="http://schemas.microsoft.com/office/drawing/2014/main" id="{05CA251E-DA20-1222-077A-057C2AFB152F}"/>
                </a:ext>
              </a:extLst>
            </p:cNvPr>
            <p:cNvCxnSpPr>
              <a:cxnSpLocks/>
              <a:stCxn id="39" idx="2"/>
              <a:endCxn id="33" idx="0"/>
            </p:cNvCxnSpPr>
            <p:nvPr/>
          </p:nvCxnSpPr>
          <p:spPr>
            <a:xfrm>
              <a:off x="6940691" y="4370280"/>
              <a:ext cx="4703" cy="18369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직선 화살표 연결선 46">
              <a:extLst>
                <a:ext uri="{FF2B5EF4-FFF2-40B4-BE49-F238E27FC236}">
                  <a16:creationId xmlns:a16="http://schemas.microsoft.com/office/drawing/2014/main" id="{1816A9A0-2A94-2845-78BB-DE0E492C6864}"/>
                </a:ext>
              </a:extLst>
            </p:cNvPr>
            <p:cNvCxnSpPr>
              <a:cxnSpLocks/>
              <a:stCxn id="33" idx="2"/>
              <a:endCxn id="22" idx="0"/>
            </p:cNvCxnSpPr>
            <p:nvPr/>
          </p:nvCxnSpPr>
          <p:spPr>
            <a:xfrm>
              <a:off x="6945394" y="4906926"/>
              <a:ext cx="4786" cy="23819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직선 화살표 연결선 47">
              <a:extLst>
                <a:ext uri="{FF2B5EF4-FFF2-40B4-BE49-F238E27FC236}">
                  <a16:creationId xmlns:a16="http://schemas.microsoft.com/office/drawing/2014/main" id="{11763E3C-77C2-05D0-04AF-26D141D65143}"/>
                </a:ext>
              </a:extLst>
            </p:cNvPr>
            <p:cNvCxnSpPr>
              <a:cxnSpLocks/>
              <a:stCxn id="22" idx="2"/>
              <a:endCxn id="26" idx="0"/>
            </p:cNvCxnSpPr>
            <p:nvPr/>
          </p:nvCxnSpPr>
          <p:spPr>
            <a:xfrm>
              <a:off x="6950180" y="5379125"/>
              <a:ext cx="794" cy="31071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099142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501B45-B05B-F48C-C44B-B5F9FCA5E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D64E90-3459-F8DD-8328-22A06FA56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846" y="229251"/>
            <a:ext cx="9121492" cy="369332"/>
          </a:xfrm>
        </p:spPr>
        <p:txBody>
          <a:bodyPr/>
          <a:lstStyle/>
          <a:p>
            <a:r>
              <a:rPr lang="en-US" altLang="ko-KR" sz="24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9. </a:t>
            </a:r>
            <a:r>
              <a:rPr lang="ko-KR" altLang="en-US" sz="24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작업 반경 내 장애물에 의한 사각지대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6057A66-5939-A412-E664-704D0C3CA8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F55F954-5E86-475A-837F-2B8CED6C7DF1}" type="slidenum">
              <a:rPr lang="ko-KR" altLang="en-US" smtClean="0"/>
              <a:pPr/>
              <a:t>73</a:t>
            </a:fld>
            <a:endParaRPr lang="ko-KR" altLang="en-US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B827E7AB-EF7E-AD5E-7990-AF391A2BD5E5}"/>
              </a:ext>
            </a:extLst>
          </p:cNvPr>
          <p:cNvGrpSpPr/>
          <p:nvPr/>
        </p:nvGrpSpPr>
        <p:grpSpPr>
          <a:xfrm>
            <a:off x="2714186" y="877974"/>
            <a:ext cx="3778054" cy="2482652"/>
            <a:chOff x="2239774" y="1047519"/>
            <a:chExt cx="4543395" cy="3338603"/>
          </a:xfrm>
        </p:grpSpPr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D51292AF-7D68-C91D-1413-9F7C393723BB}"/>
                </a:ext>
              </a:extLst>
            </p:cNvPr>
            <p:cNvSpPr/>
            <p:nvPr/>
          </p:nvSpPr>
          <p:spPr>
            <a:xfrm>
              <a:off x="3279549" y="1047519"/>
              <a:ext cx="3216905" cy="3338603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/>
            </a:p>
          </p:txBody>
        </p:sp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62DF62E3-A9FF-9D1C-0E85-2D5CC45C2884}"/>
                </a:ext>
              </a:extLst>
            </p:cNvPr>
            <p:cNvGrpSpPr/>
            <p:nvPr/>
          </p:nvGrpSpPr>
          <p:grpSpPr>
            <a:xfrm>
              <a:off x="2239774" y="1629285"/>
              <a:ext cx="1922709" cy="2167009"/>
              <a:chOff x="4234778" y="2962285"/>
              <a:chExt cx="1989829" cy="2173308"/>
            </a:xfrm>
          </p:grpSpPr>
          <p:sp>
            <p:nvSpPr>
              <p:cNvPr id="25" name="모서리가 둥근 직사각형 25">
                <a:extLst>
                  <a:ext uri="{FF2B5EF4-FFF2-40B4-BE49-F238E27FC236}">
                    <a16:creationId xmlns:a16="http://schemas.microsoft.com/office/drawing/2014/main" id="{A98D6803-E21E-9022-2D0A-EEAA172D8014}"/>
                  </a:ext>
                </a:extLst>
              </p:cNvPr>
              <p:cNvSpPr/>
              <p:nvPr/>
            </p:nvSpPr>
            <p:spPr>
              <a:xfrm>
                <a:off x="4234778" y="2962285"/>
                <a:ext cx="554967" cy="619002"/>
              </a:xfrm>
              <a:prstGeom prst="round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 dirty="0" err="1"/>
                  <a:t>보조차량</a:t>
                </a:r>
                <a:endParaRPr lang="ko-KR" altLang="en-US" sz="900" dirty="0"/>
              </a:p>
            </p:txBody>
          </p:sp>
          <p:sp>
            <p:nvSpPr>
              <p:cNvPr id="31" name="모서리가 둥근 직사각형 26">
                <a:extLst>
                  <a:ext uri="{FF2B5EF4-FFF2-40B4-BE49-F238E27FC236}">
                    <a16:creationId xmlns:a16="http://schemas.microsoft.com/office/drawing/2014/main" id="{461F8796-4044-336B-65E5-1F56F1427261}"/>
                  </a:ext>
                </a:extLst>
              </p:cNvPr>
              <p:cNvSpPr/>
              <p:nvPr/>
            </p:nvSpPr>
            <p:spPr>
              <a:xfrm>
                <a:off x="5669640" y="2962285"/>
                <a:ext cx="554967" cy="619002"/>
              </a:xfrm>
              <a:prstGeom prst="round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 dirty="0" err="1"/>
                  <a:t>보조차량</a:t>
                </a:r>
                <a:endParaRPr lang="ko-KR" altLang="en-US" sz="900" dirty="0"/>
              </a:p>
            </p:txBody>
          </p:sp>
          <p:sp>
            <p:nvSpPr>
              <p:cNvPr id="32" name="모서리가 둥근 직사각형 27">
                <a:extLst>
                  <a:ext uri="{FF2B5EF4-FFF2-40B4-BE49-F238E27FC236}">
                    <a16:creationId xmlns:a16="http://schemas.microsoft.com/office/drawing/2014/main" id="{D9848437-EF87-4678-AA19-BD64902DF331}"/>
                  </a:ext>
                </a:extLst>
              </p:cNvPr>
              <p:cNvSpPr/>
              <p:nvPr/>
            </p:nvSpPr>
            <p:spPr>
              <a:xfrm>
                <a:off x="4234778" y="4516591"/>
                <a:ext cx="554967" cy="619002"/>
              </a:xfrm>
              <a:prstGeom prst="round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 dirty="0" err="1"/>
                  <a:t>보조차량</a:t>
                </a:r>
                <a:endParaRPr lang="ko-KR" altLang="en-US" sz="900" dirty="0"/>
              </a:p>
            </p:txBody>
          </p:sp>
          <p:sp>
            <p:nvSpPr>
              <p:cNvPr id="33" name="모서리가 둥근 직사각형 28">
                <a:extLst>
                  <a:ext uri="{FF2B5EF4-FFF2-40B4-BE49-F238E27FC236}">
                    <a16:creationId xmlns:a16="http://schemas.microsoft.com/office/drawing/2014/main" id="{C17D5AC4-07E7-EA11-1DC6-EA305A03B371}"/>
                  </a:ext>
                </a:extLst>
              </p:cNvPr>
              <p:cNvSpPr/>
              <p:nvPr/>
            </p:nvSpPr>
            <p:spPr>
              <a:xfrm>
                <a:off x="5669639" y="4516591"/>
                <a:ext cx="554967" cy="619002"/>
              </a:xfrm>
              <a:prstGeom prst="round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 dirty="0" err="1"/>
                  <a:t>보조차량</a:t>
                </a:r>
                <a:endParaRPr lang="ko-KR" altLang="en-US" sz="900" dirty="0"/>
              </a:p>
            </p:txBody>
          </p:sp>
        </p:grpSp>
        <p:sp>
          <p:nvSpPr>
            <p:cNvPr id="6" name="이등변 삼각형 5">
              <a:extLst>
                <a:ext uri="{FF2B5EF4-FFF2-40B4-BE49-F238E27FC236}">
                  <a16:creationId xmlns:a16="http://schemas.microsoft.com/office/drawing/2014/main" id="{7FA71CE4-354B-B394-6D1A-66C355EFAE00}"/>
                </a:ext>
              </a:extLst>
            </p:cNvPr>
            <p:cNvSpPr/>
            <p:nvPr/>
          </p:nvSpPr>
          <p:spPr>
            <a:xfrm rot="5400000">
              <a:off x="5830249" y="1188266"/>
              <a:ext cx="776892" cy="823090"/>
            </a:xfrm>
            <a:prstGeom prst="triangle">
              <a:avLst/>
            </a:prstGeom>
            <a:solidFill>
              <a:srgbClr val="7030A0">
                <a:tint val="66000"/>
                <a:satMod val="160000"/>
              </a:srgbClr>
            </a:solidFill>
            <a:ln>
              <a:solidFill>
                <a:srgbClr val="B196D2"/>
              </a:solidFill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ko-KR" sz="900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A4F3974-D374-9FA5-B58E-92B7701B2FA1}"/>
                </a:ext>
              </a:extLst>
            </p:cNvPr>
            <p:cNvSpPr txBox="1"/>
            <p:nvPr/>
          </p:nvSpPr>
          <p:spPr>
            <a:xfrm>
              <a:off x="5822117" y="1475757"/>
              <a:ext cx="823090" cy="3104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dirty="0">
                  <a:solidFill>
                    <a:schemeClr val="bg1"/>
                  </a:solidFill>
                </a:rPr>
                <a:t>사각 영역</a:t>
              </a:r>
            </a:p>
          </p:txBody>
        </p:sp>
        <p:sp>
          <p:nvSpPr>
            <p:cNvPr id="13" name="모서리가 둥근 직사각형 33">
              <a:extLst>
                <a:ext uri="{FF2B5EF4-FFF2-40B4-BE49-F238E27FC236}">
                  <a16:creationId xmlns:a16="http://schemas.microsoft.com/office/drawing/2014/main" id="{B744CCBB-2A8E-7785-0BD1-1D5DC89529C6}"/>
                </a:ext>
              </a:extLst>
            </p:cNvPr>
            <p:cNvSpPr/>
            <p:nvPr/>
          </p:nvSpPr>
          <p:spPr>
            <a:xfrm>
              <a:off x="4927255" y="1171478"/>
              <a:ext cx="932758" cy="816777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dirty="0">
                  <a:latin typeface="+mn-ea"/>
                </a:rPr>
                <a:t>정적</a:t>
              </a:r>
              <a:endParaRPr lang="en-US" altLang="ko-KR" sz="900" dirty="0">
                <a:latin typeface="+mn-ea"/>
              </a:endParaRPr>
            </a:p>
            <a:p>
              <a:pPr algn="ctr"/>
              <a:r>
                <a:rPr lang="ko-KR" altLang="en-US" sz="900" dirty="0">
                  <a:latin typeface="+mn-ea"/>
                </a:rPr>
                <a:t>장애물</a:t>
              </a:r>
              <a:endParaRPr lang="en-US" altLang="ko-KR" sz="900" dirty="0">
                <a:latin typeface="+mn-ea"/>
              </a:endParaRPr>
            </a:p>
            <a:p>
              <a:pPr algn="ctr"/>
              <a:r>
                <a:rPr lang="en-US" altLang="ko-KR" sz="900" dirty="0">
                  <a:latin typeface="+mn-ea"/>
                </a:rPr>
                <a:t>(</a:t>
              </a:r>
              <a:r>
                <a:rPr lang="ko-KR" altLang="en-US" sz="900" dirty="0">
                  <a:latin typeface="+mn-ea"/>
                </a:rPr>
                <a:t>높이</a:t>
              </a:r>
              <a:r>
                <a:rPr lang="en-US" altLang="ko-KR" sz="900" dirty="0">
                  <a:latin typeface="+mn-ea"/>
                </a:rPr>
                <a:t>&gt;2m)</a:t>
              </a:r>
              <a:endParaRPr lang="ko-KR" altLang="en-US" sz="900" dirty="0">
                <a:latin typeface="+mn-ea"/>
              </a:endParaRPr>
            </a:p>
          </p:txBody>
        </p:sp>
        <p:sp>
          <p:nvSpPr>
            <p:cNvPr id="5" name="이등변 삼각형 4">
              <a:extLst>
                <a:ext uri="{FF2B5EF4-FFF2-40B4-BE49-F238E27FC236}">
                  <a16:creationId xmlns:a16="http://schemas.microsoft.com/office/drawing/2014/main" id="{5C2021AD-A976-9961-19A3-BFBB7118B073}"/>
                </a:ext>
              </a:extLst>
            </p:cNvPr>
            <p:cNvSpPr/>
            <p:nvPr/>
          </p:nvSpPr>
          <p:spPr>
            <a:xfrm rot="5400000">
              <a:off x="5937129" y="3188068"/>
              <a:ext cx="606240" cy="1085840"/>
            </a:xfrm>
            <a:prstGeom prst="triangle">
              <a:avLst/>
            </a:prstGeom>
            <a:solidFill>
              <a:srgbClr val="7030A0">
                <a:tint val="66000"/>
                <a:satMod val="160000"/>
              </a:srgbClr>
            </a:solidFill>
            <a:ln>
              <a:solidFill>
                <a:srgbClr val="B196D2"/>
              </a:solidFill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ko-KR" sz="900" dirty="0"/>
            </a:p>
          </p:txBody>
        </p:sp>
        <p:sp>
          <p:nvSpPr>
            <p:cNvPr id="12" name="모서리가 둥근 직사각형 12">
              <a:extLst>
                <a:ext uri="{FF2B5EF4-FFF2-40B4-BE49-F238E27FC236}">
                  <a16:creationId xmlns:a16="http://schemas.microsoft.com/office/drawing/2014/main" id="{637A7147-D7B0-4B98-6C60-5CD57A6872A2}"/>
                </a:ext>
              </a:extLst>
            </p:cNvPr>
            <p:cNvSpPr/>
            <p:nvPr/>
          </p:nvSpPr>
          <p:spPr>
            <a:xfrm>
              <a:off x="5048019" y="3426297"/>
              <a:ext cx="691668" cy="606239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dirty="0"/>
                <a:t>동적</a:t>
              </a:r>
              <a:endParaRPr lang="en-US" altLang="ko-KR" sz="900" dirty="0"/>
            </a:p>
            <a:p>
              <a:pPr algn="ctr"/>
              <a:r>
                <a:rPr lang="ko-KR" altLang="en-US" sz="900" dirty="0"/>
                <a:t>장애물</a:t>
              </a:r>
              <a:endParaRPr lang="en-US" altLang="ko-KR" sz="900" dirty="0"/>
            </a:p>
            <a:p>
              <a:pPr algn="ctr"/>
              <a:r>
                <a:rPr lang="en-US" altLang="ko-KR" sz="900" dirty="0"/>
                <a:t>(</a:t>
              </a:r>
              <a:r>
                <a:rPr lang="ko-KR" altLang="en-US" sz="900" dirty="0"/>
                <a:t>정지</a:t>
              </a:r>
              <a:r>
                <a:rPr lang="en-US" altLang="ko-KR" sz="900" dirty="0"/>
                <a:t>)</a:t>
              </a:r>
              <a:endParaRPr lang="ko-KR" altLang="en-US" sz="900" dirty="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439C8ED5-67C7-73E0-F299-C7E3F8CAC7F4}"/>
                </a:ext>
              </a:extLst>
            </p:cNvPr>
            <p:cNvSpPr txBox="1"/>
            <p:nvPr/>
          </p:nvSpPr>
          <p:spPr>
            <a:xfrm>
              <a:off x="5745826" y="3611332"/>
              <a:ext cx="823090" cy="3104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dirty="0">
                  <a:solidFill>
                    <a:schemeClr val="bg1"/>
                  </a:solidFill>
                </a:rPr>
                <a:t>사각 영역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5F7BE376-DDF5-3C5E-DE3F-65442313E409}"/>
                </a:ext>
              </a:extLst>
            </p:cNvPr>
            <p:cNvSpPr txBox="1"/>
            <p:nvPr/>
          </p:nvSpPr>
          <p:spPr>
            <a:xfrm>
              <a:off x="3894974" y="2655537"/>
              <a:ext cx="777202" cy="3104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dirty="0">
                  <a:latin typeface="+mn-ea"/>
                </a:rPr>
                <a:t> &lt; 40m</a:t>
              </a:r>
              <a:endParaRPr lang="ko-KR" altLang="en-US" sz="900" dirty="0">
                <a:latin typeface="+mn-ea"/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4DB68285-8733-53BD-99FF-4922E6C35722}"/>
                </a:ext>
              </a:extLst>
            </p:cNvPr>
            <p:cNvSpPr txBox="1"/>
            <p:nvPr/>
          </p:nvSpPr>
          <p:spPr>
            <a:xfrm>
              <a:off x="3685961" y="2440624"/>
              <a:ext cx="1202042" cy="3104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ko-KR" altLang="en-US" sz="900" b="1" dirty="0">
                <a:latin typeface="+mn-ea"/>
              </a:endParaRPr>
            </a:p>
          </p:txBody>
        </p:sp>
        <p:sp>
          <p:nvSpPr>
            <p:cNvPr id="72" name="모서리가 둥근 직사각형 24">
              <a:extLst>
                <a:ext uri="{FF2B5EF4-FFF2-40B4-BE49-F238E27FC236}">
                  <a16:creationId xmlns:a16="http://schemas.microsoft.com/office/drawing/2014/main" id="{A2CB8EEB-4851-7ADE-7FFD-03585ADBF38B}"/>
                </a:ext>
              </a:extLst>
            </p:cNvPr>
            <p:cNvSpPr/>
            <p:nvPr/>
          </p:nvSpPr>
          <p:spPr>
            <a:xfrm>
              <a:off x="2824495" y="2244373"/>
              <a:ext cx="850215" cy="932593"/>
            </a:xfrm>
            <a:prstGeom prst="roundRect">
              <a:avLst/>
            </a:prstGeom>
            <a:ln>
              <a:solidFill>
                <a:schemeClr val="accent5"/>
              </a:solidFill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dirty="0">
                  <a:latin typeface="+mn-ea"/>
                </a:rPr>
                <a:t>특장차량</a:t>
              </a:r>
              <a:endParaRPr lang="en-US" altLang="ko-KR" sz="900" dirty="0">
                <a:latin typeface="+mn-ea"/>
              </a:endParaRPr>
            </a:p>
            <a:p>
              <a:pPr algn="ctr"/>
              <a:r>
                <a:rPr lang="en-US" altLang="ko-KR" sz="900" b="1" u="sng" dirty="0">
                  <a:latin typeface="+mn-ea"/>
                </a:rPr>
                <a:t>(</a:t>
              </a:r>
              <a:r>
                <a:rPr lang="ko-KR" altLang="en-US" sz="900" b="1" u="sng" dirty="0">
                  <a:latin typeface="+mn-ea"/>
                </a:rPr>
                <a:t>이동중</a:t>
              </a:r>
              <a:r>
                <a:rPr lang="en-US" altLang="ko-KR" sz="900" b="1" u="sng" dirty="0">
                  <a:latin typeface="+mn-ea"/>
                </a:rPr>
                <a:t>)</a:t>
              </a:r>
            </a:p>
          </p:txBody>
        </p:sp>
        <p:cxnSp>
          <p:nvCxnSpPr>
            <p:cNvPr id="34" name="직선 화살표 연결선 33">
              <a:extLst>
                <a:ext uri="{FF2B5EF4-FFF2-40B4-BE49-F238E27FC236}">
                  <a16:creationId xmlns:a16="http://schemas.microsoft.com/office/drawing/2014/main" id="{E528451B-2F39-E7E1-8A5C-4C6E8754C8DD}"/>
                </a:ext>
              </a:extLst>
            </p:cNvPr>
            <p:cNvCxnSpPr>
              <a:cxnSpLocks/>
              <a:stCxn id="72" idx="3"/>
            </p:cNvCxnSpPr>
            <p:nvPr/>
          </p:nvCxnSpPr>
          <p:spPr>
            <a:xfrm flipV="1">
              <a:off x="3674710" y="2709315"/>
              <a:ext cx="1156164" cy="1355"/>
            </a:xfrm>
            <a:prstGeom prst="straightConnector1">
              <a:avLst/>
            </a:prstGeom>
            <a:ln w="3175">
              <a:prstDash val="dash"/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18D9FF21-330A-BFAF-75DB-8B26E97A5873}"/>
                </a:ext>
              </a:extLst>
            </p:cNvPr>
            <p:cNvSpPr txBox="1"/>
            <p:nvPr/>
          </p:nvSpPr>
          <p:spPr>
            <a:xfrm>
              <a:off x="4472982" y="2806306"/>
              <a:ext cx="1202042" cy="4966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900" b="1" dirty="0">
                  <a:latin typeface="+mn-ea"/>
                </a:rPr>
                <a:t>최종 목적지</a:t>
              </a:r>
              <a:endParaRPr lang="en-US" altLang="ko-KR" sz="900" b="1" dirty="0">
                <a:latin typeface="+mn-ea"/>
              </a:endParaRPr>
            </a:p>
            <a:p>
              <a:pPr algn="ctr"/>
              <a:endParaRPr lang="ko-KR" altLang="en-US" sz="900" b="1" dirty="0">
                <a:latin typeface="+mn-ea"/>
              </a:endParaRPr>
            </a:p>
          </p:txBody>
        </p:sp>
        <p:sp>
          <p:nvSpPr>
            <p:cNvPr id="98" name="타원 97">
              <a:extLst>
                <a:ext uri="{FF2B5EF4-FFF2-40B4-BE49-F238E27FC236}">
                  <a16:creationId xmlns:a16="http://schemas.microsoft.com/office/drawing/2014/main" id="{5ACD55CB-D1A1-CBDE-52A8-CA649651A486}"/>
                </a:ext>
              </a:extLst>
            </p:cNvPr>
            <p:cNvSpPr/>
            <p:nvPr/>
          </p:nvSpPr>
          <p:spPr>
            <a:xfrm>
              <a:off x="4921778" y="2614868"/>
              <a:ext cx="195891" cy="190097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7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136" name="자유형: 도형 135">
              <a:extLst>
                <a:ext uri="{FF2B5EF4-FFF2-40B4-BE49-F238E27FC236}">
                  <a16:creationId xmlns:a16="http://schemas.microsoft.com/office/drawing/2014/main" id="{D7828B03-A759-5733-9178-1F5890BC5B5D}"/>
                </a:ext>
              </a:extLst>
            </p:cNvPr>
            <p:cNvSpPr/>
            <p:nvPr/>
          </p:nvSpPr>
          <p:spPr>
            <a:xfrm>
              <a:off x="4173733" y="2020534"/>
              <a:ext cx="1932416" cy="442213"/>
            </a:xfrm>
            <a:custGeom>
              <a:avLst/>
              <a:gdLst>
                <a:gd name="connsiteX0" fmla="*/ 0 w 1932416"/>
                <a:gd name="connsiteY0" fmla="*/ 57874 h 442213"/>
                <a:gd name="connsiteX1" fmla="*/ 960698 w 1932416"/>
                <a:gd name="connsiteY1" fmla="*/ 312517 h 442213"/>
                <a:gd name="connsiteX2" fmla="*/ 1851949 w 1932416"/>
                <a:gd name="connsiteY2" fmla="*/ 428264 h 442213"/>
                <a:gd name="connsiteX3" fmla="*/ 1898248 w 1932416"/>
                <a:gd name="connsiteY3" fmla="*/ 0 h 442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2416" h="442213">
                  <a:moveTo>
                    <a:pt x="0" y="57874"/>
                  </a:moveTo>
                  <a:cubicBezTo>
                    <a:pt x="326020" y="154329"/>
                    <a:pt x="652040" y="250785"/>
                    <a:pt x="960698" y="312517"/>
                  </a:cubicBezTo>
                  <a:cubicBezTo>
                    <a:pt x="1269356" y="374249"/>
                    <a:pt x="1695691" y="480350"/>
                    <a:pt x="1851949" y="428264"/>
                  </a:cubicBezTo>
                  <a:cubicBezTo>
                    <a:pt x="2008207" y="376178"/>
                    <a:pt x="1886673" y="59803"/>
                    <a:pt x="1898248" y="0"/>
                  </a:cubicBezTo>
                </a:path>
              </a:pathLst>
            </a:custGeom>
            <a:noFill/>
            <a:ln>
              <a:solidFill>
                <a:schemeClr val="tx1">
                  <a:lumMod val="65000"/>
                  <a:lumOff val="35000"/>
                </a:schemeClr>
              </a:solidFill>
              <a:prstDash val="sysDash"/>
              <a:headEnd type="none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/>
            </a:p>
          </p:txBody>
        </p:sp>
        <p:sp>
          <p:nvSpPr>
            <p:cNvPr id="140" name="자유형: 도형 139">
              <a:extLst>
                <a:ext uri="{FF2B5EF4-FFF2-40B4-BE49-F238E27FC236}">
                  <a16:creationId xmlns:a16="http://schemas.microsoft.com/office/drawing/2014/main" id="{E5165184-00FE-62C9-838E-05F30DE0A3B1}"/>
                </a:ext>
              </a:extLst>
            </p:cNvPr>
            <p:cNvSpPr/>
            <p:nvPr/>
          </p:nvSpPr>
          <p:spPr>
            <a:xfrm>
              <a:off x="4169664" y="3511296"/>
              <a:ext cx="810768" cy="333039"/>
            </a:xfrm>
            <a:custGeom>
              <a:avLst/>
              <a:gdLst>
                <a:gd name="connsiteX0" fmla="*/ 0 w 810768"/>
                <a:gd name="connsiteY0" fmla="*/ 0 h 333039"/>
                <a:gd name="connsiteX1" fmla="*/ 262128 w 810768"/>
                <a:gd name="connsiteY1" fmla="*/ 286512 h 333039"/>
                <a:gd name="connsiteX2" fmla="*/ 810768 w 810768"/>
                <a:gd name="connsiteY2" fmla="*/ 329184 h 333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10768" h="333039">
                  <a:moveTo>
                    <a:pt x="0" y="0"/>
                  </a:moveTo>
                  <a:cubicBezTo>
                    <a:pt x="63500" y="115824"/>
                    <a:pt x="127000" y="231648"/>
                    <a:pt x="262128" y="286512"/>
                  </a:cubicBezTo>
                  <a:cubicBezTo>
                    <a:pt x="397256" y="341376"/>
                    <a:pt x="604012" y="335280"/>
                    <a:pt x="810768" y="329184"/>
                  </a:cubicBezTo>
                </a:path>
              </a:pathLst>
            </a:custGeom>
            <a:noFill/>
            <a:ln>
              <a:solidFill>
                <a:schemeClr val="tx1">
                  <a:lumMod val="65000"/>
                  <a:lumOff val="35000"/>
                </a:schemeClr>
              </a:solidFill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/>
            </a:p>
          </p:txBody>
        </p:sp>
      </p:grp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EB96AAF1-A6EB-635E-7B46-B91400E234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1627296"/>
              </p:ext>
            </p:extLst>
          </p:nvPr>
        </p:nvGraphicFramePr>
        <p:xfrm>
          <a:off x="555087" y="3459888"/>
          <a:ext cx="8839592" cy="32988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82845">
                  <a:extLst>
                    <a:ext uri="{9D8B030D-6E8A-4147-A177-3AD203B41FA5}">
                      <a16:colId xmlns:a16="http://schemas.microsoft.com/office/drawing/2014/main" val="4068469479"/>
                    </a:ext>
                  </a:extLst>
                </a:gridCol>
                <a:gridCol w="6656747">
                  <a:extLst>
                    <a:ext uri="{9D8B030D-6E8A-4147-A177-3AD203B41FA5}">
                      <a16:colId xmlns:a16="http://schemas.microsoft.com/office/drawing/2014/main" val="724317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#9 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시나리오 개요 </a:t>
                      </a:r>
                    </a:p>
                  </a:txBody>
                  <a:tcPr marL="80649" marR="80649" marT="40325" marB="4032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/>
                        <a:t>특장차의 작업반경 내 </a:t>
                      </a:r>
                      <a:r>
                        <a:rPr lang="ko-KR" altLang="en-US" sz="1000" b="1" dirty="0"/>
                        <a:t>높이 </a:t>
                      </a:r>
                      <a:r>
                        <a:rPr lang="en-US" altLang="ko-KR" sz="1000" b="1" dirty="0"/>
                        <a:t>2m </a:t>
                      </a:r>
                      <a:r>
                        <a:rPr lang="ko-KR" altLang="en-US" sz="1000" b="1" dirty="0"/>
                        <a:t>이상의 정적 장애물</a:t>
                      </a:r>
                      <a:r>
                        <a:rPr lang="ko-KR" altLang="en-US" sz="1000" dirty="0"/>
                        <a:t>이나 </a:t>
                      </a:r>
                      <a:r>
                        <a:rPr lang="ko-KR" altLang="en-US" sz="1000" b="1" dirty="0"/>
                        <a:t>정지 중인 동적 장애물</a:t>
                      </a:r>
                      <a:r>
                        <a:rPr lang="ko-KR" altLang="en-US" sz="1000" dirty="0"/>
                        <a:t>이 존재하면 작업 반경 내 사각지대가 형성되어 사고 위험이 증가할 수 있음</a:t>
                      </a:r>
                      <a:r>
                        <a:rPr lang="en-US" altLang="ko-KR" sz="1000" dirty="0"/>
                        <a:t>.</a:t>
                      </a:r>
                      <a:br>
                        <a:rPr lang="en-US" altLang="ko-KR" sz="1000" dirty="0"/>
                      </a:br>
                      <a:r>
                        <a:rPr lang="ko-KR" altLang="en-US" sz="1000" dirty="0"/>
                        <a:t>이를 사전에 감지하여 작업 착수 전 사각지대를 소거</a:t>
                      </a:r>
                      <a:r>
                        <a:rPr lang="en-US" altLang="ko-KR" sz="1000" dirty="0"/>
                        <a:t>,</a:t>
                      </a:r>
                      <a:r>
                        <a:rPr lang="ko-KR" altLang="en-US" sz="1000" dirty="0"/>
                        <a:t> 안전한 작업 환경을 확보하는 목적의 시나리오</a:t>
                      </a:r>
                      <a:r>
                        <a:rPr lang="en-US" altLang="ko-KR" sz="1000" dirty="0"/>
                        <a:t>. 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+mj-lt"/>
                        <a:ea typeface="+mn-ea"/>
                      </a:endParaRPr>
                    </a:p>
                  </a:txBody>
                  <a:tcPr marL="80649" marR="80649" marT="40325" marB="40325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918334"/>
                  </a:ext>
                </a:extLst>
              </a:tr>
              <a:tr h="10890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시나리오</a:t>
                      </a:r>
                      <a:r>
                        <a:rPr lang="en-US" altLang="ko-KR" sz="1000" b="1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 </a:t>
                      </a:r>
                      <a:r>
                        <a:rPr lang="ko-KR" altLang="en-US" sz="1000" b="1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실행 조건 </a:t>
                      </a:r>
                      <a:endParaRPr lang="en-US" altLang="ko-KR" sz="1000" b="1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j-lt"/>
                        <a:ea typeface="+mn-ea"/>
                      </a:endParaRPr>
                    </a:p>
                    <a:p>
                      <a:pPr algn="ctr" latinLnBrk="1"/>
                      <a:r>
                        <a:rPr lang="en-US" altLang="ko-KR" sz="1000" b="1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(trigger condition)</a:t>
                      </a:r>
                      <a:endParaRPr lang="ko-KR" altLang="en-US" sz="1000" b="1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j-lt"/>
                        <a:ea typeface="+mn-ea"/>
                      </a:endParaRPr>
                    </a:p>
                  </a:txBody>
                  <a:tcPr marL="80649" marR="80649" marT="40325" marB="4032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Tx/>
                        <a:buNone/>
                      </a:pPr>
                      <a:r>
                        <a:rPr lang="ko-KR" altLang="en-US" sz="1000" dirty="0"/>
                        <a:t>특장차</a:t>
                      </a:r>
                      <a:r>
                        <a:rPr lang="en-US" altLang="ko-KR" sz="1000" dirty="0"/>
                        <a:t>(Ego)</a:t>
                      </a:r>
                      <a:r>
                        <a:rPr lang="ko-KR" altLang="en-US" sz="1000" dirty="0"/>
                        <a:t>가 최종 목적지</a:t>
                      </a:r>
                      <a:r>
                        <a:rPr lang="en-US" altLang="ko-KR" sz="1000" dirty="0"/>
                        <a:t>(</a:t>
                      </a:r>
                      <a:r>
                        <a:rPr lang="ko-KR" altLang="en-US" sz="1000" dirty="0"/>
                        <a:t>전역경로 마지막 </a:t>
                      </a:r>
                      <a:r>
                        <a:rPr lang="en-US" altLang="ko-KR" sz="1000" dirty="0"/>
                        <a:t>x, y </a:t>
                      </a:r>
                      <a:r>
                        <a:rPr lang="ko-KR" altLang="en-US" sz="1000" dirty="0"/>
                        <a:t>좌표</a:t>
                      </a:r>
                      <a:r>
                        <a:rPr lang="en-US" altLang="ko-KR" sz="1000" dirty="0"/>
                        <a:t>)</a:t>
                      </a:r>
                      <a:r>
                        <a:rPr lang="ko-KR" altLang="en-US" sz="1000" dirty="0"/>
                        <a:t>의 </a:t>
                      </a:r>
                      <a:r>
                        <a:rPr lang="ko-KR" altLang="en-US" sz="1000" b="1" dirty="0"/>
                        <a:t>반경 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40m 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이</a:t>
                      </a:r>
                      <a:r>
                        <a:rPr lang="ko-KR" altLang="en-US" sz="1000" b="1" dirty="0"/>
                        <a:t>내</a:t>
                      </a:r>
                      <a:r>
                        <a:rPr lang="ko-KR" altLang="en-US" sz="1000" dirty="0"/>
                        <a:t>에 진입했을 때</a:t>
                      </a:r>
                      <a:endParaRPr lang="en-US" altLang="ko-KR" sz="10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j-lt"/>
                        <a:ea typeface="+mn-ea"/>
                      </a:endParaRPr>
                    </a:p>
                  </a:txBody>
                  <a:tcPr marL="80649" marR="80649" marT="40325" marB="40325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4175562"/>
                  </a:ext>
                </a:extLst>
              </a:tr>
              <a:tr h="448397">
                <a:tc>
                  <a:txBody>
                    <a:bodyPr/>
                    <a:lstStyle/>
                    <a:p>
                      <a:pPr marL="0" marR="0" indent="0" algn="ctr" defTabSz="103674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dirty="0" err="1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판단로직</a:t>
                      </a:r>
                      <a:endParaRPr lang="ko-KR" altLang="en-US" sz="1000" b="1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j-lt"/>
                        <a:ea typeface="+mn-ea"/>
                      </a:endParaRPr>
                    </a:p>
                  </a:txBody>
                  <a:tcPr marL="80649" marR="80649" marT="40325" marB="4032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>
                        <a:buAutoNum type="arabicPeriod"/>
                      </a:pPr>
                      <a:r>
                        <a:rPr lang="ko-KR" altLang="en-US" sz="1000" dirty="0"/>
                        <a:t>판단영역 반경 </a:t>
                      </a:r>
                      <a:r>
                        <a:rPr lang="en-US" altLang="ko-KR" sz="1000" dirty="0"/>
                        <a:t>40m </a:t>
                      </a:r>
                      <a:r>
                        <a:rPr lang="ko-KR" altLang="en-US" sz="1000" dirty="0"/>
                        <a:t>이내에서 아래 조건을 만족하는 장애물 탐지</a:t>
                      </a:r>
                      <a:endParaRPr lang="en-US" altLang="ko-KR" sz="1000" dirty="0"/>
                    </a:p>
                    <a:p>
                      <a:pPr marL="228600" indent="-228600">
                        <a:buAutoNum type="arabicPeriod"/>
                      </a:pPr>
                      <a:endParaRPr lang="ko-KR" altLang="en-US" sz="1000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1" dirty="0"/>
                        <a:t>정적 장애물</a:t>
                      </a:r>
                      <a:r>
                        <a:rPr lang="en-US" altLang="ko-KR" sz="1000" dirty="0"/>
                        <a:t>: </a:t>
                      </a:r>
                      <a:r>
                        <a:rPr lang="ko-KR" altLang="en-US" sz="1000" dirty="0"/>
                        <a:t>높이</a:t>
                      </a:r>
                      <a:r>
                        <a:rPr lang="en-US" altLang="ko-KR" sz="1000" dirty="0"/>
                        <a:t>(</a:t>
                      </a:r>
                      <a:r>
                        <a:rPr lang="en-US" altLang="ko-KR" sz="1000" dirty="0" err="1"/>
                        <a:t>fused_cuboid_z</a:t>
                      </a:r>
                      <a:r>
                        <a:rPr lang="en-US" altLang="ko-KR" sz="1000" dirty="0"/>
                        <a:t>) &gt; 2m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1" dirty="0"/>
                        <a:t>동적 장애물</a:t>
                      </a:r>
                      <a:r>
                        <a:rPr lang="en-US" altLang="ko-KR" sz="1000" dirty="0"/>
                        <a:t>: </a:t>
                      </a:r>
                      <a:r>
                        <a:rPr lang="ko-KR" altLang="en-US" sz="1000" dirty="0"/>
                        <a:t>정차 상태</a:t>
                      </a:r>
                      <a:r>
                        <a:rPr lang="en-US" altLang="ko-KR" sz="1000" dirty="0"/>
                        <a:t>(</a:t>
                      </a:r>
                      <a:r>
                        <a:rPr lang="en-US" altLang="ko-KR" sz="1000" dirty="0" err="1"/>
                        <a:t>stop_count</a:t>
                      </a:r>
                      <a:r>
                        <a:rPr lang="en-US" altLang="ko-KR" sz="1000" dirty="0"/>
                        <a:t> ≥ threshold)</a:t>
                      </a:r>
                    </a:p>
                    <a:p>
                      <a:endParaRPr lang="en-US" altLang="ko-KR" sz="1000" dirty="0"/>
                    </a:p>
                    <a:p>
                      <a:r>
                        <a:rPr lang="en-US" altLang="ko-KR" sz="1000" dirty="0"/>
                        <a:t>2. Ego </a:t>
                      </a:r>
                      <a:r>
                        <a:rPr lang="ko-KR" altLang="en-US" sz="1000" dirty="0"/>
                        <a:t>차량</a:t>
                      </a:r>
                      <a:r>
                        <a:rPr lang="en-US" altLang="ko-KR" sz="1000" dirty="0"/>
                        <a:t>–</a:t>
                      </a:r>
                      <a:r>
                        <a:rPr lang="ko-KR" altLang="en-US" sz="1000" dirty="0"/>
                        <a:t>장애물 거리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목적지</a:t>
                      </a:r>
                      <a:r>
                        <a:rPr lang="en-US" altLang="ko-KR" sz="1000" dirty="0"/>
                        <a:t>–</a:t>
                      </a:r>
                      <a:r>
                        <a:rPr lang="ko-KR" altLang="en-US" sz="1000" dirty="0"/>
                        <a:t>장애물 거리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장애물 높이 정보를 정규화 후 </a:t>
                      </a:r>
                      <a:r>
                        <a:rPr lang="ko-KR" altLang="en-US" sz="1000" dirty="0" err="1"/>
                        <a:t>가중합하여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b="1" dirty="0"/>
                        <a:t>Confidence</a:t>
                      </a:r>
                      <a:r>
                        <a:rPr lang="ko-KR" altLang="en-US" sz="1000" dirty="0"/>
                        <a:t> 산출</a:t>
                      </a:r>
                      <a:endParaRPr lang="en-US" altLang="ko-KR" sz="1000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/>
                        <a:t>목적지</a:t>
                      </a:r>
                      <a:r>
                        <a:rPr lang="en-US" altLang="ko-KR" sz="1000" dirty="0"/>
                        <a:t>-</a:t>
                      </a:r>
                      <a:r>
                        <a:rPr lang="ko-KR" altLang="en-US" sz="1000" dirty="0"/>
                        <a:t>장애물 근접도 </a:t>
                      </a:r>
                      <a:endParaRPr lang="en-US" altLang="ko-KR" sz="1000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/>
                        <a:t>Ego-</a:t>
                      </a:r>
                      <a:r>
                        <a:rPr lang="ko-KR" altLang="en-US" sz="1000" dirty="0"/>
                        <a:t>장애물</a:t>
                      </a:r>
                      <a:r>
                        <a:rPr lang="en-US" altLang="ko-KR" sz="1000" dirty="0"/>
                        <a:t> </a:t>
                      </a:r>
                      <a:r>
                        <a:rPr lang="ko-KR" altLang="en-US" sz="1000" dirty="0"/>
                        <a:t>근접도 </a:t>
                      </a:r>
                      <a:endParaRPr lang="en-US" altLang="ko-KR" sz="1000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/>
                        <a:t>장애물 높이 </a:t>
                      </a:r>
                      <a:endParaRPr lang="en-US" altLang="ko-KR" sz="1000" dirty="0"/>
                    </a:p>
                  </a:txBody>
                  <a:tcPr marL="80649" marR="80649" marT="40325" marB="40325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67943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103674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위험판단 여부</a:t>
                      </a:r>
                    </a:p>
                  </a:txBody>
                  <a:tcPr marL="80649" marR="80649" marT="40325" marB="4032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/>
                        <a:t>산출된 </a:t>
                      </a:r>
                      <a:r>
                        <a:rPr lang="en-US" altLang="ko-KR" sz="1000" b="1" dirty="0"/>
                        <a:t>Confidence ≥ 0.7</a:t>
                      </a:r>
                      <a:r>
                        <a:rPr lang="ko-KR" altLang="en-US" sz="1000" dirty="0"/>
                        <a:t> 인 경우 → 위험 시나리오 발생으로 판단</a:t>
                      </a:r>
                    </a:p>
                  </a:txBody>
                  <a:tcPr marL="80649" marR="80649" marT="40325" marB="40325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7609690"/>
                  </a:ext>
                </a:extLst>
              </a:tr>
              <a:tr h="19072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대응전략</a:t>
                      </a:r>
                    </a:p>
                  </a:txBody>
                  <a:tcPr marL="80649" marR="80649" marT="40325" marB="4032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b="1" dirty="0"/>
                        <a:t>특장차 작업 착수 전</a:t>
                      </a:r>
                      <a:r>
                        <a:rPr lang="ko-KR" altLang="en-US" sz="1000" dirty="0"/>
                        <a:t> 보조 차량</a:t>
                      </a:r>
                      <a:r>
                        <a:rPr lang="en-US" altLang="ko-KR" sz="1000" dirty="0"/>
                        <a:t> </a:t>
                      </a:r>
                      <a:r>
                        <a:rPr lang="ko-KR" altLang="en-US" sz="1000" dirty="0"/>
                        <a:t>투입</a:t>
                      </a:r>
                      <a:endParaRPr lang="en-US" altLang="ko-KR" sz="1000" dirty="0"/>
                    </a:p>
                    <a:p>
                      <a:endParaRPr lang="ko-KR" altLang="en-US" sz="1000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1" dirty="0"/>
                        <a:t>정적 장애물</a:t>
                      </a:r>
                      <a:r>
                        <a:rPr lang="en-US" altLang="ko-KR" sz="1000" dirty="0"/>
                        <a:t>: </a:t>
                      </a:r>
                      <a:r>
                        <a:rPr lang="ko-KR" altLang="en-US" sz="1000" dirty="0"/>
                        <a:t>사각지대를 차단할 수 있는 위치에서 대기하여 특장차 시야 보조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1" dirty="0"/>
                        <a:t>동적 장애물</a:t>
                      </a:r>
                      <a:r>
                        <a:rPr lang="en-US" altLang="ko-KR" sz="1000" dirty="0"/>
                        <a:t>: </a:t>
                      </a:r>
                      <a:r>
                        <a:rPr lang="ko-KR" altLang="en-US" sz="1000" dirty="0"/>
                        <a:t>안전영역 외부로 이동을 유도하여 사각지대 해소</a:t>
                      </a:r>
                    </a:p>
                  </a:txBody>
                  <a:tcPr marL="80649" marR="80649" marT="40325" marB="40325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91162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776433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0F61C-BA4C-063D-6F64-9737D3A8B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7601A98-3469-51B0-9072-9559C5E9CA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F55F954-5E86-475A-837F-2B8CED6C7DF1}" type="slidenum">
              <a:rPr lang="ko-KR" altLang="en-US" smtClean="0"/>
              <a:pPr/>
              <a:t>74</a:t>
            </a:fld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2DAD6A01-96D9-CE96-738A-A8EDA567E0C9}"/>
              </a:ext>
            </a:extLst>
          </p:cNvPr>
          <p:cNvSpPr/>
          <p:nvPr/>
        </p:nvSpPr>
        <p:spPr>
          <a:xfrm>
            <a:off x="5728810" y="1298002"/>
            <a:ext cx="2762795" cy="234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새로운 전역 경로 </a:t>
            </a:r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point set </a:t>
            </a:r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입력</a:t>
            </a: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21FB94C9-B034-134A-0CE8-E92938538D81}"/>
              </a:ext>
            </a:extLst>
          </p:cNvPr>
          <p:cNvSpPr/>
          <p:nvPr/>
        </p:nvSpPr>
        <p:spPr>
          <a:xfrm>
            <a:off x="5314687" y="1619303"/>
            <a:ext cx="252000" cy="252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rPr>
              <a:t>1</a:t>
            </a:r>
            <a:endParaRPr lang="ko-KR" altLang="en-US" sz="9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Arial" panose="020B0604020202020204" pitchFamily="34" charset="0"/>
              <a:ea typeface="KoPub돋움체 Bold" panose="02020603020101020101" pitchFamily="18" charset="-127"/>
              <a:cs typeface="Arial" panose="020B0604020202020204" pitchFamily="34" charset="0"/>
            </a:endParaRPr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3FDFB93C-B5EF-3052-C2F2-DC5375E2C376}"/>
              </a:ext>
            </a:extLst>
          </p:cNvPr>
          <p:cNvSpPr/>
          <p:nvPr/>
        </p:nvSpPr>
        <p:spPr>
          <a:xfrm>
            <a:off x="5314687" y="2981966"/>
            <a:ext cx="252000" cy="252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rPr>
              <a:t>2</a:t>
            </a:r>
            <a:endParaRPr lang="ko-KR" altLang="en-US" sz="9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Arial" panose="020B0604020202020204" pitchFamily="34" charset="0"/>
              <a:ea typeface="KoPub돋움체 Bold" panose="02020603020101020101" pitchFamily="18" charset="-127"/>
              <a:cs typeface="Arial" panose="020B0604020202020204" pitchFamily="34" charset="0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A545FBA4-A79E-4D3B-E48F-12DD41363F9F}"/>
              </a:ext>
            </a:extLst>
          </p:cNvPr>
          <p:cNvSpPr/>
          <p:nvPr/>
        </p:nvSpPr>
        <p:spPr>
          <a:xfrm>
            <a:off x="5935959" y="2397185"/>
            <a:ext cx="2348494" cy="416116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작업지점 반경 </a:t>
            </a:r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30</a:t>
            </a:r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미터 이내 상태 확인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직사각형 49">
                <a:extLst>
                  <a:ext uri="{FF2B5EF4-FFF2-40B4-BE49-F238E27FC236}">
                    <a16:creationId xmlns:a16="http://schemas.microsoft.com/office/drawing/2014/main" id="{7DB6CC40-1B02-931F-01D1-DF8499A021AD}"/>
                  </a:ext>
                </a:extLst>
              </p:cNvPr>
              <p:cNvSpPr/>
              <p:nvPr/>
            </p:nvSpPr>
            <p:spPr>
              <a:xfrm>
                <a:off x="487878" y="1113925"/>
                <a:ext cx="4362728" cy="10494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120000"/>
                  <a:buFont typeface="+mj-ea"/>
                  <a:buAutoNum type="circleNumDbPlain"/>
                  <a:defRPr/>
                </a:pPr>
                <a:r>
                  <a:rPr lang="ko-KR" altLang="en-US" sz="1100" b="1" kern="0" dirty="0">
                    <a:ln>
                      <a:solidFill>
                        <a:schemeClr val="tx1">
                          <a:alpha val="30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시나리오 실행 조건</a:t>
                </a:r>
                <a:endParaRPr lang="en-US" altLang="ko-KR" sz="1100" b="1" kern="0" dirty="0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  <a:p>
                <a:pPr marL="85725"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120000"/>
                  <a:defRPr/>
                </a:pPr>
                <a:r>
                  <a:rPr lang="en-US" altLang="ko-KR" sz="11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- </a:t>
                </a:r>
                <a:r>
                  <a:rPr lang="ko-KR" altLang="en-US" sz="11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특장차가 최종 목적지 </a:t>
                </a:r>
                <a:r>
                  <a:rPr lang="en-US" altLang="ko-KR" sz="11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(</a:t>
                </a:r>
                <a:r>
                  <a:rPr lang="ko-KR" altLang="en-US" sz="11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전역 경로 마지막 </a:t>
                </a:r>
                <a14:m>
                  <m:oMath xmlns:m="http://schemas.openxmlformats.org/officeDocument/2006/math">
                    <m:r>
                      <a:rPr lang="en-US" altLang="ko-KR" sz="1100" i="1" kern="0" dirty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US" altLang="ko-KR" sz="1100" i="1" kern="0" dirty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r>
                      <a:rPr lang="en-US" altLang="ko-KR" sz="1100" i="1" kern="0" dirty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𝑦</m:t>
                    </m:r>
                  </m:oMath>
                </a14:m>
                <a:r>
                  <a:rPr lang="en-US" altLang="ko-KR" sz="11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</a:t>
                </a:r>
                <a:r>
                  <a:rPr lang="ko-KR" altLang="en-US" sz="11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좌표</a:t>
                </a:r>
                <a:r>
                  <a:rPr lang="en-US" altLang="ko-KR" sz="11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) 40m </a:t>
                </a:r>
                <a:r>
                  <a:rPr lang="ko-KR" altLang="en-US" sz="11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이내로 접근 했을 경우</a:t>
                </a:r>
                <a:endParaRPr lang="en-US" altLang="ko-KR" sz="110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  <a:p>
                <a:pPr marL="85725"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120000"/>
                  <a:defRPr/>
                </a:pPr>
                <a:r>
                  <a:rPr lang="en-US" altLang="ko-KR" sz="11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- </a:t>
                </a:r>
                <a:r>
                  <a:rPr lang="ko-KR" altLang="en-US" sz="11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데이터 시점 </a:t>
                </a:r>
                <a14:m>
                  <m:oMath xmlns:m="http://schemas.openxmlformats.org/officeDocument/2006/math">
                    <m:r>
                      <a:rPr lang="en-US" altLang="ko-KR" sz="1100" i="1" kern="0" dirty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  <m:r>
                      <a:rPr lang="en-US" altLang="ko-KR" sz="1100" i="1" kern="0" dirty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ko-KR" altLang="en-US" sz="11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기준으로 알고리즘 진행 </a:t>
                </a:r>
                <a:endParaRPr lang="en-US" altLang="ko-KR" sz="110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0" name="직사각형 49">
                <a:extLst>
                  <a:ext uri="{FF2B5EF4-FFF2-40B4-BE49-F238E27FC236}">
                    <a16:creationId xmlns:a16="http://schemas.microsoft.com/office/drawing/2014/main" id="{7DB6CC40-1B02-931F-01D1-DF8499A021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878" y="1113925"/>
                <a:ext cx="4362728" cy="104945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직사각형 52">
                <a:extLst>
                  <a:ext uri="{FF2B5EF4-FFF2-40B4-BE49-F238E27FC236}">
                    <a16:creationId xmlns:a16="http://schemas.microsoft.com/office/drawing/2014/main" id="{5DF28CB9-6056-E0CE-2B7F-F092CF4D2854}"/>
                  </a:ext>
                </a:extLst>
              </p:cNvPr>
              <p:cNvSpPr/>
              <p:nvPr/>
            </p:nvSpPr>
            <p:spPr>
              <a:xfrm>
                <a:off x="487878" y="2382890"/>
                <a:ext cx="4139603" cy="1372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120000"/>
                  <a:buFont typeface="+mj-ea"/>
                  <a:buAutoNum type="circleNumDbPlain" startAt="2"/>
                  <a:defRPr/>
                </a:pPr>
                <a:r>
                  <a:rPr lang="ko-KR" altLang="en-US" sz="1100" b="1" kern="0" dirty="0">
                    <a:ln>
                      <a:solidFill>
                        <a:schemeClr val="tx1">
                          <a:alpha val="30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작업반경 안전영역 내의 장애물 인지</a:t>
                </a:r>
                <a:endParaRPr lang="en-US" altLang="ko-KR" sz="1100" b="1" kern="0" dirty="0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  <a:p>
                <a:pPr marL="85725"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120000"/>
                  <a:defRPr/>
                </a:pPr>
                <a:r>
                  <a:rPr lang="en-US" altLang="ko-KR" sz="11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- </a:t>
                </a:r>
                <a:r>
                  <a:rPr lang="ko-KR" altLang="en-US" sz="11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데이터 시점 </a:t>
                </a:r>
                <a14:m>
                  <m:oMath xmlns:m="http://schemas.openxmlformats.org/officeDocument/2006/math">
                    <m:r>
                      <a:rPr lang="en-US" altLang="ko-KR" sz="1100" i="1" kern="0" dirty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  <m:r>
                      <a:rPr lang="en-US" altLang="ko-KR" sz="1100" i="1" kern="0" dirty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ko-KR" altLang="en-US" sz="11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기준 작업 반경 </a:t>
                </a:r>
                <a:r>
                  <a:rPr lang="en-US" altLang="ko-KR" sz="11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30m (</a:t>
                </a:r>
                <a:r>
                  <a:rPr lang="ko-KR" altLang="en-US" sz="11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판단영역</a:t>
                </a:r>
                <a:r>
                  <a:rPr lang="en-US" altLang="ko-KR" sz="11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) </a:t>
                </a:r>
                <a:r>
                  <a:rPr lang="ko-KR" altLang="en-US" sz="11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이내에 </a:t>
                </a:r>
                <a:endParaRPr lang="en-US" altLang="ko-KR" sz="110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  <a:p>
                <a:pPr marL="85725"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120000"/>
                  <a:defRPr/>
                </a:pPr>
                <a:r>
                  <a:rPr lang="en-US" altLang="ko-KR" sz="1100" kern="0" dirty="0" err="1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i</a:t>
                </a:r>
                <a:r>
                  <a:rPr lang="en-US" altLang="ko-KR" sz="11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) </a:t>
                </a:r>
                <a:r>
                  <a:rPr lang="ko-KR" altLang="en-US" sz="11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높이 </a:t>
                </a:r>
                <a:r>
                  <a:rPr lang="en-US" altLang="ko-KR" sz="11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2m </a:t>
                </a:r>
                <a:r>
                  <a:rPr lang="ko-KR" altLang="en-US" sz="11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이상의 정적 장애물 혹은 </a:t>
                </a:r>
                <a:endParaRPr lang="en-US" altLang="ko-KR" sz="110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  <a:p>
                <a:pPr marL="85725"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120000"/>
                  <a:defRPr/>
                </a:pPr>
                <a:r>
                  <a:rPr lang="en-US" altLang="ko-KR" sz="11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ii) </a:t>
                </a:r>
                <a:r>
                  <a:rPr lang="ko-KR" altLang="en-US" sz="11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정차 </a:t>
                </a:r>
                <a:r>
                  <a:rPr lang="en-US" altLang="ko-KR" sz="11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11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𝑠𝑡𝑜𝑝</m:t>
                    </m:r>
                    <m:r>
                      <a:rPr lang="en-US" altLang="ko-KR" sz="11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_</m:t>
                    </m:r>
                    <m:r>
                      <a:rPr lang="en-US" altLang="ko-KR" sz="11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𝑐𝑜𝑢𝑛𝑡</m:t>
                    </m:r>
                    <m:r>
                      <a:rPr lang="en-US" altLang="ko-KR" sz="11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≥</m:t>
                    </m:r>
                    <m:r>
                      <a:rPr lang="en-US" altLang="ko-KR" sz="11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𝑡h𝑟𝑒𝑠h𝑜𝑙𝑑</m:t>
                    </m:r>
                    <m:r>
                      <a:rPr lang="en-US" altLang="ko-KR" sz="11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n-US" altLang="ko-KR" sz="11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ea typeface="Cambria Math" panose="02040503050406030204" pitchFamily="18" charset="0"/>
                    <a:cs typeface="Arial" panose="020B0604020202020204" pitchFamily="34" charset="0"/>
                  </a:rPr>
                  <a:t> </a:t>
                </a:r>
                <a:r>
                  <a:rPr lang="ko-KR" altLang="en-US" sz="11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상태의 동적 장애물</a:t>
                </a:r>
                <a:endParaRPr lang="en-US" altLang="ko-KR" sz="110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  <a:p>
                <a:pPr marL="85725"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120000"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1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𝑜𝑏𝑠</m:t>
                        </m:r>
                      </m:e>
                      <m:sub>
                        <m:r>
                          <a:rPr lang="en-US" altLang="ko-KR" sz="11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0</m:t>
                        </m:r>
                      </m:sub>
                    </m:sSub>
                    <m:r>
                      <a:rPr lang="en-US" altLang="ko-KR" sz="11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… </m:t>
                    </m:r>
                    <m:sSub>
                      <m:sSubPr>
                        <m:ctrlPr>
                          <a:rPr lang="en-US" altLang="ko-KR" sz="110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1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𝑜𝑏𝑠</m:t>
                        </m:r>
                      </m:e>
                      <m:sub>
                        <m:r>
                          <a:rPr lang="en-US" altLang="ko-KR" sz="11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ko-KR" sz="1100" b="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</a:t>
                </a:r>
                <a:r>
                  <a:rPr lang="ko-KR" altLang="en-US" sz="1100" b="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에 대해 </a:t>
                </a:r>
                <a:r>
                  <a:rPr lang="en-US" altLang="ko-KR" sz="1100" b="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confidence </a:t>
                </a:r>
                <a:r>
                  <a:rPr lang="ko-KR" altLang="en-US" sz="1100" b="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계산 진행</a:t>
                </a:r>
                <a:endParaRPr lang="en-US" altLang="ko-KR" sz="1100" b="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3" name="직사각형 52">
                <a:extLst>
                  <a:ext uri="{FF2B5EF4-FFF2-40B4-BE49-F238E27FC236}">
                    <a16:creationId xmlns:a16="http://schemas.microsoft.com/office/drawing/2014/main" id="{5DF28CB9-6056-E0CE-2B7F-F092CF4D28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878" y="2382890"/>
                <a:ext cx="4139603" cy="137210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순서도: 판단 39">
            <a:extLst>
              <a:ext uri="{FF2B5EF4-FFF2-40B4-BE49-F238E27FC236}">
                <a16:creationId xmlns:a16="http://schemas.microsoft.com/office/drawing/2014/main" id="{051587E0-28B9-4A12-155E-2D4C808ADC41}"/>
              </a:ext>
            </a:extLst>
          </p:cNvPr>
          <p:cNvSpPr/>
          <p:nvPr/>
        </p:nvSpPr>
        <p:spPr>
          <a:xfrm>
            <a:off x="5632621" y="3108253"/>
            <a:ext cx="1374414" cy="484848"/>
          </a:xfrm>
          <a:prstGeom prst="flowChartDecision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정적장애물 </a:t>
            </a:r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&gt; 2m?</a:t>
            </a:r>
            <a:endParaRPr lang="ko-KR" altLang="en-US" sz="105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21D76557-EC9C-E521-891F-1BB593962E3F}"/>
              </a:ext>
            </a:extLst>
          </p:cNvPr>
          <p:cNvSpPr/>
          <p:nvPr/>
        </p:nvSpPr>
        <p:spPr>
          <a:xfrm>
            <a:off x="5865011" y="4072490"/>
            <a:ext cx="2490389" cy="234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Confidence </a:t>
            </a:r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값 출력</a:t>
            </a:r>
            <a:endParaRPr lang="en-US" altLang="ko-KR" sz="105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cxnSp>
        <p:nvCxnSpPr>
          <p:cNvPr id="92" name="직선 화살표 연결선 91">
            <a:extLst>
              <a:ext uri="{FF2B5EF4-FFF2-40B4-BE49-F238E27FC236}">
                <a16:creationId xmlns:a16="http://schemas.microsoft.com/office/drawing/2014/main" id="{A2B2F8F4-4A08-16E2-CB2C-F112D53537F7}"/>
              </a:ext>
            </a:extLst>
          </p:cNvPr>
          <p:cNvCxnSpPr>
            <a:cxnSpLocks/>
            <a:stCxn id="40" idx="2"/>
          </p:cNvCxnSpPr>
          <p:nvPr/>
        </p:nvCxnSpPr>
        <p:spPr>
          <a:xfrm>
            <a:off x="6319828" y="3593101"/>
            <a:ext cx="0" cy="46124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직선 화살표 연결선 97">
            <a:extLst>
              <a:ext uri="{FF2B5EF4-FFF2-40B4-BE49-F238E27FC236}">
                <a16:creationId xmlns:a16="http://schemas.microsoft.com/office/drawing/2014/main" id="{F33D9A53-9CCC-A58E-E0C5-66C5A6CA176D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7966506" y="3593101"/>
            <a:ext cx="0" cy="47938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4E8C78D8-CEE3-4781-AD74-3B6DC89E29D4}"/>
              </a:ext>
            </a:extLst>
          </p:cNvPr>
          <p:cNvSpPr/>
          <p:nvPr/>
        </p:nvSpPr>
        <p:spPr>
          <a:xfrm>
            <a:off x="114054" y="726549"/>
            <a:ext cx="9144000" cy="3216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5256" indent="-95256"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buFont typeface="Wingdings" panose="05000000000000000000" pitchFamily="2" charset="2"/>
              <a:buChar char="§"/>
              <a:defRPr/>
            </a:pPr>
            <a:r>
              <a:rPr lang="ko-KR" altLang="en-US" sz="1300" b="1" kern="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</a:t>
            </a:r>
            <a:r>
              <a:rPr lang="ko-KR" altLang="en-US" sz="1300" b="1" kern="0" dirty="0" err="1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판단로직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CC337F6D-1C82-C343-2A34-17BB13D7F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846" y="229251"/>
            <a:ext cx="9121492" cy="369332"/>
          </a:xfrm>
        </p:spPr>
        <p:txBody>
          <a:bodyPr/>
          <a:lstStyle/>
          <a:p>
            <a:r>
              <a:rPr lang="en-US" altLang="ko-KR" sz="24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9. </a:t>
            </a:r>
            <a:r>
              <a:rPr lang="ko-KR" altLang="en-US" sz="24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작업 반경 내 장애물에 의한 사각지대</a:t>
            </a:r>
          </a:p>
        </p:txBody>
      </p:sp>
      <p:sp>
        <p:nvSpPr>
          <p:cNvPr id="15" name="순서도: 판단 14">
            <a:extLst>
              <a:ext uri="{FF2B5EF4-FFF2-40B4-BE49-F238E27FC236}">
                <a16:creationId xmlns:a16="http://schemas.microsoft.com/office/drawing/2014/main" id="{54E0A816-80DA-BA43-36AE-924EC7C2EB80}"/>
              </a:ext>
            </a:extLst>
          </p:cNvPr>
          <p:cNvSpPr/>
          <p:nvPr/>
        </p:nvSpPr>
        <p:spPr>
          <a:xfrm>
            <a:off x="7279299" y="3108253"/>
            <a:ext cx="1374414" cy="484848"/>
          </a:xfrm>
          <a:prstGeom prst="flowChartDecision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정차상태인</a:t>
            </a:r>
            <a:endParaRPr lang="en-US" altLang="ko-KR" sz="105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algn="ctr"/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동적장애물</a:t>
            </a:r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?</a:t>
            </a:r>
            <a:endParaRPr lang="ko-KR" altLang="en-US" sz="105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3461B3F9-4507-3459-F9CD-07199EB99FA8}"/>
              </a:ext>
            </a:extLst>
          </p:cNvPr>
          <p:cNvCxnSpPr>
            <a:cxnSpLocks/>
            <a:endCxn id="40" idx="0"/>
          </p:cNvCxnSpPr>
          <p:nvPr/>
        </p:nvCxnSpPr>
        <p:spPr>
          <a:xfrm>
            <a:off x="6319828" y="2801054"/>
            <a:ext cx="0" cy="30719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4BF35180-AE6B-A281-992A-042E7055952E}"/>
              </a:ext>
            </a:extLst>
          </p:cNvPr>
          <p:cNvCxnSpPr>
            <a:cxnSpLocks/>
            <a:endCxn id="15" idx="0"/>
          </p:cNvCxnSpPr>
          <p:nvPr/>
        </p:nvCxnSpPr>
        <p:spPr>
          <a:xfrm>
            <a:off x="7966506" y="2819794"/>
            <a:ext cx="0" cy="28845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순서도: 판단 38">
            <a:extLst>
              <a:ext uri="{FF2B5EF4-FFF2-40B4-BE49-F238E27FC236}">
                <a16:creationId xmlns:a16="http://schemas.microsoft.com/office/drawing/2014/main" id="{18377E61-6BFB-FFA4-9832-F98B9B8BC6A3}"/>
              </a:ext>
            </a:extLst>
          </p:cNvPr>
          <p:cNvSpPr/>
          <p:nvPr/>
        </p:nvSpPr>
        <p:spPr>
          <a:xfrm>
            <a:off x="5552735" y="1745303"/>
            <a:ext cx="3114943" cy="484848"/>
          </a:xfrm>
          <a:prstGeom prst="flowChartDecision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특장차가 작업지점 반경 </a:t>
            </a:r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40m </a:t>
            </a:r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이내 접근</a:t>
            </a:r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?</a:t>
            </a:r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51342F33-6219-1FC3-70A5-018049D2A24F}"/>
              </a:ext>
            </a:extLst>
          </p:cNvPr>
          <p:cNvCxnSpPr>
            <a:cxnSpLocks/>
            <a:stCxn id="27" idx="2"/>
            <a:endCxn id="39" idx="0"/>
          </p:cNvCxnSpPr>
          <p:nvPr/>
        </p:nvCxnSpPr>
        <p:spPr>
          <a:xfrm flipH="1">
            <a:off x="7110207" y="1532002"/>
            <a:ext cx="1" cy="2133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F5232ECD-7617-C11A-8AF0-17B47F2C03E4}"/>
              </a:ext>
            </a:extLst>
          </p:cNvPr>
          <p:cNvCxnSpPr>
            <a:cxnSpLocks/>
            <a:stCxn id="39" idx="2"/>
            <a:endCxn id="35" idx="0"/>
          </p:cNvCxnSpPr>
          <p:nvPr/>
        </p:nvCxnSpPr>
        <p:spPr>
          <a:xfrm flipH="1">
            <a:off x="7110206" y="2230151"/>
            <a:ext cx="1" cy="16703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타원 42">
            <a:extLst>
              <a:ext uri="{FF2B5EF4-FFF2-40B4-BE49-F238E27FC236}">
                <a16:creationId xmlns:a16="http://schemas.microsoft.com/office/drawing/2014/main" id="{6141FC03-024A-E36F-81D3-F2B61643D3C9}"/>
              </a:ext>
            </a:extLst>
          </p:cNvPr>
          <p:cNvSpPr/>
          <p:nvPr/>
        </p:nvSpPr>
        <p:spPr>
          <a:xfrm>
            <a:off x="5314687" y="4042906"/>
            <a:ext cx="252000" cy="252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rPr>
              <a:t>3</a:t>
            </a:r>
            <a:endParaRPr lang="ko-KR" altLang="en-US" sz="9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Arial" panose="020B0604020202020204" pitchFamily="34" charset="0"/>
              <a:ea typeface="KoPub돋움체 Bold" panose="02020603020101020101" pitchFamily="18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385138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FE1917-D021-4663-83CA-066E065FE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846" y="229251"/>
            <a:ext cx="6720682" cy="369332"/>
          </a:xfrm>
        </p:spPr>
        <p:txBody>
          <a:bodyPr/>
          <a:lstStyle/>
          <a:p>
            <a:r>
              <a:rPr lang="en-US" altLang="ko-KR" sz="24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9. </a:t>
            </a:r>
            <a:r>
              <a:rPr lang="ko-KR" altLang="en-US" sz="24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작업 반경 내 장애물에 의한 사각지대</a:t>
            </a:r>
            <a:endParaRPr lang="ko-KR" altLang="en-US" sz="2400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ACB763A-83C8-0C82-1EE9-8FFC069131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F55F954-5E86-475A-837F-2B8CED6C7DF1}" type="slidenum">
              <a:rPr lang="ko-KR" altLang="en-US" sz="800" smtClean="0"/>
              <a:pPr/>
              <a:t>75</a:t>
            </a:fld>
            <a:endParaRPr lang="ko-KR" altLang="en-US" sz="8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직사각형 3">
                <a:extLst>
                  <a:ext uri="{FF2B5EF4-FFF2-40B4-BE49-F238E27FC236}">
                    <a16:creationId xmlns:a16="http://schemas.microsoft.com/office/drawing/2014/main" id="{A4C8767E-550C-7D5E-E67C-979FFBA4AA45}"/>
                  </a:ext>
                </a:extLst>
              </p:cNvPr>
              <p:cNvSpPr/>
              <p:nvPr/>
            </p:nvSpPr>
            <p:spPr>
              <a:xfrm>
                <a:off x="289122" y="731895"/>
                <a:ext cx="6203118" cy="54560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120000"/>
                  <a:buFont typeface="+mj-ea"/>
                  <a:buAutoNum type="circleNumDbPlain" startAt="3"/>
                  <a:defRPr/>
                </a:pPr>
                <a:r>
                  <a:rPr lang="en-US" altLang="ko-KR" sz="1100" b="1" kern="0" dirty="0">
                    <a:ln>
                      <a:solidFill>
                        <a:schemeClr val="tx1">
                          <a:alpha val="30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Confidence </a:t>
                </a:r>
                <a:r>
                  <a:rPr lang="ko-KR" altLang="en-US" sz="1100" b="1" kern="0" dirty="0">
                    <a:ln>
                      <a:solidFill>
                        <a:schemeClr val="tx1">
                          <a:alpha val="30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출력</a:t>
                </a:r>
                <a:endParaRPr lang="en-US" altLang="ko-KR" sz="1100" b="1" kern="0" dirty="0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  <a:p>
                <a:pPr marL="85725"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120000"/>
                  <a:defRPr/>
                </a:pPr>
                <a:r>
                  <a:rPr lang="en-US" altLang="ko-KR" sz="9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confidence</a:t>
                </a:r>
                <a:r>
                  <a:rPr lang="ko-KR" altLang="en-US" sz="9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계산을 위한 </a:t>
                </a:r>
                <a:r>
                  <a:rPr lang="ko-KR" altLang="en-US" sz="900" kern="0" dirty="0" err="1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임계값</a:t>
                </a:r>
                <a:r>
                  <a:rPr lang="ko-KR" altLang="en-US" sz="9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상수 </a:t>
                </a:r>
                <a:r>
                  <a:rPr lang="en-US" altLang="ko-KR" sz="9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(</a:t>
                </a:r>
                <a:r>
                  <a:rPr lang="ko-KR" altLang="en-US" sz="9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단위</a:t>
                </a:r>
                <a:r>
                  <a:rPr lang="en-US" altLang="ko-KR" sz="9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:m)</a:t>
                </a:r>
              </a:p>
              <a:p>
                <a:pPr marL="85725"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120000"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900" b="0" i="1" kern="0" dirty="0" smtClean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𝐺𝑂𝐴</m:t>
                      </m:r>
                      <m:sSub>
                        <m:sSubPr>
                          <m:ctrlPr>
                            <a:rPr lang="en-US" altLang="ko-KR" sz="900" b="0" i="1" kern="0" dirty="0" smtClea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ko-KR" altLang="en-US" sz="900" b="0" i="1" kern="0" dirty="0" smtClea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𝐿</m:t>
                          </m:r>
                        </m:e>
                        <m:sub>
                          <m:r>
                            <a:rPr lang="ko-KR" altLang="en-US" sz="900" b="0" i="1" kern="0" dirty="0" smtClea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𝑅𝐴𝐷𝐼𝑈𝑆</m:t>
                          </m:r>
                        </m:sub>
                      </m:sSub>
                      <m:r>
                        <a:rPr lang="ko-KR" altLang="en-US" sz="900" b="0" i="1" kern="0" dirty="0" smtClean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n-US" altLang="ko-KR" sz="900" b="0" i="1" kern="0" dirty="0" smtClean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 30</m:t>
                      </m:r>
                    </m:oMath>
                  </m:oMathPara>
                </a14:m>
                <a:endParaRPr lang="en-US" sz="1200" dirty="0"/>
              </a:p>
              <a:p>
                <a:pPr marL="85725"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120000"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900" i="1" kern="0" dirty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𝐸𝐺</m:t>
                      </m:r>
                      <m:sSub>
                        <m:sSubPr>
                          <m:ctrlPr>
                            <a:rPr lang="en-US" altLang="ko-KR" sz="900" i="1" kern="0" dirty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ko-KR" altLang="en-US" sz="900" i="1" kern="0" dirty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𝑂</m:t>
                          </m:r>
                        </m:e>
                        <m:sub>
                          <m:r>
                            <a:rPr lang="ko-KR" altLang="en-US" sz="900" i="1" kern="0" dirty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𝑇𝐻𝑅𝐸𝑆𝐻𝑂𝐿𝐷</m:t>
                          </m:r>
                        </m:sub>
                      </m:sSub>
                      <m:r>
                        <a:rPr lang="en-US" altLang="ko-KR" sz="900" b="0" i="1" kern="0" dirty="0" smtClean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 40</m:t>
                      </m:r>
                    </m:oMath>
                  </m:oMathPara>
                </a14:m>
                <a:endParaRPr lang="en-US" sz="1200" dirty="0"/>
              </a:p>
              <a:p>
                <a:pPr marL="85725"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120000"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900" i="1" kern="0" dirty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𝐻𝐸𝐼𝐺𝐻</m:t>
                      </m:r>
                      <m:sSub>
                        <m:sSubPr>
                          <m:ctrlPr>
                            <a:rPr lang="en-US" altLang="ko-KR" sz="900" i="1" kern="0" dirty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ko-KR" sz="900" i="1" kern="0" dirty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900" i="1" kern="0" dirty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MIN</m:t>
                          </m:r>
                        </m:sub>
                      </m:sSub>
                      <m:r>
                        <a:rPr lang="en-US" altLang="ko-KR" sz="900" i="1" kern="0" dirty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= 1</m:t>
                      </m:r>
                    </m:oMath>
                  </m:oMathPara>
                </a14:m>
                <a:endParaRPr lang="en-US" sz="900" i="1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marL="85725"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120000"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900" b="0" i="1" kern="0" dirty="0" smtClean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𝐻𝐸𝐼𝐺𝐻</m:t>
                      </m:r>
                      <m:sSub>
                        <m:sSubPr>
                          <m:ctrlPr>
                            <a:rPr lang="en-US" altLang="ko-KR" sz="900" b="0" i="1" kern="0" dirty="0" smtClea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ko-KR" sz="900" b="0" i="1" kern="0" dirty="0" smtClea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ko-KR" sz="900" b="0" i="1" kern="0" dirty="0" smtClea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𝑀𝐴𝑋</m:t>
                          </m:r>
                        </m:sub>
                      </m:sSub>
                      <m:r>
                        <a:rPr lang="en-US" altLang="ko-KR" sz="900" b="0" i="1" kern="0" dirty="0" smtClean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= 5</m:t>
                      </m:r>
                    </m:oMath>
                  </m:oMathPara>
                </a14:m>
                <a:endParaRPr lang="en-US" altLang="ko-KR" sz="1200" dirty="0"/>
              </a:p>
              <a:p>
                <a:pPr marL="85725"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120000"/>
                  <a:defRPr/>
                </a:pPr>
                <a:r>
                  <a:rPr lang="en-US" altLang="ko-KR" sz="9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confidence </a:t>
                </a:r>
                <a:r>
                  <a:rPr lang="ko-KR" altLang="en-US" sz="9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는 아래 세 부분으로 구한다</a:t>
                </a:r>
                <a:r>
                  <a:rPr lang="en-US" altLang="ko-KR" sz="9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:</a:t>
                </a:r>
                <a:endParaRPr lang="ko-KR" altLang="en-US" sz="90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  <a:p>
                <a:pPr marL="85725"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120000"/>
                  <a:defRPr/>
                </a:pPr>
                <a:r>
                  <a:rPr lang="en-US" altLang="ko-KR" sz="900" b="1" kern="0" dirty="0" err="1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solidFill>
                      <a:srgbClr val="C00000"/>
                    </a:solidFill>
                    <a:latin typeface="+mn-ea"/>
                    <a:cs typeface="Arial" panose="020B0604020202020204" pitchFamily="34" charset="0"/>
                  </a:rPr>
                  <a:t>i</a:t>
                </a:r>
                <a:r>
                  <a:rPr lang="en-US" altLang="ko-KR" sz="900" b="1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solidFill>
                      <a:srgbClr val="C00000"/>
                    </a:solidFill>
                    <a:latin typeface="+mn-ea"/>
                    <a:cs typeface="Arial" panose="020B0604020202020204" pitchFamily="34" charset="0"/>
                  </a:rPr>
                  <a:t>) </a:t>
                </a:r>
                <a:r>
                  <a:rPr lang="ko-KR" altLang="en-US" sz="900" b="1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solidFill>
                      <a:srgbClr val="C00000"/>
                    </a:solidFill>
                    <a:latin typeface="+mn-ea"/>
                    <a:cs typeface="Arial" panose="020B0604020202020204" pitchFamily="34" charset="0"/>
                  </a:rPr>
                  <a:t>장애물 </a:t>
                </a:r>
                <a:r>
                  <a:rPr lang="en-US" altLang="ko-KR" sz="900" b="1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solidFill>
                      <a:srgbClr val="C00000"/>
                    </a:solidFill>
                    <a:latin typeface="+mn-ea"/>
                    <a:cs typeface="Arial" panose="020B0604020202020204" pitchFamily="34" charset="0"/>
                  </a:rPr>
                  <a:t>– </a:t>
                </a:r>
                <a:r>
                  <a:rPr lang="ko-KR" altLang="en-US" sz="900" b="1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solidFill>
                      <a:srgbClr val="C00000"/>
                    </a:solidFill>
                    <a:latin typeface="+mn-ea"/>
                    <a:cs typeface="Arial" panose="020B0604020202020204" pitchFamily="34" charset="0"/>
                  </a:rPr>
                  <a:t>특장차 거리</a:t>
                </a:r>
                <a:endParaRPr lang="en-US" altLang="ko-KR" sz="900" b="1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rgbClr val="C00000"/>
                  </a:solidFill>
                  <a:latin typeface="+mn-ea"/>
                  <a:cs typeface="Arial" panose="020B0604020202020204" pitchFamily="34" charset="0"/>
                </a:endParaRPr>
              </a:p>
              <a:p>
                <a:pPr marL="85725"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120000"/>
                  <a:defRPr/>
                </a:pPr>
                <a:r>
                  <a:rPr lang="ko-KR" altLang="en-US" sz="9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해당 장애물의 좌표</a:t>
                </a:r>
                <a:r>
                  <a:rPr lang="en-US" altLang="ko-KR" sz="9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900" i="1" kern="0" dirty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𝑜𝑏</m:t>
                    </m:r>
                    <m:sSub>
                      <m:sSubPr>
                        <m:ctrlPr>
                          <a:rPr lang="en-US" altLang="ko-KR" sz="900" i="1" kern="0" dirty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900" i="1" kern="0" dirty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𝑠</m:t>
                        </m:r>
                      </m:e>
                      <m:sub>
                        <m:r>
                          <a:rPr lang="en-US" altLang="ko-KR" sz="900" i="1" kern="0" dirty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sub>
                    </m:sSub>
                    <m:r>
                      <a:rPr lang="en-US" altLang="ko-KR" sz="900" i="1" kern="0" dirty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, </m:t>
                    </m:r>
                    <m:r>
                      <a:rPr lang="en-US" altLang="ko-KR" sz="900" i="1" kern="0" dirty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𝑜𝑏</m:t>
                    </m:r>
                    <m:sSub>
                      <m:sSubPr>
                        <m:ctrlPr>
                          <a:rPr lang="en-US" altLang="ko-KR" sz="900" i="1" kern="0" dirty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900" i="1" kern="0" dirty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𝑠</m:t>
                        </m:r>
                      </m:e>
                      <m:sub>
                        <m:r>
                          <a:rPr lang="en-US" altLang="ko-KR" sz="900" i="1" kern="0" dirty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𝑦</m:t>
                        </m:r>
                      </m:sub>
                    </m:sSub>
                    <m:r>
                      <a:rPr lang="en-US" altLang="ko-KR" sz="900" b="0" i="1" kern="0" dirty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ko-KR" altLang="en-US" sz="9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와 특장차 좌표</a:t>
                </a:r>
                <a:r>
                  <a:rPr lang="en-US" altLang="ko-KR" sz="9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900" i="1" kern="0" dirty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𝑒𝑔</m:t>
                    </m:r>
                    <m:sSub>
                      <m:sSubPr>
                        <m:ctrlPr>
                          <a:rPr lang="en-US" altLang="ko-KR" sz="900" i="1" kern="0" dirty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900" i="1" kern="0" dirty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ko-KR" sz="900" i="1" kern="0" dirty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altLang="ko-KR" sz="9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ko-KR" sz="900" i="1" kern="0" dirty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𝑒𝑔</m:t>
                    </m:r>
                    <m:sSub>
                      <m:sSubPr>
                        <m:ctrlPr>
                          <a:rPr lang="en-US" altLang="ko-KR" sz="900" i="1" kern="0" dirty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900" i="1" kern="0" dirty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𝑜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900" i="1" kern="0" dirty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y</m:t>
                        </m:r>
                      </m:sub>
                    </m:sSub>
                  </m:oMath>
                </a14:m>
                <a:r>
                  <a:rPr lang="en-US" altLang="ko-KR" sz="9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)</a:t>
                </a:r>
                <a:r>
                  <a:rPr lang="ko-KR" altLang="en-US" sz="9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에 대해</a:t>
                </a:r>
                <a:r>
                  <a:rPr lang="en-US" altLang="ko-KR" sz="9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</a:t>
                </a:r>
              </a:p>
              <a:p>
                <a:pPr marL="85725"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120000"/>
                  <a:defRPr/>
                </a:pPr>
                <a:r>
                  <a:rPr lang="en-US" altLang="ko-KR" sz="9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ego</a:t>
                </a:r>
                <a:r>
                  <a:rPr lang="ko-KR" altLang="en-US" sz="9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근접도 </a:t>
                </a:r>
                <a14:m>
                  <m:oMath xmlns:m="http://schemas.openxmlformats.org/officeDocument/2006/math">
                    <m:r>
                      <a:rPr lang="ko-KR" altLang="en-US" sz="900" i="1" kern="0" dirty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𝐸𝐺</m:t>
                    </m:r>
                    <m:sSub>
                      <m:sSubPr>
                        <m:ctrlPr>
                          <a:rPr lang="en-US" altLang="ko-KR" sz="900" i="1" kern="0" dirty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ko-KR" altLang="en-US" sz="900" i="1" kern="0" dirty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𝑂</m:t>
                        </m:r>
                      </m:e>
                      <m:sub>
                        <m:r>
                          <a:rPr lang="ko-KR" altLang="en-US" sz="900" i="1" kern="0" dirty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𝑇𝐻𝑅𝐸𝑆𝐻𝑂𝐿𝐷</m:t>
                        </m:r>
                      </m:sub>
                    </m:sSub>
                    <m:r>
                      <a:rPr lang="en-US" altLang="ko-KR" sz="900" b="0" i="0" kern="0" dirty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n-US" altLang="ko-KR" sz="9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(40m) </a:t>
                </a:r>
                <a:r>
                  <a:rPr lang="ko-KR" altLang="en-US" sz="9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에서 </a:t>
                </a:r>
                <a:r>
                  <a:rPr lang="en-US" altLang="ko-KR" sz="9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0, </a:t>
                </a:r>
                <a:r>
                  <a:rPr lang="ko-KR" altLang="en-US" sz="9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가까울수록 </a:t>
                </a:r>
                <a:r>
                  <a:rPr lang="en-US" altLang="ko-KR" sz="9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1</a:t>
                </a:r>
                <a:r>
                  <a:rPr lang="ko-KR" altLang="en-US" sz="9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의 </a:t>
                </a:r>
                <a:r>
                  <a:rPr lang="en-US" altLang="ko-KR" sz="9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confidence </a:t>
                </a:r>
                <a:r>
                  <a:rPr lang="ko-KR" altLang="en-US" sz="9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를 가진다</a:t>
                </a:r>
                <a:endParaRPr lang="en-US" altLang="ko-KR" sz="90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  <a:p>
                <a:pPr marL="85725"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120000"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900" i="1" kern="0" dirty="0" smtClea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ko-KR" sz="900" i="1" kern="0" dirty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𝑑</m:t>
                          </m:r>
                        </m:e>
                        <m:sub>
                          <m:r>
                            <a:rPr lang="en-US" altLang="ko-KR" sz="900" i="1" kern="0" dirty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𝑒𝑔𝑜</m:t>
                          </m:r>
                        </m:sub>
                      </m:sSub>
                      <m:r>
                        <a:rPr lang="en-US" altLang="ko-KR" sz="900" b="0" i="1" kern="0" dirty="0" smtClean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en-US" altLang="ko-KR" sz="900" b="0" i="1" kern="0" dirty="0" smtClea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altLang="ko-KR" sz="900" b="0" i="1" kern="0" dirty="0" smtClean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ko-KR" sz="900" b="0" i="1" kern="0" dirty="0" smtClean="0">
                                      <a:ln>
                                        <a:solidFill>
                                          <a:schemeClr val="tx1">
                                            <a:alpha val="5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900" b="0" i="1" kern="0" dirty="0" smtClean="0">
                                      <a:ln>
                                        <a:solidFill>
                                          <a:schemeClr val="tx1">
                                            <a:alpha val="5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𝑜𝑏</m:t>
                                  </m:r>
                                  <m:sSub>
                                    <m:sSubPr>
                                      <m:ctrlPr>
                                        <a:rPr lang="en-US" altLang="ko-KR" sz="900" b="0" i="1" kern="0" dirty="0" smtClean="0">
                                          <a:ln>
                                            <a:solidFill>
                                              <a:schemeClr val="tx1">
                                                <a:alpha val="5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900" b="0" i="1" kern="0" dirty="0" smtClean="0">
                                          <a:ln>
                                            <a:solidFill>
                                              <a:schemeClr val="tx1">
                                                <a:alpha val="5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altLang="ko-KR" sz="900" b="0" i="1" kern="0" dirty="0" smtClean="0">
                                          <a:ln>
                                            <a:solidFill>
                                              <a:schemeClr val="tx1">
                                                <a:alpha val="5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  <m:r>
                                    <a:rPr lang="en-US" altLang="ko-KR" sz="900" b="0" i="1" kern="0" dirty="0" smtClean="0">
                                      <a:ln>
                                        <a:solidFill>
                                          <a:schemeClr val="tx1">
                                            <a:alpha val="5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−</m:t>
                                  </m:r>
                                  <m:r>
                                    <a:rPr lang="en-US" altLang="ko-KR" sz="900" b="0" i="1" kern="0" dirty="0" smtClean="0">
                                      <a:ln>
                                        <a:solidFill>
                                          <a:schemeClr val="tx1">
                                            <a:alpha val="5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𝑒𝑔</m:t>
                                  </m:r>
                                  <m:sSub>
                                    <m:sSubPr>
                                      <m:ctrlPr>
                                        <a:rPr lang="en-US" altLang="ko-KR" sz="900" b="0" i="1" kern="0" dirty="0" smtClean="0">
                                          <a:ln>
                                            <a:solidFill>
                                              <a:schemeClr val="tx1">
                                                <a:alpha val="5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900" b="0" i="1" kern="0" dirty="0" smtClean="0">
                                          <a:ln>
                                            <a:solidFill>
                                              <a:schemeClr val="tx1">
                                                <a:alpha val="5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𝑜</m:t>
                                      </m:r>
                                    </m:e>
                                    <m:sub>
                                      <m:r>
                                        <a:rPr lang="en-US" altLang="ko-KR" sz="900" b="0" i="1" kern="0" dirty="0" smtClean="0">
                                          <a:ln>
                                            <a:solidFill>
                                              <a:schemeClr val="tx1">
                                                <a:alpha val="5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altLang="ko-KR" sz="900" b="0" i="1" kern="0" dirty="0" smtClean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ko-KR" sz="900" b="0" i="1" kern="0" dirty="0" smtClea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ko-KR" sz="900" b="0" i="1" kern="0" dirty="0" smtClean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ko-KR" sz="900" b="0" i="1" kern="0" dirty="0" smtClean="0">
                                      <a:ln>
                                        <a:solidFill>
                                          <a:schemeClr val="tx1">
                                            <a:alpha val="5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900" b="0" i="1" kern="0" dirty="0" smtClean="0">
                                      <a:ln>
                                        <a:solidFill>
                                          <a:schemeClr val="tx1">
                                            <a:alpha val="5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𝑜𝑏</m:t>
                                  </m:r>
                                  <m:sSub>
                                    <m:sSubPr>
                                      <m:ctrlPr>
                                        <a:rPr lang="en-US" altLang="ko-KR" sz="900" b="0" i="1" kern="0" dirty="0" smtClean="0">
                                          <a:ln>
                                            <a:solidFill>
                                              <a:schemeClr val="tx1">
                                                <a:alpha val="5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900" b="0" i="1" kern="0" dirty="0" smtClean="0">
                                          <a:ln>
                                            <a:solidFill>
                                              <a:schemeClr val="tx1">
                                                <a:alpha val="5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altLang="ko-KR" sz="900" b="0" i="1" kern="0" dirty="0" smtClean="0">
                                          <a:ln>
                                            <a:solidFill>
                                              <a:schemeClr val="tx1">
                                                <a:alpha val="5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𝑦</m:t>
                                      </m:r>
                                    </m:sub>
                                  </m:sSub>
                                  <m:r>
                                    <a:rPr lang="en-US" altLang="ko-KR" sz="900" b="0" i="1" kern="0" dirty="0" smtClean="0">
                                      <a:ln>
                                        <a:solidFill>
                                          <a:schemeClr val="tx1">
                                            <a:alpha val="5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−</m:t>
                                  </m:r>
                                  <m:r>
                                    <a:rPr lang="en-US" altLang="ko-KR" sz="900" b="0" i="1" kern="0" dirty="0" smtClean="0">
                                      <a:ln>
                                        <a:solidFill>
                                          <a:schemeClr val="tx1">
                                            <a:alpha val="5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𝑒𝑔</m:t>
                                  </m:r>
                                  <m:sSub>
                                    <m:sSubPr>
                                      <m:ctrlPr>
                                        <a:rPr lang="en-US" altLang="ko-KR" sz="900" b="0" i="1" kern="0" dirty="0" smtClean="0">
                                          <a:ln>
                                            <a:solidFill>
                                              <a:schemeClr val="tx1">
                                                <a:alpha val="5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900" b="0" i="1" kern="0" dirty="0" smtClean="0">
                                          <a:ln>
                                            <a:solidFill>
                                              <a:schemeClr val="tx1">
                                                <a:alpha val="5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𝑜</m:t>
                                      </m:r>
                                    </m:e>
                                    <m:sub>
                                      <m:r>
                                        <a:rPr lang="en-US" altLang="ko-KR" sz="900" b="0" i="1" kern="0" dirty="0" smtClean="0">
                                          <a:ln>
                                            <a:solidFill>
                                              <a:schemeClr val="tx1">
                                                <a:alpha val="5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𝑦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altLang="ko-KR" sz="900" b="0" i="1" kern="0" dirty="0" smtClean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n-US" altLang="ko-KR" sz="900" b="0" i="1" kern="0" dirty="0" smtClean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 </m:t>
                      </m:r>
                    </m:oMath>
                  </m:oMathPara>
                </a14:m>
                <a:endParaRPr lang="en-US" altLang="ko-KR" sz="900" b="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  <a:p>
                <a:pPr marL="85725"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120000"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900" b="0" i="1" kern="0" smtClean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altLang="ko-KR" sz="900" i="1" kern="0" smtClea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ko-KR" sz="900" i="1" kern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900" i="1" kern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confidence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ko-KR" sz="900" i="1" kern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d</m:t>
                              </m:r>
                            </m:sub>
                          </m:sSub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900" i="1" kern="0" smtClea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ego</m:t>
                          </m:r>
                        </m:sub>
                      </m:sSub>
                      <m:r>
                        <a:rPr lang="en-US" altLang="ko-KR" sz="900" i="1" kern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altLang="ko-KR" sz="900" i="1" kern="0" smtClean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1</m:t>
                      </m:r>
                      <m:r>
                        <a:rPr lang="en-US" altLang="ko-KR" sz="900" b="0" i="1" kern="0" smtClean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n-US" altLang="ko-KR" sz="900" i="1" kern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−</m:t>
                      </m:r>
                      <m:r>
                        <a:rPr lang="en-US" altLang="ko-KR" sz="900" b="0" i="1" kern="0" smtClean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f>
                        <m:fPr>
                          <m:ctrlPr>
                            <a:rPr lang="en-US" altLang="ko-KR" sz="900" i="1" kern="0" dirty="0" smtClea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US" altLang="ko-KR" sz="900" b="0" i="1" kern="0" smtClea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altLang="ko-KR" sz="900" i="1" kern="0" smtClean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900" i="1" kern="0" smtClean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d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ko-KR" sz="900" i="1" kern="0" smtClean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ego</m:t>
                              </m:r>
                            </m:sub>
                          </m:sSub>
                        </m:num>
                        <m:den>
                          <m:r>
                            <a:rPr lang="ko-KR" altLang="en-US" sz="900" i="1" kern="0" dirty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𝐸𝐺</m:t>
                          </m:r>
                          <m:sSub>
                            <m:sSubPr>
                              <m:ctrlPr>
                                <a:rPr lang="en-US" altLang="ko-KR" sz="900" i="1" kern="0" dirty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900" i="1" kern="0" dirty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ko-KR" altLang="en-US" sz="900" i="1" kern="0" dirty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𝑇𝐻𝑅𝐸𝑆𝐻𝑂𝐿𝐷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ko-KR" sz="90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  <a:p>
                <a:pPr marL="85725"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120000"/>
                  <a:defRPr/>
                </a:pPr>
                <a:r>
                  <a:rPr lang="en-US" altLang="ko-KR" sz="900" b="1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solidFill>
                      <a:srgbClr val="C00000"/>
                    </a:solidFill>
                    <a:latin typeface="+mn-ea"/>
                    <a:cs typeface="Arial" panose="020B0604020202020204" pitchFamily="34" charset="0"/>
                  </a:rPr>
                  <a:t>ii) </a:t>
                </a:r>
                <a:r>
                  <a:rPr lang="ko-KR" altLang="en-US" sz="900" b="1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solidFill>
                      <a:srgbClr val="C00000"/>
                    </a:solidFill>
                    <a:latin typeface="+mn-ea"/>
                    <a:cs typeface="Arial" panose="020B0604020202020204" pitchFamily="34" charset="0"/>
                  </a:rPr>
                  <a:t>장애물 </a:t>
                </a:r>
                <a:r>
                  <a:rPr lang="en-US" altLang="ko-KR" sz="900" b="1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solidFill>
                      <a:srgbClr val="C00000"/>
                    </a:solidFill>
                    <a:latin typeface="+mn-ea"/>
                    <a:cs typeface="Arial" panose="020B0604020202020204" pitchFamily="34" charset="0"/>
                  </a:rPr>
                  <a:t>– </a:t>
                </a:r>
                <a:r>
                  <a:rPr lang="ko-KR" altLang="en-US" sz="900" b="1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solidFill>
                      <a:srgbClr val="C00000"/>
                    </a:solidFill>
                    <a:latin typeface="+mn-ea"/>
                    <a:cs typeface="Arial" panose="020B0604020202020204" pitchFamily="34" charset="0"/>
                  </a:rPr>
                  <a:t>작업지점</a:t>
                </a:r>
                <a:r>
                  <a:rPr lang="en-US" altLang="ko-KR" sz="900" b="1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solidFill>
                      <a:srgbClr val="C00000"/>
                    </a:solidFill>
                    <a:latin typeface="+mn-ea"/>
                    <a:cs typeface="Arial" panose="020B0604020202020204" pitchFamily="34" charset="0"/>
                  </a:rPr>
                  <a:t> </a:t>
                </a:r>
                <a:r>
                  <a:rPr lang="ko-KR" altLang="en-US" sz="900" b="1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solidFill>
                      <a:srgbClr val="C00000"/>
                    </a:solidFill>
                    <a:latin typeface="+mn-ea"/>
                    <a:cs typeface="Arial" panose="020B0604020202020204" pitchFamily="34" charset="0"/>
                  </a:rPr>
                  <a:t>거리</a:t>
                </a:r>
                <a:endParaRPr lang="en-US" altLang="ko-KR" sz="900" b="1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rgbClr val="C00000"/>
                  </a:solidFill>
                  <a:latin typeface="+mn-ea"/>
                  <a:cs typeface="Arial" panose="020B0604020202020204" pitchFamily="34" charset="0"/>
                </a:endParaRPr>
              </a:p>
              <a:p>
                <a:pPr marL="85725"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120000"/>
                  <a:defRPr/>
                </a:pPr>
                <a:r>
                  <a:rPr lang="ko-KR" altLang="en-US" sz="9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해당 장애물의 좌표 </a:t>
                </a:r>
                <a:r>
                  <a:rPr lang="en-US" altLang="ko-KR" sz="9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900" i="1" kern="0" dirty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𝑜𝑏</m:t>
                    </m:r>
                    <m:sSub>
                      <m:sSubPr>
                        <m:ctrlPr>
                          <a:rPr lang="en-US" altLang="ko-KR" sz="900" i="1" kern="0" dirty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900" i="1" kern="0" dirty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𝑠</m:t>
                        </m:r>
                      </m:e>
                      <m:sub>
                        <m:r>
                          <a:rPr lang="en-US" altLang="ko-KR" sz="900" i="1" kern="0" dirty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sub>
                    </m:sSub>
                    <m:r>
                      <a:rPr lang="en-US" altLang="ko-KR" sz="900" i="1" kern="0" dirty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US" altLang="ko-KR" sz="900" b="0" i="1" kern="0" dirty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</m:t>
                    </m:r>
                    <m:r>
                      <a:rPr lang="en-US" altLang="ko-KR" sz="900" b="0" i="1" kern="0" dirty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𝑜𝑏</m:t>
                    </m:r>
                    <m:sSub>
                      <m:sSubPr>
                        <m:ctrlPr>
                          <a:rPr lang="en-US" altLang="ko-KR" sz="900" b="0" i="1" kern="0" dirty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900" b="0" i="1" kern="0" dirty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𝑠</m:t>
                        </m:r>
                      </m:e>
                      <m:sub>
                        <m:r>
                          <a:rPr lang="en-US" altLang="ko-KR" sz="900" b="0" i="1" kern="0" dirty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altLang="ko-KR" sz="9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)</a:t>
                </a:r>
                <a:r>
                  <a:rPr lang="ko-KR" altLang="en-US" sz="9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와 작업지점 좌표</a:t>
                </a:r>
                <a:r>
                  <a:rPr lang="en-US" altLang="ko-KR" sz="9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900" i="1" kern="0" dirty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𝑔𝑜𝑎</m:t>
                    </m:r>
                    <m:sSub>
                      <m:sSubPr>
                        <m:ctrlPr>
                          <a:rPr lang="en-US" altLang="ko-KR" sz="900" i="1" kern="0" dirty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900" i="1" kern="0" dirty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𝑙</m:t>
                        </m:r>
                      </m:e>
                      <m:sub>
                        <m:r>
                          <a:rPr lang="en-US" altLang="ko-KR" sz="900" i="1" kern="0" dirty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sub>
                    </m:sSub>
                    <m:r>
                      <a:rPr lang="en-US" altLang="ko-KR" sz="900" b="0" i="1" kern="0" dirty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 </m:t>
                    </m:r>
                    <m:r>
                      <a:rPr lang="en-US" altLang="ko-KR" sz="900" b="0" i="1" kern="0" dirty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𝑔𝑜𝑎</m:t>
                    </m:r>
                    <m:sSub>
                      <m:sSubPr>
                        <m:ctrlPr>
                          <a:rPr lang="en-US" altLang="ko-KR" sz="900" b="0" i="1" kern="0" dirty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900" b="0" i="1" kern="0" dirty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𝑙</m:t>
                        </m:r>
                      </m:e>
                      <m:sub>
                        <m:r>
                          <a:rPr lang="en-US" altLang="ko-KR" sz="900" b="0" i="1" kern="0" dirty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𝑦</m:t>
                        </m:r>
                      </m:sub>
                    </m:sSub>
                    <m:r>
                      <a:rPr lang="en-US" altLang="ko-KR" sz="900" b="0" i="1" kern="0" dirty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ko-KR" altLang="en-US" sz="9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에 대해 </a:t>
                </a:r>
                <a:endParaRPr lang="en-US" altLang="ko-KR" sz="90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  <a:p>
                <a:pPr marL="85725"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120000"/>
                  <a:defRPr/>
                </a:pPr>
                <a14:m>
                  <m:oMath xmlns:m="http://schemas.openxmlformats.org/officeDocument/2006/math">
                    <m:r>
                      <a:rPr lang="ko-KR" altLang="en-US" sz="900" i="1" kern="0" dirty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𝐺𝑂𝐴</m:t>
                    </m:r>
                    <m:sSub>
                      <m:sSubPr>
                        <m:ctrlPr>
                          <a:rPr lang="en-US" altLang="ko-KR" sz="900" i="1" kern="0" dirty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ko-KR" altLang="en-US" sz="900" i="1" kern="0" dirty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𝐿</m:t>
                        </m:r>
                      </m:e>
                      <m:sub>
                        <m:r>
                          <a:rPr lang="ko-KR" altLang="en-US" sz="900" i="1" kern="0" dirty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𝑅𝐴𝐷𝐼𝑈𝑆</m:t>
                        </m:r>
                      </m:sub>
                    </m:sSub>
                  </m:oMath>
                </a14:m>
                <a:r>
                  <a:rPr lang="ko-KR" altLang="en-US" sz="9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</a:t>
                </a:r>
                <a:r>
                  <a:rPr lang="en-US" altLang="ko-KR" sz="9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(30m) </a:t>
                </a:r>
                <a:r>
                  <a:rPr lang="ko-KR" altLang="en-US" sz="9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에서 </a:t>
                </a:r>
                <a:r>
                  <a:rPr lang="en-US" altLang="ko-KR" sz="9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0, </a:t>
                </a:r>
                <a:r>
                  <a:rPr lang="ko-KR" altLang="en-US" sz="9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가까울수록 </a:t>
                </a:r>
                <a:r>
                  <a:rPr lang="en-US" altLang="ko-KR" sz="9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1</a:t>
                </a:r>
                <a:r>
                  <a:rPr lang="ko-KR" altLang="en-US" sz="9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의 </a:t>
                </a:r>
                <a:r>
                  <a:rPr lang="en-US" altLang="ko-KR" sz="9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confidence </a:t>
                </a:r>
                <a:r>
                  <a:rPr lang="ko-KR" altLang="en-US" sz="9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를 가진다</a:t>
                </a:r>
                <a:endParaRPr lang="en-US" altLang="ko-KR" sz="90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  <a:p>
                <a:pPr marL="85725"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120000"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900" i="1" kern="0" dirty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ko-KR" sz="900" i="1" kern="0" dirty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𝑑</m:t>
                          </m:r>
                        </m:e>
                        <m:sub>
                          <m:r>
                            <a:rPr lang="en-US" altLang="ko-KR" sz="900" b="0" i="1" kern="0" dirty="0" smtClea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𝑔𝑜𝑎𝑙</m:t>
                          </m:r>
                        </m:sub>
                      </m:sSub>
                      <m:r>
                        <a:rPr lang="en-US" altLang="ko-KR" sz="900" i="1" kern="0" dirty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en-US" altLang="ko-KR" sz="900" i="1" kern="0" dirty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altLang="ko-KR" sz="900" i="1" kern="0" dirty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ko-KR" sz="900" i="1" kern="0" dirty="0">
                                      <a:ln>
                                        <a:solidFill>
                                          <a:schemeClr val="tx1">
                                            <a:alpha val="5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900" i="1" kern="0" dirty="0">
                                      <a:ln>
                                        <a:solidFill>
                                          <a:schemeClr val="tx1">
                                            <a:alpha val="5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𝑜𝑏</m:t>
                                  </m:r>
                                  <m:sSub>
                                    <m:sSubPr>
                                      <m:ctrlPr>
                                        <a:rPr lang="en-US" altLang="ko-KR" sz="900" i="1" kern="0" dirty="0">
                                          <a:ln>
                                            <a:solidFill>
                                              <a:schemeClr val="tx1">
                                                <a:alpha val="5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900" i="1" kern="0" dirty="0">
                                          <a:ln>
                                            <a:solidFill>
                                              <a:schemeClr val="tx1">
                                                <a:alpha val="5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altLang="ko-KR" sz="900" i="1" kern="0" dirty="0">
                                          <a:ln>
                                            <a:solidFill>
                                              <a:schemeClr val="tx1">
                                                <a:alpha val="5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  <m:r>
                                    <a:rPr lang="en-US" altLang="ko-KR" sz="900" i="1" kern="0" dirty="0">
                                      <a:ln>
                                        <a:solidFill>
                                          <a:schemeClr val="tx1">
                                            <a:alpha val="5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−</m:t>
                                  </m:r>
                                  <m:r>
                                    <a:rPr lang="en-US" altLang="ko-KR" sz="900" b="0" i="1" kern="0" dirty="0" smtClean="0">
                                      <a:ln>
                                        <a:solidFill>
                                          <a:schemeClr val="tx1">
                                            <a:alpha val="5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𝑔𝑜𝑎</m:t>
                                  </m:r>
                                  <m:sSub>
                                    <m:sSubPr>
                                      <m:ctrlPr>
                                        <a:rPr lang="en-US" altLang="ko-KR" sz="900" b="0" i="1" kern="0" dirty="0" smtClean="0">
                                          <a:ln>
                                            <a:solidFill>
                                              <a:schemeClr val="tx1">
                                                <a:alpha val="5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900" b="0" i="1" kern="0" dirty="0" smtClean="0">
                                          <a:ln>
                                            <a:solidFill>
                                              <a:schemeClr val="tx1">
                                                <a:alpha val="5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𝑙</m:t>
                                      </m:r>
                                    </m:e>
                                    <m:sub>
                                      <m:r>
                                        <a:rPr lang="en-US" altLang="ko-KR" sz="900" b="0" i="1" kern="0" dirty="0" smtClean="0">
                                          <a:ln>
                                            <a:solidFill>
                                              <a:schemeClr val="tx1">
                                                <a:alpha val="5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altLang="ko-KR" sz="900" i="1" kern="0" dirty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ko-KR" sz="900" i="1" kern="0" dirty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ko-KR" sz="900" i="1" kern="0" dirty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ko-KR" sz="900" i="1" kern="0" dirty="0">
                                      <a:ln>
                                        <a:solidFill>
                                          <a:schemeClr val="tx1">
                                            <a:alpha val="5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900" i="1" kern="0" dirty="0">
                                      <a:ln>
                                        <a:solidFill>
                                          <a:schemeClr val="tx1">
                                            <a:alpha val="5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𝑜𝑏</m:t>
                                  </m:r>
                                  <m:sSub>
                                    <m:sSubPr>
                                      <m:ctrlPr>
                                        <a:rPr lang="en-US" altLang="ko-KR" sz="900" i="1" kern="0" dirty="0">
                                          <a:ln>
                                            <a:solidFill>
                                              <a:schemeClr val="tx1">
                                                <a:alpha val="5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900" i="1" kern="0" dirty="0">
                                          <a:ln>
                                            <a:solidFill>
                                              <a:schemeClr val="tx1">
                                                <a:alpha val="5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altLang="ko-KR" sz="900" i="1" kern="0" dirty="0">
                                          <a:ln>
                                            <a:solidFill>
                                              <a:schemeClr val="tx1">
                                                <a:alpha val="5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𝑦</m:t>
                                      </m:r>
                                    </m:sub>
                                  </m:sSub>
                                  <m:r>
                                    <a:rPr lang="en-US" altLang="ko-KR" sz="900" i="1" kern="0" dirty="0">
                                      <a:ln>
                                        <a:solidFill>
                                          <a:schemeClr val="tx1">
                                            <a:alpha val="5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−</m:t>
                                  </m:r>
                                  <m:r>
                                    <a:rPr lang="en-US" altLang="ko-KR" sz="900" b="0" i="1" kern="0" dirty="0" smtClean="0">
                                      <a:ln>
                                        <a:solidFill>
                                          <a:schemeClr val="tx1">
                                            <a:alpha val="5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𝑔𝑜𝑎</m:t>
                                  </m:r>
                                  <m:sSub>
                                    <m:sSubPr>
                                      <m:ctrlPr>
                                        <a:rPr lang="en-US" altLang="ko-KR" sz="900" b="0" i="1" kern="0" dirty="0" smtClean="0">
                                          <a:ln>
                                            <a:solidFill>
                                              <a:schemeClr val="tx1">
                                                <a:alpha val="5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900" b="0" i="1" kern="0" dirty="0" smtClean="0">
                                          <a:ln>
                                            <a:solidFill>
                                              <a:schemeClr val="tx1">
                                                <a:alpha val="5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𝑙</m:t>
                                      </m:r>
                                    </m:e>
                                    <m:sub>
                                      <m:r>
                                        <a:rPr lang="en-US" altLang="ko-KR" sz="900" b="0" i="1" kern="0" dirty="0" smtClean="0">
                                          <a:ln>
                                            <a:solidFill>
                                              <a:schemeClr val="tx1">
                                                <a:alpha val="5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𝑦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altLang="ko-KR" sz="900" i="1" kern="0" dirty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n-US" altLang="ko-KR" sz="900" i="1" kern="0" dirty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  </m:t>
                      </m:r>
                    </m:oMath>
                  </m:oMathPara>
                </a14:m>
                <a:endParaRPr lang="en-US" altLang="ko-KR" sz="90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  <a:p>
                <a:pPr marL="85725"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120000"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900" i="1" ker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ko-KR" sz="900" i="1" kern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900" i="1" kern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confidence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ko-KR" sz="900" i="1" kern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d</m:t>
                              </m:r>
                            </m:sub>
                          </m:sSub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900" i="1" ker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goal</m:t>
                          </m:r>
                        </m:sub>
                      </m:sSub>
                      <m:r>
                        <a:rPr lang="en-US" altLang="ko-KR" sz="900" i="1" kern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=1</m:t>
                      </m:r>
                      <m:r>
                        <a:rPr lang="en-US" altLang="ko-KR" sz="900" b="0" i="1" kern="0" smtClean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n-US" altLang="ko-KR" sz="900" i="1" kern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−</m:t>
                      </m:r>
                      <m:r>
                        <a:rPr lang="en-US" altLang="ko-KR" sz="900" b="0" i="1" kern="0" smtClean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f>
                        <m:fPr>
                          <m:ctrlPr>
                            <a:rPr lang="en-US" altLang="ko-KR" sz="900" i="1" kern="0" dirty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ko-KR" sz="900" i="1" kern="0" dirty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900" i="1" kern="0" dirty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altLang="ko-KR" sz="900" i="1" kern="0" dirty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𝑔𝑜𝑎𝑙</m:t>
                              </m:r>
                            </m:sub>
                          </m:sSub>
                        </m:num>
                        <m:den>
                          <m:r>
                            <a:rPr lang="ko-KR" altLang="en-US" sz="900" i="1" kern="0" dirty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𝐺𝑂𝐴</m:t>
                          </m:r>
                          <m:sSub>
                            <m:sSubPr>
                              <m:ctrlPr>
                                <a:rPr lang="en-US" altLang="ko-KR" sz="900" i="1" kern="0" dirty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900" i="1" kern="0" dirty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ko-KR" altLang="en-US" sz="900" i="1" kern="0" dirty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𝑅𝐴𝐷𝐼𝑈𝑆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ko-KR" sz="90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  <a:p>
                <a:pPr marL="85725"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120000"/>
                  <a:defRPr/>
                </a:pPr>
                <a:r>
                  <a:rPr lang="en-US" altLang="ko-KR" sz="900" b="1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solidFill>
                      <a:srgbClr val="C00000"/>
                    </a:solidFill>
                    <a:latin typeface="+mn-ea"/>
                    <a:cs typeface="Arial" panose="020B0604020202020204" pitchFamily="34" charset="0"/>
                  </a:rPr>
                  <a:t>iii) </a:t>
                </a:r>
                <a:r>
                  <a:rPr lang="ko-KR" altLang="en-US" sz="900" b="1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solidFill>
                      <a:srgbClr val="C00000"/>
                    </a:solidFill>
                    <a:latin typeface="+mn-ea"/>
                    <a:cs typeface="Arial" panose="020B0604020202020204" pitchFamily="34" charset="0"/>
                  </a:rPr>
                  <a:t>장애물의 높이</a:t>
                </a:r>
                <a:endParaRPr lang="en-US" altLang="ko-KR" sz="900" b="1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rgbClr val="C00000"/>
                  </a:solidFill>
                  <a:latin typeface="+mn-ea"/>
                  <a:cs typeface="Arial" panose="020B0604020202020204" pitchFamily="34" charset="0"/>
                </a:endParaRPr>
              </a:p>
              <a:p>
                <a:pPr marL="85725"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120000"/>
                  <a:defRPr/>
                </a:pPr>
                <a:r>
                  <a:rPr lang="ko-KR" altLang="en-US" sz="9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해당 장애물의 높이 </a:t>
                </a:r>
                <a:r>
                  <a:rPr lang="en-US" altLang="ko-KR" sz="9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900" i="1" kern="0" dirty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𝑓𝑢𝑠𝑒𝑑</m:t>
                    </m:r>
                    <m:r>
                      <a:rPr lang="en-US" altLang="ko-KR" sz="900" i="1" kern="0" dirty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_</m:t>
                    </m:r>
                    <m:r>
                      <a:rPr lang="en-US" altLang="ko-KR" sz="900" i="1" kern="0" dirty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𝑐𝑢𝑏𝑜𝑖𝑑</m:t>
                    </m:r>
                    <m:r>
                      <a:rPr lang="en-US" altLang="ko-KR" sz="900" i="1" kern="0" dirty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_</m:t>
                    </m:r>
                    <m:r>
                      <a:rPr lang="en-US" altLang="ko-KR" sz="900" i="1" kern="0" dirty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𝑧</m:t>
                    </m:r>
                  </m:oMath>
                </a14:m>
                <a:r>
                  <a:rPr lang="en-US" altLang="ko-KR" sz="9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) </a:t>
                </a:r>
                <a:r>
                  <a:rPr lang="ko-KR" altLang="en-US" sz="9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에 대해 </a:t>
                </a:r>
                <a14:m>
                  <m:oMath xmlns:m="http://schemas.openxmlformats.org/officeDocument/2006/math">
                    <m:r>
                      <a:rPr lang="en-US" altLang="ko-KR" sz="900" i="1" kern="0" dirty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𝐻𝐸𝐼𝐺𝐻</m:t>
                    </m:r>
                    <m:sSub>
                      <m:sSubPr>
                        <m:ctrlPr>
                          <a:rPr lang="en-US" altLang="ko-KR" sz="900" i="1" kern="0" dirty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900" i="1" kern="0" dirty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𝑇</m:t>
                        </m:r>
                      </m:e>
                      <m:sub>
                        <m:r>
                          <a:rPr lang="en-US" altLang="ko-KR" sz="900" i="1" kern="0" dirty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𝑀𝐴𝑋</m:t>
                        </m:r>
                      </m:sub>
                    </m:sSub>
                    <m:r>
                      <a:rPr lang="en-US" altLang="ko-KR" sz="900" b="0" i="1" kern="0" dirty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ko-KR" altLang="en-US" sz="9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에 가까울수록 </a:t>
                </a:r>
                <a:r>
                  <a:rPr lang="en-US" altLang="ko-KR" sz="9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1, </a:t>
                </a:r>
                <a14:m>
                  <m:oMath xmlns:m="http://schemas.openxmlformats.org/officeDocument/2006/math">
                    <m:r>
                      <a:rPr lang="en-US" altLang="ko-KR" sz="900" i="1" kern="0" dirty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𝐻𝐸𝐼𝐺𝐻</m:t>
                    </m:r>
                    <m:sSub>
                      <m:sSubPr>
                        <m:ctrlPr>
                          <a:rPr lang="en-US" altLang="ko-KR" sz="900" i="1" kern="0" dirty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900" i="1" kern="0" dirty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𝑇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900" i="1" kern="0" dirty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MIN</m:t>
                        </m:r>
                      </m:sub>
                    </m:sSub>
                    <m:r>
                      <a:rPr lang="en-US" altLang="ko-KR" sz="900" i="1" kern="0" dirty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US" altLang="ko-KR" sz="900" b="0" i="1" kern="0" dirty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ko-KR" altLang="en-US" sz="9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에 가까울수록 </a:t>
                </a:r>
                <a:r>
                  <a:rPr lang="en-US" altLang="ko-KR" sz="9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0</a:t>
                </a:r>
                <a:r>
                  <a:rPr lang="ko-KR" altLang="en-US" sz="9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의 값을 가진다 </a:t>
                </a:r>
                <a:endParaRPr lang="en-US" altLang="ko-KR" sz="90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  <a:p>
                <a:pPr marL="85725"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120000"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900" i="1" kern="0" dirty="0" smtClea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900" i="1" kern="0" dirty="0" smtClea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c</m:t>
                          </m:r>
                          <m:r>
                            <m:rPr>
                              <m:sty m:val="p"/>
                            </m:rPr>
                            <a:rPr lang="en-US" altLang="ko-KR" sz="900" kern="0" dirty="0" smtClea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onfidence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900" i="1" kern="0" dirty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height</m:t>
                          </m:r>
                        </m:sub>
                      </m:sSub>
                      <m:r>
                        <a:rPr lang="en-US" altLang="ko-KR" sz="900" i="1" kern="0" dirty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900" i="1" kern="0" dirty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US" altLang="ko-KR" sz="900" i="1" kern="0" dirty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𝑓𝑢𝑠𝑒𝑑</m:t>
                          </m:r>
                          <m:r>
                            <a:rPr lang="en-US" altLang="ko-KR" sz="900" i="1" kern="0" dirty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_</m:t>
                          </m:r>
                          <m:r>
                            <a:rPr lang="en-US" altLang="ko-KR" sz="900" i="1" kern="0" dirty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𝑐𝑢𝑏𝑜𝑖𝑑</m:t>
                          </m:r>
                          <m:r>
                            <a:rPr lang="en-US" altLang="ko-KR" sz="900" i="1" kern="0" dirty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_</m:t>
                          </m:r>
                          <m:r>
                            <a:rPr lang="en-US" altLang="ko-KR" sz="900" i="1" kern="0" dirty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𝑧</m:t>
                          </m:r>
                          <m:r>
                            <m:rPr>
                              <m:nor/>
                            </m:rPr>
                            <a:rPr lang="en-US" altLang="ko-KR" sz="900" kern="0" dirty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+mn-ea"/>
                              <a:cs typeface="Arial" panose="020B0604020202020204" pitchFamily="34" charset="0"/>
                            </a:rPr>
                            <m:t> </m:t>
                          </m:r>
                          <m:r>
                            <a:rPr lang="en-US" altLang="ko-KR" sz="900" i="1" ker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r>
                            <a:rPr lang="en-US" altLang="ko-KR" sz="900" i="1" kern="0" dirty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𝐻𝐸𝐼𝐺𝐻</m:t>
                          </m:r>
                          <m:sSub>
                            <m:sSubPr>
                              <m:ctrlPr>
                                <a:rPr lang="en-US" altLang="ko-KR" sz="900" i="1" kern="0" dirty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900" i="1" kern="0" dirty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ko-KR" sz="900" i="1" kern="0" dirty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MIN</m:t>
                              </m:r>
                            </m:sub>
                          </m:sSub>
                        </m:num>
                        <m:den>
                          <m:r>
                            <a:rPr lang="en-US" altLang="ko-KR" sz="900" i="1" kern="0" dirty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𝐻𝐸𝐼𝐺𝐻</m:t>
                          </m:r>
                          <m:sSub>
                            <m:sSubPr>
                              <m:ctrlPr>
                                <a:rPr lang="en-US" altLang="ko-KR" sz="900" i="1" kern="0" dirty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900" i="1" kern="0" dirty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altLang="ko-KR" sz="900" i="1" kern="0" dirty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𝑀𝐴𝑋</m:t>
                              </m:r>
                            </m:sub>
                          </m:sSub>
                          <m:r>
                            <a:rPr lang="en-US" altLang="ko-KR" sz="900" i="1" ker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r>
                            <a:rPr lang="en-US" altLang="ko-KR" sz="900" i="1" kern="0" dirty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𝐻𝐸𝐼𝐺𝐻</m:t>
                          </m:r>
                          <m:sSub>
                            <m:sSubPr>
                              <m:ctrlPr>
                                <a:rPr lang="en-US" altLang="ko-KR" sz="900" i="1" kern="0" dirty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900" i="1" kern="0" dirty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ko-KR" sz="900" i="1" kern="0" dirty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MIN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ko-KR" sz="90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직사각형 3">
                <a:extLst>
                  <a:ext uri="{FF2B5EF4-FFF2-40B4-BE49-F238E27FC236}">
                    <a16:creationId xmlns:a16="http://schemas.microsoft.com/office/drawing/2014/main" id="{A4C8767E-550C-7D5E-E67C-979FFBA4AA4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122" y="731895"/>
                <a:ext cx="6203118" cy="545604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직사각형 4">
                <a:extLst>
                  <a:ext uri="{FF2B5EF4-FFF2-40B4-BE49-F238E27FC236}">
                    <a16:creationId xmlns:a16="http://schemas.microsoft.com/office/drawing/2014/main" id="{D548ED28-AF62-BF95-46EA-8D7D2D17C711}"/>
                  </a:ext>
                </a:extLst>
              </p:cNvPr>
              <p:cNvSpPr/>
              <p:nvPr/>
            </p:nvSpPr>
            <p:spPr>
              <a:xfrm>
                <a:off x="6128861" y="774750"/>
                <a:ext cx="3488017" cy="1361206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120000"/>
                  <a:defRPr/>
                </a:pPr>
                <a14:m>
                  <m:oMath xmlns:m="http://schemas.openxmlformats.org/officeDocument/2006/math">
                    <m:r>
                      <a:rPr lang="ko-KR" altLang="en-US" sz="900" b="0" i="1" kern="0" dirty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모든</m:t>
                    </m:r>
                  </m:oMath>
                </a14:m>
                <a:r>
                  <a:rPr lang="en-US" altLang="ko-KR" sz="9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solidFill>
                      <a:srgbClr val="C00000"/>
                    </a:solidFill>
                    <a:latin typeface="+mn-ea"/>
                    <a:cs typeface="Arial" panose="020B0604020202020204" pitchFamily="34" charset="0"/>
                  </a:rPr>
                  <a:t> confidence </a:t>
                </a:r>
                <a:r>
                  <a:rPr lang="ko-KR" altLang="en-US" sz="9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solidFill>
                      <a:srgbClr val="C00000"/>
                    </a:solidFill>
                    <a:latin typeface="+mn-ea"/>
                    <a:cs typeface="Arial" panose="020B0604020202020204" pitchFamily="34" charset="0"/>
                  </a:rPr>
                  <a:t>는 </a:t>
                </a:r>
                <a:r>
                  <a:rPr lang="en-US" altLang="ko-KR" sz="9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solidFill>
                      <a:srgbClr val="C00000"/>
                    </a:solidFill>
                    <a:latin typeface="+mn-ea"/>
                    <a:cs typeface="Arial" panose="020B0604020202020204" pitchFamily="34" charset="0"/>
                  </a:rPr>
                  <a:t>clamp </a:t>
                </a:r>
                <a:r>
                  <a:rPr lang="ko-KR" altLang="en-US" sz="9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solidFill>
                      <a:srgbClr val="C00000"/>
                    </a:solidFill>
                    <a:latin typeface="+mn-ea"/>
                    <a:cs typeface="Arial" panose="020B0604020202020204" pitchFamily="34" charset="0"/>
                  </a:rPr>
                  <a:t>함수를 사용해 </a:t>
                </a:r>
                <a:r>
                  <a:rPr lang="en-US" altLang="ko-KR" sz="9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solidFill>
                      <a:srgbClr val="C00000"/>
                    </a:solidFill>
                    <a:latin typeface="+mn-ea"/>
                    <a:cs typeface="Arial" panose="020B0604020202020204" pitchFamily="34" charset="0"/>
                  </a:rPr>
                  <a:t>0 – 1 </a:t>
                </a:r>
                <a:r>
                  <a:rPr lang="ko-KR" altLang="en-US" sz="9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solidFill>
                      <a:srgbClr val="C00000"/>
                    </a:solidFill>
                    <a:latin typeface="+mn-ea"/>
                    <a:cs typeface="Arial" panose="020B0604020202020204" pitchFamily="34" charset="0"/>
                  </a:rPr>
                  <a:t>의 값을 가지도록 함</a:t>
                </a:r>
                <a:endParaRPr lang="en-US" altLang="ko-KR" sz="90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rgbClr val="C00000"/>
                  </a:solidFill>
                  <a:latin typeface="+mn-ea"/>
                  <a:cs typeface="Arial" panose="020B0604020202020204" pitchFamily="34" charset="0"/>
                </a:endParaRP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120000"/>
                  <a:defRPr/>
                </a:pPr>
                <a:r>
                  <a:rPr lang="ko-KR" altLang="en-US" sz="9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solidFill>
                      <a:srgbClr val="C00000"/>
                    </a:solidFill>
                    <a:latin typeface="+mn-ea"/>
                    <a:cs typeface="Arial" panose="020B0604020202020204" pitchFamily="34" charset="0"/>
                  </a:rPr>
                  <a:t>값이 </a:t>
                </a:r>
                <a:r>
                  <a:rPr lang="en-US" altLang="ko-KR" sz="9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solidFill>
                      <a:srgbClr val="C00000"/>
                    </a:solidFill>
                    <a:latin typeface="+mn-ea"/>
                    <a:cs typeface="Arial" panose="020B0604020202020204" pitchFamily="34" charset="0"/>
                  </a:rPr>
                  <a:t>0</a:t>
                </a:r>
                <a:r>
                  <a:rPr lang="ko-KR" altLang="en-US" sz="9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solidFill>
                      <a:srgbClr val="C00000"/>
                    </a:solidFill>
                    <a:latin typeface="+mn-ea"/>
                    <a:cs typeface="Arial" panose="020B0604020202020204" pitchFamily="34" charset="0"/>
                  </a:rPr>
                  <a:t>에 가까울수록 위험하지 않음</a:t>
                </a:r>
                <a:endParaRPr lang="en-US" altLang="ko-KR" sz="90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rgbClr val="C00000"/>
                  </a:solidFill>
                  <a:latin typeface="+mn-ea"/>
                  <a:cs typeface="Arial" panose="020B0604020202020204" pitchFamily="34" charset="0"/>
                </a:endParaRP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120000"/>
                  <a:defRPr/>
                </a:pPr>
                <a:r>
                  <a:rPr lang="ko-KR" altLang="en-US" sz="9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solidFill>
                      <a:srgbClr val="C00000"/>
                    </a:solidFill>
                    <a:latin typeface="+mn-ea"/>
                    <a:cs typeface="Arial" panose="020B0604020202020204" pitchFamily="34" charset="0"/>
                  </a:rPr>
                  <a:t>값이 </a:t>
                </a:r>
                <a:r>
                  <a:rPr lang="en-US" altLang="ko-KR" sz="9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solidFill>
                      <a:srgbClr val="C00000"/>
                    </a:solidFill>
                    <a:latin typeface="+mn-ea"/>
                    <a:cs typeface="Arial" panose="020B0604020202020204" pitchFamily="34" charset="0"/>
                  </a:rPr>
                  <a:t>1</a:t>
                </a:r>
                <a:r>
                  <a:rPr lang="ko-KR" altLang="en-US" sz="9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solidFill>
                      <a:srgbClr val="C00000"/>
                    </a:solidFill>
                    <a:latin typeface="+mn-ea"/>
                    <a:cs typeface="Arial" panose="020B0604020202020204" pitchFamily="34" charset="0"/>
                  </a:rPr>
                  <a:t>에 가까울수록 위험함</a:t>
                </a:r>
                <a:endParaRPr lang="en-US" altLang="ko-KR" sz="900" i="1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rgbClr val="C00000"/>
                  </a:solidFill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120000"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900" i="1" kern="0" dirty="0" smtClean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𝑐𝑙𝑎𝑚𝑝</m:t>
                      </m:r>
                      <m:d>
                        <m:dPr>
                          <m:ctrlPr>
                            <a:rPr lang="en-US" altLang="ko-KR" sz="900" i="1" kern="0" dirty="0" smtClea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ko-KR" altLang="en-US" sz="900" i="1" kern="0" dirty="0" smtClea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𝛼</m:t>
                          </m:r>
                          <m:r>
                            <a:rPr lang="en-US" altLang="ko-KR" sz="900" i="1" kern="0" dirty="0" smtClea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; 0, 1</m:t>
                          </m:r>
                        </m:e>
                      </m:d>
                      <m:r>
                        <a:rPr lang="en-US" altLang="ko-KR" sz="900" i="1" kern="0" dirty="0" smtClean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ko-KR" sz="900" i="1" kern="0" dirty="0" smtClea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ko-KR" sz="900" i="1" kern="0" dirty="0" smtClean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eqArrPr>
                            <m:e>
                              <m:r>
                                <a:rPr lang="en-US" altLang="ko-KR" sz="900" i="1" kern="0" dirty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0</m:t>
                              </m:r>
                              <m:r>
                                <a:rPr lang="en-US" altLang="ko-KR" sz="900" b="0" i="1" kern="0" dirty="0" smtClean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   </m:t>
                              </m:r>
                              <m:r>
                                <m:rPr>
                                  <m:sty m:val="p"/>
                                </m:rPr>
                                <a:rPr lang="en-US" altLang="ko-KR" sz="900" i="1" kern="0" dirty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if</m:t>
                              </m:r>
                              <m:r>
                                <a:rPr lang="en-US" altLang="ko-KR" sz="900" b="0" i="1" kern="0" dirty="0" smtClean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 </m:t>
                              </m:r>
                              <m:r>
                                <a:rPr lang="ko-KR" altLang="en-US" sz="900" i="1" kern="0" dirty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𝛼</m:t>
                              </m:r>
                              <m:r>
                                <a:rPr lang="en-US" altLang="ko-KR" sz="900" i="1" kern="0" dirty="0" smtClean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&lt;</m:t>
                              </m:r>
                              <m:r>
                                <a:rPr lang="en-US" altLang="ko-KR" sz="900" i="1" kern="0" dirty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0</m:t>
                              </m:r>
                              <m:r>
                                <a:rPr lang="en-US" altLang="ko-KR" sz="900" b="0" i="1" kern="0" dirty="0" smtClean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    </m:t>
                              </m:r>
                            </m:e>
                            <m:e>
                              <m:r>
                                <a:rPr lang="en-US" altLang="ko-KR" sz="900" b="0" i="1" kern="0" dirty="0" smtClean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    </m:t>
                              </m:r>
                              <m:r>
                                <a:rPr lang="ko-KR" altLang="en-US" sz="900" i="1" kern="0" dirty="0" smtClean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𝛼</m:t>
                              </m:r>
                              <m:r>
                                <a:rPr lang="en-US" altLang="ko-KR" sz="900" b="0" i="1" kern="0" dirty="0" smtClean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   </m:t>
                              </m:r>
                              <m:r>
                                <m:rPr>
                                  <m:sty m:val="p"/>
                                </m:rPr>
                                <a:rPr lang="en-US" altLang="ko-KR" sz="900" i="1" kern="0" dirty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if</m:t>
                              </m:r>
                              <m:r>
                                <a:rPr lang="en-US" altLang="ko-KR" sz="900" b="0" i="1" kern="0" dirty="0" smtClean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 </m:t>
                              </m:r>
                              <m:r>
                                <a:rPr lang="en-US" altLang="ko-KR" sz="900" i="1" kern="0" dirty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0</m:t>
                              </m:r>
                              <m:r>
                                <a:rPr lang="en-US" altLang="ko-KR" sz="900" i="1" kern="0" dirty="0" smtClean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≤</m:t>
                              </m:r>
                              <m:r>
                                <a:rPr lang="ko-KR" altLang="en-US" sz="900" i="1" kern="0" dirty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𝛼</m:t>
                              </m:r>
                              <m:r>
                                <a:rPr lang="ko-KR" altLang="en-US" sz="900" i="1" kern="0" dirty="0" smtClean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≤</m:t>
                              </m:r>
                              <m:r>
                                <a:rPr lang="en-US" altLang="ko-KR" sz="900" i="1" kern="0" dirty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ko-KR" sz="900" i="1" kern="0" dirty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  <m:r>
                                <a:rPr lang="en-US" altLang="ko-KR" sz="900" b="0" i="1" kern="0" dirty="0" smtClean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   </m:t>
                              </m:r>
                              <m:r>
                                <m:rPr>
                                  <m:sty m:val="p"/>
                                </m:rPr>
                                <a:rPr lang="en-US" altLang="ko-KR" sz="900" i="1" kern="0" dirty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if</m:t>
                              </m:r>
                              <m:r>
                                <a:rPr lang="en-US" altLang="ko-KR" sz="900" b="0" i="1" kern="0" dirty="0" smtClean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 </m:t>
                              </m:r>
                              <m:r>
                                <a:rPr lang="ko-KR" altLang="en-US" sz="900" i="1" kern="0" dirty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𝛼</m:t>
                              </m:r>
                              <m:r>
                                <a:rPr lang="en-US" altLang="ko-KR" sz="900" i="1" kern="0" dirty="0" smtClean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&gt;</m:t>
                              </m:r>
                              <m:r>
                                <a:rPr lang="en-US" altLang="ko-KR" sz="900" i="1" kern="0" dirty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  <m:r>
                                <a:rPr lang="en-US" altLang="ko-KR" sz="900" b="0" i="1" kern="0" dirty="0" smtClean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   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altLang="ko-KR" sz="900" i="1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rgbClr val="C00000"/>
                  </a:solidFill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직사각형 4">
                <a:extLst>
                  <a:ext uri="{FF2B5EF4-FFF2-40B4-BE49-F238E27FC236}">
                    <a16:creationId xmlns:a16="http://schemas.microsoft.com/office/drawing/2014/main" id="{D548ED28-AF62-BF95-46EA-8D7D2D17C7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8861" y="774750"/>
                <a:ext cx="3488017" cy="136120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38C54729-DA4E-8FA8-3A23-227EF7CA7466}"/>
                  </a:ext>
                </a:extLst>
              </p:cNvPr>
              <p:cNvSpPr/>
              <p:nvPr/>
            </p:nvSpPr>
            <p:spPr>
              <a:xfrm>
                <a:off x="374846" y="6193048"/>
                <a:ext cx="6126918" cy="546303"/>
              </a:xfrm>
              <a:prstGeom prst="rect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120000"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ko-KR" altLang="en-US" sz="900" i="1" kern="0" dirty="0" smtClean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각</m:t>
                      </m:r>
                      <m:r>
                        <a:rPr lang="en-US" altLang="ko-KR" sz="900" b="0" i="1" kern="0" dirty="0" smtClean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ko-KR" altLang="en-US" sz="900" i="1" kern="0" dirty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항목별</m:t>
                      </m:r>
                      <m:r>
                        <a:rPr lang="en-US" altLang="ko-KR" sz="900" b="0" i="1" kern="0" dirty="0" smtClean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ko-KR" altLang="en-US" sz="900" i="1" kern="0" dirty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가중치</m:t>
                      </m:r>
                      <m:r>
                        <a:rPr lang="en-US" altLang="ko-KR" sz="900" b="0" i="1" kern="0" dirty="0" smtClean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ko-KR" altLang="en-US" sz="900" i="1" kern="0" dirty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값</m:t>
                      </m:r>
                      <m:r>
                        <a:rPr lang="en-US" altLang="ko-KR" sz="900" i="1" kern="0" dirty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:</m:t>
                      </m:r>
                      <m:r>
                        <a:rPr lang="en-US" altLang="ko-KR" sz="900" b="0" i="1" kern="0" dirty="0" smtClean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altLang="ko-KR" sz="900" i="1" ker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900" i="1" ker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W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900" i="1" ker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GOAL</m:t>
                          </m:r>
                        </m:sub>
                      </m:sSub>
                      <m:r>
                        <a:rPr lang="en-US" altLang="ko-KR" sz="900" i="1" kern="0" dirty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altLang="ko-KR" sz="900" i="1" kern="0" dirty="0" smtClean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0.</m:t>
                      </m:r>
                      <m:r>
                        <a:rPr lang="en-US" altLang="ko-KR" sz="900" b="0" i="1" kern="0" dirty="0" smtClean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4</m:t>
                      </m:r>
                      <m:r>
                        <a:rPr lang="en-US" altLang="ko-KR" sz="900" i="1" kern="0" dirty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n-US" altLang="ko-KR" sz="900" i="1" kern="0" dirty="0" smtClean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</m:t>
                      </m:r>
                      <m:r>
                        <a:rPr lang="en-US" altLang="ko-KR" sz="900" b="0" i="1" kern="0" dirty="0" smtClean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altLang="ko-KR" sz="900" i="1" ker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900" i="1" ker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W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900" i="1" ker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EGO</m:t>
                          </m:r>
                        </m:sub>
                      </m:sSub>
                      <m:r>
                        <a:rPr lang="en-US" altLang="ko-KR" sz="900" i="1" kern="0" dirty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altLang="ko-KR" sz="900" i="1" kern="0" dirty="0" smtClean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0.3</m:t>
                      </m:r>
                      <m:r>
                        <a:rPr lang="en-US" altLang="ko-KR" sz="900" i="1" kern="0" dirty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</m:t>
                      </m:r>
                      <m:r>
                        <a:rPr lang="en-US" altLang="ko-KR" sz="900" b="0" i="1" kern="0" dirty="0" smtClean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altLang="ko-KR" sz="900" i="1" ker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900" i="1" ker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W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900" i="1" ker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HEIGHT</m:t>
                          </m:r>
                        </m:sub>
                      </m:sSub>
                      <m:r>
                        <a:rPr lang="en-US" altLang="ko-KR" sz="900" i="1" kern="0" dirty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=0.</m:t>
                      </m:r>
                      <m:r>
                        <a:rPr lang="en-US" altLang="ko-KR" sz="900" b="0" i="1" kern="0" dirty="0" smtClean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3</m:t>
                      </m:r>
                      <m:r>
                        <a:rPr lang="en-US" altLang="ko-KR" sz="900" i="1" kern="0" dirty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</m:oMath>
                  </m:oMathPara>
                </a14:m>
                <a:endParaRPr lang="en-US" altLang="ko-KR" sz="90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120000"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900" b="1" i="1" ker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ko-KR" sz="900" b="1" i="1" ker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𝒄𝒐𝒏𝒇𝒊𝒅𝒆𝒏𝒄𝒆</m:t>
                          </m:r>
                        </m:e>
                        <m:sub>
                          <m:r>
                            <a:rPr lang="en-US" altLang="ko-KR" sz="900" b="1" i="1" kern="0" smtClea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𝒇𝒊𝒏𝒂𝒍</m:t>
                          </m:r>
                        </m:sub>
                      </m:sSub>
                      <m:r>
                        <a:rPr lang="en-US" altLang="ko-KR" sz="900" b="1" i="1" kern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altLang="ko-KR" sz="900" b="1" i="1" kern="0" smtClean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altLang="ko-KR" sz="900" b="1" i="1" ker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ko-KR" sz="900" b="1" i="1" ker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𝑾</m:t>
                          </m:r>
                        </m:e>
                        <m:sub>
                          <m:r>
                            <a:rPr lang="en-US" altLang="ko-KR" sz="900" b="1" i="1" ker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𝑮𝑶𝑨𝑳</m:t>
                          </m:r>
                        </m:sub>
                      </m:sSub>
                      <m:r>
                        <a:rPr lang="en-US" altLang="ko-KR" sz="900" b="1" i="1" kern="0" smtClean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×</m:t>
                      </m:r>
                      <m:sSub>
                        <m:sSubPr>
                          <m:ctrlPr>
                            <a:rPr lang="en-US" altLang="ko-KR" sz="900" b="1" i="1" ker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ko-KR" sz="900" b="1" i="1" kern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900" b="1" i="1" kern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𝒄𝒐𝒏𝒇𝒊𝒅𝒆𝒏𝒄𝒆</m:t>
                              </m:r>
                            </m:e>
                            <m:sub>
                              <m:r>
                                <a:rPr lang="en-US" altLang="ko-KR" sz="900" b="1" i="1" kern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𝒅</m:t>
                              </m:r>
                            </m:sub>
                          </m:sSub>
                        </m:e>
                        <m:sub>
                          <m:r>
                            <a:rPr lang="en-US" altLang="ko-KR" sz="900" b="1" i="1" ker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𝒆𝒈𝒐</m:t>
                          </m:r>
                        </m:sub>
                      </m:sSub>
                      <m:r>
                        <a:rPr lang="en-US" altLang="ko-KR" sz="900" b="1" i="1" kern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lang="en-US" altLang="ko-KR" sz="900" b="1" i="1" kern="0" smtClean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altLang="ko-KR" sz="900" b="1" i="1" ker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ko-KR" sz="900" b="1" i="1" ker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𝑾</m:t>
                          </m:r>
                        </m:e>
                        <m:sub>
                          <m:r>
                            <a:rPr lang="en-US" altLang="ko-KR" sz="900" b="1" i="1" ker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𝑬𝑮𝑶</m:t>
                          </m:r>
                        </m:sub>
                      </m:sSub>
                      <m:r>
                        <a:rPr lang="en-US" altLang="ko-KR" sz="900" b="1" i="1" kern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×</m:t>
                      </m:r>
                      <m:sSub>
                        <m:sSubPr>
                          <m:ctrlPr>
                            <a:rPr lang="en-US" altLang="ko-KR" sz="900" b="1" i="1" ker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ko-KR" sz="900" b="1" i="1" kern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900" b="1" i="1" kern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𝒄𝒐𝒏𝒇𝒊𝒅𝒆𝒏𝒄𝒆</m:t>
                              </m:r>
                            </m:e>
                            <m:sub>
                              <m:r>
                                <a:rPr lang="en-US" altLang="ko-KR" sz="900" b="1" i="1" kern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𝒅</m:t>
                              </m:r>
                            </m:sub>
                          </m:sSub>
                        </m:e>
                        <m:sub>
                          <m:r>
                            <a:rPr lang="en-US" altLang="ko-KR" sz="900" b="1" i="1" ker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𝒈𝒐𝒂𝒍</m:t>
                          </m:r>
                        </m:sub>
                      </m:sSub>
                      <m:r>
                        <a:rPr lang="en-US" altLang="ko-KR" sz="900" b="1" i="1" kern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900" b="1" i="1" ker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ko-KR" sz="900" b="1" i="1" ker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𝑾</m:t>
                          </m:r>
                        </m:e>
                        <m:sub>
                          <m:r>
                            <a:rPr lang="en-US" altLang="ko-KR" sz="900" b="1" i="1" ker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𝑯𝑬𝑰𝑮𝑯𝑻</m:t>
                          </m:r>
                        </m:sub>
                      </m:sSub>
                      <m:r>
                        <a:rPr lang="en-US" altLang="ko-KR" sz="900" b="1" i="1" kern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×</m:t>
                      </m:r>
                      <m:sSub>
                        <m:sSubPr>
                          <m:ctrlPr>
                            <a:rPr lang="en-US" altLang="ko-KR" sz="900" b="1" i="1" kern="0" dirty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ko-KR" sz="900" b="1" i="1" kern="0" dirty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𝒄𝒐𝒏𝒇𝒊𝒅𝒆𝒏𝒄𝒆</m:t>
                          </m:r>
                        </m:e>
                        <m:sub>
                          <m:r>
                            <a:rPr lang="en-US" altLang="ko-KR" sz="900" b="1" i="1" kern="0" dirty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𝒉𝒆𝒊𝒈𝒉𝒕</m:t>
                          </m:r>
                        </m:sub>
                      </m:sSub>
                    </m:oMath>
                  </m:oMathPara>
                </a14:m>
                <a:endParaRPr lang="en-US" altLang="ko-KR" sz="900" b="1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38C54729-DA4E-8FA8-3A23-227EF7CA746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846" y="6193048"/>
                <a:ext cx="6126918" cy="54630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8457086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24FFFA-9749-96D4-0151-D7709CFA1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3075D0-E53E-3206-52EC-D1B3F0A3C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846" y="229251"/>
            <a:ext cx="9121492" cy="369332"/>
          </a:xfrm>
        </p:spPr>
        <p:txBody>
          <a:bodyPr/>
          <a:lstStyle/>
          <a:p>
            <a:r>
              <a:rPr lang="en-US" altLang="ko-KR" sz="24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10. </a:t>
            </a:r>
            <a:r>
              <a:rPr lang="ko-KR" altLang="en-US" sz="24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작업 반경 근방 정차 장애물이 있는 환경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D9FD2BC-9437-F4C8-D983-59F9056175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F55F954-5E86-475A-837F-2B8CED6C7DF1}" type="slidenum">
              <a:rPr lang="ko-KR" altLang="en-US" smtClean="0"/>
              <a:pPr/>
              <a:t>76</a:t>
            </a:fld>
            <a:endParaRPr lang="ko-KR" altLang="en-US"/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F0209F19-FE9B-C3D8-094F-F53BEF4C57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0596865"/>
              </p:ext>
            </p:extLst>
          </p:nvPr>
        </p:nvGraphicFramePr>
        <p:xfrm>
          <a:off x="862325" y="3401345"/>
          <a:ext cx="8327048" cy="304794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56278">
                  <a:extLst>
                    <a:ext uri="{9D8B030D-6E8A-4147-A177-3AD203B41FA5}">
                      <a16:colId xmlns:a16="http://schemas.microsoft.com/office/drawing/2014/main" val="4068469479"/>
                    </a:ext>
                  </a:extLst>
                </a:gridCol>
                <a:gridCol w="6270770">
                  <a:extLst>
                    <a:ext uri="{9D8B030D-6E8A-4147-A177-3AD203B41FA5}">
                      <a16:colId xmlns:a16="http://schemas.microsoft.com/office/drawing/2014/main" val="72431706"/>
                    </a:ext>
                  </a:extLst>
                </a:gridCol>
              </a:tblGrid>
              <a:tr h="4394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#10 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시나리오 개요 </a:t>
                      </a:r>
                    </a:p>
                  </a:txBody>
                  <a:tcPr marL="80649" marR="80649" marT="40325" marB="4032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/>
                        <a:t>특장차의 작업반경</a:t>
                      </a:r>
                      <a:r>
                        <a:rPr lang="en-US" altLang="ko-KR" sz="1000" dirty="0"/>
                        <a:t>(</a:t>
                      </a:r>
                      <a:r>
                        <a:rPr lang="ko-KR" altLang="en-US" sz="1000" dirty="0"/>
                        <a:t>최종 목적지 주변</a:t>
                      </a:r>
                      <a:r>
                        <a:rPr lang="en-US" altLang="ko-KR" sz="1000" dirty="0"/>
                        <a:t>) </a:t>
                      </a:r>
                      <a:r>
                        <a:rPr lang="ko-KR" altLang="en-US" sz="1000" dirty="0"/>
                        <a:t>내에 </a:t>
                      </a:r>
                      <a:r>
                        <a:rPr lang="ko-KR" altLang="en-US" sz="1000" b="1" dirty="0"/>
                        <a:t>정차 혹은 작업 중인 외부 차량</a:t>
                      </a:r>
                      <a:r>
                        <a:rPr lang="ko-KR" altLang="en-US" sz="1000" dirty="0"/>
                        <a:t>이 존재하면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진입</a:t>
                      </a:r>
                      <a:r>
                        <a:rPr lang="en-US" altLang="ko-KR" sz="1000" dirty="0"/>
                        <a:t>·</a:t>
                      </a:r>
                      <a:r>
                        <a:rPr lang="ko-KR" altLang="en-US" sz="1000" dirty="0"/>
                        <a:t>작업동작이 제한되어 충돌</a:t>
                      </a:r>
                      <a:r>
                        <a:rPr lang="en-US" altLang="ko-KR" sz="1000" dirty="0"/>
                        <a:t>·</a:t>
                      </a:r>
                      <a:r>
                        <a:rPr lang="ko-KR" altLang="en-US" sz="1000" dirty="0"/>
                        <a:t>작업 지연 위험이 커진다</a:t>
                      </a:r>
                      <a:r>
                        <a:rPr lang="en-US" altLang="ko-KR" sz="1000" dirty="0"/>
                        <a:t>. </a:t>
                      </a:r>
                    </a:p>
                    <a:p>
                      <a:pPr algn="l" latinLnBrk="1"/>
                      <a:r>
                        <a:rPr lang="ko-KR" altLang="en-US" sz="1000" dirty="0"/>
                        <a:t>본 시나리오는 작업 착수 전</a:t>
                      </a:r>
                      <a:r>
                        <a:rPr lang="en-US" altLang="ko-KR" sz="1000" dirty="0"/>
                        <a:t>/</a:t>
                      </a:r>
                      <a:r>
                        <a:rPr lang="ko-KR" altLang="en-US" sz="1000" dirty="0"/>
                        <a:t>중 해당 차량을 조기에 인지하여 </a:t>
                      </a:r>
                      <a:r>
                        <a:rPr lang="ko-KR" altLang="en-US" sz="1000" b="1" dirty="0"/>
                        <a:t>안전한 진입 동선과 작업 환경 확보</a:t>
                      </a:r>
                      <a:r>
                        <a:rPr lang="ko-KR" altLang="en-US" sz="1000" dirty="0"/>
                        <a:t>를 목표로 한다</a:t>
                      </a:r>
                      <a:r>
                        <a:rPr lang="en-US" altLang="ko-KR" sz="1000" dirty="0"/>
                        <a:t>.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+mj-lt"/>
                        <a:ea typeface="+mn-ea"/>
                      </a:endParaRPr>
                    </a:p>
                  </a:txBody>
                  <a:tcPr marL="80649" marR="80649" marT="40325" marB="40325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8272158"/>
                  </a:ext>
                </a:extLst>
              </a:tr>
              <a:tr h="45468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시나리오</a:t>
                      </a:r>
                      <a:r>
                        <a:rPr lang="en-US" altLang="ko-KR" sz="1000" b="1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 </a:t>
                      </a:r>
                      <a:r>
                        <a:rPr lang="ko-KR" altLang="en-US" sz="1000" b="1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실행 조건 </a:t>
                      </a:r>
                      <a:endParaRPr lang="en-US" altLang="ko-KR" sz="1000" b="1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j-lt"/>
                        <a:ea typeface="+mn-ea"/>
                      </a:endParaRPr>
                    </a:p>
                    <a:p>
                      <a:pPr algn="ctr" latinLnBrk="1"/>
                      <a:r>
                        <a:rPr lang="en-US" altLang="ko-KR" sz="1000" b="1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(trigger condition)</a:t>
                      </a:r>
                      <a:endParaRPr lang="ko-KR" altLang="en-US" sz="1000" b="1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j-lt"/>
                        <a:ea typeface="+mn-ea"/>
                      </a:endParaRPr>
                    </a:p>
                  </a:txBody>
                  <a:tcPr marL="80649" marR="80649" marT="40325" marB="4032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Tx/>
                        <a:buNone/>
                      </a:pPr>
                      <a:r>
                        <a:rPr lang="ko-KR" altLang="en-US" sz="1000" dirty="0"/>
                        <a:t>특장차</a:t>
                      </a:r>
                      <a:r>
                        <a:rPr lang="en-US" altLang="ko-KR" sz="1000" dirty="0"/>
                        <a:t>(Ego)</a:t>
                      </a:r>
                      <a:r>
                        <a:rPr lang="ko-KR" altLang="en-US" sz="1000" dirty="0"/>
                        <a:t>가 최종 목적지</a:t>
                      </a:r>
                      <a:r>
                        <a:rPr lang="en-US" altLang="ko-KR" sz="1000" dirty="0"/>
                        <a:t>(</a:t>
                      </a:r>
                      <a:r>
                        <a:rPr lang="ko-KR" altLang="en-US" sz="1000" dirty="0"/>
                        <a:t>전역경로 마지막 </a:t>
                      </a:r>
                      <a:r>
                        <a:rPr lang="en-US" altLang="ko-KR" sz="1000" dirty="0"/>
                        <a:t>x, y </a:t>
                      </a:r>
                      <a:r>
                        <a:rPr lang="ko-KR" altLang="en-US" sz="1000" dirty="0"/>
                        <a:t>좌표</a:t>
                      </a:r>
                      <a:r>
                        <a:rPr lang="en-US" altLang="ko-KR" sz="1000" dirty="0"/>
                        <a:t>)</a:t>
                      </a:r>
                      <a:r>
                        <a:rPr lang="ko-KR" altLang="en-US" sz="1000" dirty="0"/>
                        <a:t>의</a:t>
                      </a:r>
                      <a:r>
                        <a:rPr lang="ko-KR" altLang="en-US" sz="1000" b="1" dirty="0"/>
                        <a:t> 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반경 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40m 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이내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에 </a:t>
                      </a:r>
                      <a:r>
                        <a:rPr lang="ko-KR" altLang="en-US" sz="1000" dirty="0" err="1"/>
                        <a:t>진입시</a:t>
                      </a:r>
                      <a:endParaRPr lang="en-US" altLang="ko-KR" sz="1000" kern="12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0649" marR="80649" marT="40325" marB="40325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273523"/>
                  </a:ext>
                </a:extLst>
              </a:tr>
              <a:tr h="391404">
                <a:tc>
                  <a:txBody>
                    <a:bodyPr/>
                    <a:lstStyle/>
                    <a:p>
                      <a:pPr marL="0" marR="0" indent="0" algn="ctr" defTabSz="103674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dirty="0" err="1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판단로직</a:t>
                      </a:r>
                      <a:endParaRPr lang="ko-KR" altLang="en-US" sz="1000" b="1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j-lt"/>
                        <a:ea typeface="+mn-ea"/>
                      </a:endParaRPr>
                    </a:p>
                  </a:txBody>
                  <a:tcPr marL="80649" marR="80649" marT="40325" marB="4032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>
                        <a:buAutoNum type="arabicPeriod"/>
                      </a:pPr>
                      <a:r>
                        <a:rPr lang="ko-KR" altLang="en-US" sz="1000" dirty="0"/>
                        <a:t>판단영역 반경 </a:t>
                      </a:r>
                      <a:r>
                        <a:rPr lang="en-US" altLang="ko-KR" sz="1000" dirty="0"/>
                        <a:t>30m </a:t>
                      </a:r>
                      <a:r>
                        <a:rPr lang="ko-KR" altLang="en-US" sz="1000" dirty="0"/>
                        <a:t>이내에서 아래 조건을 만족하는 장애물 탐지</a:t>
                      </a:r>
                      <a:endParaRPr lang="en-US" altLang="ko-KR" sz="1000" dirty="0"/>
                    </a:p>
                    <a:p>
                      <a:pPr marL="228600" indent="-228600">
                        <a:buAutoNum type="arabicPeriod"/>
                      </a:pPr>
                      <a:endParaRPr lang="ko-KR" altLang="en-US" sz="1000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1" dirty="0"/>
                        <a:t>정차 및 작업중인 동적장애물</a:t>
                      </a:r>
                      <a:r>
                        <a:rPr lang="en-US" altLang="ko-KR" sz="1000" dirty="0"/>
                        <a:t>: </a:t>
                      </a:r>
                      <a:r>
                        <a:rPr lang="ko-KR" altLang="en-US" sz="1000" dirty="0"/>
                        <a:t>정차 상태</a:t>
                      </a:r>
                      <a:r>
                        <a:rPr lang="en-US" altLang="ko-KR" sz="1000" dirty="0"/>
                        <a:t>(</a:t>
                      </a:r>
                      <a:r>
                        <a:rPr lang="en-US" altLang="ko-KR" sz="1000" dirty="0" err="1"/>
                        <a:t>stop_count</a:t>
                      </a:r>
                      <a:r>
                        <a:rPr lang="en-US" altLang="ko-KR" sz="1000" dirty="0"/>
                        <a:t> ≥ threshold)</a:t>
                      </a:r>
                    </a:p>
                    <a:p>
                      <a:endParaRPr lang="en-US" altLang="ko-KR" sz="1000" dirty="0"/>
                    </a:p>
                    <a:p>
                      <a:r>
                        <a:rPr lang="en-US" altLang="ko-KR" sz="1000" dirty="0"/>
                        <a:t>2. Ego </a:t>
                      </a:r>
                      <a:r>
                        <a:rPr lang="ko-KR" altLang="en-US" sz="1000" dirty="0"/>
                        <a:t>차량</a:t>
                      </a:r>
                      <a:r>
                        <a:rPr lang="en-US" altLang="ko-KR" sz="1000" dirty="0"/>
                        <a:t>–</a:t>
                      </a:r>
                      <a:r>
                        <a:rPr lang="ko-KR" altLang="en-US" sz="1000" dirty="0"/>
                        <a:t>장애물 거리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목적지</a:t>
                      </a:r>
                      <a:r>
                        <a:rPr lang="en-US" altLang="ko-KR" sz="1000" dirty="0"/>
                        <a:t>–</a:t>
                      </a:r>
                      <a:r>
                        <a:rPr lang="ko-KR" altLang="en-US" sz="1000" dirty="0"/>
                        <a:t>장애물 거리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장애물 정차 시간을 정규화 후 </a:t>
                      </a:r>
                      <a:r>
                        <a:rPr lang="ko-KR" altLang="en-US" sz="1000" dirty="0" err="1"/>
                        <a:t>가중합하여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b="1" dirty="0"/>
                        <a:t>Confidence</a:t>
                      </a:r>
                      <a:r>
                        <a:rPr lang="ko-KR" altLang="en-US" sz="1000" dirty="0"/>
                        <a:t> 산출</a:t>
                      </a:r>
                      <a:endParaRPr lang="en-US" altLang="ko-KR" sz="1000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/>
                        <a:t>목적지</a:t>
                      </a:r>
                      <a:r>
                        <a:rPr lang="en-US" altLang="ko-KR" sz="1000" dirty="0"/>
                        <a:t>-</a:t>
                      </a:r>
                      <a:r>
                        <a:rPr lang="ko-KR" altLang="en-US" sz="1000" dirty="0"/>
                        <a:t>장애물 근접도 </a:t>
                      </a:r>
                      <a:endParaRPr lang="en-US" altLang="ko-KR" sz="1000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/>
                        <a:t>Ego-</a:t>
                      </a:r>
                      <a:r>
                        <a:rPr lang="ko-KR" altLang="en-US" sz="1000" dirty="0"/>
                        <a:t>장애물</a:t>
                      </a:r>
                      <a:r>
                        <a:rPr lang="en-US" altLang="ko-KR" sz="1000" dirty="0"/>
                        <a:t> </a:t>
                      </a:r>
                      <a:r>
                        <a:rPr lang="ko-KR" altLang="en-US" sz="1000" dirty="0"/>
                        <a:t>근접도 </a:t>
                      </a:r>
                      <a:endParaRPr lang="en-US" altLang="ko-KR" sz="1000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/>
                        <a:t>장애물 정차 지속시간 </a:t>
                      </a:r>
                      <a:endParaRPr lang="en-US" altLang="ko-KR" sz="1000" dirty="0"/>
                    </a:p>
                  </a:txBody>
                  <a:tcPr marL="80649" marR="80649" marT="40325" marB="40325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918334"/>
                  </a:ext>
                </a:extLst>
              </a:tr>
              <a:tr h="370107">
                <a:tc>
                  <a:txBody>
                    <a:bodyPr/>
                    <a:lstStyle/>
                    <a:p>
                      <a:pPr marL="0" marR="0" indent="0" algn="ctr" defTabSz="103674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위험판단 여부</a:t>
                      </a:r>
                    </a:p>
                  </a:txBody>
                  <a:tcPr marL="80649" marR="80649" marT="40325" marB="4032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/>
                        <a:t>산출된 </a:t>
                      </a:r>
                      <a:r>
                        <a:rPr lang="en-US" altLang="ko-KR" sz="1000" b="1" dirty="0"/>
                        <a:t>Confidence ≥ 0.7</a:t>
                      </a:r>
                      <a:r>
                        <a:rPr lang="ko-KR" altLang="en-US" sz="1000" dirty="0"/>
                        <a:t> 인 경우 → 위험 시나리오 발생으로 판단</a:t>
                      </a:r>
                    </a:p>
                  </a:txBody>
                  <a:tcPr marL="80649" marR="80649" marT="40325" marB="40325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7609690"/>
                  </a:ext>
                </a:extLst>
              </a:tr>
              <a:tr h="37010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대응전략</a:t>
                      </a:r>
                    </a:p>
                  </a:txBody>
                  <a:tcPr marL="80649" marR="80649" marT="40325" marB="4032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b="1" dirty="0"/>
                        <a:t>특장차 작업 착수 전</a:t>
                      </a:r>
                      <a:r>
                        <a:rPr lang="ko-KR" altLang="en-US" sz="1000" dirty="0"/>
                        <a:t> 보조 차량</a:t>
                      </a:r>
                      <a:r>
                        <a:rPr lang="en-US" altLang="ko-KR" sz="1000" dirty="0"/>
                        <a:t> </a:t>
                      </a:r>
                      <a:r>
                        <a:rPr lang="ko-KR" altLang="en-US" sz="1000" dirty="0"/>
                        <a:t>투입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1" dirty="0"/>
                        <a:t>동적 장애물</a:t>
                      </a:r>
                      <a:r>
                        <a:rPr lang="en-US" altLang="ko-KR" sz="1000" dirty="0"/>
                        <a:t>: </a:t>
                      </a:r>
                      <a:r>
                        <a:rPr lang="ko-KR" altLang="en-US" sz="1000" dirty="0"/>
                        <a:t>안전영역 외부로 이동을 유도</a:t>
                      </a:r>
                    </a:p>
                  </a:txBody>
                  <a:tcPr marL="80649" marR="80649" marT="40325" marB="40325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9116267"/>
                  </a:ext>
                </a:extLst>
              </a:tr>
            </a:tbl>
          </a:graphicData>
        </a:graphic>
      </p:graphicFrame>
      <p:grpSp>
        <p:nvGrpSpPr>
          <p:cNvPr id="90" name="그룹 89">
            <a:extLst>
              <a:ext uri="{FF2B5EF4-FFF2-40B4-BE49-F238E27FC236}">
                <a16:creationId xmlns:a16="http://schemas.microsoft.com/office/drawing/2014/main" id="{0E4EF43F-0BBA-D8F8-278A-AB5C10F97279}"/>
              </a:ext>
            </a:extLst>
          </p:cNvPr>
          <p:cNvGrpSpPr/>
          <p:nvPr/>
        </p:nvGrpSpPr>
        <p:grpSpPr>
          <a:xfrm>
            <a:off x="2737046" y="758638"/>
            <a:ext cx="3722796" cy="2482652"/>
            <a:chOff x="2239774" y="1047519"/>
            <a:chExt cx="4476943" cy="3338603"/>
          </a:xfrm>
        </p:grpSpPr>
        <p:sp>
          <p:nvSpPr>
            <p:cNvPr id="91" name="타원 90">
              <a:extLst>
                <a:ext uri="{FF2B5EF4-FFF2-40B4-BE49-F238E27FC236}">
                  <a16:creationId xmlns:a16="http://schemas.microsoft.com/office/drawing/2014/main" id="{A9B53124-DD96-3431-B48A-2DCEC2EA66FE}"/>
                </a:ext>
              </a:extLst>
            </p:cNvPr>
            <p:cNvSpPr/>
            <p:nvPr/>
          </p:nvSpPr>
          <p:spPr>
            <a:xfrm>
              <a:off x="3279549" y="1047519"/>
              <a:ext cx="3216905" cy="3338603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 dirty="0"/>
            </a:p>
          </p:txBody>
        </p:sp>
        <p:grpSp>
          <p:nvGrpSpPr>
            <p:cNvPr id="92" name="그룹 91">
              <a:extLst>
                <a:ext uri="{FF2B5EF4-FFF2-40B4-BE49-F238E27FC236}">
                  <a16:creationId xmlns:a16="http://schemas.microsoft.com/office/drawing/2014/main" id="{AB6A2982-6368-3E63-9EA1-861C8181366C}"/>
                </a:ext>
              </a:extLst>
            </p:cNvPr>
            <p:cNvGrpSpPr/>
            <p:nvPr/>
          </p:nvGrpSpPr>
          <p:grpSpPr>
            <a:xfrm>
              <a:off x="2239774" y="1629285"/>
              <a:ext cx="1922709" cy="2167009"/>
              <a:chOff x="4234778" y="2962285"/>
              <a:chExt cx="1989829" cy="2173308"/>
            </a:xfrm>
          </p:grpSpPr>
          <p:sp>
            <p:nvSpPr>
              <p:cNvPr id="107" name="모서리가 둥근 직사각형 25">
                <a:extLst>
                  <a:ext uri="{FF2B5EF4-FFF2-40B4-BE49-F238E27FC236}">
                    <a16:creationId xmlns:a16="http://schemas.microsoft.com/office/drawing/2014/main" id="{42B56BE9-77F8-0C05-FCE6-0AD4F668793F}"/>
                  </a:ext>
                </a:extLst>
              </p:cNvPr>
              <p:cNvSpPr/>
              <p:nvPr/>
            </p:nvSpPr>
            <p:spPr>
              <a:xfrm>
                <a:off x="4234778" y="2962285"/>
                <a:ext cx="554967" cy="619002"/>
              </a:xfrm>
              <a:prstGeom prst="round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 dirty="0" err="1"/>
                  <a:t>보조차량</a:t>
                </a:r>
                <a:endParaRPr lang="ko-KR" altLang="en-US" sz="900" dirty="0"/>
              </a:p>
            </p:txBody>
          </p:sp>
          <p:sp>
            <p:nvSpPr>
              <p:cNvPr id="108" name="모서리가 둥근 직사각형 26">
                <a:extLst>
                  <a:ext uri="{FF2B5EF4-FFF2-40B4-BE49-F238E27FC236}">
                    <a16:creationId xmlns:a16="http://schemas.microsoft.com/office/drawing/2014/main" id="{67419160-CAC0-9490-89CE-FFB129FFD18E}"/>
                  </a:ext>
                </a:extLst>
              </p:cNvPr>
              <p:cNvSpPr/>
              <p:nvPr/>
            </p:nvSpPr>
            <p:spPr>
              <a:xfrm>
                <a:off x="5669640" y="2962285"/>
                <a:ext cx="554967" cy="619002"/>
              </a:xfrm>
              <a:prstGeom prst="round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 dirty="0" err="1"/>
                  <a:t>보조차량</a:t>
                </a:r>
                <a:endParaRPr lang="ko-KR" altLang="en-US" sz="900" dirty="0"/>
              </a:p>
            </p:txBody>
          </p:sp>
          <p:sp>
            <p:nvSpPr>
              <p:cNvPr id="109" name="모서리가 둥근 직사각형 27">
                <a:extLst>
                  <a:ext uri="{FF2B5EF4-FFF2-40B4-BE49-F238E27FC236}">
                    <a16:creationId xmlns:a16="http://schemas.microsoft.com/office/drawing/2014/main" id="{D5193FDD-4E4C-358F-4DB4-E51FE171E9C3}"/>
                  </a:ext>
                </a:extLst>
              </p:cNvPr>
              <p:cNvSpPr/>
              <p:nvPr/>
            </p:nvSpPr>
            <p:spPr>
              <a:xfrm>
                <a:off x="4234778" y="4516591"/>
                <a:ext cx="554967" cy="619002"/>
              </a:xfrm>
              <a:prstGeom prst="round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 dirty="0" err="1"/>
                  <a:t>보조차량</a:t>
                </a:r>
                <a:endParaRPr lang="ko-KR" altLang="en-US" sz="900" dirty="0"/>
              </a:p>
            </p:txBody>
          </p:sp>
          <p:sp>
            <p:nvSpPr>
              <p:cNvPr id="110" name="모서리가 둥근 직사각형 28">
                <a:extLst>
                  <a:ext uri="{FF2B5EF4-FFF2-40B4-BE49-F238E27FC236}">
                    <a16:creationId xmlns:a16="http://schemas.microsoft.com/office/drawing/2014/main" id="{FB640AFB-A11E-0D14-130C-C5CE5C3E6E96}"/>
                  </a:ext>
                </a:extLst>
              </p:cNvPr>
              <p:cNvSpPr/>
              <p:nvPr/>
            </p:nvSpPr>
            <p:spPr>
              <a:xfrm>
                <a:off x="5669639" y="4516591"/>
                <a:ext cx="554967" cy="619002"/>
              </a:xfrm>
              <a:prstGeom prst="round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 dirty="0" err="1"/>
                  <a:t>보조차량</a:t>
                </a:r>
                <a:endParaRPr lang="ko-KR" altLang="en-US" sz="900" dirty="0"/>
              </a:p>
            </p:txBody>
          </p:sp>
        </p:grpSp>
        <p:sp>
          <p:nvSpPr>
            <p:cNvPr id="97" name="모서리가 둥근 직사각형 12">
              <a:extLst>
                <a:ext uri="{FF2B5EF4-FFF2-40B4-BE49-F238E27FC236}">
                  <a16:creationId xmlns:a16="http://schemas.microsoft.com/office/drawing/2014/main" id="{373D425E-BA4B-0B23-960B-D72D9CC17DC0}"/>
                </a:ext>
              </a:extLst>
            </p:cNvPr>
            <p:cNvSpPr/>
            <p:nvPr/>
          </p:nvSpPr>
          <p:spPr>
            <a:xfrm>
              <a:off x="5621194" y="2731401"/>
              <a:ext cx="1095523" cy="779896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dirty="0"/>
                <a:t>동적</a:t>
              </a:r>
              <a:r>
                <a:rPr lang="en-US" altLang="ko-KR" sz="900" dirty="0"/>
                <a:t> </a:t>
              </a:r>
              <a:r>
                <a:rPr lang="ko-KR" altLang="en-US" sz="900" dirty="0"/>
                <a:t>장애물</a:t>
              </a:r>
              <a:endParaRPr lang="en-US" altLang="ko-KR" sz="900" dirty="0"/>
            </a:p>
            <a:p>
              <a:pPr algn="ctr"/>
              <a:r>
                <a:rPr lang="en-US" altLang="ko-KR" sz="900" dirty="0"/>
                <a:t>(</a:t>
              </a:r>
              <a:r>
                <a:rPr lang="ko-KR" altLang="en-US" sz="900" dirty="0"/>
                <a:t>정차</a:t>
              </a:r>
              <a:r>
                <a:rPr lang="en-US" altLang="ko-KR" sz="900" dirty="0"/>
                <a:t>/</a:t>
              </a:r>
              <a:r>
                <a:rPr lang="ko-KR" altLang="en-US" sz="900" dirty="0"/>
                <a:t>작업중</a:t>
              </a:r>
              <a:r>
                <a:rPr lang="en-US" altLang="ko-KR" sz="900" dirty="0"/>
                <a:t>)</a:t>
              </a:r>
              <a:endParaRPr lang="ko-KR" altLang="en-US" sz="900" dirty="0"/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0846FC82-A484-3EAB-19C6-80D95A417DDD}"/>
                </a:ext>
              </a:extLst>
            </p:cNvPr>
            <p:cNvSpPr txBox="1"/>
            <p:nvPr/>
          </p:nvSpPr>
          <p:spPr>
            <a:xfrm>
              <a:off x="3894974" y="2655537"/>
              <a:ext cx="777202" cy="3104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dirty="0">
                  <a:latin typeface="+mn-ea"/>
                </a:rPr>
                <a:t> &lt; 40m</a:t>
              </a:r>
              <a:endParaRPr lang="ko-KR" altLang="en-US" sz="900" dirty="0">
                <a:latin typeface="+mn-ea"/>
              </a:endParaRP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20633BBB-8D41-7138-320A-E994A98026CD}"/>
                </a:ext>
              </a:extLst>
            </p:cNvPr>
            <p:cNvSpPr txBox="1"/>
            <p:nvPr/>
          </p:nvSpPr>
          <p:spPr>
            <a:xfrm>
              <a:off x="3685961" y="2440624"/>
              <a:ext cx="1202042" cy="3104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ko-KR" altLang="en-US" sz="900" b="1" dirty="0">
                <a:latin typeface="+mn-ea"/>
              </a:endParaRPr>
            </a:p>
          </p:txBody>
        </p:sp>
        <p:sp>
          <p:nvSpPr>
            <p:cNvPr id="101" name="모서리가 둥근 직사각형 24">
              <a:extLst>
                <a:ext uri="{FF2B5EF4-FFF2-40B4-BE49-F238E27FC236}">
                  <a16:creationId xmlns:a16="http://schemas.microsoft.com/office/drawing/2014/main" id="{46BAEFAE-D16C-CAAE-9E43-BBCC38C2B7CE}"/>
                </a:ext>
              </a:extLst>
            </p:cNvPr>
            <p:cNvSpPr/>
            <p:nvPr/>
          </p:nvSpPr>
          <p:spPr>
            <a:xfrm>
              <a:off x="2824495" y="2244373"/>
              <a:ext cx="850215" cy="932593"/>
            </a:xfrm>
            <a:prstGeom prst="roundRect">
              <a:avLst/>
            </a:prstGeom>
            <a:ln>
              <a:solidFill>
                <a:schemeClr val="accent5"/>
              </a:solidFill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dirty="0">
                  <a:latin typeface="+mn-ea"/>
                </a:rPr>
                <a:t>특장차량</a:t>
              </a:r>
              <a:endParaRPr lang="en-US" altLang="ko-KR" sz="900" dirty="0">
                <a:latin typeface="+mn-ea"/>
              </a:endParaRPr>
            </a:p>
            <a:p>
              <a:pPr algn="ctr"/>
              <a:r>
                <a:rPr lang="en-US" altLang="ko-KR" sz="900" b="1" u="sng" dirty="0">
                  <a:latin typeface="+mn-ea"/>
                </a:rPr>
                <a:t>(</a:t>
              </a:r>
              <a:r>
                <a:rPr lang="ko-KR" altLang="en-US" sz="900" b="1" u="sng" dirty="0">
                  <a:latin typeface="+mn-ea"/>
                </a:rPr>
                <a:t>이동중</a:t>
              </a:r>
              <a:r>
                <a:rPr lang="en-US" altLang="ko-KR" sz="900" b="1" u="sng" dirty="0">
                  <a:latin typeface="+mn-ea"/>
                </a:rPr>
                <a:t>)</a:t>
              </a:r>
            </a:p>
          </p:txBody>
        </p:sp>
        <p:cxnSp>
          <p:nvCxnSpPr>
            <p:cNvPr id="102" name="직선 화살표 연결선 101">
              <a:extLst>
                <a:ext uri="{FF2B5EF4-FFF2-40B4-BE49-F238E27FC236}">
                  <a16:creationId xmlns:a16="http://schemas.microsoft.com/office/drawing/2014/main" id="{1BDFD644-57DD-AC08-BFA0-BCBB6479115C}"/>
                </a:ext>
              </a:extLst>
            </p:cNvPr>
            <p:cNvCxnSpPr>
              <a:cxnSpLocks/>
              <a:stCxn id="101" idx="3"/>
            </p:cNvCxnSpPr>
            <p:nvPr/>
          </p:nvCxnSpPr>
          <p:spPr>
            <a:xfrm flipV="1">
              <a:off x="3674710" y="2709315"/>
              <a:ext cx="1156164" cy="1355"/>
            </a:xfrm>
            <a:prstGeom prst="straightConnector1">
              <a:avLst/>
            </a:prstGeom>
            <a:ln w="3175">
              <a:prstDash val="dash"/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71A96137-A64B-4B84-346E-59A7FB407DCC}"/>
                </a:ext>
              </a:extLst>
            </p:cNvPr>
            <p:cNvSpPr txBox="1"/>
            <p:nvPr/>
          </p:nvSpPr>
          <p:spPr>
            <a:xfrm>
              <a:off x="4472982" y="2806306"/>
              <a:ext cx="1202041" cy="4966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900" b="1" dirty="0">
                  <a:latin typeface="+mn-ea"/>
                </a:rPr>
                <a:t>최종 목적지</a:t>
              </a:r>
              <a:endParaRPr lang="en-US" altLang="ko-KR" sz="900" b="1" dirty="0">
                <a:latin typeface="+mn-ea"/>
              </a:endParaRPr>
            </a:p>
            <a:p>
              <a:pPr algn="ctr"/>
              <a:endParaRPr lang="ko-KR" altLang="en-US" sz="900" b="1" dirty="0">
                <a:latin typeface="+mn-ea"/>
              </a:endParaRPr>
            </a:p>
          </p:txBody>
        </p:sp>
        <p:sp>
          <p:nvSpPr>
            <p:cNvPr id="104" name="타원 103">
              <a:extLst>
                <a:ext uri="{FF2B5EF4-FFF2-40B4-BE49-F238E27FC236}">
                  <a16:creationId xmlns:a16="http://schemas.microsoft.com/office/drawing/2014/main" id="{4066328E-B7BE-438E-EE83-70AD060BC8C9}"/>
                </a:ext>
              </a:extLst>
            </p:cNvPr>
            <p:cNvSpPr/>
            <p:nvPr/>
          </p:nvSpPr>
          <p:spPr>
            <a:xfrm>
              <a:off x="4921778" y="2614868"/>
              <a:ext cx="195891" cy="190097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7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106" name="자유형: 도형 105">
              <a:extLst>
                <a:ext uri="{FF2B5EF4-FFF2-40B4-BE49-F238E27FC236}">
                  <a16:creationId xmlns:a16="http://schemas.microsoft.com/office/drawing/2014/main" id="{93F2EDB4-0437-BB02-4C06-9A2F18F67A67}"/>
                </a:ext>
              </a:extLst>
            </p:cNvPr>
            <p:cNvSpPr/>
            <p:nvPr/>
          </p:nvSpPr>
          <p:spPr>
            <a:xfrm flipV="1">
              <a:off x="4169664" y="3358238"/>
              <a:ext cx="1403334" cy="153058"/>
            </a:xfrm>
            <a:custGeom>
              <a:avLst/>
              <a:gdLst>
                <a:gd name="connsiteX0" fmla="*/ 0 w 810768"/>
                <a:gd name="connsiteY0" fmla="*/ 0 h 333039"/>
                <a:gd name="connsiteX1" fmla="*/ 262128 w 810768"/>
                <a:gd name="connsiteY1" fmla="*/ 286512 h 333039"/>
                <a:gd name="connsiteX2" fmla="*/ 810768 w 810768"/>
                <a:gd name="connsiteY2" fmla="*/ 329184 h 333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10768" h="333039">
                  <a:moveTo>
                    <a:pt x="0" y="0"/>
                  </a:moveTo>
                  <a:cubicBezTo>
                    <a:pt x="63500" y="115824"/>
                    <a:pt x="127000" y="231648"/>
                    <a:pt x="262128" y="286512"/>
                  </a:cubicBezTo>
                  <a:cubicBezTo>
                    <a:pt x="397256" y="341376"/>
                    <a:pt x="604012" y="335280"/>
                    <a:pt x="810768" y="329184"/>
                  </a:cubicBezTo>
                </a:path>
              </a:pathLst>
            </a:custGeom>
            <a:noFill/>
            <a:ln>
              <a:solidFill>
                <a:schemeClr val="tx1">
                  <a:lumMod val="65000"/>
                  <a:lumOff val="35000"/>
                </a:schemeClr>
              </a:solidFill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/>
            </a:p>
          </p:txBody>
        </p:sp>
      </p:grpSp>
    </p:spTree>
    <p:extLst>
      <p:ext uri="{BB962C8B-B14F-4D97-AF65-F5344CB8AC3E}">
        <p14:creationId xmlns:p14="http://schemas.microsoft.com/office/powerpoint/2010/main" val="303291950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9A47E-5E1A-6056-EB4C-67F147E82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56B27BD-C64F-5B53-2470-B4541CE337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F55F954-5E86-475A-837F-2B8CED6C7DF1}" type="slidenum">
              <a:rPr lang="ko-KR" altLang="en-US" smtClean="0"/>
              <a:pPr/>
              <a:t>77</a:t>
            </a:fld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12021C6-9361-3D6A-53D3-EE2958BB06E6}"/>
              </a:ext>
            </a:extLst>
          </p:cNvPr>
          <p:cNvSpPr/>
          <p:nvPr/>
        </p:nvSpPr>
        <p:spPr>
          <a:xfrm>
            <a:off x="5728810" y="1298002"/>
            <a:ext cx="2762795" cy="234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새로운 전역 경로 </a:t>
            </a:r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point set </a:t>
            </a:r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입력</a:t>
            </a: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57D1AC27-0671-5FBA-C27F-3AB97D4251FA}"/>
              </a:ext>
            </a:extLst>
          </p:cNvPr>
          <p:cNvSpPr/>
          <p:nvPr/>
        </p:nvSpPr>
        <p:spPr>
          <a:xfrm>
            <a:off x="5314687" y="1619303"/>
            <a:ext cx="252000" cy="252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rPr>
              <a:t>1</a:t>
            </a:r>
            <a:endParaRPr lang="ko-KR" altLang="en-US" sz="9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Arial" panose="020B0604020202020204" pitchFamily="34" charset="0"/>
              <a:ea typeface="KoPub돋움체 Bold" panose="02020603020101020101" pitchFamily="18" charset="-127"/>
              <a:cs typeface="Arial" panose="020B0604020202020204" pitchFamily="34" charset="0"/>
            </a:endParaRPr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EDDCFBD4-33C2-EBF5-B8B9-14DBA40FA35A}"/>
              </a:ext>
            </a:extLst>
          </p:cNvPr>
          <p:cNvSpPr/>
          <p:nvPr/>
        </p:nvSpPr>
        <p:spPr>
          <a:xfrm>
            <a:off x="5314687" y="2981966"/>
            <a:ext cx="252000" cy="252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rPr>
              <a:t>2</a:t>
            </a:r>
            <a:endParaRPr lang="ko-KR" altLang="en-US" sz="9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Arial" panose="020B0604020202020204" pitchFamily="34" charset="0"/>
              <a:ea typeface="KoPub돋움체 Bold" panose="02020603020101020101" pitchFamily="18" charset="-127"/>
              <a:cs typeface="Arial" panose="020B0604020202020204" pitchFamily="34" charset="0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9F742010-B13C-6DE8-5F8C-2A12B52F641C}"/>
              </a:ext>
            </a:extLst>
          </p:cNvPr>
          <p:cNvSpPr/>
          <p:nvPr/>
        </p:nvSpPr>
        <p:spPr>
          <a:xfrm>
            <a:off x="5935959" y="2397185"/>
            <a:ext cx="2348494" cy="416116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작업지점 반경 </a:t>
            </a:r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30</a:t>
            </a:r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미터 이내 상태 확인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직사각형 49">
                <a:extLst>
                  <a:ext uri="{FF2B5EF4-FFF2-40B4-BE49-F238E27FC236}">
                    <a16:creationId xmlns:a16="http://schemas.microsoft.com/office/drawing/2014/main" id="{4D1E9326-AEAC-0A6A-E641-84F7548FB36F}"/>
                  </a:ext>
                </a:extLst>
              </p:cNvPr>
              <p:cNvSpPr/>
              <p:nvPr/>
            </p:nvSpPr>
            <p:spPr>
              <a:xfrm>
                <a:off x="487878" y="1113925"/>
                <a:ext cx="4362728" cy="10494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120000"/>
                  <a:buFont typeface="+mj-ea"/>
                  <a:buAutoNum type="circleNumDbPlain"/>
                  <a:defRPr/>
                </a:pPr>
                <a:r>
                  <a:rPr lang="ko-KR" altLang="en-US" sz="1100" b="1" kern="0" dirty="0">
                    <a:ln>
                      <a:solidFill>
                        <a:schemeClr val="tx1">
                          <a:alpha val="30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시나리오 실행 조건</a:t>
                </a:r>
                <a:endParaRPr lang="en-US" altLang="ko-KR" sz="1100" b="1" kern="0" dirty="0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120000"/>
                  <a:defRPr/>
                </a:pPr>
                <a:r>
                  <a:rPr lang="en-US" altLang="ko-KR" sz="11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- </a:t>
                </a:r>
                <a:r>
                  <a:rPr lang="ko-KR" altLang="en-US" sz="11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특장차가 최종 목적지 </a:t>
                </a:r>
                <a:r>
                  <a:rPr lang="en-US" altLang="ko-KR" sz="11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(</a:t>
                </a:r>
                <a:r>
                  <a:rPr lang="ko-KR" altLang="en-US" sz="11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전역 경로 마지막 </a:t>
                </a:r>
                <a14:m>
                  <m:oMath xmlns:m="http://schemas.openxmlformats.org/officeDocument/2006/math">
                    <m:r>
                      <a:rPr lang="en-US" altLang="ko-KR" sz="1100" i="1" kern="0" dirty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US" altLang="ko-KR" sz="1100" i="1" kern="0" dirty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r>
                      <a:rPr lang="en-US" altLang="ko-KR" sz="1100" i="1" kern="0" dirty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𝑦</m:t>
                    </m:r>
                  </m:oMath>
                </a14:m>
                <a:r>
                  <a:rPr lang="en-US" altLang="ko-KR" sz="11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</a:t>
                </a:r>
                <a:r>
                  <a:rPr lang="ko-KR" altLang="en-US" sz="11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좌표</a:t>
                </a:r>
                <a:r>
                  <a:rPr lang="en-US" altLang="ko-KR" sz="11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) 40m </a:t>
                </a:r>
                <a:r>
                  <a:rPr lang="ko-KR" altLang="en-US" sz="11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이내로 접근 했을 경우</a:t>
                </a:r>
                <a:endParaRPr lang="en-US" altLang="ko-KR" sz="110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120000"/>
                  <a:defRPr/>
                </a:pPr>
                <a:r>
                  <a:rPr lang="en-US" altLang="ko-KR" sz="11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- </a:t>
                </a:r>
                <a:r>
                  <a:rPr lang="ko-KR" altLang="en-US" sz="11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데이터 시점 </a:t>
                </a:r>
                <a14:m>
                  <m:oMath xmlns:m="http://schemas.openxmlformats.org/officeDocument/2006/math">
                    <m:r>
                      <a:rPr lang="en-US" altLang="ko-KR" sz="1100" i="1" kern="0" dirty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  <m:r>
                      <a:rPr lang="en-US" altLang="ko-KR" sz="1100" i="1" kern="0" dirty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ko-KR" altLang="en-US" sz="11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기준으로 알고리즘 진행 </a:t>
                </a:r>
                <a:endParaRPr lang="en-US" altLang="ko-KR" sz="110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0" name="직사각형 49">
                <a:extLst>
                  <a:ext uri="{FF2B5EF4-FFF2-40B4-BE49-F238E27FC236}">
                    <a16:creationId xmlns:a16="http://schemas.microsoft.com/office/drawing/2014/main" id="{4D1E9326-AEAC-0A6A-E641-84F7548FB36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878" y="1113925"/>
                <a:ext cx="4362728" cy="104945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직사각형 52">
                <a:extLst>
                  <a:ext uri="{FF2B5EF4-FFF2-40B4-BE49-F238E27FC236}">
                    <a16:creationId xmlns:a16="http://schemas.microsoft.com/office/drawing/2014/main" id="{646E24C0-7554-9E76-56E2-DF59BE9D452B}"/>
                  </a:ext>
                </a:extLst>
              </p:cNvPr>
              <p:cNvSpPr/>
              <p:nvPr/>
            </p:nvSpPr>
            <p:spPr>
              <a:xfrm>
                <a:off x="487878" y="2382890"/>
                <a:ext cx="4139603" cy="10494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120000"/>
                  <a:buFont typeface="+mj-ea"/>
                  <a:buAutoNum type="circleNumDbPlain" startAt="2"/>
                  <a:defRPr/>
                </a:pPr>
                <a:r>
                  <a:rPr lang="ko-KR" altLang="en-US" sz="1100" b="1" kern="0" dirty="0">
                    <a:ln>
                      <a:solidFill>
                        <a:schemeClr val="tx1">
                          <a:alpha val="30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작업반경 안전영역 내의 장애물 인지</a:t>
                </a:r>
                <a:endParaRPr lang="en-US" altLang="ko-KR" sz="1100" b="1" kern="0" dirty="0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120000"/>
                  <a:defRPr/>
                </a:pPr>
                <a:r>
                  <a:rPr lang="en-US" altLang="ko-KR" sz="11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- </a:t>
                </a:r>
                <a:r>
                  <a:rPr lang="ko-KR" altLang="en-US" sz="11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데이터 시점 </a:t>
                </a:r>
                <a14:m>
                  <m:oMath xmlns:m="http://schemas.openxmlformats.org/officeDocument/2006/math">
                    <m:r>
                      <a:rPr lang="en-US" altLang="ko-KR" sz="1100" i="1" kern="0" dirty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  <m:r>
                      <a:rPr lang="en-US" altLang="ko-KR" sz="1100" i="1" kern="0" dirty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ko-KR" altLang="en-US" sz="11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기준 작업 반경 </a:t>
                </a:r>
                <a:r>
                  <a:rPr lang="en-US" altLang="ko-KR" sz="1100" kern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30m (</a:t>
                </a:r>
                <a:r>
                  <a:rPr lang="ko-KR" altLang="en-US" sz="1100" kern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판단영역</a:t>
                </a:r>
                <a:r>
                  <a:rPr lang="en-US" altLang="ko-KR" sz="11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) </a:t>
                </a:r>
                <a:r>
                  <a:rPr lang="ko-KR" altLang="en-US" sz="11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이내에 정차 </a:t>
                </a:r>
                <a:r>
                  <a:rPr lang="en-US" altLang="ko-KR" sz="11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11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𝑠𝑡𝑜𝑝</m:t>
                    </m:r>
                    <m:r>
                      <a:rPr lang="en-US" altLang="ko-KR" sz="11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_</m:t>
                    </m:r>
                    <m:r>
                      <a:rPr lang="en-US" altLang="ko-KR" sz="11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𝑐𝑜𝑢𝑛𝑡</m:t>
                    </m:r>
                    <m:r>
                      <a:rPr lang="en-US" altLang="ko-KR" sz="11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≥</m:t>
                    </m:r>
                    <m:r>
                      <a:rPr lang="en-US" altLang="ko-KR" sz="11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𝑡h𝑟𝑒𝑠h𝑜𝑙𝑑</m:t>
                    </m:r>
                    <m:r>
                      <a:rPr lang="en-US" altLang="ko-KR" sz="11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n-US" altLang="ko-KR" sz="11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ea typeface="Cambria Math" panose="02040503050406030204" pitchFamily="18" charset="0"/>
                    <a:cs typeface="Arial" panose="020B0604020202020204" pitchFamily="34" charset="0"/>
                  </a:rPr>
                  <a:t> </a:t>
                </a:r>
                <a:r>
                  <a:rPr lang="ko-KR" altLang="en-US" sz="11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상태의 동적 장애물</a:t>
                </a:r>
                <a:endParaRPr lang="en-US" altLang="ko-KR" sz="110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120000"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1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𝑜𝑏𝑠</m:t>
                        </m:r>
                      </m:e>
                      <m:sub>
                        <m:r>
                          <a:rPr lang="en-US" altLang="ko-KR" sz="11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0</m:t>
                        </m:r>
                      </m:sub>
                    </m:sSub>
                    <m:r>
                      <a:rPr lang="en-US" altLang="ko-KR" sz="1100" b="0" i="1" kern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… </m:t>
                    </m:r>
                    <m:sSub>
                      <m:sSubPr>
                        <m:ctrlPr>
                          <a:rPr lang="en-US" altLang="ko-KR" sz="110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1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𝑜𝑏𝑠</m:t>
                        </m:r>
                      </m:e>
                      <m:sub>
                        <m:r>
                          <a:rPr lang="en-US" altLang="ko-KR" sz="1100" b="0" i="1" kern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ko-KR" sz="1100" b="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</a:t>
                </a:r>
                <a:r>
                  <a:rPr lang="ko-KR" altLang="en-US" sz="1100" b="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에 대해 </a:t>
                </a:r>
                <a:r>
                  <a:rPr lang="en-US" altLang="ko-KR" sz="1100" b="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confidence </a:t>
                </a:r>
                <a:r>
                  <a:rPr lang="ko-KR" altLang="en-US" sz="1100" b="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계산 진행</a:t>
                </a:r>
                <a:endParaRPr lang="en-US" altLang="ko-KR" sz="1100" b="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3" name="직사각형 52">
                <a:extLst>
                  <a:ext uri="{FF2B5EF4-FFF2-40B4-BE49-F238E27FC236}">
                    <a16:creationId xmlns:a16="http://schemas.microsoft.com/office/drawing/2014/main" id="{646E24C0-7554-9E76-56E2-DF59BE9D45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878" y="2382890"/>
                <a:ext cx="4139603" cy="10494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" name="직사각형 76">
            <a:extLst>
              <a:ext uri="{FF2B5EF4-FFF2-40B4-BE49-F238E27FC236}">
                <a16:creationId xmlns:a16="http://schemas.microsoft.com/office/drawing/2014/main" id="{A711F36C-1123-EA4F-63F8-9D6665B0722E}"/>
              </a:ext>
            </a:extLst>
          </p:cNvPr>
          <p:cNvSpPr/>
          <p:nvPr/>
        </p:nvSpPr>
        <p:spPr>
          <a:xfrm>
            <a:off x="5865011" y="3994625"/>
            <a:ext cx="2490389" cy="234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Confidence </a:t>
            </a:r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값 출력</a:t>
            </a:r>
            <a:endParaRPr lang="en-US" altLang="ko-KR" sz="105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68061E7B-9742-D8E9-6FC2-46EEF6D1E470}"/>
              </a:ext>
            </a:extLst>
          </p:cNvPr>
          <p:cNvSpPr/>
          <p:nvPr/>
        </p:nvSpPr>
        <p:spPr>
          <a:xfrm>
            <a:off x="114054" y="726549"/>
            <a:ext cx="9144000" cy="3216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5256" indent="-95256"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buFont typeface="Wingdings" panose="05000000000000000000" pitchFamily="2" charset="2"/>
              <a:buChar char="§"/>
              <a:defRPr/>
            </a:pPr>
            <a:r>
              <a:rPr lang="ko-KR" altLang="en-US" sz="1300" b="1" kern="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</a:t>
            </a:r>
            <a:r>
              <a:rPr lang="ko-KR" altLang="en-US" sz="1300" b="1" kern="0" dirty="0" err="1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판단로직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E739F49F-10D6-F83F-A0D4-7CB918413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846" y="229251"/>
            <a:ext cx="9121492" cy="369332"/>
          </a:xfrm>
        </p:spPr>
        <p:txBody>
          <a:bodyPr/>
          <a:lstStyle/>
          <a:p>
            <a:r>
              <a:rPr lang="en-US" altLang="ko-KR" sz="24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10. </a:t>
            </a:r>
            <a:r>
              <a:rPr lang="ko-KR" altLang="en-US" sz="24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작업 반경 근방 정차 장애물이 있는 환경</a:t>
            </a:r>
          </a:p>
        </p:txBody>
      </p:sp>
      <p:sp>
        <p:nvSpPr>
          <p:cNvPr id="39" name="순서도: 판단 38">
            <a:extLst>
              <a:ext uri="{FF2B5EF4-FFF2-40B4-BE49-F238E27FC236}">
                <a16:creationId xmlns:a16="http://schemas.microsoft.com/office/drawing/2014/main" id="{D27212FE-D667-A88A-5E0A-8927C5F6A189}"/>
              </a:ext>
            </a:extLst>
          </p:cNvPr>
          <p:cNvSpPr/>
          <p:nvPr/>
        </p:nvSpPr>
        <p:spPr>
          <a:xfrm>
            <a:off x="5552735" y="1745303"/>
            <a:ext cx="3114943" cy="484848"/>
          </a:xfrm>
          <a:prstGeom prst="flowChartDecision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특장차가 작업지점 반경 </a:t>
            </a:r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40m </a:t>
            </a:r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이내 접근</a:t>
            </a:r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?</a:t>
            </a:r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63E96EFA-A92F-D2B5-9947-A98876EBF415}"/>
              </a:ext>
            </a:extLst>
          </p:cNvPr>
          <p:cNvCxnSpPr>
            <a:cxnSpLocks/>
            <a:stCxn id="27" idx="2"/>
            <a:endCxn id="39" idx="0"/>
          </p:cNvCxnSpPr>
          <p:nvPr/>
        </p:nvCxnSpPr>
        <p:spPr>
          <a:xfrm flipH="1">
            <a:off x="7110207" y="1532002"/>
            <a:ext cx="1" cy="2133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14EB3DA7-0227-796D-F3FB-D3359F76A226}"/>
              </a:ext>
            </a:extLst>
          </p:cNvPr>
          <p:cNvCxnSpPr>
            <a:cxnSpLocks/>
            <a:stCxn id="39" idx="2"/>
            <a:endCxn id="35" idx="0"/>
          </p:cNvCxnSpPr>
          <p:nvPr/>
        </p:nvCxnSpPr>
        <p:spPr>
          <a:xfrm flipH="1">
            <a:off x="7110206" y="2230151"/>
            <a:ext cx="1" cy="16703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타원 42">
            <a:extLst>
              <a:ext uri="{FF2B5EF4-FFF2-40B4-BE49-F238E27FC236}">
                <a16:creationId xmlns:a16="http://schemas.microsoft.com/office/drawing/2014/main" id="{DF15EE2C-B018-4446-0D3A-7D4E2000251D}"/>
              </a:ext>
            </a:extLst>
          </p:cNvPr>
          <p:cNvSpPr/>
          <p:nvPr/>
        </p:nvSpPr>
        <p:spPr>
          <a:xfrm>
            <a:off x="5314687" y="3922703"/>
            <a:ext cx="252000" cy="252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rPr>
              <a:t>3</a:t>
            </a:r>
            <a:endParaRPr lang="ko-KR" altLang="en-US" sz="9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Arial" panose="020B0604020202020204" pitchFamily="34" charset="0"/>
              <a:ea typeface="KoPub돋움체 Bold" panose="02020603020101020101" pitchFamily="18" charset="-127"/>
              <a:cs typeface="Arial" panose="020B0604020202020204" pitchFamily="34" charset="0"/>
            </a:endParaRPr>
          </a:p>
        </p:txBody>
      </p:sp>
      <p:sp>
        <p:nvSpPr>
          <p:cNvPr id="6" name="순서도: 판단 5">
            <a:extLst>
              <a:ext uri="{FF2B5EF4-FFF2-40B4-BE49-F238E27FC236}">
                <a16:creationId xmlns:a16="http://schemas.microsoft.com/office/drawing/2014/main" id="{E8745CF3-DE60-024B-2B10-4D777D47F68C}"/>
              </a:ext>
            </a:extLst>
          </p:cNvPr>
          <p:cNvSpPr/>
          <p:nvPr/>
        </p:nvSpPr>
        <p:spPr>
          <a:xfrm>
            <a:off x="5552733" y="3170888"/>
            <a:ext cx="3114943" cy="484848"/>
          </a:xfrm>
          <a:prstGeom prst="flowChartDecision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정차 혹은 작업 상태인</a:t>
            </a:r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ko-KR" altLang="en-US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동적장애물</a:t>
            </a:r>
            <a:r>
              <a: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?</a:t>
            </a:r>
            <a:endParaRPr lang="ko-KR" altLang="en-US" sz="105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7C05285D-E606-0448-85FD-E7DD1116725B}"/>
              </a:ext>
            </a:extLst>
          </p:cNvPr>
          <p:cNvCxnSpPr>
            <a:cxnSpLocks/>
            <a:stCxn id="35" idx="2"/>
            <a:endCxn id="6" idx="0"/>
          </p:cNvCxnSpPr>
          <p:nvPr/>
        </p:nvCxnSpPr>
        <p:spPr>
          <a:xfrm flipH="1">
            <a:off x="7110205" y="2813301"/>
            <a:ext cx="1" cy="35758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D78B09DE-CD0C-4A4F-016B-D914C0A80182}"/>
              </a:ext>
            </a:extLst>
          </p:cNvPr>
          <p:cNvCxnSpPr>
            <a:cxnSpLocks/>
            <a:stCxn id="6" idx="2"/>
            <a:endCxn id="77" idx="0"/>
          </p:cNvCxnSpPr>
          <p:nvPr/>
        </p:nvCxnSpPr>
        <p:spPr>
          <a:xfrm>
            <a:off x="7110205" y="3655736"/>
            <a:ext cx="1" cy="33888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125481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C1896C-25D1-A188-5107-D61DE2AF3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60CB45-1702-EA07-59FA-DCB09F74B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846" y="229251"/>
            <a:ext cx="6720682" cy="369332"/>
          </a:xfrm>
        </p:spPr>
        <p:txBody>
          <a:bodyPr/>
          <a:lstStyle/>
          <a:p>
            <a:r>
              <a:rPr lang="en-US" altLang="ko-KR" sz="24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10. </a:t>
            </a:r>
            <a:r>
              <a:rPr lang="ko-KR" altLang="en-US" sz="24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작업 반경 근방 정차 장애물이 있는 환경</a:t>
            </a:r>
            <a:endParaRPr lang="ko-KR" altLang="en-US" sz="2400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32D1999-BEE4-81D8-9AB4-9607DB0961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F55F954-5E86-475A-837F-2B8CED6C7DF1}" type="slidenum">
              <a:rPr lang="ko-KR" altLang="en-US" sz="800" smtClean="0"/>
              <a:pPr/>
              <a:t>78</a:t>
            </a:fld>
            <a:endParaRPr lang="ko-KR" altLang="en-US" sz="8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직사각형 3">
                <a:extLst>
                  <a:ext uri="{FF2B5EF4-FFF2-40B4-BE49-F238E27FC236}">
                    <a16:creationId xmlns:a16="http://schemas.microsoft.com/office/drawing/2014/main" id="{B72FA6A4-E0E2-906A-DF0B-CD51D4B73385}"/>
                  </a:ext>
                </a:extLst>
              </p:cNvPr>
              <p:cNvSpPr/>
              <p:nvPr/>
            </p:nvSpPr>
            <p:spPr>
              <a:xfrm>
                <a:off x="289122" y="731895"/>
                <a:ext cx="6203118" cy="55505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120000"/>
                  <a:buFont typeface="+mj-ea"/>
                  <a:buAutoNum type="circleNumDbPlain" startAt="3"/>
                  <a:defRPr/>
                </a:pPr>
                <a:r>
                  <a:rPr lang="en-US" altLang="ko-KR" sz="1100" b="1" kern="0" dirty="0">
                    <a:ln>
                      <a:solidFill>
                        <a:schemeClr val="tx1">
                          <a:alpha val="30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Confidence </a:t>
                </a:r>
                <a:r>
                  <a:rPr lang="ko-KR" altLang="en-US" sz="1100" b="1" kern="0" dirty="0">
                    <a:ln>
                      <a:solidFill>
                        <a:schemeClr val="tx1">
                          <a:alpha val="30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출력</a:t>
                </a:r>
                <a:endParaRPr lang="en-US" altLang="ko-KR" sz="1100" b="1" kern="0" dirty="0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120000"/>
                  <a:defRPr/>
                </a:pPr>
                <a:r>
                  <a:rPr lang="en-US" altLang="ko-KR" sz="9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confidence</a:t>
                </a:r>
                <a:r>
                  <a:rPr lang="ko-KR" altLang="en-US" sz="9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계산을 위한 </a:t>
                </a:r>
                <a:r>
                  <a:rPr lang="ko-KR" altLang="en-US" sz="900" kern="0" dirty="0" err="1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임계값</a:t>
                </a:r>
                <a:r>
                  <a:rPr lang="ko-KR" altLang="en-US" sz="9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상수 </a:t>
                </a:r>
                <a:r>
                  <a:rPr lang="en-US" altLang="ko-KR" sz="9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(</a:t>
                </a:r>
                <a:r>
                  <a:rPr lang="ko-KR" altLang="en-US" sz="9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단위</a:t>
                </a:r>
                <a:r>
                  <a:rPr lang="en-US" altLang="ko-KR" sz="9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:m)</a:t>
                </a: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120000"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900" b="0" i="1" kern="0" dirty="0" smtClean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𝐺𝑂𝐴</m:t>
                      </m:r>
                      <m:sSub>
                        <m:sSubPr>
                          <m:ctrlPr>
                            <a:rPr lang="en-US" altLang="ko-KR" sz="900" b="0" i="1" kern="0" dirty="0" smtClea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ko-KR" altLang="en-US" sz="900" b="0" i="1" kern="0" dirty="0" smtClea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𝐿</m:t>
                          </m:r>
                        </m:e>
                        <m:sub>
                          <m:r>
                            <a:rPr lang="ko-KR" altLang="en-US" sz="900" b="0" i="1" kern="0" dirty="0" smtClea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𝑅𝐴𝐷𝐼𝑈𝑆</m:t>
                          </m:r>
                        </m:sub>
                      </m:sSub>
                      <m:r>
                        <a:rPr lang="ko-KR" altLang="en-US" sz="900" b="0" i="1" kern="0" dirty="0" smtClean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n-US" altLang="ko-KR" sz="900" b="0" i="1" kern="0" dirty="0" smtClean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 30</m:t>
                      </m:r>
                    </m:oMath>
                  </m:oMathPara>
                </a14:m>
                <a:endParaRPr lang="en-US" sz="1200" i="1" dirty="0"/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120000"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900" i="1" kern="0" dirty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𝐸𝐺</m:t>
                      </m:r>
                      <m:sSub>
                        <m:sSubPr>
                          <m:ctrlPr>
                            <a:rPr lang="en-US" altLang="ko-KR" sz="900" i="1" kern="0" dirty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ko-KR" altLang="en-US" sz="900" i="1" kern="0" dirty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𝑂</m:t>
                          </m:r>
                        </m:e>
                        <m:sub>
                          <m:r>
                            <a:rPr lang="ko-KR" altLang="en-US" sz="900" i="1" kern="0" dirty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𝑇𝐻𝑅𝐸𝑆𝐻𝑂𝐿𝐷</m:t>
                          </m:r>
                        </m:sub>
                      </m:sSub>
                      <m:r>
                        <a:rPr lang="en-US" altLang="ko-KR" sz="900" b="0" i="1" kern="0" dirty="0" smtClean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 40</m:t>
                      </m:r>
                    </m:oMath>
                  </m:oMathPara>
                </a14:m>
                <a:endParaRPr lang="en-US" sz="1200" i="1" dirty="0"/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120000"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900" i="1" kern="0" dirty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𝑆𝑇𝑂</m:t>
                      </m:r>
                      <m:sSub>
                        <m:sSubPr>
                          <m:ctrlPr>
                            <a:rPr lang="en-US" altLang="ko-KR" sz="900" i="1" kern="0" dirty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ko-KR" sz="900" i="1" kern="0" dirty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sz="900" i="1" kern="0" dirty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𝑀𝐼𝑁</m:t>
                          </m:r>
                        </m:sub>
                      </m:sSub>
                      <m:r>
                        <a:rPr lang="en-US" altLang="ko-KR" sz="900" i="1" kern="0" dirty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=10</m:t>
                      </m:r>
                    </m:oMath>
                  </m:oMathPara>
                </a14:m>
                <a:endParaRPr lang="en-US" sz="900" i="1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120000"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900" b="0" i="1" kern="0" dirty="0" smtClean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𝑆𝑇𝑂</m:t>
                      </m:r>
                      <m:sSub>
                        <m:sSubPr>
                          <m:ctrlPr>
                            <a:rPr lang="en-US" altLang="ko-KR" sz="900" b="0" i="1" kern="0" dirty="0" smtClea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ko-KR" sz="900" b="0" i="1" kern="0" dirty="0" smtClea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sz="900" b="0" i="1" kern="0" dirty="0" smtClea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𝑀𝐴𝑋</m:t>
                          </m:r>
                        </m:sub>
                      </m:sSub>
                      <m:r>
                        <a:rPr lang="en-US" altLang="ko-KR" sz="900" b="0" i="1" kern="0" dirty="0" smtClean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=50</m:t>
                      </m:r>
                    </m:oMath>
                  </m:oMathPara>
                </a14:m>
                <a:endParaRPr lang="en-US" altLang="ko-KR" sz="1200" i="1" dirty="0"/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120000"/>
                  <a:defRPr/>
                </a:pPr>
                <a:r>
                  <a:rPr lang="en-US" altLang="ko-KR" sz="9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confidence </a:t>
                </a:r>
                <a:r>
                  <a:rPr lang="ko-KR" altLang="en-US" sz="9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는 아래 세 부분으로 구한다</a:t>
                </a:r>
                <a:r>
                  <a:rPr lang="en-US" altLang="ko-KR" sz="9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:</a:t>
                </a:r>
                <a:endParaRPr lang="ko-KR" altLang="en-US" sz="90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120000"/>
                  <a:defRPr/>
                </a:pPr>
                <a:r>
                  <a:rPr lang="en-US" altLang="ko-KR" sz="900" b="1" kern="0" dirty="0" err="1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solidFill>
                      <a:srgbClr val="C00000"/>
                    </a:solidFill>
                    <a:latin typeface="+mn-ea"/>
                    <a:cs typeface="Arial" panose="020B0604020202020204" pitchFamily="34" charset="0"/>
                  </a:rPr>
                  <a:t>i</a:t>
                </a:r>
                <a:r>
                  <a:rPr lang="en-US" altLang="ko-KR" sz="900" b="1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solidFill>
                      <a:srgbClr val="C00000"/>
                    </a:solidFill>
                    <a:latin typeface="+mn-ea"/>
                    <a:cs typeface="Arial" panose="020B0604020202020204" pitchFamily="34" charset="0"/>
                  </a:rPr>
                  <a:t>) </a:t>
                </a:r>
                <a:r>
                  <a:rPr lang="ko-KR" altLang="en-US" sz="900" b="1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solidFill>
                      <a:srgbClr val="C00000"/>
                    </a:solidFill>
                    <a:latin typeface="+mn-ea"/>
                    <a:cs typeface="Arial" panose="020B0604020202020204" pitchFamily="34" charset="0"/>
                  </a:rPr>
                  <a:t>장애물 </a:t>
                </a:r>
                <a:r>
                  <a:rPr lang="en-US" altLang="ko-KR" sz="900" b="1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solidFill>
                      <a:srgbClr val="C00000"/>
                    </a:solidFill>
                    <a:latin typeface="+mn-ea"/>
                    <a:cs typeface="Arial" panose="020B0604020202020204" pitchFamily="34" charset="0"/>
                  </a:rPr>
                  <a:t>– </a:t>
                </a:r>
                <a:r>
                  <a:rPr lang="ko-KR" altLang="en-US" sz="900" b="1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solidFill>
                      <a:srgbClr val="C00000"/>
                    </a:solidFill>
                    <a:latin typeface="+mn-ea"/>
                    <a:cs typeface="Arial" panose="020B0604020202020204" pitchFamily="34" charset="0"/>
                  </a:rPr>
                  <a:t>특장차 거리</a:t>
                </a:r>
                <a:endParaRPr lang="en-US" altLang="ko-KR" sz="900" b="1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rgbClr val="C00000"/>
                  </a:solidFill>
                  <a:latin typeface="+mn-ea"/>
                  <a:cs typeface="Arial" panose="020B0604020202020204" pitchFamily="34" charset="0"/>
                </a:endParaRP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120000"/>
                  <a:defRPr/>
                </a:pPr>
                <a:r>
                  <a:rPr lang="ko-KR" altLang="en-US" sz="9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해당 장애물의 좌표</a:t>
                </a:r>
                <a:r>
                  <a:rPr lang="en-US" altLang="ko-KR" sz="9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900" i="1" kern="0" dirty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𝑜𝑏</m:t>
                    </m:r>
                    <m:sSub>
                      <m:sSubPr>
                        <m:ctrlPr>
                          <a:rPr lang="en-US" altLang="ko-KR" sz="900" i="1" kern="0" dirty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900" i="1" kern="0" dirty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𝑠</m:t>
                        </m:r>
                      </m:e>
                      <m:sub>
                        <m:r>
                          <a:rPr lang="en-US" altLang="ko-KR" sz="900" i="1" kern="0" dirty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sub>
                    </m:sSub>
                    <m:r>
                      <a:rPr lang="en-US" altLang="ko-KR" sz="900" i="1" kern="0" dirty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, </m:t>
                    </m:r>
                    <m:r>
                      <a:rPr lang="en-US" altLang="ko-KR" sz="900" i="1" kern="0" dirty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𝑜𝑏</m:t>
                    </m:r>
                    <m:sSub>
                      <m:sSubPr>
                        <m:ctrlPr>
                          <a:rPr lang="en-US" altLang="ko-KR" sz="900" i="1" kern="0" dirty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900" i="1" kern="0" dirty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𝑠</m:t>
                        </m:r>
                      </m:e>
                      <m:sub>
                        <m:r>
                          <a:rPr lang="en-US" altLang="ko-KR" sz="900" i="1" kern="0" dirty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𝑦</m:t>
                        </m:r>
                      </m:sub>
                    </m:sSub>
                    <m:r>
                      <a:rPr lang="en-US" altLang="ko-KR" sz="900" b="0" i="1" kern="0" dirty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ko-KR" altLang="en-US" sz="9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와 특장차 좌표</a:t>
                </a:r>
                <a:r>
                  <a:rPr lang="en-US" altLang="ko-KR" sz="9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900" i="1" kern="0" dirty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𝑒𝑔</m:t>
                    </m:r>
                    <m:sSub>
                      <m:sSubPr>
                        <m:ctrlPr>
                          <a:rPr lang="en-US" altLang="ko-KR" sz="900" i="1" kern="0" dirty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900" i="1" kern="0" dirty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ko-KR" sz="900" i="1" kern="0" dirty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altLang="ko-KR" sz="9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ko-KR" sz="900" i="1" kern="0" dirty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𝑒𝑔</m:t>
                    </m:r>
                    <m:sSub>
                      <m:sSubPr>
                        <m:ctrlPr>
                          <a:rPr lang="en-US" altLang="ko-KR" sz="900" i="1" kern="0" dirty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900" i="1" kern="0" dirty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𝑜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900" i="1" kern="0" dirty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y</m:t>
                        </m:r>
                      </m:sub>
                    </m:sSub>
                  </m:oMath>
                </a14:m>
                <a:r>
                  <a:rPr lang="en-US" altLang="ko-KR" sz="9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)</a:t>
                </a:r>
                <a:r>
                  <a:rPr lang="ko-KR" altLang="en-US" sz="9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에 대해</a:t>
                </a:r>
                <a:r>
                  <a:rPr lang="en-US" altLang="ko-KR" sz="9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</a:t>
                </a: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120000"/>
                  <a:defRPr/>
                </a:pPr>
                <a:r>
                  <a:rPr lang="en-US" altLang="ko-KR" sz="9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ego</a:t>
                </a:r>
                <a:r>
                  <a:rPr lang="ko-KR" altLang="en-US" sz="9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근접도 </a:t>
                </a:r>
                <a14:m>
                  <m:oMath xmlns:m="http://schemas.openxmlformats.org/officeDocument/2006/math">
                    <m:r>
                      <a:rPr lang="ko-KR" altLang="en-US" sz="900" i="1" kern="0" dirty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𝐸𝐺</m:t>
                    </m:r>
                    <m:sSub>
                      <m:sSubPr>
                        <m:ctrlPr>
                          <a:rPr lang="en-US" altLang="ko-KR" sz="900" i="1" kern="0" dirty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ko-KR" altLang="en-US" sz="900" i="1" kern="0" dirty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𝑂</m:t>
                        </m:r>
                      </m:e>
                      <m:sub>
                        <m:r>
                          <a:rPr lang="ko-KR" altLang="en-US" sz="900" i="1" kern="0" dirty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𝑇𝐻𝑅𝐸𝑆𝐻𝑂𝐿𝐷</m:t>
                        </m:r>
                      </m:sub>
                    </m:sSub>
                    <m:r>
                      <a:rPr lang="en-US" altLang="ko-KR" sz="900" b="0" i="0" kern="0" dirty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n-US" altLang="ko-KR" sz="9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(40m) </a:t>
                </a:r>
                <a:r>
                  <a:rPr lang="ko-KR" altLang="en-US" sz="9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에서 </a:t>
                </a:r>
                <a:r>
                  <a:rPr lang="en-US" altLang="ko-KR" sz="9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0, </a:t>
                </a:r>
                <a:r>
                  <a:rPr lang="ko-KR" altLang="en-US" sz="9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가까울수록 </a:t>
                </a:r>
                <a:r>
                  <a:rPr lang="en-US" altLang="ko-KR" sz="9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1</a:t>
                </a:r>
                <a:r>
                  <a:rPr lang="ko-KR" altLang="en-US" sz="9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의 </a:t>
                </a:r>
                <a:r>
                  <a:rPr lang="en-US" altLang="ko-KR" sz="9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confidence </a:t>
                </a:r>
                <a:r>
                  <a:rPr lang="ko-KR" altLang="en-US" sz="9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를 가진다</a:t>
                </a:r>
                <a:endParaRPr lang="en-US" altLang="ko-KR" sz="90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120000"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900" i="1" kern="0" dirty="0" smtClea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ko-KR" sz="900" i="1" kern="0" dirty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𝑑</m:t>
                          </m:r>
                        </m:e>
                        <m:sub>
                          <m:r>
                            <a:rPr lang="en-US" altLang="ko-KR" sz="900" i="1" kern="0" dirty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𝑒𝑔𝑜</m:t>
                          </m:r>
                        </m:sub>
                      </m:sSub>
                      <m:r>
                        <a:rPr lang="en-US" altLang="ko-KR" sz="900" b="0" i="1" kern="0" dirty="0" smtClean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en-US" altLang="ko-KR" sz="900" b="0" i="1" kern="0" dirty="0" smtClea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altLang="ko-KR" sz="900" b="0" i="1" kern="0" dirty="0" smtClean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ko-KR" sz="900" b="0" i="1" kern="0" dirty="0" smtClean="0">
                                      <a:ln>
                                        <a:solidFill>
                                          <a:schemeClr val="tx1">
                                            <a:alpha val="5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900" b="0" i="1" kern="0" dirty="0" smtClean="0">
                                      <a:ln>
                                        <a:solidFill>
                                          <a:schemeClr val="tx1">
                                            <a:alpha val="5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𝑜𝑏</m:t>
                                  </m:r>
                                  <m:sSub>
                                    <m:sSubPr>
                                      <m:ctrlPr>
                                        <a:rPr lang="en-US" altLang="ko-KR" sz="900" b="0" i="1" kern="0" dirty="0" smtClean="0">
                                          <a:ln>
                                            <a:solidFill>
                                              <a:schemeClr val="tx1">
                                                <a:alpha val="5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900" b="0" i="1" kern="0" dirty="0" smtClean="0">
                                          <a:ln>
                                            <a:solidFill>
                                              <a:schemeClr val="tx1">
                                                <a:alpha val="5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altLang="ko-KR" sz="900" b="0" i="1" kern="0" dirty="0" smtClean="0">
                                          <a:ln>
                                            <a:solidFill>
                                              <a:schemeClr val="tx1">
                                                <a:alpha val="5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  <m:r>
                                    <a:rPr lang="en-US" altLang="ko-KR" sz="900" b="0" i="1" kern="0" dirty="0" smtClean="0">
                                      <a:ln>
                                        <a:solidFill>
                                          <a:schemeClr val="tx1">
                                            <a:alpha val="5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−</m:t>
                                  </m:r>
                                  <m:r>
                                    <a:rPr lang="en-US" altLang="ko-KR" sz="900" b="0" i="1" kern="0" dirty="0" smtClean="0">
                                      <a:ln>
                                        <a:solidFill>
                                          <a:schemeClr val="tx1">
                                            <a:alpha val="5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𝑒𝑔</m:t>
                                  </m:r>
                                  <m:sSub>
                                    <m:sSubPr>
                                      <m:ctrlPr>
                                        <a:rPr lang="en-US" altLang="ko-KR" sz="900" b="0" i="1" kern="0" dirty="0" smtClean="0">
                                          <a:ln>
                                            <a:solidFill>
                                              <a:schemeClr val="tx1">
                                                <a:alpha val="5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900" b="0" i="1" kern="0" dirty="0" smtClean="0">
                                          <a:ln>
                                            <a:solidFill>
                                              <a:schemeClr val="tx1">
                                                <a:alpha val="5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𝑜</m:t>
                                      </m:r>
                                    </m:e>
                                    <m:sub>
                                      <m:r>
                                        <a:rPr lang="en-US" altLang="ko-KR" sz="900" b="0" i="1" kern="0" dirty="0" smtClean="0">
                                          <a:ln>
                                            <a:solidFill>
                                              <a:schemeClr val="tx1">
                                                <a:alpha val="5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altLang="ko-KR" sz="900" b="0" i="1" kern="0" dirty="0" smtClean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ko-KR" sz="900" b="0" i="1" kern="0" dirty="0" smtClea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ko-KR" sz="900" b="0" i="1" kern="0" dirty="0" smtClean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ko-KR" sz="900" b="0" i="1" kern="0" dirty="0" smtClean="0">
                                      <a:ln>
                                        <a:solidFill>
                                          <a:schemeClr val="tx1">
                                            <a:alpha val="5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900" b="0" i="1" kern="0" dirty="0" smtClean="0">
                                      <a:ln>
                                        <a:solidFill>
                                          <a:schemeClr val="tx1">
                                            <a:alpha val="5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𝑜𝑏</m:t>
                                  </m:r>
                                  <m:sSub>
                                    <m:sSubPr>
                                      <m:ctrlPr>
                                        <a:rPr lang="en-US" altLang="ko-KR" sz="900" b="0" i="1" kern="0" dirty="0" smtClean="0">
                                          <a:ln>
                                            <a:solidFill>
                                              <a:schemeClr val="tx1">
                                                <a:alpha val="5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900" b="0" i="1" kern="0" dirty="0" smtClean="0">
                                          <a:ln>
                                            <a:solidFill>
                                              <a:schemeClr val="tx1">
                                                <a:alpha val="5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altLang="ko-KR" sz="900" b="0" i="1" kern="0" dirty="0" smtClean="0">
                                          <a:ln>
                                            <a:solidFill>
                                              <a:schemeClr val="tx1">
                                                <a:alpha val="5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𝑦</m:t>
                                      </m:r>
                                    </m:sub>
                                  </m:sSub>
                                  <m:r>
                                    <a:rPr lang="en-US" altLang="ko-KR" sz="900" b="0" i="1" kern="0" dirty="0" smtClean="0">
                                      <a:ln>
                                        <a:solidFill>
                                          <a:schemeClr val="tx1">
                                            <a:alpha val="5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−</m:t>
                                  </m:r>
                                  <m:r>
                                    <a:rPr lang="en-US" altLang="ko-KR" sz="900" b="0" i="1" kern="0" dirty="0" smtClean="0">
                                      <a:ln>
                                        <a:solidFill>
                                          <a:schemeClr val="tx1">
                                            <a:alpha val="5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𝑒𝑔</m:t>
                                  </m:r>
                                  <m:sSub>
                                    <m:sSubPr>
                                      <m:ctrlPr>
                                        <a:rPr lang="en-US" altLang="ko-KR" sz="900" b="0" i="1" kern="0" dirty="0" smtClean="0">
                                          <a:ln>
                                            <a:solidFill>
                                              <a:schemeClr val="tx1">
                                                <a:alpha val="5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900" b="0" i="1" kern="0" dirty="0" smtClean="0">
                                          <a:ln>
                                            <a:solidFill>
                                              <a:schemeClr val="tx1">
                                                <a:alpha val="5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𝑜</m:t>
                                      </m:r>
                                    </m:e>
                                    <m:sub>
                                      <m:r>
                                        <a:rPr lang="en-US" altLang="ko-KR" sz="900" b="0" i="1" kern="0" dirty="0" smtClean="0">
                                          <a:ln>
                                            <a:solidFill>
                                              <a:schemeClr val="tx1">
                                                <a:alpha val="5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𝑦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altLang="ko-KR" sz="900" b="0" i="1" kern="0" dirty="0" smtClean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n-US" altLang="ko-KR" sz="900" b="0" i="1" kern="0" dirty="0" smtClean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 </m:t>
                      </m:r>
                    </m:oMath>
                  </m:oMathPara>
                </a14:m>
                <a:endParaRPr lang="en-US" altLang="ko-KR" sz="900" b="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120000"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900" b="0" i="1" kern="0" smtClean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altLang="ko-KR" sz="900" i="1" kern="0" smtClea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ko-KR" sz="900" i="1" kern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900" i="1" kern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𝑐𝑜𝑛𝑓𝑖𝑑𝑒𝑛𝑐𝑒</m:t>
                              </m:r>
                            </m:e>
                            <m:sub>
                              <m:r>
                                <a:rPr lang="en-US" altLang="ko-KR" sz="900" i="1" kern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𝑑</m:t>
                              </m:r>
                            </m:sub>
                          </m:sSub>
                        </m:e>
                        <m:sub>
                          <m:r>
                            <a:rPr lang="en-US" altLang="ko-KR" sz="900" i="1" kern="0" smtClea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𝑒𝑔𝑜</m:t>
                          </m:r>
                        </m:sub>
                      </m:sSub>
                      <m:r>
                        <a:rPr lang="en-US" altLang="ko-KR" sz="900" i="1" kern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altLang="ko-KR" sz="900" i="1" kern="0" smtClean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1</m:t>
                      </m:r>
                      <m:r>
                        <a:rPr lang="en-US" altLang="ko-KR" sz="900" b="0" i="1" kern="0" smtClean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n-US" altLang="ko-KR" sz="900" i="1" kern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−</m:t>
                      </m:r>
                      <m:r>
                        <a:rPr lang="en-US" altLang="ko-KR" sz="900" b="0" i="1" kern="0" smtClean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f>
                        <m:fPr>
                          <m:ctrlPr>
                            <a:rPr lang="en-US" altLang="ko-KR" sz="900" i="1" kern="0" dirty="0" smtClea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US" altLang="ko-KR" sz="900" b="0" i="1" kern="0" smtClea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altLang="ko-KR" sz="900" i="1" kern="0" smtClean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900" i="1" kern="0" smtClean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altLang="ko-KR" sz="900" i="1" kern="0" smtClean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𝑒𝑔𝑜</m:t>
                              </m:r>
                            </m:sub>
                          </m:sSub>
                        </m:num>
                        <m:den>
                          <m:r>
                            <a:rPr lang="ko-KR" altLang="en-US" sz="900" i="1" kern="0" dirty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𝐸𝐺</m:t>
                          </m:r>
                          <m:sSub>
                            <m:sSubPr>
                              <m:ctrlPr>
                                <a:rPr lang="en-US" altLang="ko-KR" sz="900" i="1" kern="0" dirty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900" i="1" kern="0" dirty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ko-KR" altLang="en-US" sz="900" i="1" kern="0" dirty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𝑇𝐻𝑅𝐸𝑆𝐻𝑂𝐿𝐷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ko-KR" sz="900" i="1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120000"/>
                  <a:defRPr/>
                </a:pPr>
                <a:r>
                  <a:rPr lang="en-US" altLang="ko-KR" sz="900" b="1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solidFill>
                      <a:srgbClr val="C00000"/>
                    </a:solidFill>
                    <a:latin typeface="+mn-ea"/>
                    <a:cs typeface="Arial" panose="020B0604020202020204" pitchFamily="34" charset="0"/>
                  </a:rPr>
                  <a:t>ii) </a:t>
                </a:r>
                <a:r>
                  <a:rPr lang="ko-KR" altLang="en-US" sz="900" b="1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solidFill>
                      <a:srgbClr val="C00000"/>
                    </a:solidFill>
                    <a:latin typeface="+mn-ea"/>
                    <a:cs typeface="Arial" panose="020B0604020202020204" pitchFamily="34" charset="0"/>
                  </a:rPr>
                  <a:t>장애물 </a:t>
                </a:r>
                <a:r>
                  <a:rPr lang="en-US" altLang="ko-KR" sz="900" b="1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solidFill>
                      <a:srgbClr val="C00000"/>
                    </a:solidFill>
                    <a:latin typeface="+mn-ea"/>
                    <a:cs typeface="Arial" panose="020B0604020202020204" pitchFamily="34" charset="0"/>
                  </a:rPr>
                  <a:t>– </a:t>
                </a:r>
                <a:r>
                  <a:rPr lang="ko-KR" altLang="en-US" sz="900" b="1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solidFill>
                      <a:srgbClr val="C00000"/>
                    </a:solidFill>
                    <a:latin typeface="+mn-ea"/>
                    <a:cs typeface="Arial" panose="020B0604020202020204" pitchFamily="34" charset="0"/>
                  </a:rPr>
                  <a:t>작업지점</a:t>
                </a:r>
                <a:r>
                  <a:rPr lang="en-US" altLang="ko-KR" sz="900" b="1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solidFill>
                      <a:srgbClr val="C00000"/>
                    </a:solidFill>
                    <a:latin typeface="+mn-ea"/>
                    <a:cs typeface="Arial" panose="020B0604020202020204" pitchFamily="34" charset="0"/>
                  </a:rPr>
                  <a:t> </a:t>
                </a:r>
                <a:r>
                  <a:rPr lang="ko-KR" altLang="en-US" sz="900" b="1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solidFill>
                      <a:srgbClr val="C00000"/>
                    </a:solidFill>
                    <a:latin typeface="+mn-ea"/>
                    <a:cs typeface="Arial" panose="020B0604020202020204" pitchFamily="34" charset="0"/>
                  </a:rPr>
                  <a:t>거리</a:t>
                </a:r>
                <a:endParaRPr lang="en-US" altLang="ko-KR" sz="900" b="1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rgbClr val="C00000"/>
                  </a:solidFill>
                  <a:latin typeface="+mn-ea"/>
                  <a:cs typeface="Arial" panose="020B0604020202020204" pitchFamily="34" charset="0"/>
                </a:endParaRP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120000"/>
                  <a:defRPr/>
                </a:pPr>
                <a:r>
                  <a:rPr lang="ko-KR" altLang="en-US" sz="9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해당 장애물의 좌표 </a:t>
                </a:r>
                <a:r>
                  <a:rPr lang="en-US" altLang="ko-KR" sz="9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900" i="1" kern="0" dirty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𝑜𝑏</m:t>
                    </m:r>
                    <m:sSub>
                      <m:sSubPr>
                        <m:ctrlPr>
                          <a:rPr lang="en-US" altLang="ko-KR" sz="900" i="1" kern="0" dirty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900" i="1" kern="0" dirty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𝑠</m:t>
                        </m:r>
                      </m:e>
                      <m:sub>
                        <m:r>
                          <a:rPr lang="en-US" altLang="ko-KR" sz="900" i="1" kern="0" dirty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sub>
                    </m:sSub>
                    <m:r>
                      <a:rPr lang="en-US" altLang="ko-KR" sz="900" i="1" kern="0" dirty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US" altLang="ko-KR" sz="900" b="0" i="1" kern="0" dirty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</m:t>
                    </m:r>
                    <m:r>
                      <a:rPr lang="en-US" altLang="ko-KR" sz="900" b="0" i="1" kern="0" dirty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𝑜𝑏</m:t>
                    </m:r>
                    <m:sSub>
                      <m:sSubPr>
                        <m:ctrlPr>
                          <a:rPr lang="en-US" altLang="ko-KR" sz="900" b="0" i="1" kern="0" dirty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900" b="0" i="1" kern="0" dirty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𝑠</m:t>
                        </m:r>
                      </m:e>
                      <m:sub>
                        <m:r>
                          <a:rPr lang="en-US" altLang="ko-KR" sz="900" b="0" i="1" kern="0" dirty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altLang="ko-KR" sz="9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)</a:t>
                </a:r>
                <a:r>
                  <a:rPr lang="ko-KR" altLang="en-US" sz="9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와 작업지점 좌표</a:t>
                </a:r>
                <a:r>
                  <a:rPr lang="en-US" altLang="ko-KR" sz="9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900" i="1" kern="0" dirty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𝑔𝑜𝑎</m:t>
                    </m:r>
                    <m:sSub>
                      <m:sSubPr>
                        <m:ctrlPr>
                          <a:rPr lang="en-US" altLang="ko-KR" sz="900" i="1" kern="0" dirty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900" i="1" kern="0" dirty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𝑙</m:t>
                        </m:r>
                      </m:e>
                      <m:sub>
                        <m:r>
                          <a:rPr lang="en-US" altLang="ko-KR" sz="900" i="1" kern="0" dirty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sub>
                    </m:sSub>
                    <m:r>
                      <a:rPr lang="en-US" altLang="ko-KR" sz="900" b="0" i="1" kern="0" dirty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 </m:t>
                    </m:r>
                    <m:r>
                      <a:rPr lang="en-US" altLang="ko-KR" sz="900" b="0" i="1" kern="0" dirty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𝑔𝑜𝑎</m:t>
                    </m:r>
                    <m:sSub>
                      <m:sSubPr>
                        <m:ctrlPr>
                          <a:rPr lang="en-US" altLang="ko-KR" sz="900" b="0" i="1" kern="0" dirty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900" b="0" i="1" kern="0" dirty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𝑙</m:t>
                        </m:r>
                      </m:e>
                      <m:sub>
                        <m:r>
                          <a:rPr lang="en-US" altLang="ko-KR" sz="900" b="0" i="1" kern="0" dirty="0" smtClean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𝑦</m:t>
                        </m:r>
                      </m:sub>
                    </m:sSub>
                    <m:r>
                      <a:rPr lang="en-US" altLang="ko-KR" sz="900" b="0" i="1" kern="0" dirty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ko-KR" altLang="en-US" sz="9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에 대해 </a:t>
                </a:r>
                <a:endParaRPr lang="en-US" altLang="ko-KR" sz="90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120000"/>
                  <a:defRPr/>
                </a:pPr>
                <a14:m>
                  <m:oMath xmlns:m="http://schemas.openxmlformats.org/officeDocument/2006/math">
                    <m:r>
                      <a:rPr lang="ko-KR" altLang="en-US" sz="900" i="1" kern="0" dirty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𝐺𝑂𝐴</m:t>
                    </m:r>
                    <m:sSub>
                      <m:sSubPr>
                        <m:ctrlPr>
                          <a:rPr lang="en-US" altLang="ko-KR" sz="900" i="1" kern="0" dirty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ko-KR" altLang="en-US" sz="900" i="1" kern="0" dirty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𝐿</m:t>
                        </m:r>
                      </m:e>
                      <m:sub>
                        <m:r>
                          <a:rPr lang="ko-KR" altLang="en-US" sz="900" i="1" kern="0" dirty="0">
                            <a:ln>
                              <a:solidFill>
                                <a:schemeClr val="tx1">
                                  <a:alpha val="5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𝑅𝐴𝐷𝐼𝑈𝑆</m:t>
                        </m:r>
                      </m:sub>
                    </m:sSub>
                  </m:oMath>
                </a14:m>
                <a:r>
                  <a:rPr lang="ko-KR" altLang="en-US" sz="9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 </a:t>
                </a:r>
                <a:r>
                  <a:rPr lang="en-US" altLang="ko-KR" sz="9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(30m) </a:t>
                </a:r>
                <a:r>
                  <a:rPr lang="ko-KR" altLang="en-US" sz="9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에서 </a:t>
                </a:r>
                <a:r>
                  <a:rPr lang="en-US" altLang="ko-KR" sz="9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0, </a:t>
                </a:r>
                <a:r>
                  <a:rPr lang="ko-KR" altLang="en-US" sz="9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가까울수록 </a:t>
                </a:r>
                <a:r>
                  <a:rPr lang="en-US" altLang="ko-KR" sz="9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1</a:t>
                </a:r>
                <a:r>
                  <a:rPr lang="ko-KR" altLang="en-US" sz="9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의 </a:t>
                </a:r>
                <a:r>
                  <a:rPr lang="en-US" altLang="ko-KR" sz="9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confidence </a:t>
                </a:r>
                <a:r>
                  <a:rPr lang="ko-KR" altLang="en-US" sz="9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를 가진다</a:t>
                </a:r>
                <a:endParaRPr lang="en-US" altLang="ko-KR" sz="90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120000"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900" i="1" kern="0" dirty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ko-KR" sz="900" i="1" kern="0" dirty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𝑑</m:t>
                          </m:r>
                        </m:e>
                        <m:sub>
                          <m:r>
                            <a:rPr lang="en-US" altLang="ko-KR" sz="900" b="0" i="1" kern="0" dirty="0" smtClea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𝑔𝑜𝑎𝑙</m:t>
                          </m:r>
                        </m:sub>
                      </m:sSub>
                      <m:r>
                        <a:rPr lang="en-US" altLang="ko-KR" sz="900" i="1" kern="0" dirty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en-US" altLang="ko-KR" sz="900" i="1" kern="0" dirty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altLang="ko-KR" sz="900" i="1" kern="0" dirty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ko-KR" sz="900" i="1" kern="0" dirty="0">
                                      <a:ln>
                                        <a:solidFill>
                                          <a:schemeClr val="tx1">
                                            <a:alpha val="5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900" i="1" kern="0" dirty="0">
                                      <a:ln>
                                        <a:solidFill>
                                          <a:schemeClr val="tx1">
                                            <a:alpha val="5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𝑜𝑏</m:t>
                                  </m:r>
                                  <m:sSub>
                                    <m:sSubPr>
                                      <m:ctrlPr>
                                        <a:rPr lang="en-US" altLang="ko-KR" sz="900" i="1" kern="0" dirty="0">
                                          <a:ln>
                                            <a:solidFill>
                                              <a:schemeClr val="tx1">
                                                <a:alpha val="5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900" i="1" kern="0" dirty="0">
                                          <a:ln>
                                            <a:solidFill>
                                              <a:schemeClr val="tx1">
                                                <a:alpha val="5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altLang="ko-KR" sz="900" i="1" kern="0" dirty="0">
                                          <a:ln>
                                            <a:solidFill>
                                              <a:schemeClr val="tx1">
                                                <a:alpha val="5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  <m:r>
                                    <a:rPr lang="en-US" altLang="ko-KR" sz="900" i="1" kern="0" dirty="0">
                                      <a:ln>
                                        <a:solidFill>
                                          <a:schemeClr val="tx1">
                                            <a:alpha val="5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−</m:t>
                                  </m:r>
                                  <m:r>
                                    <a:rPr lang="en-US" altLang="ko-KR" sz="900" b="0" i="1" kern="0" dirty="0" smtClean="0">
                                      <a:ln>
                                        <a:solidFill>
                                          <a:schemeClr val="tx1">
                                            <a:alpha val="5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𝑔𝑜𝑎</m:t>
                                  </m:r>
                                  <m:sSub>
                                    <m:sSubPr>
                                      <m:ctrlPr>
                                        <a:rPr lang="en-US" altLang="ko-KR" sz="900" b="0" i="1" kern="0" dirty="0" smtClean="0">
                                          <a:ln>
                                            <a:solidFill>
                                              <a:schemeClr val="tx1">
                                                <a:alpha val="5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900" b="0" i="1" kern="0" dirty="0" smtClean="0">
                                          <a:ln>
                                            <a:solidFill>
                                              <a:schemeClr val="tx1">
                                                <a:alpha val="5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𝑙</m:t>
                                      </m:r>
                                    </m:e>
                                    <m:sub>
                                      <m:r>
                                        <a:rPr lang="en-US" altLang="ko-KR" sz="900" b="0" i="1" kern="0" dirty="0" smtClean="0">
                                          <a:ln>
                                            <a:solidFill>
                                              <a:schemeClr val="tx1">
                                                <a:alpha val="5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altLang="ko-KR" sz="900" i="1" kern="0" dirty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ko-KR" sz="900" i="1" kern="0" dirty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ko-KR" sz="900" i="1" kern="0" dirty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ko-KR" sz="900" i="1" kern="0" dirty="0">
                                      <a:ln>
                                        <a:solidFill>
                                          <a:schemeClr val="tx1">
                                            <a:alpha val="5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900" i="1" kern="0" dirty="0">
                                      <a:ln>
                                        <a:solidFill>
                                          <a:schemeClr val="tx1">
                                            <a:alpha val="5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𝑜𝑏</m:t>
                                  </m:r>
                                  <m:sSub>
                                    <m:sSubPr>
                                      <m:ctrlPr>
                                        <a:rPr lang="en-US" altLang="ko-KR" sz="900" i="1" kern="0" dirty="0">
                                          <a:ln>
                                            <a:solidFill>
                                              <a:schemeClr val="tx1">
                                                <a:alpha val="5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900" i="1" kern="0" dirty="0">
                                          <a:ln>
                                            <a:solidFill>
                                              <a:schemeClr val="tx1">
                                                <a:alpha val="5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altLang="ko-KR" sz="900" i="1" kern="0" dirty="0">
                                          <a:ln>
                                            <a:solidFill>
                                              <a:schemeClr val="tx1">
                                                <a:alpha val="5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𝑦</m:t>
                                      </m:r>
                                    </m:sub>
                                  </m:sSub>
                                  <m:r>
                                    <a:rPr lang="en-US" altLang="ko-KR" sz="900" i="1" kern="0" dirty="0">
                                      <a:ln>
                                        <a:solidFill>
                                          <a:schemeClr val="tx1">
                                            <a:alpha val="5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−</m:t>
                                  </m:r>
                                  <m:r>
                                    <a:rPr lang="en-US" altLang="ko-KR" sz="900" b="0" i="1" kern="0" dirty="0" smtClean="0">
                                      <a:ln>
                                        <a:solidFill>
                                          <a:schemeClr val="tx1">
                                            <a:alpha val="5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𝑔𝑜𝑎</m:t>
                                  </m:r>
                                  <m:sSub>
                                    <m:sSubPr>
                                      <m:ctrlPr>
                                        <a:rPr lang="en-US" altLang="ko-KR" sz="900" b="0" i="1" kern="0" dirty="0" smtClean="0">
                                          <a:ln>
                                            <a:solidFill>
                                              <a:schemeClr val="tx1">
                                                <a:alpha val="5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900" b="0" i="1" kern="0" dirty="0" smtClean="0">
                                          <a:ln>
                                            <a:solidFill>
                                              <a:schemeClr val="tx1">
                                                <a:alpha val="5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𝑙</m:t>
                                      </m:r>
                                    </m:e>
                                    <m:sub>
                                      <m:r>
                                        <a:rPr lang="en-US" altLang="ko-KR" sz="900" b="0" i="1" kern="0" dirty="0" smtClean="0">
                                          <a:ln>
                                            <a:solidFill>
                                              <a:schemeClr val="tx1">
                                                <a:alpha val="5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𝑦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altLang="ko-KR" sz="900" i="1" kern="0" dirty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n-US" altLang="ko-KR" sz="900" i="1" kern="0" dirty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  </m:t>
                      </m:r>
                    </m:oMath>
                  </m:oMathPara>
                </a14:m>
                <a:endParaRPr lang="en-US" altLang="ko-KR" sz="900" i="1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120000"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900" i="1" ker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ko-KR" sz="900" i="1" kern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900" i="1" kern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𝑐𝑜𝑛𝑓𝑖𝑑𝑒𝑛𝑐𝑒</m:t>
                              </m:r>
                            </m:e>
                            <m:sub>
                              <m:r>
                                <a:rPr lang="en-US" altLang="ko-KR" sz="900" i="1" kern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𝑑</m:t>
                              </m:r>
                            </m:sub>
                          </m:sSub>
                        </m:e>
                        <m:sub>
                          <m:r>
                            <a:rPr lang="en-US" altLang="ko-KR" sz="900" i="1" ker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𝑔𝑜𝑎𝑙</m:t>
                          </m:r>
                        </m:sub>
                      </m:sSub>
                      <m:r>
                        <a:rPr lang="en-US" altLang="ko-KR" sz="900" i="1" kern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=1</m:t>
                      </m:r>
                      <m:r>
                        <a:rPr lang="en-US" altLang="ko-KR" sz="900" b="0" i="1" kern="0" smtClean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n-US" altLang="ko-KR" sz="900" i="1" kern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−</m:t>
                      </m:r>
                      <m:r>
                        <a:rPr lang="en-US" altLang="ko-KR" sz="900" b="0" i="1" kern="0" smtClean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f>
                        <m:fPr>
                          <m:ctrlPr>
                            <a:rPr lang="en-US" altLang="ko-KR" sz="900" i="1" kern="0" dirty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ko-KR" sz="900" i="1" kern="0" dirty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900" i="1" kern="0" dirty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altLang="ko-KR" sz="900" i="1" kern="0" dirty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𝑔𝑜𝑎𝑙</m:t>
                              </m:r>
                            </m:sub>
                          </m:sSub>
                        </m:num>
                        <m:den>
                          <m:r>
                            <a:rPr lang="ko-KR" altLang="en-US" sz="900" i="1" kern="0" dirty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𝐺𝑂𝐴</m:t>
                          </m:r>
                          <m:sSub>
                            <m:sSubPr>
                              <m:ctrlPr>
                                <a:rPr lang="en-US" altLang="ko-KR" sz="900" i="1" kern="0" dirty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900" i="1" kern="0" dirty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ko-KR" altLang="en-US" sz="900" i="1" kern="0" dirty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𝑅𝐴𝐷𝐼𝑈𝑆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ko-KR" sz="900" i="1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120000"/>
                  <a:defRPr/>
                </a:pPr>
                <a:r>
                  <a:rPr lang="en-US" altLang="ko-KR" sz="900" b="1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solidFill>
                      <a:srgbClr val="C00000"/>
                    </a:solidFill>
                    <a:latin typeface="+mn-ea"/>
                    <a:cs typeface="Arial" panose="020B0604020202020204" pitchFamily="34" charset="0"/>
                  </a:rPr>
                  <a:t>iii) </a:t>
                </a:r>
                <a:r>
                  <a:rPr lang="ko-KR" altLang="en-US" sz="900" b="1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solidFill>
                      <a:srgbClr val="C00000"/>
                    </a:solidFill>
                    <a:latin typeface="+mn-ea"/>
                    <a:cs typeface="Arial" panose="020B0604020202020204" pitchFamily="34" charset="0"/>
                  </a:rPr>
                  <a:t>장애물 정지 지속시간</a:t>
                </a:r>
                <a:endParaRPr lang="en-US" altLang="ko-KR" sz="900" b="1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rgbClr val="C00000"/>
                  </a:solidFill>
                  <a:latin typeface="+mn-ea"/>
                  <a:cs typeface="Arial" panose="020B0604020202020204" pitchFamily="34" charset="0"/>
                </a:endParaRP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120000"/>
                  <a:defRPr/>
                </a:pPr>
                <a:r>
                  <a:rPr lang="ko-KR" altLang="en-US" sz="9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해당 장애물의 </a:t>
                </a:r>
                <a:r>
                  <a:rPr lang="en-US" altLang="ko-KR" sz="9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STOP_COUNT </a:t>
                </a:r>
                <a:r>
                  <a:rPr lang="ko-KR" altLang="en-US" sz="9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가</a:t>
                </a:r>
                <a14:m>
                  <m:oMath xmlns:m="http://schemas.openxmlformats.org/officeDocument/2006/math">
                    <m:r>
                      <a:rPr lang="en-US" altLang="ko-KR" sz="900" b="0" i="0" kern="0" dirty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 </m:t>
                    </m:r>
                    <m:r>
                      <a:rPr lang="ko-KR" altLang="en-US" sz="900" i="1" kern="0" dirty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클</m:t>
                    </m:r>
                  </m:oMath>
                </a14:m>
                <a:r>
                  <a:rPr lang="ko-KR" altLang="en-US" sz="9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수록 </a:t>
                </a:r>
                <a:r>
                  <a:rPr lang="en-US" altLang="ko-KR" sz="9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1</a:t>
                </a:r>
                <a:r>
                  <a:rPr lang="ko-KR" altLang="en-US" sz="9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n-ea"/>
                    <a:cs typeface="Arial" panose="020B0604020202020204" pitchFamily="34" charset="0"/>
                  </a:rPr>
                  <a:t>에 가까워 진다  </a:t>
                </a:r>
                <a:endParaRPr lang="en-US" altLang="ko-KR" sz="90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120000"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900" i="1" kern="0" dirty="0" smtClea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ko-KR" sz="900" i="1" kern="0" dirty="0" smtClea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𝑐𝑜𝑛𝑓𝑖𝑑𝑒𝑛𝑐𝑒</m:t>
                          </m:r>
                        </m:e>
                        <m:sub>
                          <m:r>
                            <a:rPr lang="en-US" altLang="ko-KR" sz="900" b="0" i="1" kern="0" dirty="0" smtClea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𝑠𝑡𝑜𝑝</m:t>
                          </m:r>
                        </m:sub>
                      </m:sSub>
                      <m:r>
                        <a:rPr lang="en-US" altLang="ko-KR" sz="900" i="1" kern="0" dirty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900" i="1" kern="0" dirty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US" altLang="ko-KR" sz="900" b="0" i="1" kern="0" dirty="0" smtClea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𝑠𝑡𝑜𝑝</m:t>
                          </m:r>
                          <m:r>
                            <a:rPr lang="en-US" altLang="ko-KR" sz="900" b="0" i="1" kern="0" dirty="0" smtClea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_</m:t>
                          </m:r>
                          <m:r>
                            <a:rPr lang="en-US" altLang="ko-KR" sz="900" b="0" i="1" kern="0" dirty="0" smtClea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𝑐𝑜𝑢𝑛𝑡</m:t>
                          </m:r>
                          <m:r>
                            <a:rPr lang="en-US" altLang="ko-KR" sz="900" i="1" ker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r>
                            <a:rPr lang="en-US" altLang="ko-KR" sz="900" b="0" i="1" kern="0" dirty="0" smtClea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𝑆𝑇𝑂</m:t>
                          </m:r>
                          <m:sSub>
                            <m:sSubPr>
                              <m:ctrlPr>
                                <a:rPr lang="en-US" altLang="ko-KR" sz="900" b="0" i="1" kern="0" dirty="0" smtClean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900" b="0" i="1" kern="0" dirty="0" smtClean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ko-KR" sz="900" b="0" i="1" kern="0" dirty="0" smtClean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𝑀𝐼𝑁</m:t>
                              </m:r>
                            </m:sub>
                          </m:sSub>
                        </m:num>
                        <m:den>
                          <m:r>
                            <a:rPr lang="en-US" altLang="ko-KR" sz="900" b="0" i="1" kern="0" dirty="0" smtClea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𝑆𝑇𝑂</m:t>
                          </m:r>
                          <m:sSub>
                            <m:sSubPr>
                              <m:ctrlPr>
                                <a:rPr lang="en-US" altLang="ko-KR" sz="900" b="0" i="1" kern="0" dirty="0" smtClean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900" b="0" i="1" kern="0" dirty="0" smtClean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ko-KR" sz="900" b="0" i="1" kern="0" dirty="0" smtClean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𝑀𝐴𝑋</m:t>
                              </m:r>
                            </m:sub>
                          </m:sSub>
                          <m:r>
                            <a:rPr lang="en-US" altLang="ko-KR" sz="900" i="1" ker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r>
                            <a:rPr lang="en-US" altLang="ko-KR" sz="900" b="0" i="1" kern="0" smtClea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𝑆𝑇𝑂</m:t>
                          </m:r>
                          <m:sSub>
                            <m:sSubPr>
                              <m:ctrlPr>
                                <a:rPr lang="en-US" altLang="ko-KR" sz="900" b="0" i="1" kern="0" smtClean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900" b="0" i="1" kern="0" smtClean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ko-KR" sz="900" b="0" i="1" kern="0" smtClean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𝑀𝐼𝑁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ko-KR" sz="900" i="1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직사각형 3">
                <a:extLst>
                  <a:ext uri="{FF2B5EF4-FFF2-40B4-BE49-F238E27FC236}">
                    <a16:creationId xmlns:a16="http://schemas.microsoft.com/office/drawing/2014/main" id="{B72FA6A4-E0E2-906A-DF0B-CD51D4B733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122" y="731895"/>
                <a:ext cx="6203118" cy="555055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직사각형 4">
                <a:extLst>
                  <a:ext uri="{FF2B5EF4-FFF2-40B4-BE49-F238E27FC236}">
                    <a16:creationId xmlns:a16="http://schemas.microsoft.com/office/drawing/2014/main" id="{CD5AC31F-33E4-9F52-782C-894869D30332}"/>
                  </a:ext>
                </a:extLst>
              </p:cNvPr>
              <p:cNvSpPr/>
              <p:nvPr/>
            </p:nvSpPr>
            <p:spPr>
              <a:xfrm>
                <a:off x="6128861" y="774750"/>
                <a:ext cx="3488017" cy="1361206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120000"/>
                  <a:defRPr/>
                </a:pPr>
                <a14:m>
                  <m:oMath xmlns:m="http://schemas.openxmlformats.org/officeDocument/2006/math">
                    <m:r>
                      <a:rPr lang="ko-KR" altLang="en-US" sz="900" b="0" i="1" kern="0" dirty="0" smtClean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모든</m:t>
                    </m:r>
                  </m:oMath>
                </a14:m>
                <a:r>
                  <a:rPr lang="en-US" altLang="ko-KR" sz="9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solidFill>
                      <a:srgbClr val="C00000"/>
                    </a:solidFill>
                    <a:latin typeface="+mn-ea"/>
                    <a:cs typeface="Arial" panose="020B0604020202020204" pitchFamily="34" charset="0"/>
                  </a:rPr>
                  <a:t> confidence </a:t>
                </a:r>
                <a:r>
                  <a:rPr lang="ko-KR" altLang="en-US" sz="9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solidFill>
                      <a:srgbClr val="C00000"/>
                    </a:solidFill>
                    <a:latin typeface="+mn-ea"/>
                    <a:cs typeface="Arial" panose="020B0604020202020204" pitchFamily="34" charset="0"/>
                  </a:rPr>
                  <a:t>는 </a:t>
                </a:r>
                <a:r>
                  <a:rPr lang="en-US" altLang="ko-KR" sz="9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solidFill>
                      <a:srgbClr val="C00000"/>
                    </a:solidFill>
                    <a:latin typeface="+mn-ea"/>
                    <a:cs typeface="Arial" panose="020B0604020202020204" pitchFamily="34" charset="0"/>
                  </a:rPr>
                  <a:t>clamp </a:t>
                </a:r>
                <a:r>
                  <a:rPr lang="ko-KR" altLang="en-US" sz="9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solidFill>
                      <a:srgbClr val="C00000"/>
                    </a:solidFill>
                    <a:latin typeface="+mn-ea"/>
                    <a:cs typeface="Arial" panose="020B0604020202020204" pitchFamily="34" charset="0"/>
                  </a:rPr>
                  <a:t>함수를 사용해 </a:t>
                </a:r>
                <a:r>
                  <a:rPr lang="en-US" altLang="ko-KR" sz="9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solidFill>
                      <a:srgbClr val="C00000"/>
                    </a:solidFill>
                    <a:latin typeface="+mn-ea"/>
                    <a:cs typeface="Arial" panose="020B0604020202020204" pitchFamily="34" charset="0"/>
                  </a:rPr>
                  <a:t>0 – 1 </a:t>
                </a:r>
                <a:r>
                  <a:rPr lang="ko-KR" altLang="en-US" sz="9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solidFill>
                      <a:srgbClr val="C00000"/>
                    </a:solidFill>
                    <a:latin typeface="+mn-ea"/>
                    <a:cs typeface="Arial" panose="020B0604020202020204" pitchFamily="34" charset="0"/>
                  </a:rPr>
                  <a:t>의 값을 가지도록 함</a:t>
                </a:r>
                <a:endParaRPr lang="en-US" altLang="ko-KR" sz="90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rgbClr val="C00000"/>
                  </a:solidFill>
                  <a:latin typeface="+mn-ea"/>
                  <a:cs typeface="Arial" panose="020B0604020202020204" pitchFamily="34" charset="0"/>
                </a:endParaRP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120000"/>
                  <a:defRPr/>
                </a:pPr>
                <a:r>
                  <a:rPr lang="ko-KR" altLang="en-US" sz="9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solidFill>
                      <a:srgbClr val="C00000"/>
                    </a:solidFill>
                    <a:latin typeface="+mn-ea"/>
                    <a:cs typeface="Arial" panose="020B0604020202020204" pitchFamily="34" charset="0"/>
                  </a:rPr>
                  <a:t>값이 </a:t>
                </a:r>
                <a:r>
                  <a:rPr lang="en-US" altLang="ko-KR" sz="9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solidFill>
                      <a:srgbClr val="C00000"/>
                    </a:solidFill>
                    <a:latin typeface="+mn-ea"/>
                    <a:cs typeface="Arial" panose="020B0604020202020204" pitchFamily="34" charset="0"/>
                  </a:rPr>
                  <a:t>0</a:t>
                </a:r>
                <a:r>
                  <a:rPr lang="ko-KR" altLang="en-US" sz="9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solidFill>
                      <a:srgbClr val="C00000"/>
                    </a:solidFill>
                    <a:latin typeface="+mn-ea"/>
                    <a:cs typeface="Arial" panose="020B0604020202020204" pitchFamily="34" charset="0"/>
                  </a:rPr>
                  <a:t>에 가까울수록 위험하지 않음</a:t>
                </a:r>
                <a:endParaRPr lang="en-US" altLang="ko-KR" sz="90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rgbClr val="C00000"/>
                  </a:solidFill>
                  <a:latin typeface="+mn-ea"/>
                  <a:cs typeface="Arial" panose="020B0604020202020204" pitchFamily="34" charset="0"/>
                </a:endParaRP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120000"/>
                  <a:defRPr/>
                </a:pPr>
                <a:r>
                  <a:rPr lang="ko-KR" altLang="en-US" sz="9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solidFill>
                      <a:srgbClr val="C00000"/>
                    </a:solidFill>
                    <a:latin typeface="+mn-ea"/>
                    <a:cs typeface="Arial" panose="020B0604020202020204" pitchFamily="34" charset="0"/>
                  </a:rPr>
                  <a:t>값이 </a:t>
                </a:r>
                <a:r>
                  <a:rPr lang="en-US" altLang="ko-KR" sz="9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solidFill>
                      <a:srgbClr val="C00000"/>
                    </a:solidFill>
                    <a:latin typeface="+mn-ea"/>
                    <a:cs typeface="Arial" panose="020B0604020202020204" pitchFamily="34" charset="0"/>
                  </a:rPr>
                  <a:t>1</a:t>
                </a:r>
                <a:r>
                  <a:rPr lang="ko-KR" altLang="en-US" sz="900" kern="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solidFill>
                      <a:srgbClr val="C00000"/>
                    </a:solidFill>
                    <a:latin typeface="+mn-ea"/>
                    <a:cs typeface="Arial" panose="020B0604020202020204" pitchFamily="34" charset="0"/>
                  </a:rPr>
                  <a:t>에 가까울수록 위험함</a:t>
                </a:r>
                <a:endParaRPr lang="en-US" altLang="ko-KR" sz="900" i="1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rgbClr val="C00000"/>
                  </a:solidFill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120000"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900" i="1" kern="0" dirty="0" smtClean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𝑐𝑙𝑎𝑚𝑝</m:t>
                      </m:r>
                      <m:d>
                        <m:dPr>
                          <m:ctrlPr>
                            <a:rPr lang="en-US" altLang="ko-KR" sz="900" i="1" kern="0" dirty="0" smtClea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ko-KR" altLang="en-US" sz="900" i="1" kern="0" dirty="0" smtClea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𝛼</m:t>
                          </m:r>
                          <m:r>
                            <a:rPr lang="en-US" altLang="ko-KR" sz="900" i="1" kern="0" dirty="0" smtClea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; 0, 1</m:t>
                          </m:r>
                        </m:e>
                      </m:d>
                      <m:r>
                        <a:rPr lang="en-US" altLang="ko-KR" sz="900" i="1" kern="0" dirty="0" smtClean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ko-KR" sz="900" i="1" kern="0" dirty="0" smtClea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ko-KR" sz="900" i="1" kern="0" dirty="0" smtClean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eqArrPr>
                            <m:e>
                              <m:r>
                                <a:rPr lang="en-US" altLang="ko-KR" sz="900" i="1" kern="0" dirty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0</m:t>
                              </m:r>
                              <m:r>
                                <a:rPr lang="en-US" altLang="ko-KR" sz="900" b="0" i="1" kern="0" dirty="0" smtClean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   </m:t>
                              </m:r>
                              <m:r>
                                <m:rPr>
                                  <m:sty m:val="p"/>
                                </m:rPr>
                                <a:rPr lang="en-US" altLang="ko-KR" sz="900" i="1" kern="0" dirty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if</m:t>
                              </m:r>
                              <m:r>
                                <a:rPr lang="en-US" altLang="ko-KR" sz="900" b="0" i="1" kern="0" dirty="0" smtClean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 </m:t>
                              </m:r>
                              <m:r>
                                <a:rPr lang="ko-KR" altLang="en-US" sz="900" i="1" kern="0" dirty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𝛼</m:t>
                              </m:r>
                              <m:r>
                                <a:rPr lang="en-US" altLang="ko-KR" sz="900" i="1" kern="0" dirty="0" smtClean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&lt;</m:t>
                              </m:r>
                              <m:r>
                                <a:rPr lang="en-US" altLang="ko-KR" sz="900" i="1" kern="0" dirty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0</m:t>
                              </m:r>
                              <m:r>
                                <a:rPr lang="en-US" altLang="ko-KR" sz="900" b="0" i="1" kern="0" dirty="0" smtClean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    </m:t>
                              </m:r>
                            </m:e>
                            <m:e>
                              <m:r>
                                <a:rPr lang="en-US" altLang="ko-KR" sz="900" b="0" i="1" kern="0" dirty="0" smtClean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    </m:t>
                              </m:r>
                              <m:r>
                                <a:rPr lang="ko-KR" altLang="en-US" sz="900" i="1" kern="0" dirty="0" smtClean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𝛼</m:t>
                              </m:r>
                              <m:r>
                                <a:rPr lang="en-US" altLang="ko-KR" sz="900" b="0" i="1" kern="0" dirty="0" smtClean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   </m:t>
                              </m:r>
                              <m:r>
                                <m:rPr>
                                  <m:sty m:val="p"/>
                                </m:rPr>
                                <a:rPr lang="en-US" altLang="ko-KR" sz="900" i="1" kern="0" dirty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if</m:t>
                              </m:r>
                              <m:r>
                                <a:rPr lang="en-US" altLang="ko-KR" sz="900" b="0" i="1" kern="0" dirty="0" smtClean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 </m:t>
                              </m:r>
                              <m:r>
                                <a:rPr lang="en-US" altLang="ko-KR" sz="900" i="1" kern="0" dirty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0</m:t>
                              </m:r>
                              <m:r>
                                <a:rPr lang="en-US" altLang="ko-KR" sz="900" i="1" kern="0" dirty="0" smtClean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≤</m:t>
                              </m:r>
                              <m:r>
                                <a:rPr lang="ko-KR" altLang="en-US" sz="900" i="1" kern="0" dirty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𝛼</m:t>
                              </m:r>
                              <m:r>
                                <a:rPr lang="ko-KR" altLang="en-US" sz="900" i="1" kern="0" dirty="0" smtClean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≤</m:t>
                              </m:r>
                              <m:r>
                                <a:rPr lang="en-US" altLang="ko-KR" sz="900" i="1" kern="0" dirty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ko-KR" sz="900" i="1" kern="0" dirty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  <m:r>
                                <a:rPr lang="en-US" altLang="ko-KR" sz="900" b="0" i="1" kern="0" dirty="0" smtClean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   </m:t>
                              </m:r>
                              <m:r>
                                <m:rPr>
                                  <m:sty m:val="p"/>
                                </m:rPr>
                                <a:rPr lang="en-US" altLang="ko-KR" sz="900" i="1" kern="0" dirty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if</m:t>
                              </m:r>
                              <m:r>
                                <a:rPr lang="en-US" altLang="ko-KR" sz="900" b="0" i="1" kern="0" dirty="0" smtClean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 </m:t>
                              </m:r>
                              <m:r>
                                <a:rPr lang="ko-KR" altLang="en-US" sz="900" i="1" kern="0" dirty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𝛼</m:t>
                              </m:r>
                              <m:r>
                                <a:rPr lang="en-US" altLang="ko-KR" sz="900" i="1" kern="0" dirty="0" smtClean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&gt;</m:t>
                              </m:r>
                              <m:r>
                                <a:rPr lang="en-US" altLang="ko-KR" sz="900" i="1" kern="0" dirty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  <m:r>
                                <a:rPr lang="en-US" altLang="ko-KR" sz="900" b="0" i="1" kern="0" dirty="0" smtClean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   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altLang="ko-KR" sz="900" i="1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rgbClr val="C00000"/>
                  </a:solidFill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직사각형 4">
                <a:extLst>
                  <a:ext uri="{FF2B5EF4-FFF2-40B4-BE49-F238E27FC236}">
                    <a16:creationId xmlns:a16="http://schemas.microsoft.com/office/drawing/2014/main" id="{CD5AC31F-33E4-9F52-782C-894869D303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8861" y="774750"/>
                <a:ext cx="3488017" cy="136120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16BFEAEC-5A9E-5419-958E-D58A033E0FEC}"/>
                  </a:ext>
                </a:extLst>
              </p:cNvPr>
              <p:cNvSpPr/>
              <p:nvPr/>
            </p:nvSpPr>
            <p:spPr>
              <a:xfrm>
                <a:off x="374846" y="6193048"/>
                <a:ext cx="6126918" cy="546303"/>
              </a:xfrm>
              <a:prstGeom prst="rect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120000"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ko-KR" altLang="en-US" sz="900" i="1" kern="0" dirty="0" smtClean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각</m:t>
                      </m:r>
                      <m:r>
                        <a:rPr lang="en-US" altLang="ko-KR" sz="900" b="0" i="1" kern="0" dirty="0" smtClean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ko-KR" altLang="en-US" sz="900" i="1" kern="0" dirty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항목별</m:t>
                      </m:r>
                      <m:r>
                        <a:rPr lang="en-US" altLang="ko-KR" sz="900" b="0" i="1" kern="0" dirty="0" smtClean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ko-KR" altLang="en-US" sz="900" i="1" kern="0" dirty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가중치</m:t>
                      </m:r>
                      <m:r>
                        <a:rPr lang="en-US" altLang="ko-KR" sz="900" b="0" i="1" kern="0" dirty="0" smtClean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ko-KR" altLang="en-US" sz="900" i="1" kern="0" dirty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값</m:t>
                      </m:r>
                      <m:r>
                        <a:rPr lang="en-US" altLang="ko-KR" sz="900" i="1" kern="0" dirty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:</m:t>
                      </m:r>
                      <m:r>
                        <a:rPr lang="en-US" altLang="ko-KR" sz="900" b="0" i="1" kern="0" dirty="0" smtClean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altLang="ko-KR" sz="900" i="1" ker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900" i="1" ker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W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900" i="1" ker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GOAL</m:t>
                          </m:r>
                        </m:sub>
                      </m:sSub>
                      <m:r>
                        <a:rPr lang="en-US" altLang="ko-KR" sz="900" i="1" kern="0" dirty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altLang="ko-KR" sz="900" i="1" kern="0" dirty="0" smtClean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0.</m:t>
                      </m:r>
                      <m:r>
                        <a:rPr lang="en-US" altLang="ko-KR" sz="900" i="1" kern="0" dirty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n-US" altLang="ko-KR" sz="900" b="0" i="1" kern="0" dirty="0" smtClean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3, </m:t>
                      </m:r>
                      <m:sSub>
                        <m:sSubPr>
                          <m:ctrlPr>
                            <a:rPr lang="en-US" altLang="ko-KR" sz="900" i="1" ker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900" i="1" ker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W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900" i="1" ker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EGO</m:t>
                          </m:r>
                        </m:sub>
                      </m:sSub>
                      <m:r>
                        <a:rPr lang="en-US" altLang="ko-KR" sz="900" i="1" kern="0" dirty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altLang="ko-KR" sz="900" i="1" kern="0" dirty="0" smtClean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0.</m:t>
                      </m:r>
                      <m:r>
                        <a:rPr lang="en-US" altLang="ko-KR" sz="900" b="0" i="1" kern="0" dirty="0" smtClean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3</m:t>
                      </m:r>
                      <m:r>
                        <a:rPr lang="en-US" altLang="ko-KR" sz="900" i="1" kern="0" dirty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</m:t>
                      </m:r>
                      <m:r>
                        <a:rPr lang="en-US" altLang="ko-KR" sz="900" b="0" i="1" kern="0" dirty="0" smtClean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altLang="ko-KR" sz="900" i="1" ker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900" i="1" ker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W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900" b="0" i="0" kern="0" smtClea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STOP</m:t>
                          </m:r>
                        </m:sub>
                      </m:sSub>
                      <m:r>
                        <a:rPr lang="en-US" altLang="ko-KR" sz="900" i="1" kern="0" dirty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=0.</m:t>
                      </m:r>
                      <m:r>
                        <a:rPr lang="en-US" altLang="ko-KR" sz="900" b="0" i="1" kern="0" dirty="0" smtClean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4</m:t>
                      </m:r>
                      <m:r>
                        <a:rPr lang="en-US" altLang="ko-KR" sz="900" i="1" kern="0" dirty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</m:oMath>
                  </m:oMathPara>
                </a14:m>
                <a:endParaRPr lang="en-US" altLang="ko-KR" sz="900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  <a:p>
                <a:pPr defTabSz="914411" fontAlgn="base">
                  <a:lnSpc>
                    <a:spcPct val="130000"/>
                  </a:lnSpc>
                  <a:spcBef>
                    <a:spcPts val="176"/>
                  </a:spcBef>
                  <a:spcAft>
                    <a:spcPts val="176"/>
                  </a:spcAft>
                  <a:buClr>
                    <a:srgbClr val="FF0000"/>
                  </a:buClr>
                  <a:buSzPct val="120000"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900" b="1" i="1" ker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ko-KR" sz="900" b="1" i="1" ker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𝒄𝒐𝒏𝒇𝒊𝒅𝒆𝒏𝒄𝒆</m:t>
                          </m:r>
                        </m:e>
                        <m:sub>
                          <m:r>
                            <a:rPr lang="en-US" altLang="ko-KR" sz="900" b="1" i="1" kern="0" smtClea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𝒇𝒊𝒏𝒂𝒍</m:t>
                          </m:r>
                        </m:sub>
                      </m:sSub>
                      <m:r>
                        <a:rPr lang="en-US" altLang="ko-KR" sz="900" b="1" i="1" kern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altLang="ko-KR" sz="900" b="1" i="1" kern="0" smtClean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altLang="ko-KR" sz="900" b="1" i="1" ker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ko-KR" sz="900" b="1" i="1" ker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𝑾</m:t>
                          </m:r>
                        </m:e>
                        <m:sub>
                          <m:r>
                            <a:rPr lang="en-US" altLang="ko-KR" sz="900" b="1" i="1" ker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𝑮𝑶𝑨𝑳</m:t>
                          </m:r>
                        </m:sub>
                      </m:sSub>
                      <m:r>
                        <a:rPr lang="en-US" altLang="ko-KR" sz="900" b="1" i="1" kern="0" smtClean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×</m:t>
                      </m:r>
                      <m:sSub>
                        <m:sSubPr>
                          <m:ctrlPr>
                            <a:rPr lang="en-US" altLang="ko-KR" sz="900" b="1" i="1" ker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ko-KR" sz="900" b="1" i="1" kern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900" b="1" i="1" kern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𝒄𝒐𝒏𝒇𝒊𝒅𝒆𝒏𝒄𝒆</m:t>
                              </m:r>
                            </m:e>
                            <m:sub>
                              <m:r>
                                <a:rPr lang="en-US" altLang="ko-KR" sz="900" b="1" i="1" kern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𝒅</m:t>
                              </m:r>
                            </m:sub>
                          </m:sSub>
                        </m:e>
                        <m:sub>
                          <m:r>
                            <a:rPr lang="en-US" altLang="ko-KR" sz="900" b="1" i="1" ker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𝒆𝒈𝒐</m:t>
                          </m:r>
                        </m:sub>
                      </m:sSub>
                      <m:r>
                        <a:rPr lang="en-US" altLang="ko-KR" sz="900" b="1" i="1" kern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lang="en-US" altLang="ko-KR" sz="900" b="1" i="1" kern="0" smtClean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altLang="ko-KR" sz="900" b="1" i="1" ker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ko-KR" sz="900" b="1" i="1" ker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𝑾</m:t>
                          </m:r>
                        </m:e>
                        <m:sub>
                          <m:r>
                            <a:rPr lang="en-US" altLang="ko-KR" sz="900" b="1" i="1" ker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𝑬𝑮𝑶</m:t>
                          </m:r>
                        </m:sub>
                      </m:sSub>
                      <m:r>
                        <a:rPr lang="en-US" altLang="ko-KR" sz="900" b="1" i="1" kern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×</m:t>
                      </m:r>
                      <m:sSub>
                        <m:sSubPr>
                          <m:ctrlPr>
                            <a:rPr lang="en-US" altLang="ko-KR" sz="900" b="1" i="1" ker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ko-KR" sz="900" b="1" i="1" kern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900" b="1" i="1" kern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𝒄𝒐𝒏𝒇𝒊𝒅𝒆𝒏𝒄𝒆</m:t>
                              </m:r>
                            </m:e>
                            <m:sub>
                              <m:r>
                                <a:rPr lang="en-US" altLang="ko-KR" sz="900" b="1" i="1" kern="0">
                                  <a:ln>
                                    <a:solidFill>
                                      <a:schemeClr val="tx1">
                                        <a:alpha val="5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𝒅</m:t>
                              </m:r>
                            </m:sub>
                          </m:sSub>
                        </m:e>
                        <m:sub>
                          <m:r>
                            <a:rPr lang="en-US" altLang="ko-KR" sz="900" b="1" i="1" ker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𝒈𝒐𝒂𝒍</m:t>
                          </m:r>
                        </m:sub>
                      </m:sSub>
                      <m:r>
                        <a:rPr lang="en-US" altLang="ko-KR" sz="900" b="1" i="1" kern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900" b="1" i="1" ker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ko-KR" sz="900" b="1" i="1" ker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𝑾</m:t>
                          </m:r>
                        </m:e>
                        <m:sub>
                          <m:r>
                            <a:rPr lang="en-US" altLang="ko-KR" sz="900" b="1" i="1" ker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𝑺𝑻𝑶𝑷</m:t>
                          </m:r>
                        </m:sub>
                      </m:sSub>
                      <m:r>
                        <a:rPr lang="en-US" altLang="ko-KR" sz="900" b="1" i="1" kern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×</m:t>
                      </m:r>
                      <m:sSub>
                        <m:sSubPr>
                          <m:ctrlPr>
                            <a:rPr lang="en-US" altLang="ko-KR" sz="900" b="1" i="1" kern="0" dirty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ko-KR" sz="900" b="1" i="1" kern="0" dirty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𝒄𝒐𝒏𝒇𝒊𝒅𝒆𝒏𝒄𝒆</m:t>
                          </m:r>
                        </m:e>
                        <m:sub>
                          <m:r>
                            <a:rPr lang="en-US" altLang="ko-KR" sz="900" b="1" i="1" kern="0" dirty="0" smtClean="0">
                              <a:ln>
                                <a:solidFill>
                                  <a:schemeClr val="tx1">
                                    <a:alpha val="5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𝒔𝒕𝒐𝒑</m:t>
                          </m:r>
                        </m:sub>
                      </m:sSub>
                    </m:oMath>
                  </m:oMathPara>
                </a14:m>
                <a:endParaRPr lang="en-US" altLang="ko-KR" sz="900" b="1" kern="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latin typeface="+mn-ea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16BFEAEC-5A9E-5419-958E-D58A033E0FE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846" y="6193048"/>
                <a:ext cx="6126918" cy="54630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7524450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3.3 </a:t>
            </a:r>
            <a:r>
              <a:rPr lang="ko-KR" altLang="en-US" dirty="0"/>
              <a:t>위험판단 인공지능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294967295"/>
          </p:nvPr>
        </p:nvSpPr>
        <p:spPr>
          <a:xfrm>
            <a:off x="9358313" y="6650038"/>
            <a:ext cx="547687" cy="207962"/>
          </a:xfrm>
        </p:spPr>
        <p:txBody>
          <a:bodyPr/>
          <a:lstStyle/>
          <a:p>
            <a:fld id="{BF55F954-5E86-475A-837F-2B8CED6C7DF1}" type="slidenum">
              <a:rPr lang="ko-KR" altLang="en-US" smtClean="0"/>
              <a:pPr/>
              <a:t>79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985477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74845" y="213862"/>
            <a:ext cx="8178139" cy="384721"/>
          </a:xfrm>
        </p:spPr>
        <p:txBody>
          <a:bodyPr/>
          <a:lstStyle/>
          <a:p>
            <a:r>
              <a:rPr lang="en-US" altLang="ko-KR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1</a:t>
            </a:r>
            <a:r>
              <a:rPr lang="ko-KR" altLang="en-US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lang="ko-KR" altLang="en-US" dirty="0" err="1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주행중</a:t>
            </a:r>
            <a:r>
              <a:rPr lang="ko-KR" altLang="en-US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전역 경로 근방 이동 가능한 정지 장애물이 존재하는 환경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F55F954-5E86-475A-837F-2B8CED6C7DF1}" type="slidenum">
              <a:rPr lang="ko-KR" altLang="en-US" smtClean="0"/>
              <a:pPr/>
              <a:t>80</a:t>
            </a:fld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381000" y="873125"/>
            <a:ext cx="9144000" cy="1570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5256" indent="-95256"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buFont typeface="Wingdings" panose="05000000000000000000" pitchFamily="2" charset="2"/>
              <a:buChar char="§"/>
              <a:defRPr/>
            </a:pPr>
            <a:r>
              <a:rPr lang="ko-KR" altLang="en-US" sz="1300" b="1" kern="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개요</a:t>
            </a:r>
            <a:endParaRPr lang="en-US" altLang="ko-KR" sz="1300" b="1" kern="0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위험 환경 판단용 인공지능 모델 설계 환경 구성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,</a:t>
            </a: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위험 판단 시나리오 모델 기반 학습 진행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(2024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년 예정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)</a:t>
            </a: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인공지능 아키텍처 설계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인공지능 기반 위험환경 판단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SW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설계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(2024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년 예정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)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DF27A014-7D19-4051-BDAD-FF2EF26445E0}"/>
              </a:ext>
            </a:extLst>
          </p:cNvPr>
          <p:cNvSpPr/>
          <p:nvPr/>
        </p:nvSpPr>
        <p:spPr>
          <a:xfrm>
            <a:off x="381000" y="2795138"/>
            <a:ext cx="7683500" cy="1570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5256" indent="-95256"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buFont typeface="Wingdings" panose="05000000000000000000" pitchFamily="2" charset="2"/>
              <a:buChar char="§"/>
              <a:defRPr/>
            </a:pPr>
            <a:r>
              <a:rPr lang="ko-KR" altLang="en-US" sz="1300" b="1" kern="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알고리즘</a:t>
            </a:r>
            <a:endParaRPr lang="en-US" altLang="ko-KR" sz="1300" b="1" kern="0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en-US" altLang="ko-KR" sz="1300" kern="0" dirty="0" err="1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SqueezeNet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기반 아키텍처 구현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Hyper parameter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의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fine tuning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기반 성능 확보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(2024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년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)</a:t>
            </a: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layer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branching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을 통한 </a:t>
            </a:r>
            <a:r>
              <a:rPr lang="ko-KR" altLang="en-US" sz="1300" kern="0" dirty="0" err="1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임베디드환경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속도 확보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fully connected layer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소거 기반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overfitting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예방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605343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74845" y="213862"/>
            <a:ext cx="8178139" cy="384721"/>
          </a:xfrm>
        </p:spPr>
        <p:txBody>
          <a:bodyPr/>
          <a:lstStyle/>
          <a:p>
            <a:r>
              <a:rPr lang="en-US" altLang="ko-KR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1</a:t>
            </a:r>
            <a:r>
              <a:rPr lang="ko-KR" altLang="en-US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lang="ko-KR" altLang="en-US" dirty="0" err="1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주행중</a:t>
            </a:r>
            <a:r>
              <a:rPr lang="ko-KR" altLang="en-US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전역 경로 근방 이동 가능한 정지 장애물이 존재하는 환경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F55F954-5E86-475A-837F-2B8CED6C7DF1}" type="slidenum">
              <a:rPr lang="ko-KR" altLang="en-US" smtClean="0"/>
              <a:pPr/>
              <a:t>81</a:t>
            </a:fld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381000" y="873125"/>
            <a:ext cx="9144000" cy="46914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5256" indent="-95256"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buFont typeface="Wingdings" panose="05000000000000000000" pitchFamily="2" charset="2"/>
              <a:buChar char="§"/>
              <a:defRPr/>
            </a:pPr>
            <a:r>
              <a:rPr lang="ko-KR" altLang="en-US" sz="1300" b="1" kern="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위험 환경 판단용 인공지능 모델 설계 환경 구성</a:t>
            </a:r>
            <a:endParaRPr lang="en-US" altLang="ko-KR" sz="1300" b="1" kern="0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en-US" altLang="ko-KR" sz="1300" kern="0" dirty="0" err="1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Mathworks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社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, MATLAB/SIMULINK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기반 인공지능 모델 설계 환경 구성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인공지능 신경망 설계 및 신호처리를 위한 </a:t>
            </a:r>
            <a:r>
              <a:rPr lang="ko-KR" altLang="en-US" sz="1300" kern="0" dirty="0" err="1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툴박스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셋 선정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필수 </a:t>
            </a:r>
            <a:r>
              <a:rPr lang="ko-KR" altLang="en-US" sz="1300" kern="0" dirty="0" err="1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툴박스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셋 환경</a:t>
            </a:r>
            <a:b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</a:b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	AUTOSAR </a:t>
            </a:r>
            <a:r>
              <a:rPr lang="en-US" altLang="ko-KR" sz="1300" kern="0" dirty="0" err="1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blockset</a:t>
            </a:r>
            <a:b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</a:b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	Computer Vision Toolbox</a:t>
            </a:r>
            <a:b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</a:b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	Curve Fitting Toolbox</a:t>
            </a:r>
            <a:b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</a:b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	Deep Learning Toolbox</a:t>
            </a:r>
            <a:b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</a:b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	Embedded Coder</a:t>
            </a:r>
            <a:b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</a:b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	Image Processing Toolbox</a:t>
            </a:r>
            <a:b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</a:b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	MATLAB Coder</a:t>
            </a:r>
            <a:b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</a:b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	Reinforcement Learning Toolbox</a:t>
            </a:r>
            <a:b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</a:b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	Sensor Fusion and Tracking Toolbox</a:t>
            </a:r>
            <a:b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</a:b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	Signal Processing Toolbox</a:t>
            </a:r>
            <a:b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</a:b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	Simulink Coder</a:t>
            </a:r>
            <a:b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</a:b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	Statistics and Machine Learning Toolbox</a:t>
            </a: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MATLAB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심층 신경망 디자이너 기반의 인공지능 모델 설계 환경 구축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</p:txBody>
      </p:sp>
      <p:pic>
        <p:nvPicPr>
          <p:cNvPr id="7" name="Picture 1">
            <a:extLst>
              <a:ext uri="{FF2B5EF4-FFF2-40B4-BE49-F238E27FC236}">
                <a16:creationId xmlns:a16="http://schemas.microsoft.com/office/drawing/2014/main" id="{9B773250-65C7-4927-9770-3BAA516343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4993" y="1987342"/>
            <a:ext cx="4342719" cy="2881686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A1FC5AA5-DD2B-4C22-8A12-9E94D62BEFA2}"/>
              </a:ext>
            </a:extLst>
          </p:cNvPr>
          <p:cNvSpPr/>
          <p:nvPr/>
        </p:nvSpPr>
        <p:spPr>
          <a:xfrm>
            <a:off x="6110868" y="4869028"/>
            <a:ext cx="3083888" cy="3248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&lt; AI Deep Neural Network designer &gt;</a:t>
            </a:r>
          </a:p>
        </p:txBody>
      </p:sp>
    </p:spTree>
    <p:extLst>
      <p:ext uri="{BB962C8B-B14F-4D97-AF65-F5344CB8AC3E}">
        <p14:creationId xmlns:p14="http://schemas.microsoft.com/office/powerpoint/2010/main" val="3274321590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74845" y="213862"/>
            <a:ext cx="8178139" cy="384721"/>
          </a:xfrm>
        </p:spPr>
        <p:txBody>
          <a:bodyPr/>
          <a:lstStyle/>
          <a:p>
            <a:r>
              <a:rPr lang="en-US" altLang="ko-KR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1</a:t>
            </a:r>
            <a:r>
              <a:rPr lang="ko-KR" altLang="en-US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lang="ko-KR" altLang="en-US" dirty="0" err="1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주행중</a:t>
            </a:r>
            <a:r>
              <a:rPr lang="ko-KR" altLang="en-US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전역 경로 근방 이동 가능한 정지 장애물이 존재하는 환경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F55F954-5E86-475A-837F-2B8CED6C7DF1}" type="slidenum">
              <a:rPr lang="ko-KR" altLang="en-US" smtClean="0"/>
              <a:pPr/>
              <a:t>82</a:t>
            </a:fld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381000" y="873125"/>
            <a:ext cx="9144000" cy="18817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5256" indent="-95256"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buFont typeface="Wingdings" panose="05000000000000000000" pitchFamily="2" charset="2"/>
              <a:buChar char="§"/>
              <a:defRPr/>
            </a:pPr>
            <a:r>
              <a:rPr lang="ko-KR" altLang="en-US" sz="1300" b="1" kern="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인공지능 아키텍처 설계</a:t>
            </a:r>
            <a:endParaRPr lang="en-US" altLang="ko-KR" sz="1300" b="1" kern="0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임베디드 환경에서 모델 구성을 위한 </a:t>
            </a:r>
            <a:r>
              <a:rPr lang="en-US" altLang="ko-KR" sz="1300" kern="0" dirty="0" err="1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SqueezeNet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선정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</a:t>
            </a:r>
            <a:r>
              <a:rPr lang="en-US" altLang="ko-KR" sz="1300" kern="0" dirty="0" err="1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AlexNet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수준의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accuracy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달성 및 </a:t>
            </a:r>
            <a:r>
              <a:rPr lang="en-US" altLang="ko-KR" sz="1300" kern="0" dirty="0" err="1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AlexNet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에 비해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50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배 적은 파라미터 수 적용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Hyper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parameter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의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fine tuning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을 통한 성능 확보 예정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(2024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년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)</a:t>
            </a: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- 8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개의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fire module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사용 및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I/O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에서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1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개의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convolutional layer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사용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Overfitting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발생을 줄이기 위한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fully connected layer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소거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1FC5AA5-DD2B-4C22-8A12-9E94D62BEFA2}"/>
              </a:ext>
            </a:extLst>
          </p:cNvPr>
          <p:cNvSpPr/>
          <p:nvPr/>
        </p:nvSpPr>
        <p:spPr>
          <a:xfrm>
            <a:off x="1049166" y="5861488"/>
            <a:ext cx="3083888" cy="3248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&lt; </a:t>
            </a:r>
            <a:r>
              <a:rPr lang="en-US" altLang="ko-KR" sz="1300" kern="0" dirty="0" err="1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SqueezeNet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디자인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&gt;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2B87912D-D7CF-42D9-B257-DF6151AEB6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766" y="3074174"/>
            <a:ext cx="4028688" cy="2698829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10" name="Picture 4">
            <a:extLst>
              <a:ext uri="{FF2B5EF4-FFF2-40B4-BE49-F238E27FC236}">
                <a16:creationId xmlns:a16="http://schemas.microsoft.com/office/drawing/2014/main" id="{8E1C2631-B8F7-475A-A0EF-BEB6CDA371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189" y="3075826"/>
            <a:ext cx="3753163" cy="2785662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9A340716-5A1C-4BC1-B873-6308D1BB5F99}"/>
              </a:ext>
            </a:extLst>
          </p:cNvPr>
          <p:cNvSpPr/>
          <p:nvPr/>
        </p:nvSpPr>
        <p:spPr>
          <a:xfrm>
            <a:off x="5772948" y="5861488"/>
            <a:ext cx="3083888" cy="3248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&lt; </a:t>
            </a:r>
            <a:r>
              <a:rPr lang="en-US" altLang="ko-KR" sz="1300" kern="0" dirty="0" err="1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SqueezeNet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아키텍처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143825163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74845" y="213862"/>
            <a:ext cx="8178139" cy="384721"/>
          </a:xfrm>
        </p:spPr>
        <p:txBody>
          <a:bodyPr/>
          <a:lstStyle/>
          <a:p>
            <a:r>
              <a:rPr lang="en-US" altLang="ko-KR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1</a:t>
            </a:r>
            <a:r>
              <a:rPr lang="ko-KR" altLang="en-US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lang="ko-KR" altLang="en-US" dirty="0" err="1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주행중</a:t>
            </a:r>
            <a:r>
              <a:rPr lang="ko-KR" altLang="en-US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전역 경로 근방 이동 가능한 정지 장애물이 존재하는 환경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F55F954-5E86-475A-837F-2B8CED6C7DF1}" type="slidenum">
              <a:rPr lang="ko-KR" altLang="en-US" smtClean="0"/>
              <a:pPr/>
              <a:t>83</a:t>
            </a:fld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381000" y="873125"/>
            <a:ext cx="9144000" cy="365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5256" indent="-95256"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buFont typeface="Wingdings" panose="05000000000000000000" pitchFamily="2" charset="2"/>
              <a:buChar char="§"/>
              <a:defRPr/>
            </a:pPr>
            <a:r>
              <a:rPr lang="ko-KR" altLang="en-US" sz="1300" b="1" kern="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</a:t>
            </a:r>
            <a:r>
              <a:rPr lang="en-US" altLang="ko-KR" sz="1300" b="1" kern="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Fire Module</a:t>
            </a: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- 1x1 </a:t>
            </a:r>
            <a:r>
              <a:rPr lang="en-US" altLang="ko-KR" sz="1300" kern="0" dirty="0" err="1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filte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로 되어있는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squeeze convolution layer</a:t>
            </a:r>
            <a:b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</a:b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                                      +</a:t>
            </a: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- 1x1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과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3x3 convolution layer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가 </a:t>
            </a:r>
            <a:r>
              <a:rPr lang="ko-KR" altLang="en-US" sz="1300" kern="0" dirty="0" err="1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섞여있는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expand layer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로 구성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- 3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개의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hyper parameter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적용</a:t>
            </a:r>
            <a:b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</a:b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	s1x1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: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squeeze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layer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의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filter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수</a:t>
            </a:r>
            <a:b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</a:b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	e1x1 : expand layer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에서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1x1 filter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수</a:t>
            </a:r>
            <a:b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</a:b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	e3x3 : expand layer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에서 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3x3 filter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수</a:t>
            </a:r>
            <a:endParaRPr lang="en-US" altLang="ko-KR" sz="1300" kern="0" dirty="0">
              <a:ln>
                <a:solidFill>
                  <a:schemeClr val="tx1">
                    <a:alpha val="5000"/>
                  </a:schemeClr>
                </a:solidFill>
              </a:ln>
              <a:latin typeface="+mn-ea"/>
              <a:cs typeface="Arial" panose="020B0604020202020204" pitchFamily="34" charset="0"/>
            </a:endParaRPr>
          </a:p>
          <a:p>
            <a:pPr defTabSz="914411" fontAlgn="base">
              <a:lnSpc>
                <a:spcPct val="130000"/>
              </a:lnSpc>
              <a:spcBef>
                <a:spcPts val="176"/>
              </a:spcBef>
              <a:spcAft>
                <a:spcPts val="176"/>
              </a:spcAft>
              <a:buClr>
                <a:srgbClr val="FF0000"/>
              </a:buClr>
              <a:buSzPct val="90000"/>
              <a:defRPr/>
            </a:pP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- Learning parameter 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선정</a:t>
            </a:r>
            <a:b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</a:b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	-</a:t>
            </a:r>
            <a:r>
              <a:rPr lang="en-US" altLang="ko-KR" sz="1300" kern="0" dirty="0" err="1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InitialLearnRate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= 0.0001</a:t>
            </a:r>
            <a:b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</a:b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	-</a:t>
            </a:r>
            <a:r>
              <a:rPr lang="en-US" altLang="ko-KR" sz="1300" kern="0" dirty="0" err="1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MaxEpochs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     = 8</a:t>
            </a:r>
            <a:b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</a:b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	- </a:t>
            </a:r>
            <a:r>
              <a:rPr lang="en-US" altLang="ko-KR" sz="1300" kern="0" dirty="0" err="1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ValidationFrequency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= 5</a:t>
            </a:r>
            <a:b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</a:b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	- </a:t>
            </a:r>
            <a:r>
              <a:rPr lang="en-US" altLang="ko-KR" sz="1300" kern="0" dirty="0" err="1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MiniBatchSize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            = 10 (</a:t>
            </a:r>
            <a:r>
              <a:rPr lang="ko-KR" altLang="en-US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학습능력에 따라 조절 예정</a:t>
            </a:r>
            <a:r>
              <a:rPr lang="en-US" altLang="ko-KR" sz="1300" kern="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983943527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별첨</a:t>
            </a:r>
            <a:r>
              <a:rPr lang="en-US" altLang="ko-KR" dirty="0"/>
              <a:t>. </a:t>
            </a:r>
            <a:r>
              <a:rPr lang="ko-KR" altLang="en-US" dirty="0"/>
              <a:t>위험 상황 </a:t>
            </a:r>
            <a:r>
              <a:rPr lang="en-US" altLang="ko-KR" dirty="0"/>
              <a:t>(1/2)</a:t>
            </a:r>
            <a:endParaRPr lang="ko-KR" altLang="en-US" dirty="0"/>
          </a:p>
        </p:txBody>
      </p:sp>
      <p:graphicFrame>
        <p:nvGraphicFramePr>
          <p:cNvPr id="5" name="표 4"/>
          <p:cNvGraphicFramePr>
            <a:graphicFrameLocks noGrp="1"/>
          </p:cNvGraphicFramePr>
          <p:nvPr/>
        </p:nvGraphicFramePr>
        <p:xfrm>
          <a:off x="0" y="858303"/>
          <a:ext cx="9906000" cy="58308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34453">
                  <a:extLst>
                    <a:ext uri="{9D8B030D-6E8A-4147-A177-3AD203B41FA5}">
                      <a16:colId xmlns:a16="http://schemas.microsoft.com/office/drawing/2014/main" val="3304118332"/>
                    </a:ext>
                  </a:extLst>
                </a:gridCol>
                <a:gridCol w="395275">
                  <a:extLst>
                    <a:ext uri="{9D8B030D-6E8A-4147-A177-3AD203B41FA5}">
                      <a16:colId xmlns:a16="http://schemas.microsoft.com/office/drawing/2014/main" val="3752876574"/>
                    </a:ext>
                  </a:extLst>
                </a:gridCol>
                <a:gridCol w="1026544">
                  <a:extLst>
                    <a:ext uri="{9D8B030D-6E8A-4147-A177-3AD203B41FA5}">
                      <a16:colId xmlns:a16="http://schemas.microsoft.com/office/drawing/2014/main" val="1723292968"/>
                    </a:ext>
                  </a:extLst>
                </a:gridCol>
                <a:gridCol w="379562">
                  <a:extLst>
                    <a:ext uri="{9D8B030D-6E8A-4147-A177-3AD203B41FA5}">
                      <a16:colId xmlns:a16="http://schemas.microsoft.com/office/drawing/2014/main" val="1448724238"/>
                    </a:ext>
                  </a:extLst>
                </a:gridCol>
                <a:gridCol w="1897811">
                  <a:extLst>
                    <a:ext uri="{9D8B030D-6E8A-4147-A177-3AD203B41FA5}">
                      <a16:colId xmlns:a16="http://schemas.microsoft.com/office/drawing/2014/main" val="235562517"/>
                    </a:ext>
                  </a:extLst>
                </a:gridCol>
                <a:gridCol w="1759789">
                  <a:extLst>
                    <a:ext uri="{9D8B030D-6E8A-4147-A177-3AD203B41FA5}">
                      <a16:colId xmlns:a16="http://schemas.microsoft.com/office/drawing/2014/main" val="58241336"/>
                    </a:ext>
                  </a:extLst>
                </a:gridCol>
                <a:gridCol w="1613140">
                  <a:extLst>
                    <a:ext uri="{9D8B030D-6E8A-4147-A177-3AD203B41FA5}">
                      <a16:colId xmlns:a16="http://schemas.microsoft.com/office/drawing/2014/main" val="2502048758"/>
                    </a:ext>
                  </a:extLst>
                </a:gridCol>
                <a:gridCol w="2599426">
                  <a:extLst>
                    <a:ext uri="{9D8B030D-6E8A-4147-A177-3AD203B41FA5}">
                      <a16:colId xmlns:a16="http://schemas.microsoft.com/office/drawing/2014/main" val="12401133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 spc="-100" baseline="0" dirty="0">
                        <a:solidFill>
                          <a:schemeClr val="bg1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spc="-100" baseline="0" dirty="0">
                          <a:solidFill>
                            <a:schemeClr val="bg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발생 형태</a:t>
                      </a:r>
                      <a:endParaRPr lang="ko-KR" altLang="en-US" sz="1000" b="1" i="0" u="none" strike="noStrike" spc="-100" baseline="0" dirty="0">
                        <a:solidFill>
                          <a:schemeClr val="bg1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spc="-100" baseline="0" dirty="0">
                          <a:solidFill>
                            <a:schemeClr val="bg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발생 원인</a:t>
                      </a:r>
                      <a:endParaRPr lang="ko-KR" altLang="en-US" sz="1000" b="1" i="0" u="none" strike="noStrike" spc="-100" baseline="0" dirty="0">
                        <a:solidFill>
                          <a:schemeClr val="bg1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spc="-100" baseline="0" dirty="0">
                          <a:solidFill>
                            <a:schemeClr val="bg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이동 상태</a:t>
                      </a:r>
                      <a:endParaRPr lang="ko-KR" altLang="en-US" sz="1000" b="1" i="0" u="none" strike="noStrike" spc="-100" baseline="0" dirty="0">
                        <a:solidFill>
                          <a:schemeClr val="bg1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spc="-100" baseline="0" dirty="0">
                          <a:solidFill>
                            <a:schemeClr val="bg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원인 </a:t>
                      </a:r>
                      <a:r>
                        <a:rPr lang="en-US" altLang="ko-KR" sz="1000" b="1" u="none" strike="noStrike" spc="-100" baseline="0" dirty="0">
                          <a:solidFill>
                            <a:schemeClr val="bg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1</a:t>
                      </a:r>
                      <a:endParaRPr lang="en-US" altLang="ko-KR" sz="1000" b="1" i="0" u="none" strike="noStrike" spc="-100" baseline="0" dirty="0">
                        <a:solidFill>
                          <a:schemeClr val="bg1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spc="-100" baseline="0">
                          <a:solidFill>
                            <a:schemeClr val="bg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원인 </a:t>
                      </a:r>
                      <a:r>
                        <a:rPr lang="en-US" altLang="ko-KR" sz="1000" b="1" u="none" strike="noStrike" spc="-100" baseline="0">
                          <a:solidFill>
                            <a:schemeClr val="bg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2</a:t>
                      </a:r>
                      <a:endParaRPr lang="en-US" altLang="ko-KR" sz="1000" b="1" i="0" u="none" strike="noStrike" spc="-100" baseline="0">
                        <a:solidFill>
                          <a:schemeClr val="bg1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spc="-100" baseline="0" dirty="0">
                          <a:solidFill>
                            <a:schemeClr val="bg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결과</a:t>
                      </a:r>
                      <a:endParaRPr lang="ko-KR" altLang="en-US" sz="1000" b="1" i="0" u="none" strike="noStrike" spc="-100" baseline="0" dirty="0">
                        <a:solidFill>
                          <a:schemeClr val="bg1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1" i="0" u="none" strike="noStrike" spc="-100" baseline="0" dirty="0">
                        <a:solidFill>
                          <a:schemeClr val="bg1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6790602"/>
                  </a:ext>
                </a:extLst>
              </a:tr>
              <a:tr h="11634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spc="-100" baseline="0" dirty="0">
                          <a:solidFill>
                            <a:srgbClr val="FF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1</a:t>
                      </a:r>
                      <a:endParaRPr lang="en-US" altLang="ko-KR" sz="1000" b="0" i="0" u="none" strike="noStrike" spc="-100" baseline="0" dirty="0">
                        <a:solidFill>
                          <a:srgbClr val="FF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15"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spc="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전도</a:t>
                      </a:r>
                      <a:endParaRPr lang="ko-KR" altLang="en-US" sz="1000" b="0" i="0" u="none" strike="noStrike" spc="0" baseline="0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8"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spc="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지반 침하</a:t>
                      </a:r>
                      <a:endParaRPr lang="ko-KR" altLang="en-US" sz="1000" b="0" i="0" u="none" strike="noStrike" spc="0" baseline="0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spc="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이동중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spc="0" baseline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강우 및 강풍 등 기상상황</a:t>
                      </a:r>
                      <a:endParaRPr lang="ko-KR" altLang="en-US" sz="1000" b="0" i="0" u="none" strike="noStrike" spc="0" baseline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spc="0" baseline="0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지지지반</a:t>
                      </a:r>
                      <a:r>
                        <a:rPr lang="ko-KR" altLang="en-US" sz="1000" u="none" strike="noStrike" spc="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침하</a:t>
                      </a:r>
                      <a:endParaRPr lang="ko-KR" altLang="en-US" sz="1000" b="0" i="0" u="none" strike="noStrike" spc="0" baseline="0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spc="0" baseline="0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중량물</a:t>
                      </a:r>
                      <a:r>
                        <a:rPr lang="ko-KR" altLang="en-US" sz="1000" u="none" strike="noStrike" spc="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인양 중 전도</a:t>
                      </a:r>
                      <a:endParaRPr lang="ko-KR" altLang="en-US" sz="1000" b="0" i="0" u="none" strike="noStrike" spc="0" baseline="0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8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pc="0" baseline="0" dirty="0">
                          <a:solidFill>
                            <a:srgbClr val="FF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기상상황 및 지하공간통합지도 데이터는 </a:t>
                      </a:r>
                      <a:br>
                        <a:rPr lang="en-US" altLang="ko-KR" sz="1000" b="0" i="0" u="none" strike="noStrike" spc="0" baseline="0" dirty="0">
                          <a:solidFill>
                            <a:srgbClr val="FF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</a:br>
                      <a:r>
                        <a:rPr lang="ko-KR" altLang="en-US" sz="1000" b="0" i="0" u="none" strike="noStrike" spc="0" baseline="0" dirty="0">
                          <a:solidFill>
                            <a:srgbClr val="FF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포함하지 않으므로 해당 상황은 고려하지 않음</a:t>
                      </a: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0628654"/>
                  </a:ext>
                </a:extLst>
              </a:tr>
              <a:tr h="11634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spc="-100" baseline="0" dirty="0">
                          <a:solidFill>
                            <a:srgbClr val="FF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2</a:t>
                      </a:r>
                      <a:endParaRPr lang="en-US" altLang="ko-KR" sz="1000" b="0" i="0" u="none" strike="noStrike" spc="-100" baseline="0" dirty="0">
                        <a:solidFill>
                          <a:srgbClr val="FF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spc="-100" baseline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spc="-100" baseline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11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spc="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연약지반 </a:t>
                      </a:r>
                      <a:r>
                        <a:rPr lang="en-US" altLang="ko-KR" sz="1000" u="none" strike="noStrike" spc="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(</a:t>
                      </a:r>
                      <a:r>
                        <a:rPr lang="ko-KR" altLang="en-US" sz="1000" u="none" strike="noStrike" spc="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매립지 등</a:t>
                      </a:r>
                      <a:r>
                        <a:rPr lang="en-US" altLang="ko-KR" sz="1000" u="none" strike="noStrike" spc="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)</a:t>
                      </a:r>
                      <a:endParaRPr lang="ko-KR" altLang="en-US" sz="1000" b="0" i="0" u="none" strike="noStrike" spc="0" baseline="0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spc="0" baseline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spc="0" baseline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2970504"/>
                  </a:ext>
                </a:extLst>
              </a:tr>
              <a:tr h="11634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spc="-100" baseline="0" dirty="0">
                          <a:solidFill>
                            <a:srgbClr val="FF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3</a:t>
                      </a:r>
                      <a:endParaRPr lang="en-US" altLang="ko-KR" sz="1000" b="0" i="0" u="none" strike="noStrike" spc="-100" baseline="0" dirty="0">
                        <a:solidFill>
                          <a:srgbClr val="FF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spc="-100" baseline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spc="-100" baseline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11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spc="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작업 중 진동</a:t>
                      </a:r>
                      <a:endParaRPr lang="en-US" altLang="ko-KR" sz="1000" b="0" i="0" u="none" strike="noStrike" spc="0" baseline="0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spc="0" baseline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spc="0" baseline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1907858"/>
                  </a:ext>
                </a:extLst>
              </a:tr>
              <a:tr h="11634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spc="-100" baseline="0" dirty="0">
                          <a:solidFill>
                            <a:srgbClr val="FF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4</a:t>
                      </a:r>
                      <a:endParaRPr lang="en-US" altLang="ko-KR" sz="1000" b="0" i="0" u="none" strike="noStrike" spc="-100" baseline="0" dirty="0">
                        <a:solidFill>
                          <a:srgbClr val="FF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spc="-100" baseline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spc="-100" baseline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11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spc="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상</a:t>
                      </a:r>
                      <a:r>
                        <a:rPr lang="en-US" altLang="ko-KR" sz="1000" u="none" strike="noStrike" spc="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/</a:t>
                      </a:r>
                      <a:r>
                        <a:rPr lang="ko-KR" altLang="en-US" sz="1000" u="none" strike="noStrike" spc="0" baseline="0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하수관로</a:t>
                      </a:r>
                      <a:r>
                        <a:rPr lang="ko-KR" altLang="en-US" sz="1000" u="none" strike="noStrike" spc="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손상</a:t>
                      </a:r>
                      <a:endParaRPr lang="ko-KR" altLang="en-US" sz="1000" b="0" i="0" u="none" strike="noStrike" spc="0" baseline="0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spc="0" baseline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spc="0" baseline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571792"/>
                  </a:ext>
                </a:extLst>
              </a:tr>
              <a:tr h="11634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spc="-100" baseline="0" dirty="0">
                          <a:solidFill>
                            <a:srgbClr val="FF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5</a:t>
                      </a:r>
                      <a:endParaRPr lang="en-US" altLang="ko-KR" sz="1000" b="0" i="0" u="none" strike="noStrike" spc="-100" baseline="0" dirty="0">
                        <a:solidFill>
                          <a:srgbClr val="FF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spc="-100" baseline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spc="-100" baseline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spc="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정지</a:t>
                      </a:r>
                      <a:endParaRPr lang="ko-KR" altLang="en-US" sz="1000" b="0" i="0" u="none" strike="noStrike" spc="0" baseline="0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spc="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강우 및 강풍 등 기상상황</a:t>
                      </a:r>
                      <a:endParaRPr lang="ko-KR" altLang="en-US" sz="1000" b="0" i="0" u="none" strike="noStrike" spc="0" baseline="0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spc="0" baseline="0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지지지반</a:t>
                      </a:r>
                      <a:r>
                        <a:rPr lang="ko-KR" altLang="en-US" sz="1000" u="none" strike="noStrike" spc="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침하</a:t>
                      </a:r>
                      <a:endParaRPr lang="ko-KR" altLang="en-US" sz="1000" b="0" i="0" u="none" strike="noStrike" spc="0" baseline="0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spc="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작업중 및 </a:t>
                      </a:r>
                      <a:r>
                        <a:rPr lang="ko-KR" altLang="en-US" sz="1000" u="none" strike="noStrike" spc="0" baseline="0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주정차</a:t>
                      </a:r>
                      <a:r>
                        <a:rPr lang="ko-KR" altLang="en-US" sz="1000" u="none" strike="noStrike" spc="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중 전도</a:t>
                      </a:r>
                      <a:endParaRPr lang="ko-KR" altLang="en-US" sz="1000" b="0" i="0" u="none" strike="noStrike" spc="0" baseline="0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spc="0" baseline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5188475"/>
                  </a:ext>
                </a:extLst>
              </a:tr>
              <a:tr h="11634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spc="-100" baseline="0" dirty="0">
                          <a:solidFill>
                            <a:srgbClr val="FF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6</a:t>
                      </a:r>
                      <a:endParaRPr lang="en-US" altLang="ko-KR" sz="1000" b="0" i="0" u="none" strike="noStrike" spc="-100" baseline="0" dirty="0">
                        <a:solidFill>
                          <a:srgbClr val="FF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spc="-100" baseline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spc="-100" baseline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spc="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연약지반 </a:t>
                      </a:r>
                      <a:r>
                        <a:rPr lang="en-US" altLang="ko-KR" sz="1000" u="none" strike="noStrike" spc="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(</a:t>
                      </a:r>
                      <a:r>
                        <a:rPr lang="ko-KR" altLang="en-US" sz="1000" u="none" strike="noStrike" spc="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매립지 등</a:t>
                      </a:r>
                      <a:r>
                        <a:rPr lang="en-US" altLang="ko-KR" sz="1000" u="none" strike="noStrike" spc="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)</a:t>
                      </a:r>
                      <a:endParaRPr lang="ko-KR" altLang="en-US" sz="1000" b="0" i="0" u="none" strike="noStrike" spc="0" baseline="0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spc="0" baseline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spc="0" baseline="0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중량물</a:t>
                      </a:r>
                      <a:r>
                        <a:rPr lang="ko-KR" altLang="en-US" sz="1000" u="none" strike="noStrike" spc="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인양 중 전도</a:t>
                      </a:r>
                      <a:endParaRPr lang="ko-KR" altLang="en-US" sz="1000" b="0" i="0" u="none" strike="noStrike" spc="0" baseline="0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spc="0" baseline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601257"/>
                  </a:ext>
                </a:extLst>
              </a:tr>
              <a:tr h="11634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spc="-100" baseline="0" dirty="0">
                          <a:solidFill>
                            <a:srgbClr val="FF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7</a:t>
                      </a:r>
                      <a:endParaRPr lang="en-US" altLang="ko-KR" sz="1000" b="0" i="0" u="none" strike="noStrike" spc="-100" baseline="0" dirty="0">
                        <a:solidFill>
                          <a:srgbClr val="FF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spc="-100" baseline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spc="-100" baseline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spc="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작업 중 진동</a:t>
                      </a:r>
                      <a:endParaRPr lang="en-US" altLang="ko-KR" sz="1000" b="0" i="0" u="none" strike="noStrike" spc="0" baseline="0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spc="0" baseline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spc="0" baseline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1267343"/>
                  </a:ext>
                </a:extLst>
              </a:tr>
              <a:tr h="11634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spc="-100" baseline="0" dirty="0">
                          <a:solidFill>
                            <a:srgbClr val="FF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8</a:t>
                      </a:r>
                      <a:endParaRPr lang="en-US" altLang="ko-KR" sz="1000" b="0" i="0" u="none" strike="noStrike" spc="-100" baseline="0" dirty="0">
                        <a:solidFill>
                          <a:srgbClr val="FF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spc="-100" baseline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spc="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상</a:t>
                      </a:r>
                      <a:r>
                        <a:rPr lang="en-US" altLang="ko-KR" sz="1000" u="none" strike="noStrike" spc="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/</a:t>
                      </a:r>
                      <a:r>
                        <a:rPr lang="ko-KR" altLang="en-US" sz="1000" u="none" strike="noStrike" spc="0" baseline="0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하수관로</a:t>
                      </a:r>
                      <a:r>
                        <a:rPr lang="ko-KR" altLang="en-US" sz="1000" u="none" strike="noStrike" spc="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손상</a:t>
                      </a:r>
                      <a:endParaRPr lang="ko-KR" altLang="en-US" sz="1000" b="0" i="0" u="none" strike="noStrike" spc="0" baseline="0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spc="0" baseline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spc="0" baseline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2212087"/>
                  </a:ext>
                </a:extLst>
              </a:tr>
              <a:tr h="11634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spc="-100" baseline="0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9</a:t>
                      </a:r>
                    </a:p>
                  </a:txBody>
                  <a:tcPr marL="54000" marR="54000" marT="25200" marB="25200" anchor="ctr"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spc="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경사</a:t>
                      </a:r>
                      <a:endParaRPr lang="ko-KR" altLang="en-US" sz="1000" b="0" i="0" u="none" strike="noStrike" spc="0" baseline="0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spc="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정지</a:t>
                      </a:r>
                      <a:endParaRPr lang="ko-KR" altLang="en-US" sz="1000" b="0" i="0" u="none" strike="noStrike" spc="0" baseline="0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u="none" strike="noStrike" spc="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경사로에서 붐 회전</a:t>
                      </a:r>
                      <a:endParaRPr lang="en-US" altLang="ko-KR" sz="1000" u="none" strike="noStrike" spc="0" baseline="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u="none" strike="noStrike" spc="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무게 밸런스 정렬 한계</a:t>
                      </a:r>
                      <a:endParaRPr lang="en-US" altLang="ko-KR" sz="1000" u="none" strike="noStrike" spc="0" baseline="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u="none" strike="noStrike" spc="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작업중 전도</a:t>
                      </a:r>
                      <a:endParaRPr lang="en-US" altLang="ko-KR" sz="1000" u="none" strike="noStrike" spc="0" baseline="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spc="0" baseline="0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8869086"/>
                  </a:ext>
                </a:extLst>
              </a:tr>
              <a:tr h="11634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spc="-100" baseline="0" dirty="0">
                          <a:solidFill>
                            <a:srgbClr val="FF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10</a:t>
                      </a:r>
                      <a:endParaRPr lang="en-US" altLang="ko-KR" sz="1000" b="0" i="0" u="none" strike="noStrike" spc="-100" baseline="0" dirty="0">
                        <a:solidFill>
                          <a:srgbClr val="FF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spc="-100" baseline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u="none" strike="noStrike" spc="0" baseline="0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주정차</a:t>
                      </a:r>
                      <a:r>
                        <a:rPr lang="ko-KR" altLang="en-US" sz="1000" u="none" strike="noStrike" spc="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중 고임목 </a:t>
                      </a:r>
                      <a:r>
                        <a:rPr lang="ko-KR" altLang="en-US" sz="1000" u="none" strike="noStrike" spc="0" baseline="0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미사용</a:t>
                      </a:r>
                      <a:endParaRPr lang="ko-KR" altLang="en-US" sz="1000" b="0" i="0" u="none" strike="noStrike" spc="0" baseline="0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u="none" strike="noStrike" spc="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브레이크 해제</a:t>
                      </a:r>
                      <a:r>
                        <a:rPr lang="en-US" altLang="ko-KR" sz="1000" u="none" strike="noStrike" spc="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, </a:t>
                      </a:r>
                      <a:r>
                        <a:rPr lang="ko-KR" altLang="en-US" sz="1000" u="none" strike="noStrike" spc="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차량 흐름</a:t>
                      </a:r>
                      <a:endParaRPr lang="ko-KR" altLang="en-US" sz="1000" b="0" i="0" u="none" strike="noStrike" spc="0" baseline="0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u="none" strike="noStrike" spc="0" baseline="0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주정차</a:t>
                      </a:r>
                      <a:r>
                        <a:rPr lang="ko-KR" altLang="en-US" sz="1000" u="none" strike="noStrike" spc="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중 전도</a:t>
                      </a:r>
                      <a:endParaRPr lang="ko-KR" altLang="en-US" sz="1000" b="0" i="0" u="none" strike="noStrike" spc="0" baseline="0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6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pc="0" baseline="0" dirty="0">
                          <a:solidFill>
                            <a:srgbClr val="FF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안전수칙 미수행</a:t>
                      </a:r>
                      <a:r>
                        <a:rPr lang="en-US" altLang="ko-KR" sz="1000" b="0" i="0" u="none" strike="noStrike" spc="0" baseline="0" dirty="0">
                          <a:solidFill>
                            <a:srgbClr val="FF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, </a:t>
                      </a:r>
                      <a:r>
                        <a:rPr lang="ko-KR" altLang="en-US" sz="1000" b="0" i="0" u="none" strike="noStrike" spc="0" baseline="0" dirty="0">
                          <a:solidFill>
                            <a:srgbClr val="FF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차량고장</a:t>
                      </a:r>
                      <a:r>
                        <a:rPr lang="en-US" altLang="ko-KR" sz="1000" b="0" i="0" u="none" strike="noStrike" spc="0" baseline="0" dirty="0">
                          <a:solidFill>
                            <a:srgbClr val="FF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, </a:t>
                      </a:r>
                      <a:r>
                        <a:rPr lang="ko-KR" altLang="en-US" sz="1000" b="0" i="0" u="none" strike="noStrike" spc="0" baseline="0" dirty="0">
                          <a:solidFill>
                            <a:srgbClr val="FF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안전점검 </a:t>
                      </a:r>
                      <a:endParaRPr lang="en-US" altLang="ko-KR" sz="1000" b="0" i="0" u="none" strike="noStrike" spc="0" baseline="0" dirty="0">
                        <a:solidFill>
                          <a:srgbClr val="FF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  <a:p>
                      <a:pPr algn="ctr" fontAlgn="ctr"/>
                      <a:r>
                        <a:rPr lang="ko-KR" altLang="en-US" sz="1000" b="0" i="0" u="none" strike="noStrike" spc="0" baseline="0" dirty="0" err="1">
                          <a:solidFill>
                            <a:srgbClr val="FF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미준수</a:t>
                      </a:r>
                      <a:r>
                        <a:rPr lang="en-US" altLang="ko-KR" sz="1000" b="0" i="0" u="none" strike="noStrike" spc="0" baseline="0" dirty="0">
                          <a:solidFill>
                            <a:srgbClr val="FF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,</a:t>
                      </a:r>
                      <a:r>
                        <a:rPr lang="ko-KR" altLang="en-US" sz="1000" b="0" i="0" u="none" strike="noStrike" spc="0" baseline="0" dirty="0">
                          <a:solidFill>
                            <a:srgbClr val="FF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불법개조 등의 원인은 과제의 기획의도와 부합하지 않으므로 고려하지 않음</a:t>
                      </a: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6987810"/>
                  </a:ext>
                </a:extLst>
              </a:tr>
              <a:tr h="11634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spc="-100" baseline="0" dirty="0">
                          <a:solidFill>
                            <a:srgbClr val="FF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11</a:t>
                      </a:r>
                      <a:endParaRPr lang="en-US" altLang="ko-KR" sz="1000" b="0" i="0" u="none" strike="noStrike" spc="-100" baseline="0" dirty="0">
                        <a:solidFill>
                          <a:srgbClr val="FF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spc="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부속품 파단</a:t>
                      </a:r>
                      <a:endParaRPr lang="ko-KR" altLang="en-US" sz="1000" b="0" i="0" u="none" strike="noStrike" spc="0" baseline="0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spc="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정지</a:t>
                      </a:r>
                      <a:endParaRPr lang="ko-KR" altLang="en-US" sz="1000" b="0" i="0" u="none" strike="noStrike" spc="0" baseline="0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spc="0" baseline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아웃트리거 파단</a:t>
                      </a:r>
                      <a:endParaRPr lang="ko-KR" altLang="en-US" sz="1000" b="0" i="0" u="none" strike="noStrike" spc="0" baseline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spc="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무게 밸런스 정렬 한계</a:t>
                      </a:r>
                      <a:endParaRPr lang="ko-KR" altLang="en-US" sz="1000" b="0" i="0" u="none" strike="noStrike" spc="0" baseline="0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spc="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작업중 전도</a:t>
                      </a:r>
                      <a:endParaRPr lang="ko-KR" altLang="en-US" sz="1000" b="0" i="0" u="none" strike="noStrike" spc="0" baseline="0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spc="0" baseline="0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4323822"/>
                  </a:ext>
                </a:extLst>
              </a:tr>
              <a:tr h="11634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spc="-100" baseline="0" dirty="0">
                          <a:solidFill>
                            <a:srgbClr val="FF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12</a:t>
                      </a:r>
                      <a:endParaRPr lang="en-US" altLang="ko-KR" sz="1000" b="0" i="0" u="none" strike="noStrike" spc="-100" baseline="0" dirty="0">
                        <a:solidFill>
                          <a:srgbClr val="FF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spc="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작업 과부하</a:t>
                      </a:r>
                      <a:endParaRPr lang="ko-KR" altLang="en-US" sz="1000" b="0" i="0" u="none" strike="noStrike" spc="0" baseline="0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spc="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정지</a:t>
                      </a:r>
                      <a:endParaRPr lang="ko-KR" altLang="en-US" sz="1000" b="0" i="0" u="none" strike="noStrike" spc="0" baseline="0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spc="0" baseline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붐 길이 임의로 연장</a:t>
                      </a:r>
                      <a:endParaRPr lang="ko-KR" altLang="en-US" sz="1000" b="0" i="0" u="none" strike="noStrike" spc="0" baseline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spc="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무게 밸런스 정렬 한계</a:t>
                      </a:r>
                      <a:endParaRPr lang="ko-KR" altLang="en-US" sz="1000" b="0" i="0" u="none" strike="noStrike" spc="0" baseline="0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spc="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작업중 전도</a:t>
                      </a:r>
                      <a:endParaRPr lang="ko-KR" altLang="en-US" sz="1000" b="0" i="0" u="none" strike="noStrike" spc="0" baseline="0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spc="0" baseline="0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1013355"/>
                  </a:ext>
                </a:extLst>
              </a:tr>
              <a:tr h="11634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spc="-100" baseline="0" dirty="0">
                          <a:solidFill>
                            <a:srgbClr val="FF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13</a:t>
                      </a:r>
                      <a:endParaRPr lang="en-US" altLang="ko-KR" sz="1000" b="0" i="0" u="none" strike="noStrike" spc="-100" baseline="0" dirty="0">
                        <a:solidFill>
                          <a:srgbClr val="FF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spc="-100" baseline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spc="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작업 반경 </a:t>
                      </a:r>
                      <a:r>
                        <a:rPr lang="ko-KR" altLang="en-US" sz="1000" u="none" strike="noStrike" spc="0" baseline="0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미준수</a:t>
                      </a:r>
                      <a:endParaRPr lang="ko-KR" altLang="en-US" sz="1000" b="0" i="0" u="none" strike="noStrike" spc="0" baseline="0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spc="0" baseline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spc="0" baseline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spc="0" baseline="0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1663459"/>
                  </a:ext>
                </a:extLst>
              </a:tr>
              <a:tr h="11634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spc="-100" baseline="0" dirty="0">
                          <a:solidFill>
                            <a:srgbClr val="FF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14</a:t>
                      </a:r>
                      <a:endParaRPr lang="en-US" altLang="ko-KR" sz="1000" b="0" i="0" u="none" strike="noStrike" spc="-100" baseline="0" dirty="0">
                        <a:solidFill>
                          <a:srgbClr val="FF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spc="-100" baseline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spc="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인양 각도 </a:t>
                      </a:r>
                      <a:r>
                        <a:rPr lang="ko-KR" altLang="en-US" sz="1000" u="none" strike="noStrike" spc="0" baseline="0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미준수</a:t>
                      </a:r>
                      <a:endParaRPr lang="ko-KR" altLang="en-US" sz="1000" b="0" i="0" u="none" strike="noStrike" spc="0" baseline="0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spc="0" baseline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spc="0" baseline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spc="0" baseline="0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3381170"/>
                  </a:ext>
                </a:extLst>
              </a:tr>
              <a:tr h="11634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spc="-100" baseline="0" dirty="0">
                          <a:solidFill>
                            <a:srgbClr val="FF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15</a:t>
                      </a:r>
                      <a:endParaRPr lang="en-US" altLang="ko-KR" sz="1000" b="0" i="0" u="none" strike="noStrike" spc="-100" baseline="0" dirty="0">
                        <a:solidFill>
                          <a:srgbClr val="FF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spc="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과부하방지장치 신호 무시</a:t>
                      </a:r>
                      <a:endParaRPr lang="ko-KR" altLang="en-US" sz="1000" b="0" i="0" u="none" strike="noStrike" spc="0" baseline="0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spc="0" baseline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spc="0" baseline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spc="0" baseline="0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78414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spc="-100" baseline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16</a:t>
                      </a:r>
                      <a:endParaRPr lang="en-US" altLang="ko-KR" sz="1000" b="0" i="0" u="none" strike="noStrike" spc="-100" baseline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1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spc="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충돌</a:t>
                      </a:r>
                      <a:endParaRPr lang="ko-KR" altLang="en-US" sz="1000" b="0" i="0" u="none" strike="noStrike" spc="0" baseline="0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6"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spc="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사람과 충돌</a:t>
                      </a:r>
                      <a:endParaRPr lang="ko-KR" altLang="en-US" sz="1000" b="0" i="0" u="none" strike="noStrike" spc="0" baseline="0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spc="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정지</a:t>
                      </a:r>
                      <a:endParaRPr lang="ko-KR" altLang="en-US" sz="1000" b="0" i="0" u="none" strike="noStrike" spc="0" baseline="0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spc="0" baseline="0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인양물</a:t>
                      </a:r>
                      <a:r>
                        <a:rPr lang="ko-KR" altLang="en-US" sz="1000" u="none" strike="noStrike" spc="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</a:t>
                      </a:r>
                      <a:r>
                        <a:rPr lang="ko-KR" altLang="en-US" sz="1000" u="none" strike="noStrike" spc="0" baseline="0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회전시</a:t>
                      </a:r>
                      <a:r>
                        <a:rPr lang="ko-KR" altLang="en-US" sz="1000" u="none" strike="noStrike" spc="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신호수 부재</a:t>
                      </a:r>
                      <a:endParaRPr lang="ko-KR" altLang="en-US" sz="1000" b="0" i="0" u="none" strike="noStrike" spc="0" baseline="0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spc="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사각지대 사람 존재</a:t>
                      </a:r>
                      <a:endParaRPr lang="ko-KR" altLang="en-US" sz="1000" b="0" i="0" u="none" strike="noStrike" spc="0" baseline="0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spc="0" baseline="0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인양물</a:t>
                      </a:r>
                      <a:r>
                        <a:rPr lang="ko-KR" altLang="en-US" sz="1000" u="none" strike="noStrike" spc="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또는 붐과 충돌</a:t>
                      </a:r>
                      <a:endParaRPr lang="ko-KR" altLang="en-US" sz="1000" b="0" i="0" u="none" strike="noStrike" spc="0" baseline="0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spc="0" baseline="0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61807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spc="-100" baseline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17</a:t>
                      </a:r>
                      <a:endParaRPr lang="en-US" altLang="ko-KR" sz="1000" b="0" i="0" u="none" strike="noStrike" spc="-100" baseline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95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spc="-100" baseline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spc="-100" baseline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spc="0" baseline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강풍</a:t>
                      </a:r>
                      <a:r>
                        <a:rPr lang="en-US" altLang="ko-KR" sz="1000" u="none" strike="noStrike" spc="0" baseline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/</a:t>
                      </a:r>
                      <a:r>
                        <a:rPr lang="ko-KR" altLang="en-US" sz="1000" u="none" strike="noStrike" spc="0" baseline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우천의 기상여건</a:t>
                      </a:r>
                      <a:endParaRPr lang="ko-KR" altLang="en-US" sz="1000" b="0" i="0" u="none" strike="noStrike" spc="0" baseline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spc="0" baseline="0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인양물의</a:t>
                      </a:r>
                      <a:r>
                        <a:rPr lang="ko-KR" altLang="en-US" sz="1000" u="none" strike="noStrike" spc="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흔들림</a:t>
                      </a:r>
                      <a:r>
                        <a:rPr lang="en-US" altLang="ko-KR" sz="1000" u="none" strike="noStrike" spc="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/</a:t>
                      </a:r>
                      <a:r>
                        <a:rPr lang="ko-KR" altLang="en-US" sz="1000" u="none" strike="noStrike" spc="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미끄러짐</a:t>
                      </a:r>
                      <a:endParaRPr lang="ko-KR" altLang="en-US" sz="1000" b="0" i="0" u="none" strike="noStrike" spc="0" baseline="0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spc="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거치하던 작업자와 충돌</a:t>
                      </a:r>
                      <a:endParaRPr lang="ko-KR" altLang="en-US" sz="1000" b="0" i="0" u="none" strike="noStrike" spc="0" baseline="0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spc="0" baseline="0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2266473"/>
                  </a:ext>
                </a:extLst>
              </a:tr>
              <a:tr h="11634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spc="-100" baseline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18</a:t>
                      </a:r>
                      <a:endParaRPr lang="en-US" altLang="ko-KR" sz="1000" b="0" i="0" u="none" strike="noStrike" spc="-100" baseline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95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spc="-100" baseline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spc="-100" baseline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spc="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작업중 주변 사람의 접근</a:t>
                      </a:r>
                      <a:endParaRPr lang="ko-KR" altLang="en-US" sz="1000" b="0" i="0" u="none" strike="noStrike" spc="0" baseline="0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spc="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작업 차량의 인지 실패</a:t>
                      </a:r>
                      <a:endParaRPr lang="ko-KR" altLang="en-US" sz="1000" b="0" i="0" u="none" strike="noStrike" spc="0" baseline="0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spc="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접근하는 사람과 충돌</a:t>
                      </a:r>
                      <a:endParaRPr lang="ko-KR" altLang="en-US" sz="1000" b="0" i="0" u="none" strike="noStrike" spc="0" baseline="0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spc="0" baseline="0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3000099"/>
                  </a:ext>
                </a:extLst>
              </a:tr>
              <a:tr h="11634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spc="-100" baseline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19</a:t>
                      </a:r>
                      <a:endParaRPr lang="en-US" altLang="ko-KR" sz="1000" b="0" i="0" u="none" strike="noStrike" spc="-100" baseline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95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spc="0" baseline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작업중 주변 사람의 접근</a:t>
                      </a:r>
                      <a:endParaRPr lang="ko-KR" altLang="en-US" sz="1000" b="0" i="0" u="none" strike="noStrike" spc="0" baseline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spc="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접근 사람의 위험 인지 실패</a:t>
                      </a:r>
                      <a:endParaRPr lang="ko-KR" altLang="en-US" sz="1000" b="0" i="0" u="none" strike="noStrike" spc="0" baseline="0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spc="0" baseline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374711"/>
                  </a:ext>
                </a:extLst>
              </a:tr>
              <a:tr h="11634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spc="-10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20</a:t>
                      </a:r>
                      <a:endParaRPr lang="en-US" altLang="ko-KR" sz="10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11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이동중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spc="0" baseline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예상 이동 경로에 작업자 존재</a:t>
                      </a:r>
                      <a:endParaRPr lang="ko-KR" altLang="en-US" sz="1000" b="0" i="0" u="none" strike="noStrike" spc="0" baseline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spc="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작업 차량의 인지 실패</a:t>
                      </a:r>
                      <a:endParaRPr lang="ko-KR" altLang="en-US" sz="1000" b="0" i="0" u="none" strike="noStrike" spc="0" baseline="0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spc="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작업자와 충돌</a:t>
                      </a:r>
                      <a:endParaRPr lang="ko-KR" altLang="en-US" sz="1000" b="0" i="0" u="none" strike="noStrike" spc="0" baseline="0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spc="0" baseline="0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2957096"/>
                  </a:ext>
                </a:extLst>
              </a:tr>
              <a:tr h="11634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spc="-100" baseline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21</a:t>
                      </a:r>
                      <a:endParaRPr lang="en-US" altLang="ko-KR" sz="1000" b="0" i="0" u="none" strike="noStrike" spc="-100" baseline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11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spc="0" baseline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예상 이동 경로에 사람 접근</a:t>
                      </a:r>
                      <a:endParaRPr lang="ko-KR" altLang="en-US" sz="1000" b="0" i="0" u="none" strike="noStrike" spc="0" baseline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spc="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접근 사람의 위험 인지 실패</a:t>
                      </a:r>
                      <a:endParaRPr lang="ko-KR" altLang="en-US" sz="1000" b="0" i="0" u="none" strike="noStrike" spc="0" baseline="0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spc="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상호 접근으로 충돌</a:t>
                      </a:r>
                      <a:endParaRPr lang="ko-KR" altLang="en-US" sz="1000" b="0" i="0" u="none" strike="noStrike" spc="0" baseline="0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spc="0" baseline="0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6581148"/>
                  </a:ext>
                </a:extLst>
              </a:tr>
              <a:tr h="11634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spc="-100" baseline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22</a:t>
                      </a:r>
                      <a:endParaRPr lang="en-US" altLang="ko-KR" sz="1000" b="0" i="0" u="none" strike="noStrike" spc="-100" baseline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95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spc="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차량과 충돌</a:t>
                      </a:r>
                      <a:endParaRPr lang="ko-KR" altLang="en-US" sz="1000" b="0" i="0" u="none" strike="noStrike" spc="0" baseline="0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spc="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정지</a:t>
                      </a:r>
                      <a:endParaRPr lang="ko-KR" altLang="en-US" sz="1000" b="0" i="0" u="none" strike="noStrike" spc="0" baseline="0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spc="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작업중 주변 차량의 접근</a:t>
                      </a:r>
                      <a:endParaRPr lang="ko-KR" altLang="en-US" sz="1000" b="0" i="0" u="none" strike="noStrike" spc="0" baseline="0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spc="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작업 차량의 인지 실패</a:t>
                      </a:r>
                      <a:endParaRPr lang="ko-KR" altLang="en-US" sz="1000" b="0" i="0" u="none" strike="noStrike" spc="0" baseline="0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spc="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접근하는 차량과 충돌</a:t>
                      </a:r>
                      <a:endParaRPr lang="ko-KR" altLang="en-US" sz="1000" b="0" i="0" u="none" strike="noStrike" spc="0" baseline="0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spc="0" baseline="0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1135581"/>
                  </a:ext>
                </a:extLst>
              </a:tr>
              <a:tr h="11634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spc="-100" baseline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23</a:t>
                      </a:r>
                      <a:endParaRPr lang="en-US" altLang="ko-KR" sz="1000" b="0" i="0" u="none" strike="noStrike" spc="-100" baseline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95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spc="-100" baseline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spc="0" baseline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spc="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접근 차량의 인지 실패</a:t>
                      </a:r>
                      <a:endParaRPr lang="ko-KR" altLang="en-US" sz="1000" b="0" i="0" u="none" strike="noStrike" spc="0" baseline="0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spc="0" baseline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64887"/>
                  </a:ext>
                </a:extLst>
              </a:tr>
              <a:tr h="11634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spc="-10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24</a:t>
                      </a:r>
                      <a:endParaRPr lang="en-US" altLang="ko-KR" sz="10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95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11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이동중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spc="0" baseline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예상 이동 경로에 차량 존재</a:t>
                      </a:r>
                      <a:endParaRPr lang="ko-KR" altLang="en-US" sz="1000" b="0" i="0" u="none" strike="noStrike" spc="0" baseline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spc="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작업 차량의 인지 실패</a:t>
                      </a:r>
                      <a:endParaRPr lang="ko-KR" altLang="en-US" sz="1000" b="0" i="0" u="none" strike="noStrike" spc="0" baseline="0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spc="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차량과 충돌</a:t>
                      </a:r>
                      <a:endParaRPr lang="ko-KR" altLang="en-US" sz="1000" b="0" i="0" u="none" strike="noStrike" spc="0" baseline="0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spc="0" baseline="0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3432653"/>
                  </a:ext>
                </a:extLst>
              </a:tr>
              <a:tr h="11634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spc="-10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25</a:t>
                      </a:r>
                      <a:endParaRPr lang="en-US" altLang="ko-KR" sz="10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95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11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spc="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예상 이동 경로에 차량 접근</a:t>
                      </a:r>
                      <a:endParaRPr lang="ko-KR" altLang="en-US" sz="1000" b="0" i="0" u="none" strike="noStrike" spc="0" baseline="0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spc="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접근 차량의 인지 실패</a:t>
                      </a:r>
                      <a:endParaRPr lang="ko-KR" altLang="en-US" sz="1000" b="0" i="0" u="none" strike="noStrike" spc="0" baseline="0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spc="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상호 접근 충돌</a:t>
                      </a:r>
                      <a:endParaRPr lang="ko-KR" altLang="en-US" sz="1000" b="0" i="0" u="none" strike="noStrike" spc="0" baseline="0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spc="0" baseline="0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4726613"/>
                  </a:ext>
                </a:extLst>
              </a:tr>
              <a:tr h="11634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spc="-10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26</a:t>
                      </a:r>
                      <a:endParaRPr lang="en-US" altLang="ko-KR" sz="10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11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spc="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도로 주행 상황</a:t>
                      </a:r>
                      <a:r>
                        <a:rPr lang="en-US" altLang="ko-KR" sz="1000" u="none" strike="noStrike" spc="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,</a:t>
                      </a:r>
                      <a:r>
                        <a:rPr lang="ko-KR" altLang="en-US" sz="1000" u="none" strike="noStrike" spc="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사각지대 차량</a:t>
                      </a:r>
                      <a:endParaRPr lang="ko-KR" altLang="en-US" sz="1000" b="0" i="0" u="none" strike="noStrike" spc="0" baseline="0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spc="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우회전 등 선회 상황</a:t>
                      </a:r>
                      <a:endParaRPr lang="ko-KR" altLang="en-US" sz="1000" b="0" i="0" u="none" strike="noStrike" spc="0" baseline="0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spc="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사각지대 차량 충돌</a:t>
                      </a:r>
                      <a:endParaRPr lang="ko-KR" altLang="en-US" sz="1000" b="0" i="0" u="none" strike="noStrike" spc="0" baseline="0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spc="0" baseline="0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2865214"/>
                  </a:ext>
                </a:extLst>
              </a:tr>
              <a:tr h="9307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spc="-10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27</a:t>
                      </a:r>
                      <a:endParaRPr lang="en-US" altLang="ko-KR" sz="10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95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spc="-7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차체</a:t>
                      </a:r>
                      <a:r>
                        <a:rPr lang="en-US" altLang="ko-KR" sz="1000" u="none" strike="noStrike" spc="-7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, </a:t>
                      </a:r>
                      <a:r>
                        <a:rPr lang="ko-KR" altLang="en-US" sz="1000" u="none" strike="noStrike" spc="-7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주변 구조물</a:t>
                      </a:r>
                      <a:endParaRPr lang="ko-KR" altLang="en-US" sz="1000" b="0" i="0" u="none" strike="noStrike" spc="-70" baseline="0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spc="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정지</a:t>
                      </a:r>
                      <a:endParaRPr lang="ko-KR" altLang="en-US" sz="1000" b="0" i="0" u="none" strike="noStrike" spc="0" baseline="0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spc="0" baseline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붐대의 수평</a:t>
                      </a:r>
                      <a:r>
                        <a:rPr lang="en-US" altLang="ko-KR" sz="1000" u="none" strike="noStrike" spc="0" baseline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/</a:t>
                      </a:r>
                      <a:r>
                        <a:rPr lang="ko-KR" altLang="en-US" sz="1000" u="none" strike="noStrike" spc="0" baseline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수직 이동</a:t>
                      </a:r>
                      <a:endParaRPr lang="ko-KR" altLang="en-US" sz="1000" b="0" i="0" u="none" strike="noStrike" spc="0" baseline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spc="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주위 구조물</a:t>
                      </a:r>
                      <a:r>
                        <a:rPr lang="en-US" altLang="ko-KR" sz="1000" u="none" strike="noStrike" spc="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</a:t>
                      </a:r>
                      <a:r>
                        <a:rPr lang="ko-KR" altLang="en-US" sz="1000" u="none" strike="noStrike" spc="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인지 실패</a:t>
                      </a:r>
                      <a:endParaRPr lang="ko-KR" altLang="en-US" sz="1000" b="0" i="0" u="none" strike="noStrike" spc="0" baseline="0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spc="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주위 구조물 충돌</a:t>
                      </a:r>
                      <a:endParaRPr lang="ko-KR" altLang="en-US" sz="1000" b="0" i="0" u="none" strike="noStrike" spc="0" baseline="0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spc="0" baseline="0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41668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7039162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별첨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 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위험 상황</a:t>
            </a:r>
            <a:r>
              <a:rPr lang="ko-KR" altLang="en-US" dirty="0"/>
              <a:t> </a:t>
            </a:r>
            <a:r>
              <a:rPr lang="en-US" altLang="ko-KR" dirty="0"/>
              <a:t>(2/2)</a:t>
            </a:r>
            <a:endParaRPr lang="ko-KR" altLang="en-US" dirty="0"/>
          </a:p>
        </p:txBody>
      </p:sp>
      <p:graphicFrame>
        <p:nvGraphicFramePr>
          <p:cNvPr id="4" name="표 3"/>
          <p:cNvGraphicFramePr>
            <a:graphicFrameLocks noGrp="1"/>
          </p:cNvGraphicFramePr>
          <p:nvPr/>
        </p:nvGraphicFramePr>
        <p:xfrm>
          <a:off x="0" y="958579"/>
          <a:ext cx="9905999" cy="506216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58792">
                  <a:extLst>
                    <a:ext uri="{9D8B030D-6E8A-4147-A177-3AD203B41FA5}">
                      <a16:colId xmlns:a16="http://schemas.microsoft.com/office/drawing/2014/main" val="3259802261"/>
                    </a:ext>
                  </a:extLst>
                </a:gridCol>
                <a:gridCol w="388189">
                  <a:extLst>
                    <a:ext uri="{9D8B030D-6E8A-4147-A177-3AD203B41FA5}">
                      <a16:colId xmlns:a16="http://schemas.microsoft.com/office/drawing/2014/main" val="670215189"/>
                    </a:ext>
                  </a:extLst>
                </a:gridCol>
                <a:gridCol w="707366">
                  <a:extLst>
                    <a:ext uri="{9D8B030D-6E8A-4147-A177-3AD203B41FA5}">
                      <a16:colId xmlns:a16="http://schemas.microsoft.com/office/drawing/2014/main" val="1055629179"/>
                    </a:ext>
                  </a:extLst>
                </a:gridCol>
                <a:gridCol w="431321">
                  <a:extLst>
                    <a:ext uri="{9D8B030D-6E8A-4147-A177-3AD203B41FA5}">
                      <a16:colId xmlns:a16="http://schemas.microsoft.com/office/drawing/2014/main" val="1660550142"/>
                    </a:ext>
                  </a:extLst>
                </a:gridCol>
                <a:gridCol w="2165230">
                  <a:extLst>
                    <a:ext uri="{9D8B030D-6E8A-4147-A177-3AD203B41FA5}">
                      <a16:colId xmlns:a16="http://schemas.microsoft.com/office/drawing/2014/main" val="2462998316"/>
                    </a:ext>
                  </a:extLst>
                </a:gridCol>
                <a:gridCol w="1958196">
                  <a:extLst>
                    <a:ext uri="{9D8B030D-6E8A-4147-A177-3AD203B41FA5}">
                      <a16:colId xmlns:a16="http://schemas.microsoft.com/office/drawing/2014/main" val="3988445820"/>
                    </a:ext>
                  </a:extLst>
                </a:gridCol>
                <a:gridCol w="1785668">
                  <a:extLst>
                    <a:ext uri="{9D8B030D-6E8A-4147-A177-3AD203B41FA5}">
                      <a16:colId xmlns:a16="http://schemas.microsoft.com/office/drawing/2014/main" val="3423584440"/>
                    </a:ext>
                  </a:extLst>
                </a:gridCol>
                <a:gridCol w="2211237">
                  <a:extLst>
                    <a:ext uri="{9D8B030D-6E8A-4147-A177-3AD203B41FA5}">
                      <a16:colId xmlns:a16="http://schemas.microsoft.com/office/drawing/2014/main" val="2063207873"/>
                    </a:ext>
                  </a:extLst>
                </a:gridCol>
              </a:tblGrid>
              <a:tr h="186153"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 spc="-100" baseline="0" dirty="0">
                        <a:solidFill>
                          <a:schemeClr val="bg1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spc="-100" baseline="0" dirty="0">
                          <a:solidFill>
                            <a:schemeClr val="bg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발생 형태</a:t>
                      </a:r>
                      <a:endParaRPr lang="ko-KR" altLang="en-US" sz="1000" b="1" i="0" u="none" strike="noStrike" spc="-100" baseline="0" dirty="0">
                        <a:solidFill>
                          <a:schemeClr val="bg1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spc="-100" baseline="0">
                          <a:solidFill>
                            <a:schemeClr val="bg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발생 원인</a:t>
                      </a:r>
                      <a:endParaRPr lang="ko-KR" altLang="en-US" sz="1000" b="1" i="0" u="none" strike="noStrike" spc="-100" baseline="0">
                        <a:solidFill>
                          <a:schemeClr val="bg1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spc="-100" baseline="0" dirty="0">
                          <a:solidFill>
                            <a:schemeClr val="bg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이동 상태</a:t>
                      </a:r>
                      <a:endParaRPr lang="ko-KR" altLang="en-US" sz="1000" b="1" i="0" u="none" strike="noStrike" spc="-100" baseline="0" dirty="0">
                        <a:solidFill>
                          <a:schemeClr val="bg1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spc="-100" baseline="0" dirty="0">
                          <a:solidFill>
                            <a:schemeClr val="bg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원인 </a:t>
                      </a:r>
                      <a:r>
                        <a:rPr lang="en-US" altLang="ko-KR" sz="1000" b="1" u="none" strike="noStrike" spc="-100" baseline="0" dirty="0">
                          <a:solidFill>
                            <a:schemeClr val="bg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1</a:t>
                      </a:r>
                      <a:endParaRPr lang="en-US" altLang="ko-KR" sz="1000" b="1" i="0" u="none" strike="noStrike" spc="-100" baseline="0" dirty="0">
                        <a:solidFill>
                          <a:schemeClr val="bg1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spc="-100" baseline="0">
                          <a:solidFill>
                            <a:schemeClr val="bg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원인 </a:t>
                      </a:r>
                      <a:r>
                        <a:rPr lang="en-US" altLang="ko-KR" sz="1000" b="1" u="none" strike="noStrike" spc="-100" baseline="0">
                          <a:solidFill>
                            <a:schemeClr val="bg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2</a:t>
                      </a:r>
                      <a:endParaRPr lang="en-US" altLang="ko-KR" sz="1000" b="1" i="0" u="none" strike="noStrike" spc="-100" baseline="0">
                        <a:solidFill>
                          <a:schemeClr val="bg1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spc="-100" baseline="0" dirty="0">
                          <a:solidFill>
                            <a:schemeClr val="bg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결과</a:t>
                      </a:r>
                      <a:endParaRPr lang="ko-KR" altLang="en-US" sz="1000" b="1" i="0" u="none" strike="noStrike" spc="-100" baseline="0" dirty="0">
                        <a:solidFill>
                          <a:schemeClr val="bg1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1" i="0" u="none" strike="noStrike" spc="-100" baseline="0" dirty="0">
                        <a:solidFill>
                          <a:schemeClr val="bg1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333046"/>
                  </a:ext>
                </a:extLst>
              </a:tr>
              <a:tr h="22562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spc="-10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28</a:t>
                      </a:r>
                      <a:endParaRPr lang="en-US" altLang="ko-KR" sz="10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7"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spc="-10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협착</a:t>
                      </a:r>
                      <a:endParaRPr lang="ko-KR" altLang="en-US" sz="10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spc="-10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차량에 협착</a:t>
                      </a:r>
                      <a:endParaRPr lang="ko-KR" altLang="en-US" sz="10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11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이동중</a:t>
                      </a:r>
                      <a:endParaRPr kumimoji="0" lang="ko-KR" altLang="en-US" sz="10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spc="-10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특장차 현장내 후진</a:t>
                      </a:r>
                      <a:endParaRPr lang="ko-KR" altLang="en-US" sz="10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spc="-10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작업자가 특장차 하부로 </a:t>
                      </a:r>
                      <a:r>
                        <a:rPr lang="ko-KR" altLang="en-US" sz="1000" u="none" strike="noStrike" spc="-100" baseline="0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빨려들어감</a:t>
                      </a:r>
                      <a:endParaRPr lang="ko-KR" altLang="en-US" sz="10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spc="-10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바퀴에 협착</a:t>
                      </a:r>
                      <a:endParaRPr lang="ko-KR" altLang="en-US" sz="10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spc="-100" baseline="0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충돌 상황과 통합하여 시나리오 구성</a:t>
                      </a: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5942832"/>
                  </a:ext>
                </a:extLst>
              </a:tr>
              <a:tr h="22562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spc="-10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29</a:t>
                      </a:r>
                      <a:endParaRPr lang="en-US" altLang="ko-KR" sz="10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95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11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spc="-10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정차해있던 차량이 오작동으로 움직임</a:t>
                      </a:r>
                      <a:endParaRPr lang="ko-KR" altLang="en-US" sz="10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spc="-10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운전자가 급히 올라타던 중 추락</a:t>
                      </a:r>
                      <a:endParaRPr lang="ko-KR" altLang="en-US" sz="10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pc="-100" baseline="0" dirty="0">
                          <a:solidFill>
                            <a:srgbClr val="FF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안전수칙 미준수는 고려하지 않음</a:t>
                      </a: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141810"/>
                  </a:ext>
                </a:extLst>
              </a:tr>
              <a:tr h="22562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spc="-100" baseline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30</a:t>
                      </a:r>
                      <a:endParaRPr lang="en-US" altLang="ko-KR" sz="1000" b="0" i="0" u="none" strike="noStrike" spc="-100" baseline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95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spc="-10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벽면에 협착</a:t>
                      </a:r>
                      <a:endParaRPr lang="ko-KR" altLang="en-US" sz="10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spc="-10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정지</a:t>
                      </a:r>
                      <a:endParaRPr lang="ko-KR" altLang="en-US" sz="10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spc="-100" baseline="0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인양물</a:t>
                      </a:r>
                      <a:r>
                        <a:rPr lang="ko-KR" altLang="en-US" sz="1000" u="none" strike="noStrike" spc="-10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</a:t>
                      </a:r>
                      <a:r>
                        <a:rPr lang="ko-KR" altLang="en-US" sz="1000" u="none" strike="noStrike" spc="-100" baseline="0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거치상황</a:t>
                      </a:r>
                      <a:r>
                        <a:rPr lang="en-US" altLang="ko-KR" sz="1000" u="none" strike="noStrike" spc="-10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,</a:t>
                      </a:r>
                      <a:r>
                        <a:rPr lang="ko-KR" altLang="en-US" sz="1000" u="none" strike="noStrike" spc="-10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사각지대의 작업자</a:t>
                      </a:r>
                      <a:endParaRPr lang="ko-KR" altLang="en-US" sz="10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spc="-10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신호수의 발견 실패로 </a:t>
                      </a:r>
                      <a:r>
                        <a:rPr lang="ko-KR" altLang="en-US" sz="1000" u="none" strike="noStrike" spc="-100" baseline="0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인양물</a:t>
                      </a:r>
                      <a:r>
                        <a:rPr lang="ko-KR" altLang="en-US" sz="1000" u="none" strike="noStrike" spc="-10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거치</a:t>
                      </a:r>
                      <a:endParaRPr lang="ko-KR" altLang="en-US" sz="10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spc="-100" baseline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인양물과 벽체에 협착</a:t>
                      </a:r>
                      <a:endParaRPr lang="ko-KR" altLang="en-US" sz="1000" b="0" i="0" u="none" strike="noStrike" spc="-100" baseline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spc="-100" baseline="0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충돌 상황과 통합하여 시나리오 구성</a:t>
                      </a: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8382197"/>
                  </a:ext>
                </a:extLst>
              </a:tr>
              <a:tr h="22562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spc="-10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31</a:t>
                      </a:r>
                      <a:endParaRPr lang="en-US" altLang="ko-KR" sz="10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95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spc="-10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이동중</a:t>
                      </a:r>
                      <a:endParaRPr lang="ko-KR" altLang="en-US" sz="10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spc="-10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하차과정에서 차량이 움직임</a:t>
                      </a:r>
                      <a:endParaRPr lang="ko-KR" altLang="en-US" sz="10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spc="-10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하차 과정에서 차량이 </a:t>
                      </a:r>
                      <a:r>
                        <a:rPr lang="ko-KR" altLang="en-US" sz="1000" u="none" strike="noStrike" spc="-100" baseline="0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벽쪽으로</a:t>
                      </a:r>
                      <a:r>
                        <a:rPr lang="ko-KR" altLang="en-US" sz="1000" u="none" strike="noStrike" spc="-10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밀착</a:t>
                      </a:r>
                      <a:endParaRPr lang="ko-KR" altLang="en-US" sz="10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spc="-10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차량과 벽사이에 운전자 협착</a:t>
                      </a:r>
                      <a:endParaRPr lang="ko-KR" altLang="en-US" sz="10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pc="-100" baseline="0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충돌 상황과 통합하여 시나리오 구성</a:t>
                      </a: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4002509"/>
                  </a:ext>
                </a:extLst>
              </a:tr>
              <a:tr h="22562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spc="-100" baseline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32</a:t>
                      </a:r>
                      <a:endParaRPr lang="en-US" altLang="ko-KR" sz="1000" b="0" i="0" u="none" strike="noStrike" spc="-100" baseline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95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spc="-10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자재에 협착</a:t>
                      </a:r>
                      <a:endParaRPr lang="ko-KR" altLang="en-US" sz="10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spc="-10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정지</a:t>
                      </a:r>
                      <a:endParaRPr lang="ko-KR" altLang="en-US" sz="10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spc="-100" baseline="0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정차중</a:t>
                      </a:r>
                      <a:r>
                        <a:rPr lang="ko-KR" altLang="en-US" sz="1000" u="none" strike="noStrike" spc="-10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트럭 적재함 점검</a:t>
                      </a:r>
                      <a:endParaRPr lang="ko-KR" altLang="en-US" sz="10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spc="-100" baseline="0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점검중</a:t>
                      </a:r>
                      <a:r>
                        <a:rPr lang="ko-KR" altLang="en-US" sz="1000" u="none" strike="noStrike" spc="-10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적재함이 하강</a:t>
                      </a:r>
                      <a:endParaRPr lang="ko-KR" altLang="en-US" sz="10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spc="-10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차체와 적재함 사이에 작업자 협착</a:t>
                      </a:r>
                      <a:endParaRPr lang="ko-KR" altLang="en-US" sz="10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1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pc="-100" baseline="0" dirty="0">
                          <a:solidFill>
                            <a:srgbClr val="FF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차량 오작동</a:t>
                      </a:r>
                      <a:r>
                        <a:rPr lang="en-US" altLang="ko-KR" sz="1000" b="0" i="0" u="none" strike="noStrike" spc="-100" baseline="0" dirty="0">
                          <a:solidFill>
                            <a:srgbClr val="FF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, </a:t>
                      </a:r>
                      <a:r>
                        <a:rPr lang="ko-KR" altLang="en-US" sz="1000" b="0" i="0" u="none" strike="noStrike" spc="-100" baseline="0" dirty="0">
                          <a:solidFill>
                            <a:srgbClr val="FF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안전 수칙 미준수로 인한 </a:t>
                      </a:r>
                      <a:br>
                        <a:rPr lang="en-US" altLang="ko-KR" sz="1000" b="0" i="0" u="none" strike="noStrike" spc="-100" baseline="0" dirty="0">
                          <a:solidFill>
                            <a:srgbClr val="FF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</a:br>
                      <a:r>
                        <a:rPr lang="ko-KR" altLang="en-US" sz="1000" b="0" i="0" u="none" strike="noStrike" spc="-100" baseline="0" dirty="0">
                          <a:solidFill>
                            <a:srgbClr val="FF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사고발생은 고려하지 않음</a:t>
                      </a: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0270533"/>
                  </a:ext>
                </a:extLst>
              </a:tr>
              <a:tr h="22562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spc="-100" baseline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33</a:t>
                      </a:r>
                      <a:endParaRPr lang="en-US" altLang="ko-KR" sz="1000" b="0" i="0" u="none" strike="noStrike" spc="-100" baseline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95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11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이동중</a:t>
                      </a:r>
                      <a:endParaRPr kumimoji="0" lang="ko-KR" altLang="en-US" sz="10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spc="-10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하역작업 중 </a:t>
                      </a:r>
                      <a:r>
                        <a:rPr lang="ko-KR" altLang="en-US" sz="1000" u="none" strike="noStrike" spc="-100" baseline="0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적재물</a:t>
                      </a:r>
                      <a:r>
                        <a:rPr lang="ko-KR" altLang="en-US" sz="1000" u="none" strike="noStrike" spc="-10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앞 작업자</a:t>
                      </a:r>
                      <a:endParaRPr lang="ko-KR" altLang="en-US" sz="10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spc="-10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적재함 폐쇄 미흡으로 </a:t>
                      </a:r>
                      <a:r>
                        <a:rPr lang="ko-KR" altLang="en-US" sz="1000" u="none" strike="noStrike" spc="-100" baseline="0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적재물</a:t>
                      </a:r>
                      <a:r>
                        <a:rPr lang="ko-KR" altLang="en-US" sz="1000" u="none" strike="noStrike" spc="-10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낙하</a:t>
                      </a:r>
                      <a:endParaRPr lang="ko-KR" altLang="en-US" sz="10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spc="-100" baseline="0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적재물에</a:t>
                      </a:r>
                      <a:r>
                        <a:rPr lang="ko-KR" altLang="en-US" sz="1000" u="none" strike="noStrike" spc="-10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작업자 협착</a:t>
                      </a:r>
                      <a:endParaRPr lang="ko-KR" altLang="en-US" sz="10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6238335"/>
                  </a:ext>
                </a:extLst>
              </a:tr>
              <a:tr h="22562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spc="-10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34</a:t>
                      </a:r>
                      <a:endParaRPr lang="en-US" altLang="ko-KR" sz="10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9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11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spc="-10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적재함을 </a:t>
                      </a:r>
                      <a:r>
                        <a:rPr lang="ko-KR" altLang="en-US" sz="1000" u="none" strike="noStrike" spc="-100" baseline="0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닫으려다</a:t>
                      </a:r>
                      <a:r>
                        <a:rPr lang="ko-KR" altLang="en-US" sz="1000" u="none" strike="noStrike" spc="-10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</a:t>
                      </a:r>
                      <a:r>
                        <a:rPr lang="ko-KR" altLang="en-US" sz="1000" u="none" strike="noStrike" spc="-100" baseline="0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적재물이</a:t>
                      </a:r>
                      <a:r>
                        <a:rPr lang="ko-KR" altLang="en-US" sz="1000" u="none" strike="noStrike" spc="-10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낙하</a:t>
                      </a:r>
                      <a:endParaRPr lang="ko-KR" altLang="en-US" sz="10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2713514"/>
                  </a:ext>
                </a:extLst>
              </a:tr>
              <a:tr h="22562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spc="-100" baseline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35</a:t>
                      </a:r>
                      <a:endParaRPr lang="en-US" altLang="ko-KR" sz="1000" b="0" i="0" u="none" strike="noStrike" spc="-100" baseline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17"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spc="-10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낙하</a:t>
                      </a:r>
                      <a:endParaRPr lang="ko-KR" altLang="en-US" sz="10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spc="-10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자재 낙하</a:t>
                      </a:r>
                      <a:endParaRPr lang="ko-KR" altLang="en-US" sz="10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11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이동중</a:t>
                      </a:r>
                      <a:endParaRPr kumimoji="0" lang="ko-KR" altLang="en-US" sz="10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spc="-100" baseline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적재함 고정장치 고장</a:t>
                      </a:r>
                      <a:endParaRPr lang="ko-KR" altLang="en-US" sz="1000" b="0" i="0" u="none" strike="noStrike" spc="-100" baseline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spc="-10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차량 </a:t>
                      </a:r>
                      <a:r>
                        <a:rPr lang="ko-KR" altLang="en-US" sz="1000" u="none" strike="noStrike" spc="-100" baseline="0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선회중</a:t>
                      </a:r>
                      <a:r>
                        <a:rPr lang="ko-KR" altLang="en-US" sz="1000" u="none" strike="noStrike" spc="-10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적재함 열림</a:t>
                      </a:r>
                      <a:endParaRPr lang="ko-KR" altLang="en-US" sz="10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spc="-100" baseline="0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적재물</a:t>
                      </a:r>
                      <a:r>
                        <a:rPr lang="ko-KR" altLang="en-US" sz="1000" u="none" strike="noStrike" spc="-10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도로에 추락</a:t>
                      </a:r>
                      <a:endParaRPr lang="ko-KR" altLang="en-US" sz="10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1523104"/>
                  </a:ext>
                </a:extLst>
              </a:tr>
              <a:tr h="22562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spc="-100" baseline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36</a:t>
                      </a:r>
                      <a:endParaRPr lang="en-US" altLang="ko-KR" sz="1000" b="0" i="0" u="none" strike="noStrike" spc="-100" baseline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95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11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spc="-10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적재함 고정장치 잠금 미숙</a:t>
                      </a:r>
                      <a:endParaRPr lang="ko-KR" altLang="en-US" sz="10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8391913"/>
                  </a:ext>
                </a:extLst>
              </a:tr>
              <a:tr h="22562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spc="-100" baseline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37</a:t>
                      </a:r>
                      <a:endParaRPr lang="en-US" altLang="ko-KR" sz="1000" b="0" i="0" u="none" strike="noStrike" spc="-100" baseline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95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spc="-100" baseline="0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인양물</a:t>
                      </a:r>
                      <a:r>
                        <a:rPr lang="ko-KR" altLang="en-US" sz="1000" u="none" strike="noStrike" spc="-10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낙하</a:t>
                      </a:r>
                      <a:endParaRPr lang="ko-KR" altLang="en-US" sz="10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spc="-10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정지</a:t>
                      </a:r>
                      <a:endParaRPr lang="ko-KR" altLang="en-US" sz="10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spc="-100" baseline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줄걸이로 인양물 인양</a:t>
                      </a:r>
                      <a:endParaRPr lang="ko-KR" altLang="en-US" sz="1000" b="0" i="0" u="none" strike="noStrike" spc="-100" baseline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spc="-100" baseline="0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편하중</a:t>
                      </a:r>
                      <a:r>
                        <a:rPr lang="en-US" altLang="ko-KR" sz="1000" u="none" strike="noStrike" spc="-10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/</a:t>
                      </a:r>
                      <a:r>
                        <a:rPr lang="ko-KR" altLang="en-US" sz="1000" u="none" strike="noStrike" spc="-10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적재불량으로 기울어짐</a:t>
                      </a:r>
                      <a:endParaRPr lang="ko-KR" altLang="en-US" sz="10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spc="-100" baseline="0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적재물</a:t>
                      </a:r>
                      <a:r>
                        <a:rPr lang="ko-KR" altLang="en-US" sz="1000" u="none" strike="noStrike" spc="-10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낙하</a:t>
                      </a:r>
                      <a:endParaRPr lang="ko-KR" altLang="en-US" sz="10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5888240"/>
                  </a:ext>
                </a:extLst>
              </a:tr>
              <a:tr h="22562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spc="-10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38</a:t>
                      </a:r>
                      <a:endParaRPr lang="en-US" altLang="ko-KR" sz="10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spc="-10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화물 </a:t>
                      </a:r>
                      <a:r>
                        <a:rPr lang="ko-KR" altLang="en-US" sz="1000" u="none" strike="noStrike" spc="-100" baseline="0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적재불량</a:t>
                      </a:r>
                      <a:endParaRPr lang="ko-KR" altLang="en-US" sz="10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spc="-100" baseline="0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운반구</a:t>
                      </a:r>
                      <a:r>
                        <a:rPr lang="ko-KR" altLang="en-US" sz="1000" u="none" strike="noStrike" spc="-10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</a:t>
                      </a:r>
                      <a:r>
                        <a:rPr lang="ko-KR" altLang="en-US" sz="1000" u="none" strike="noStrike" spc="-100" baseline="0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승하강</a:t>
                      </a:r>
                      <a:endParaRPr lang="ko-KR" altLang="en-US" sz="10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1559646"/>
                  </a:ext>
                </a:extLst>
              </a:tr>
              <a:tr h="22562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spc="-10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39</a:t>
                      </a:r>
                      <a:endParaRPr lang="en-US" altLang="ko-KR" sz="10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95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spc="-100" baseline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spc="-10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기상 악화 </a:t>
                      </a:r>
                      <a:r>
                        <a:rPr lang="en-US" altLang="ko-KR" sz="1000" u="none" strike="noStrike" spc="-10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(</a:t>
                      </a:r>
                      <a:r>
                        <a:rPr lang="ko-KR" altLang="en-US" sz="1000" u="none" strike="noStrike" spc="-10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강풍</a:t>
                      </a:r>
                      <a:r>
                        <a:rPr lang="en-US" altLang="ko-KR" sz="1000" u="none" strike="noStrike" spc="-10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, </a:t>
                      </a:r>
                      <a:r>
                        <a:rPr lang="ko-KR" altLang="en-US" sz="1000" u="none" strike="noStrike" spc="-10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폭우</a:t>
                      </a:r>
                      <a:r>
                        <a:rPr lang="en-US" altLang="ko-KR" sz="1000" u="none" strike="noStrike" spc="-10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)</a:t>
                      </a:r>
                      <a:endParaRPr lang="en-US" altLang="ko-KR" sz="10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spc="-100" baseline="0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인양물이</a:t>
                      </a:r>
                      <a:r>
                        <a:rPr lang="ko-KR" altLang="en-US" sz="1000" u="none" strike="noStrike" spc="-10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흔들림</a:t>
                      </a:r>
                      <a:endParaRPr lang="ko-KR" altLang="en-US" sz="10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spc="-10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이탈 및 낙하</a:t>
                      </a:r>
                      <a:endParaRPr lang="ko-KR" altLang="en-US" sz="10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9345446"/>
                  </a:ext>
                </a:extLst>
              </a:tr>
              <a:tr h="22562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spc="-10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40</a:t>
                      </a:r>
                      <a:endParaRPr lang="en-US" altLang="ko-KR" sz="10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95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spc="-10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특장차의 </a:t>
                      </a:r>
                      <a:r>
                        <a:rPr lang="ko-KR" altLang="en-US" sz="1000" u="none" strike="noStrike" spc="-100" baseline="0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줄걸이</a:t>
                      </a:r>
                      <a:r>
                        <a:rPr lang="ko-KR" altLang="en-US" sz="1000" u="none" strike="noStrike" spc="-10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균열</a:t>
                      </a:r>
                      <a:r>
                        <a:rPr lang="en-US" altLang="ko-KR" sz="1000" u="none" strike="noStrike" spc="-10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/</a:t>
                      </a:r>
                      <a:r>
                        <a:rPr lang="ko-KR" altLang="en-US" sz="1000" u="none" strike="noStrike" spc="-10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결함</a:t>
                      </a:r>
                      <a:endParaRPr lang="ko-KR" altLang="en-US" sz="10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spc="-10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인양 중 </a:t>
                      </a:r>
                      <a:r>
                        <a:rPr lang="ko-KR" altLang="en-US" sz="1000" u="none" strike="noStrike" spc="-100" baseline="0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줄걸이</a:t>
                      </a:r>
                      <a:r>
                        <a:rPr lang="ko-KR" altLang="en-US" sz="1000" u="none" strike="noStrike" spc="-10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끊어짐</a:t>
                      </a:r>
                      <a:endParaRPr lang="ko-KR" altLang="en-US" sz="10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spc="-100" baseline="0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인양물</a:t>
                      </a:r>
                      <a:r>
                        <a:rPr lang="ko-KR" altLang="en-US" sz="1000" u="none" strike="noStrike" spc="-10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낙하</a:t>
                      </a:r>
                      <a:endParaRPr lang="ko-KR" altLang="en-US" sz="10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7295040"/>
                  </a:ext>
                </a:extLst>
              </a:tr>
              <a:tr h="22562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spc="-10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41</a:t>
                      </a:r>
                      <a:endParaRPr lang="en-US" altLang="ko-KR" sz="10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95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11"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spc="-10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작업자 추락</a:t>
                      </a:r>
                      <a:endParaRPr lang="ko-KR" altLang="en-US" sz="10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11"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spc="-10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정지</a:t>
                      </a:r>
                      <a:endParaRPr lang="ko-KR" altLang="en-US" sz="10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spc="-10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작업자 탑승한 탑승 설비 인양</a:t>
                      </a:r>
                      <a:endParaRPr lang="ko-KR" altLang="en-US" sz="10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spc="-100" baseline="0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줄걸이</a:t>
                      </a:r>
                      <a:r>
                        <a:rPr lang="ko-KR" altLang="en-US" sz="1000" u="none" strike="noStrike" spc="-10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부적합으로 인한 </a:t>
                      </a:r>
                      <a:r>
                        <a:rPr lang="ko-KR" altLang="en-US" sz="1000" u="none" strike="noStrike" spc="-100" baseline="0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줄걸이</a:t>
                      </a:r>
                      <a:r>
                        <a:rPr lang="ko-KR" altLang="en-US" sz="1000" u="none" strike="noStrike" spc="-10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끊김</a:t>
                      </a:r>
                      <a:endParaRPr lang="ko-KR" altLang="en-US" sz="10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11"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spc="-10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작업자 추락</a:t>
                      </a:r>
                      <a:endParaRPr lang="ko-KR" altLang="en-US" sz="10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1609572"/>
                  </a:ext>
                </a:extLst>
              </a:tr>
              <a:tr h="19338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spc="-100" baseline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42</a:t>
                      </a:r>
                      <a:endParaRPr lang="en-US" altLang="ko-KR" sz="1000" b="0" i="0" u="none" strike="noStrike" spc="-100" baseline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95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spc="-100" baseline="0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후크</a:t>
                      </a:r>
                      <a:r>
                        <a:rPr lang="en-US" altLang="ko-KR" sz="1000" u="none" strike="noStrike" spc="-10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/</a:t>
                      </a:r>
                      <a:r>
                        <a:rPr lang="ko-KR" altLang="en-US" sz="1000" u="none" strike="noStrike" spc="-10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클립의 부적합 또는 </a:t>
                      </a:r>
                      <a:r>
                        <a:rPr lang="ko-KR" altLang="en-US" sz="1000" u="none" strike="noStrike" spc="-100" baseline="0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결속부</a:t>
                      </a:r>
                      <a:r>
                        <a:rPr lang="ko-KR" altLang="en-US" sz="1000" u="none" strike="noStrike" spc="-10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파단</a:t>
                      </a:r>
                      <a:endParaRPr lang="ko-KR" altLang="en-US" sz="10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spc="-100" baseline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7510973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spc="-100" baseline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43</a:t>
                      </a:r>
                      <a:endParaRPr lang="en-US" altLang="ko-KR" sz="1000" b="0" i="0" u="none" strike="noStrike" spc="-100" baseline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95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spc="-10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작업자 </a:t>
                      </a:r>
                      <a:r>
                        <a:rPr lang="ko-KR" altLang="en-US" sz="1000" u="none" strike="noStrike" spc="-100" baseline="0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탑승설비가</a:t>
                      </a:r>
                      <a:r>
                        <a:rPr lang="ko-KR" altLang="en-US" sz="1000" u="none" strike="noStrike" spc="-10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</a:t>
                      </a:r>
                      <a:r>
                        <a:rPr lang="ko-KR" altLang="en-US" sz="1000" u="none" strike="noStrike" spc="-100" baseline="0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벽등을</a:t>
                      </a:r>
                      <a:r>
                        <a:rPr lang="ko-KR" altLang="en-US" sz="1000" u="none" strike="noStrike" spc="-10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타격</a:t>
                      </a:r>
                      <a:endParaRPr lang="ko-KR" altLang="en-US" sz="10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spc="-100" baseline="0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-</a:t>
                      </a:r>
                      <a:endParaRPr lang="ko-KR" altLang="en-US" sz="10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spc="-100" baseline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0695391"/>
                  </a:ext>
                </a:extLst>
              </a:tr>
              <a:tr h="16115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spc="-100" baseline="0" dirty="0">
                          <a:solidFill>
                            <a:srgbClr val="FF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기상상황은 고려하지 않음</a:t>
                      </a: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163428"/>
                  </a:ext>
                </a:extLst>
              </a:tr>
              <a:tr h="96695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spc="-100" baseline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44</a:t>
                      </a:r>
                      <a:endParaRPr lang="en-US" altLang="ko-KR" sz="1000" b="0" i="0" u="none" strike="noStrike" spc="-100" baseline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95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spc="-100" baseline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spc="-10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기상 악화 </a:t>
                      </a:r>
                      <a:r>
                        <a:rPr lang="en-US" altLang="ko-KR" sz="1000" u="none" strike="noStrike" spc="-10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(</a:t>
                      </a:r>
                      <a:r>
                        <a:rPr lang="ko-KR" altLang="en-US" sz="1000" u="none" strike="noStrike" spc="-10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강풍</a:t>
                      </a:r>
                      <a:r>
                        <a:rPr lang="en-US" altLang="ko-KR" sz="1000" u="none" strike="noStrike" spc="-10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, </a:t>
                      </a:r>
                      <a:r>
                        <a:rPr lang="ko-KR" altLang="en-US" sz="1000" u="none" strike="noStrike" spc="-10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폭우</a:t>
                      </a:r>
                      <a:r>
                        <a:rPr lang="en-US" altLang="ko-KR" sz="1000" u="none" strike="noStrike" spc="-10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)</a:t>
                      </a:r>
                      <a:endParaRPr lang="en-US" altLang="ko-KR" sz="10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spc="-100" baseline="0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-</a:t>
                      </a:r>
                      <a:endParaRPr lang="ko-KR" altLang="en-US" sz="10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spc="-100" baseline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869759"/>
                  </a:ext>
                </a:extLst>
              </a:tr>
              <a:tr h="12892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pc="-100" baseline="0" dirty="0">
                          <a:solidFill>
                            <a:srgbClr val="FF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자율주행 및 자율작업 차량으로 탑승자의 추락은 고려하지 않음</a:t>
                      </a: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9121911"/>
                  </a:ext>
                </a:extLst>
              </a:tr>
              <a:tr h="128926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spc="-100" baseline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45</a:t>
                      </a:r>
                      <a:endParaRPr lang="en-US" altLang="ko-KR" sz="1000" b="0" i="0" u="none" strike="noStrike" spc="-100" baseline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95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spc="-100" baseline="0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금정지</a:t>
                      </a:r>
                      <a:r>
                        <a:rPr lang="en-US" altLang="ko-KR" sz="1000" u="none" strike="noStrike" spc="-10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, </a:t>
                      </a:r>
                      <a:r>
                        <a:rPr lang="ko-KR" altLang="en-US" sz="1000" u="none" strike="noStrike" spc="-100" baseline="0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급하강</a:t>
                      </a:r>
                      <a:r>
                        <a:rPr lang="en-US" altLang="ko-KR" sz="1000" u="none" strike="noStrike" spc="-10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, </a:t>
                      </a:r>
                      <a:r>
                        <a:rPr lang="ko-KR" altLang="en-US" sz="1000" u="none" strike="noStrike" spc="-10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급상승 등의 요동</a:t>
                      </a:r>
                      <a:endParaRPr lang="ko-KR" altLang="en-US" sz="10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spc="-10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흔들림으로 작업자 중심 소실</a:t>
                      </a:r>
                      <a:endParaRPr lang="ko-KR" altLang="en-US" sz="10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spc="-100" baseline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464283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pc="-100" baseline="0" dirty="0">
                          <a:solidFill>
                            <a:srgbClr val="FF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안전 수칙 </a:t>
                      </a:r>
                      <a:r>
                        <a:rPr lang="ko-KR" altLang="en-US" sz="1000" b="0" i="0" u="none" strike="noStrike" spc="-100" baseline="0" dirty="0" err="1">
                          <a:solidFill>
                            <a:srgbClr val="FF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미준수</a:t>
                      </a:r>
                      <a:r>
                        <a:rPr lang="ko-KR" altLang="en-US" sz="1000" b="0" i="0" u="none" strike="noStrike" spc="-100" baseline="0" dirty="0">
                          <a:solidFill>
                            <a:srgbClr val="FF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및 안전점검 미준수로 인한 사고발생은 고려하지 않음</a:t>
                      </a: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2653216"/>
                  </a:ext>
                </a:extLst>
              </a:tr>
              <a:tr h="16115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spc="-100" baseline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46</a:t>
                      </a:r>
                      <a:endParaRPr lang="en-US" altLang="ko-KR" sz="1000" b="0" i="0" u="none" strike="noStrike" spc="-100" baseline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95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spc="-100" baseline="0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탑승설비</a:t>
                      </a:r>
                      <a:r>
                        <a:rPr lang="ko-KR" altLang="en-US" sz="1000" u="none" strike="noStrike" spc="-10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표면 미끄러짐</a:t>
                      </a:r>
                      <a:endParaRPr lang="ko-KR" altLang="en-US" sz="10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spc="-100" baseline="0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-</a:t>
                      </a:r>
                      <a:endParaRPr lang="ko-KR" altLang="en-US" sz="10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spc="-100" baseline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0840355"/>
                  </a:ext>
                </a:extLst>
              </a:tr>
              <a:tr h="19338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spc="-100" baseline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47</a:t>
                      </a:r>
                      <a:endParaRPr lang="en-US" altLang="ko-KR" sz="1000" b="0" i="0" u="none" strike="noStrike" spc="-100" baseline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95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spc="-100" baseline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spc="-10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작업자의 불균형한 자세</a:t>
                      </a:r>
                      <a:endParaRPr lang="ko-KR" altLang="en-US" sz="10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spc="-100" baseline="0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-</a:t>
                      </a:r>
                      <a:endParaRPr lang="ko-KR" altLang="en-US" sz="10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spc="-100" baseline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6319102"/>
                  </a:ext>
                </a:extLst>
              </a:tr>
              <a:tr h="22562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spc="-10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48</a:t>
                      </a:r>
                      <a:endParaRPr lang="en-US" altLang="ko-KR" sz="10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9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spc="-10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불필요한 행위 </a:t>
                      </a:r>
                      <a:r>
                        <a:rPr lang="en-US" altLang="ko-KR" sz="1000" u="none" strike="noStrike" spc="-10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(</a:t>
                      </a:r>
                      <a:r>
                        <a:rPr lang="ko-KR" altLang="en-US" sz="1000" u="none" strike="noStrike" spc="-10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운전 부주의</a:t>
                      </a:r>
                      <a:r>
                        <a:rPr lang="en-US" altLang="ko-KR" sz="1000" u="none" strike="noStrike" spc="-10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/</a:t>
                      </a:r>
                      <a:r>
                        <a:rPr lang="ko-KR" altLang="en-US" sz="1000" u="none" strike="noStrike" spc="-10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신호 불일치</a:t>
                      </a:r>
                      <a:r>
                        <a:rPr lang="en-US" altLang="ko-KR" sz="1000" u="none" strike="noStrike" spc="-100" baseline="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)</a:t>
                      </a:r>
                      <a:endParaRPr lang="en-US" altLang="ko-KR" sz="10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spc="-100" baseline="0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-</a:t>
                      </a:r>
                      <a:endParaRPr lang="ko-KR" altLang="en-US" sz="10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25200" marB="2520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30654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6689450"/>
      </p:ext>
    </p:extLst>
  </p:cSld>
  <p:clrMapOvr>
    <a:masterClrMapping/>
  </p:clrMapOvr>
</p:sld>
</file>

<file path=ppt/theme/theme1.xml><?xml version="1.0" encoding="utf-8"?>
<a:theme xmlns:a="http://schemas.openxmlformats.org/drawingml/2006/main" name="A4사이즈 시작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2">
      <a:majorFont>
        <a:latin typeface="나눔고딕"/>
        <a:ea typeface="나눔고딕"/>
        <a:cs typeface=""/>
      </a:majorFont>
      <a:minorFont>
        <a:latin typeface="나눔고딕"/>
        <a:ea typeface="나눔고딕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1">
              <a:lumMod val="65000"/>
              <a:lumOff val="35000"/>
            </a:schemeClr>
          </a:solidFill>
        </a:ln>
      </a:spPr>
      <a:bodyPr wrap="none" rtlCol="0" anchor="ctr"/>
      <a:lstStyle>
        <a:defPPr algn="ctr">
          <a:defRPr sz="1050" dirty="0" smtClean="0">
            <a:ln>
              <a:solidFill>
                <a:schemeClr val="tx1">
                  <a:alpha val="0"/>
                </a:schemeClr>
              </a:solidFill>
            </a:ln>
            <a:solidFill>
              <a:schemeClr val="tx1"/>
            </a:solidFill>
            <a:latin typeface="KoPub돋움체 Bold" panose="02020603020101020101" pitchFamily="18" charset="-127"/>
            <a:ea typeface="KoPub돋움체 Bold" panose="02020603020101020101" pitchFamily="18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A4사이즈 시작" id="{FD4545E7-5997-4B5A-B403-15869D28AFC8}" vid="{82758CD2-4288-47F0-BA6E-657FFFA5286C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B9C9958D4C7A3948B22D645F1DDF1ECC" ma:contentTypeVersion="14" ma:contentTypeDescription="새 문서를 만듭니다." ma:contentTypeScope="" ma:versionID="36c7de53c77ce202cc198bb76783723a">
  <xsd:schema xmlns:xsd="http://www.w3.org/2001/XMLSchema" xmlns:xs="http://www.w3.org/2001/XMLSchema" xmlns:p="http://schemas.microsoft.com/office/2006/metadata/properties" xmlns:ns3="133d68ad-404b-43c7-9353-d1c1e62c69fa" xmlns:ns4="9546eae4-4d54-4a45-b9ed-1ea0642bedfb" targetNamespace="http://schemas.microsoft.com/office/2006/metadata/properties" ma:root="true" ma:fieldsID="970578f88270b3503a42d82b98bbfc01" ns3:_="" ns4:_="">
    <xsd:import namespace="133d68ad-404b-43c7-9353-d1c1e62c69fa"/>
    <xsd:import namespace="9546eae4-4d54-4a45-b9ed-1ea0642bedfb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Location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MediaServiceAutoKeyPoints" minOccurs="0"/>
                <xsd:element ref="ns4:MediaServiceKeyPoints" minOccurs="0"/>
                <xsd:element ref="ns4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33d68ad-404b-43c7-9353-d1c1e62c69fa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힌트 해시 공유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546eae4-4d54-4a45-b9ed-1ea0642bedf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4" nillable="true" ma:displayName="Location" ma:internalName="MediaServiceLocatio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B4FBAB2-7ECC-4CD4-A0CA-10B43D46402B}">
  <ds:schemaRefs>
    <ds:schemaRef ds:uri="http://purl.org/dc/dcmitype/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www.w3.org/XML/1998/namespace"/>
    <ds:schemaRef ds:uri="9546eae4-4d54-4a45-b9ed-1ea0642bedfb"/>
    <ds:schemaRef ds:uri="http://schemas.microsoft.com/office/infopath/2007/PartnerControls"/>
    <ds:schemaRef ds:uri="http://schemas.openxmlformats.org/package/2006/metadata/core-properties"/>
    <ds:schemaRef ds:uri="133d68ad-404b-43c7-9353-d1c1e62c69fa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505280F9-9A42-4FDD-8AAD-0A8A2BDC693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33d68ad-404b-43c7-9353-d1c1e62c69fa"/>
    <ds:schemaRef ds:uri="9546eae4-4d54-4a45-b9ed-1ea0642bedf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2EA8219-C967-40DD-BC38-FBE3F5EF20A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19655</TotalTime>
  <Words>13896</Words>
  <Application>Microsoft Office PowerPoint</Application>
  <PresentationFormat>A4 용지(210x297mm)</PresentationFormat>
  <Paragraphs>2264</Paragraphs>
  <Slides>85</Slides>
  <Notes>75</Notes>
  <HiddenSlides>1</HiddenSlides>
  <MMClips>0</MMClips>
  <ScaleCrop>false</ScaleCrop>
  <HeadingPairs>
    <vt:vector size="8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85</vt:i4>
      </vt:variant>
    </vt:vector>
  </HeadingPairs>
  <TitlesOfParts>
    <vt:vector size="95" baseType="lpstr">
      <vt:lpstr>KoPub돋움체 Bold</vt:lpstr>
      <vt:lpstr>KoPub돋움체 Medium</vt:lpstr>
      <vt:lpstr>나눔고딕</vt:lpstr>
      <vt:lpstr>맑은 고딕</vt:lpstr>
      <vt:lpstr>Arial</vt:lpstr>
      <vt:lpstr>Cambria Math</vt:lpstr>
      <vt:lpstr>Harrington</vt:lpstr>
      <vt:lpstr>Wingdings</vt:lpstr>
      <vt:lpstr>A4사이즈 시작</vt:lpstr>
      <vt:lpstr>Worksheet</vt:lpstr>
      <vt:lpstr>PowerPoint 프레젠테이션</vt:lpstr>
      <vt:lpstr>문서 이력</vt:lpstr>
      <vt:lpstr>1. 알고리즘 개발 배경</vt:lpstr>
      <vt:lpstr>1. 통합 관제 엣지와 자율주행 차량간 역할 구분</vt:lpstr>
      <vt:lpstr>2. 통합 관제 엣지의 필요성</vt:lpstr>
      <vt:lpstr>2. 인지 데이터 융합 알고리즘</vt:lpstr>
      <vt:lpstr>1. 알고리즘 개요 (1/2)</vt:lpstr>
      <vt:lpstr>1. 알고리즘 개요 (2/2)</vt:lpstr>
      <vt:lpstr>2. 알고리즘 이슈 사항 - 공통</vt:lpstr>
      <vt:lpstr>2. 알고리즘 이슈 사항 – 이동 장애물 인지 데이터 융합 </vt:lpstr>
      <vt:lpstr>2.1 이동 장애물 인지 데이터 융합</vt:lpstr>
      <vt:lpstr>L3(이동 장애물 계층) 알고리즘 개요</vt:lpstr>
      <vt:lpstr>L3(이동 장애물 계층) 알고리즘 구성</vt:lpstr>
      <vt:lpstr>① 입력 데이터 준비</vt:lpstr>
      <vt:lpstr>② 차량 측위 좌표계 변경 (1/2)</vt:lpstr>
      <vt:lpstr>② 차량 측위 좌표계 변경 (2/2)</vt:lpstr>
      <vt:lpstr>③ 차량 이동 장애물 인지 데이터의 시공간 보정</vt:lpstr>
      <vt:lpstr>④ L3 장애물 위치 추정</vt:lpstr>
      <vt:lpstr>⑤ 장애물 간 Data Association (동일 장애물 매칭)</vt:lpstr>
      <vt:lpstr>⑥ 연속(정상) 검출 장애물 이력 관리</vt:lpstr>
      <vt:lpstr>⑦ 장애물 위치, 속도 데이터 융합 (1/2)</vt:lpstr>
      <vt:lpstr>⑦ 장애물 위치, 속도 데이터 융합 (2/2)</vt:lpstr>
      <vt:lpstr>⑧ 신규 검출 장애물 추가 및 이력 관리</vt:lpstr>
      <vt:lpstr>⑨ 미검출 장애물 이력 관리 및 삭제</vt:lpstr>
      <vt:lpstr>⑩ L3 장애물 ID 관리</vt:lpstr>
      <vt:lpstr>(2차년도) 오류 데이터 예외 처리</vt:lpstr>
      <vt:lpstr>2.2 정지 장애물 인지 데이터 융합 (3차년도 예정)</vt:lpstr>
      <vt:lpstr>2.3 지도 생성 (2차년도 예정)</vt:lpstr>
      <vt:lpstr>알고리즘 개요</vt:lpstr>
      <vt:lpstr>알고리즘 구성</vt:lpstr>
      <vt:lpstr>알고리즘 설명</vt:lpstr>
      <vt:lpstr>2.4 Adaptive AUTOSAR SW 구현 (2차년도 예정)</vt:lpstr>
      <vt:lpstr>3. 위험 환경 판단 알고리즘</vt:lpstr>
      <vt:lpstr>위험환경 선정 배경</vt:lpstr>
      <vt:lpstr>알고리즘 개요</vt:lpstr>
      <vt:lpstr>3.1 위험판단 알고리즘 구성</vt:lpstr>
      <vt:lpstr>알고리즘 구성</vt:lpstr>
      <vt:lpstr>1 주행중 전역 경로 근방 이동 가능한 정지 장애물이 존재하는 환경</vt:lpstr>
      <vt:lpstr>1 주행중 전역 경로 근방 이동 가능한 정지 장애물이 존재하는 환경</vt:lpstr>
      <vt:lpstr>1 주행중 전역 경로 근방 이동 가능한 정지 장애물이 존재하는 환경</vt:lpstr>
      <vt:lpstr>1 주행중 전역 경로 근방 이동 가능한 정지 장애물이 존재하는 환경</vt:lpstr>
      <vt:lpstr>2 주행 중 사각영역 존재 환경</vt:lpstr>
      <vt:lpstr>2 주행 중 사각영역 존재 환경</vt:lpstr>
      <vt:lpstr>2 주행 중 사각영역 존재 환경</vt:lpstr>
      <vt:lpstr>2 주행 중 사각영역 존재 환경</vt:lpstr>
      <vt:lpstr>3 주행 중, 경로 주변 동적 장애물 통행 환경</vt:lpstr>
      <vt:lpstr>3 주행 중, 경로 주변 동적 장애물 통행 환경</vt:lpstr>
      <vt:lpstr>3 주행 중, 경로 주변 동적 장애물 통행 환경</vt:lpstr>
      <vt:lpstr>3 주행 중, 경로 주변 동적 장애물 통행 환경</vt:lpstr>
      <vt:lpstr>3 주행 중, 경로 주변 동적 장애물 통행 환경</vt:lpstr>
      <vt:lpstr>4 작업 중, 경로 주변 동적 장애물 통행 환경</vt:lpstr>
      <vt:lpstr>4 작업 중, 경로 주변 동적 장애물 통행 환경</vt:lpstr>
      <vt:lpstr>4 작업 중, 경로 주변 동적 장애물 통행 환경</vt:lpstr>
      <vt:lpstr>4 작업 중, 경로 주변 동적 장애물 통행 환경</vt:lpstr>
      <vt:lpstr>5 주행 경로상 장애물 통행량이 과다한 환경(사람)</vt:lpstr>
      <vt:lpstr>5 주행 경로상 장애물 통행량이 과다한 환경(사람)</vt:lpstr>
      <vt:lpstr>5 주행 경로상 장애물 통행량이 과다한 환경(사람)</vt:lpstr>
      <vt:lpstr>5 주행 경로상 장애물 통행량이 과다한 환경(사람)</vt:lpstr>
      <vt:lpstr>5 주행 경로상 장애물 통행량이 과다한 환경(사람)</vt:lpstr>
      <vt:lpstr>5 주행 경로상 장애물 통행량이 과다한 환경(사람)</vt:lpstr>
      <vt:lpstr>6 주행 경로상 장애물 통행량이 과다한 환경(차량)</vt:lpstr>
      <vt:lpstr>6 주행 경로상 장애물 통행량이 과다한 환경(차량)</vt:lpstr>
      <vt:lpstr>6 주행 경로상 장애물 통행량이 과다한 환경(차량)</vt:lpstr>
      <vt:lpstr>6 주행 경로상 장애물 통행량이 과다한 환경(차량)</vt:lpstr>
      <vt:lpstr>6 주행 경로상 장애물 통행량이 과다한 환경(차량)</vt:lpstr>
      <vt:lpstr>7. 미개척 지역 주행 환경</vt:lpstr>
      <vt:lpstr>7. 미개척 지역 주행 환경</vt:lpstr>
      <vt:lpstr>7. 미개척 지역 주행 환경</vt:lpstr>
      <vt:lpstr>7. 미개척 지역 주행 환경</vt:lpstr>
      <vt:lpstr>8. 단차가 있는 주행 환경 : 전역경로 및 작업지점 근방의 노면상태가 불균일 할 경우</vt:lpstr>
      <vt:lpstr>8. 단차가 있는 주행 환경 : 전역경로 및 작업지점 근방의 노면상태가 불균일 할 경우</vt:lpstr>
      <vt:lpstr>8. 단차가 있는 주행 환경 : 전역경로 및 작업지점 근방의 노면상태가 불균일 할 경우</vt:lpstr>
      <vt:lpstr>9. 작업 반경 내 장애물에 의한 사각지대</vt:lpstr>
      <vt:lpstr>9. 작업 반경 내 장애물에 의한 사각지대</vt:lpstr>
      <vt:lpstr>9. 작업 반경 내 장애물에 의한 사각지대</vt:lpstr>
      <vt:lpstr>10. 작업 반경 근방 정차 장애물이 있는 환경</vt:lpstr>
      <vt:lpstr>10. 작업 반경 근방 정차 장애물이 있는 환경</vt:lpstr>
      <vt:lpstr>10. 작업 반경 근방 정차 장애물이 있는 환경</vt:lpstr>
      <vt:lpstr>3.3 위험판단 인공지능</vt:lpstr>
      <vt:lpstr>1 주행중 전역 경로 근방 이동 가능한 정지 장애물이 존재하는 환경</vt:lpstr>
      <vt:lpstr>1 주행중 전역 경로 근방 이동 가능한 정지 장애물이 존재하는 환경</vt:lpstr>
      <vt:lpstr>1 주행중 전역 경로 근방 이동 가능한 정지 장애물이 존재하는 환경</vt:lpstr>
      <vt:lpstr>1 주행중 전역 경로 근방 이동 가능한 정지 장애물이 존재하는 환경</vt:lpstr>
      <vt:lpstr>별첨. 위험 상황 (1/2)</vt:lpstr>
      <vt:lpstr>별첨. 위험 상황 (2/2)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 인지데이터 융합 알고리즘 사양</dc:title>
  <dc:creator>WSLEE</dc:creator>
  <cp:lastModifiedBy>수진 오</cp:lastModifiedBy>
  <cp:revision>581</cp:revision>
  <cp:lastPrinted>2026-04-27T16:41:32Z</cp:lastPrinted>
  <dcterms:created xsi:type="dcterms:W3CDTF">2022-10-12T06:13:28Z</dcterms:created>
  <dcterms:modified xsi:type="dcterms:W3CDTF">2026-05-06T05:13:28Z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0x010100B9C9958D4C7A3948B22D645F1DDF1ECC</vt:lpwstr>
  </property>
</Properties>
</file>